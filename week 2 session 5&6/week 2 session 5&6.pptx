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9" r:id="rId2"/>
    <p:sldId id="304" r:id="rId3"/>
    <p:sldId id="280" r:id="rId4"/>
    <p:sldId id="281" r:id="rId5"/>
    <p:sldId id="298" r:id="rId6"/>
    <p:sldId id="297" r:id="rId7"/>
    <p:sldId id="303" r:id="rId8"/>
    <p:sldId id="299" r:id="rId9"/>
    <p:sldId id="263" r:id="rId10"/>
    <p:sldId id="300" r:id="rId11"/>
    <p:sldId id="265" r:id="rId12"/>
    <p:sldId id="305" r:id="rId13"/>
    <p:sldId id="266" r:id="rId14"/>
    <p:sldId id="301" r:id="rId15"/>
    <p:sldId id="302" r:id="rId16"/>
    <p:sldId id="261" r:id="rId17"/>
    <p:sldId id="271" r:id="rId18"/>
    <p:sldId id="275" r:id="rId19"/>
    <p:sldId id="273" r:id="rId20"/>
    <p:sldId id="274" r:id="rId21"/>
    <p:sldId id="262" r:id="rId22"/>
    <p:sldId id="277" r:id="rId23"/>
    <p:sldId id="278" r:id="rId24"/>
    <p:sldId id="276" r:id="rId25"/>
    <p:sldId id="279" r:id="rId26"/>
    <p:sldId id="283" r:id="rId27"/>
    <p:sldId id="284" r:id="rId28"/>
    <p:sldId id="268" r:id="rId29"/>
    <p:sldId id="269" r:id="rId30"/>
    <p:sldId id="285" r:id="rId31"/>
    <p:sldId id="286" r:id="rId32"/>
    <p:sldId id="287" r:id="rId33"/>
    <p:sldId id="290" r:id="rId34"/>
    <p:sldId id="288" r:id="rId35"/>
    <p:sldId id="291" r:id="rId36"/>
    <p:sldId id="292" r:id="rId37"/>
    <p:sldId id="294" r:id="rId38"/>
    <p:sldId id="295" r:id="rId39"/>
    <p:sldId id="270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6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92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03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41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3CE9F-4E52-169C-B410-FCCE56F3A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6663D-BF5A-512C-16AA-2B80784E7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7840B-3387-5B02-2C39-38CA418A5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D7A0E-F4F9-6649-30A7-3A55C40A3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76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39322-2ABF-FACA-F776-D111E6F0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D4AE1-8040-C828-A130-DC8E6DA84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2C158-521A-A600-5B22-B7FD3027C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F8350-5291-A97A-5852-68C251E1E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55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65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64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E95BF-335B-448B-F366-4CB3370E5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0D5AB-F2F5-B3E0-5C5F-060CF75D6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52668-D036-3813-CD3A-FDFE2B9E2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9D38C-51B3-DF4F-E60E-28EB364D9F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174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CE876-92A4-1878-2E94-75A400AF3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6ED9C-6119-FFF6-EC10-DE8E16CBF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102A5-A8FE-5BB0-3D30-421F6C399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D53ED-5DF0-6463-FCE2-8A1F6C729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769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491BA-D56E-E6F6-70FD-F5978E22F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7CFE6-B0AF-3CB3-E191-D8A113CC9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030B5-AE49-7951-8895-0CD2E80D6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E1FB0-56A3-48FA-E1E3-8590078E58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432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CE9E-B290-ED63-CABB-D2E33EE3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1C9333-B03C-030E-510F-3D860063A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44909-63C9-7694-0B02-64C5D2F57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EA62A-7D84-5076-6A87-F191B3F7C5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971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55B4F-67F8-D297-1D74-F0EE4B36A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0E356-E11D-773A-7FC2-4CADC0B71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777E5-44E7-B7BE-A07C-0717DC684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2BA30-8089-198D-76F9-27C2725DA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7865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01BD1-DDB5-B589-435A-1C0F0B0DA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B9213-DBDA-8313-EC33-66CB85711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388C8-ACAD-7091-97F9-6AA945BD1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88825-FB26-C4A8-1C0B-2261B16D36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59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6687E-7BC0-D53D-83A9-75BC06D3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6FB02-31D7-9FC8-014E-578425420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E52A9-CA09-62F5-449B-45A361019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92644-DCB2-AD02-85C7-07042FFC1A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045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9C277-54C3-F20C-0DC2-FF4D8FD9F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F4593-9441-DD50-D92E-9B71A19A2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2990D-7C55-F2F4-8878-E029607E9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5C4B0-ACD2-8B23-A9E8-9EF74C8EE2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180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9E385-71D6-229D-F99B-1B054E3B2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152E7-79FE-9ACA-FFEB-04AFCE0B7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BE822-76B8-1D03-8FEA-73340F2AA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9C6BF-53C5-8CAF-A03F-50D14FE30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419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B08E8-25E1-6CFA-58C5-86E4F7F25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B2E5D-1E2A-3F50-A2AD-E91A3EAD2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88386-3488-0E98-28A5-02875ECFC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EF4CF-D7DC-200D-6632-21A485B4B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8871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E53F-0C23-D869-3748-E8A2AAF0B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2E753-267E-1682-C86D-8A5B44C7F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4457F-4A4A-0CC9-C076-8EC421BF3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2190C-6479-44E9-F3D4-4AFE121CB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851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BB29-BEE7-B43C-52A7-204012E0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3C1FD-E19B-F0EA-6AF2-4A6F29684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1C71E-E3CE-E379-252C-83795075C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4E96B-71E4-3409-34C3-F735E78F8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780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92AEB-2F2D-C919-665A-095BF5410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C3B13-7CF3-8CF4-E0AF-65A07C943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D2EBC-B58C-F86C-B486-F33A372E2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6314F-F4BD-28E3-3059-7EFE7DE80D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317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D6B2-5E9F-D4AA-0009-17B4E1A67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ACDEB-7F66-6A75-C0AD-A1E26FA18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D176C-5D5E-A691-FE20-26AA1DA75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7C9E-0C42-B086-0974-237EF7221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099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C15AA-E58B-0665-AC91-CFCA89A8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B7FBA-AAC6-5F4E-6C55-B48CA834E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8DBC2-2643-84D2-AB47-97B48A8C3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B0FC5-7EEE-3EBB-068E-DB0032A068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632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BDD6C-3D3B-F707-E82F-777B9FD83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0FE6A-CB9A-D3F2-1FDB-F11FC912F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0AF38-E000-0F61-DD8A-2ECCB0FB3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166C1-154A-CA0A-7908-1820C4F97E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265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EA6A7-9EA1-4374-5694-9AD04A5A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26A7E-7517-DFD1-40A1-C7B44C3B0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6D9A2-246E-F070-06A4-5B4D159FE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17B2D-AFA6-F57E-BA36-480AE0FB1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35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91F7C-5E7F-F1B9-E701-D1750B82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51BBE-6700-F4C7-5378-A833021B8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76EB9-5445-1648-E19F-F486D80A7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77625-098C-BFC8-6C83-EB4D9E34F3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752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7AFE9-B96D-BF4F-98A4-779FA1046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06429E-11AB-16E1-FFE8-79D486AFC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28580-EF8E-E8CE-9E9A-B87E26216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D493B-2DA6-DAE9-F7E2-484718671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616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Last Session</a:t>
            </a:r>
            <a:endParaRPr lang="en-US" sz="2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533995-EC52-48D4-8660-44AC2BD8760D}"/>
              </a:ext>
            </a:extLst>
          </p:cNvPr>
          <p:cNvSpPr txBox="1"/>
          <p:nvPr/>
        </p:nvSpPr>
        <p:spPr>
          <a:xfrm>
            <a:off x="2286000" y="23866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B389F4-D5D8-4650-A787-F1DE2B21E164}"/>
              </a:ext>
            </a:extLst>
          </p:cNvPr>
          <p:cNvSpPr txBox="1"/>
          <p:nvPr/>
        </p:nvSpPr>
        <p:spPr>
          <a:xfrm>
            <a:off x="2286000" y="23866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Last Session</a:t>
            </a:r>
            <a:endParaRPr lang="en-US" sz="250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B7B1C9E-6756-B795-7FD4-3FDAA23E3DDF}"/>
              </a:ext>
            </a:extLst>
          </p:cNvPr>
          <p:cNvSpPr/>
          <p:nvPr/>
        </p:nvSpPr>
        <p:spPr>
          <a:xfrm>
            <a:off x="457200" y="2070848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4DFAE943-06DF-9223-2FE1-F47D2045FE7C}"/>
              </a:ext>
            </a:extLst>
          </p:cNvPr>
          <p:cNvSpPr/>
          <p:nvPr/>
        </p:nvSpPr>
        <p:spPr>
          <a:xfrm>
            <a:off x="457200" y="2070848"/>
            <a:ext cx="73152" cy="86868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1A5D563-4183-C2C4-DBD6-C61C7D58C6A5}"/>
              </a:ext>
            </a:extLst>
          </p:cNvPr>
          <p:cNvSpPr/>
          <p:nvPr/>
        </p:nvSpPr>
        <p:spPr>
          <a:xfrm>
            <a:off x="777240" y="207084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met nine building blocks: mission, goals, objectives, strategy, policy, program, procedure, budget, and tactic</a:t>
            </a:r>
            <a:endParaRPr 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533995-EC52-48D4-8660-44AC2BD8760D}"/>
              </a:ext>
            </a:extLst>
          </p:cNvPr>
          <p:cNvSpPr txBox="1"/>
          <p:nvPr/>
        </p:nvSpPr>
        <p:spPr>
          <a:xfrm>
            <a:off x="2286000" y="23866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B389F4-D5D8-4650-A787-F1DE2B21E164}"/>
              </a:ext>
            </a:extLst>
          </p:cNvPr>
          <p:cNvSpPr txBox="1"/>
          <p:nvPr/>
        </p:nvSpPr>
        <p:spPr>
          <a:xfrm>
            <a:off x="2286000" y="23866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53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0CA43-A293-E9A0-92DD-C46F81210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A13E6B-C49B-8BAC-37AE-E93D29A1AB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284"/>
          <a:stretch>
            <a:fillRect/>
          </a:stretch>
        </p:blipFill>
        <p:spPr>
          <a:xfrm>
            <a:off x="472440" y="1141730"/>
            <a:ext cx="7772400" cy="286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67770-9DA9-C621-D9D9-76950A709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F7F730-5CD6-9F81-7BC6-3F696708B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60" y="452005"/>
            <a:ext cx="7772400" cy="423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26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68268" y="167792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</a:rPr>
              <a:t>Titan and HMT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 based on: A. Nag, Strategic Management: Analysis, Implementation and Control, Ch. 4.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STORY TO START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3385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One Company, Two Very Different Kinds of Decisions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8229600" cy="3246120"/>
          </a:xfrm>
          <a:prstGeom prst="roundRect">
            <a:avLst>
              <a:gd name="adj" fmla="val 2817"/>
            </a:avLst>
          </a:prstGeom>
          <a:solidFill>
            <a:srgbClr val="FFFFFF">
              <a:alpha val="90000"/>
            </a:srgbClr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1984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Tata Group and a Tamil Nadu state agency launch Titan to sell quartz watches — a bold bet against HMT's decades-old mechanical-watch dominance.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1994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697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Titan makes an even bigger bet: entering an entirely different industry, jewellery, by launching Tanishq — competing against family jewellers nobody had ever organized into a modern brand.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Meanwhile, every single day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Titan also enforces small, standing guidelines — quality checks, purity certification, retail store standards — that never make headlines but never stop either.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 based on widely documented accounts of Titan Company (founded 1984) and Tanishq (launched 1994).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Strategy, Really?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strategy is a </a:t>
            </a:r>
            <a:r>
              <a:rPr lang="en-US" sz="165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big, hard-to-reverse choice</a:t>
            </a:r>
            <a:r>
              <a:rPr lang="en-US" sz="16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about where to compete and how to win there — not a rule for handling a routine situation.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Titan's two strategic bets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Entering watches in 1984, and entering jewellery in 1994, were both strategies — they picked a whole new market to compete in, committed years of resources, and couldn't be undone overnight.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 based on: A. Nag, Strategic Management: Analysis, Implementation and Control, Ch. 4.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21387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Policy vs. Strategy: The Core Difference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Policy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Strategy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standing guideline for routine decisions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 one-time, high-stakes choice about direction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Easy to reverse or adjust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Hard and costly to reverse once made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“Only fresh ingredients, always”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“Enter the jewellery business”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4.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COMMON MIX-UP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the Confusion?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8229600" cy="3017520"/>
          </a:xfrm>
          <a:prstGeom prst="roundRect">
            <a:avLst>
              <a:gd name="adj" fmla="val 3030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17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Both sound like “direction.” Both get written down. Both guide decisions.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2057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students — and even managers — often use the words interchangeably. But mixing them up has a real cost: treating a strategic decision like a routine policy means under-thinking it, while treating a policy like a strategy means over-analyzing something that should just be a standing rule.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PRACTICAL TEST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Three Questions to Tell Them Apart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Scope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167335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Does this affect the whole direction of the business, or just one routine situation?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404872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963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Reversibility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84378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Could we undo this next month without much cost — or are we now committed for years?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575304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66674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Frequency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1520" y="401421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Will we make this exact call again and again, or is this a one-time turning point?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 framework for classroom application — based on A. Nag, Ch. 4.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TITAN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Which One Was Which?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66928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3716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Entering the watch market (1984)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1371600"/>
            <a:ext cx="2423160" cy="77724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8" name="Text 5"/>
          <p:cNvSpPr/>
          <p:nvPr/>
        </p:nvSpPr>
        <p:spPr>
          <a:xfrm>
            <a:off x="6263640" y="13716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267712"/>
            <a:ext cx="566928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267712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Launching Tanishq jewellery (1994)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267712"/>
            <a:ext cx="2423160" cy="77724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22677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163824"/>
            <a:ext cx="566928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163824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Certifying gold purity in every store, every day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63640" y="3163824"/>
            <a:ext cx="2423160" cy="77724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316382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POLICY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 based on widely documented accounts of Titan Company and Tanishq.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TITAN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Which One Was Which?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66928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3716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Entering the watch market (1984)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13716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267712"/>
            <a:ext cx="566928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267712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Launching Tanishq jewellery (1994)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163824"/>
            <a:ext cx="566928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163824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Certifying gold purity in every store, every day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 based on widely documented accounts of Titan Company and Tanishq.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35578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PRIYA'S MOMOS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Policy or Strategy?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66928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3716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using fresh vegetables, every single day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1371600"/>
            <a:ext cx="2423160" cy="77724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8" name="Text 5"/>
          <p:cNvSpPr/>
          <p:nvPr/>
        </p:nvSpPr>
        <p:spPr>
          <a:xfrm>
            <a:off x="6263640" y="13716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POLICY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267712"/>
            <a:ext cx="566928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267712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Deciding to shift from a cart to a full cloud kitchen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267712"/>
            <a:ext cx="2423160" cy="77724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22677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163824"/>
            <a:ext cx="566928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163824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Deciding to target office workers instead of just students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63640" y="3163824"/>
            <a:ext cx="2423160" cy="77724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316382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“Priya's Momos” is a fictional business created for classroom illustration only.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DISCUSSION · 5 MINUTES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Policy or Strategy? You Decide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“We will expand our tuition centre to two new cities next year.”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774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“All refunds must be processed within 48 hours.”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3832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“We are shutting our physical store and going online-only.”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Illustrative examples for classroom discussion — no external source.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This Distinction Matters for Entrepreneurs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280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Treating a strategic bet like routine policy means committing years of resources without enough thought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10312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0574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Treating a routine policy like a strategic decision wastes time that should go into execution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88036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28346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Investors and co-founders will ask you to defend your strategy — not your policies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65760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51560" y="36118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Knowing which kind of decision you're making tells you how much analysis it actually deserves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6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1–5: Setting the Direction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2183447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218344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2156015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is about the future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0" y="2156015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Decided today, played out over years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AC66B-856D-2309-3339-41A9F5AA3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7A5AC4BB-AEC1-EE30-F07F-B70D6F662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E982F3E-C919-D8CD-C11F-FC9896B93AA3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1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C7C249E-CD67-A0E8-1C7F-11DD669CE354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1–5: Setting the Direction</a:t>
            </a:r>
            <a:endParaRPr lang="en-US" sz="2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34061DD-697B-356E-6C44-5A9EE9EFB9B0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CFC79BC-19AF-4C39-F54B-7B77A1986B5C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D0312F3-A9F9-1EE0-968A-C68F04F45879}"/>
              </a:ext>
            </a:extLst>
          </p:cNvPr>
          <p:cNvSpPr/>
          <p:nvPr/>
        </p:nvSpPr>
        <p:spPr>
          <a:xfrm>
            <a:off x="1005840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is about the future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716FDA3-E92B-0DAA-488B-66F92FF019D0}"/>
              </a:ext>
            </a:extLst>
          </p:cNvPr>
          <p:cNvSpPr/>
          <p:nvPr/>
        </p:nvSpPr>
        <p:spPr>
          <a:xfrm>
            <a:off x="4389120" y="1143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Decided today, played out over years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7565962-647C-F8AB-AD34-4C0435AF916E}"/>
              </a:ext>
            </a:extLst>
          </p:cNvPr>
          <p:cNvSpPr/>
          <p:nvPr/>
        </p:nvSpPr>
        <p:spPr>
          <a:xfrm>
            <a:off x="502920" y="2508326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17CD01C-5635-636C-7807-F51093228792}"/>
              </a:ext>
            </a:extLst>
          </p:cNvPr>
          <p:cNvSpPr/>
          <p:nvPr/>
        </p:nvSpPr>
        <p:spPr>
          <a:xfrm>
            <a:off x="502920" y="250832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6B97453-3183-ED78-72AF-74DA19D0E809}"/>
              </a:ext>
            </a:extLst>
          </p:cNvPr>
          <p:cNvSpPr/>
          <p:nvPr/>
        </p:nvSpPr>
        <p:spPr>
          <a:xfrm>
            <a:off x="1005840" y="248089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needs trade-offs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8B58060-BFB5-D804-0140-64E83B2A0904}"/>
              </a:ext>
            </a:extLst>
          </p:cNvPr>
          <p:cNvSpPr/>
          <p:nvPr/>
        </p:nvSpPr>
        <p:spPr>
          <a:xfrm>
            <a:off x="4389120" y="248089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cannot be everything to everyone</a:t>
            </a: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CFB5CAE-708B-DF7F-A517-28AE97B7B08C}"/>
              </a:ext>
            </a:extLst>
          </p:cNvPr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strategic-management principles synthesized for classroom use; see A. Nag, Ch. 1.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4479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6FCDB-0EC9-0BB3-1EEF-17BC38A0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4A0D1C2A-8CF8-0E87-BCFA-38DBBDBAE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F439C9F-FECD-6359-3FC1-17FD0F5BB400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1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71E03FE-00DE-5E49-87AD-9A31B7A496EF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1–5: Setting the Direction</a:t>
            </a:r>
            <a:endParaRPr lang="en-US" sz="2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B090F7C-EED3-1D57-D61A-854FC2C8A536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A6C32E0-6A79-FC98-3324-2C28A55FCA89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CE23DDC-4445-19A9-2086-F04B1F209EC5}"/>
              </a:ext>
            </a:extLst>
          </p:cNvPr>
          <p:cNvSpPr/>
          <p:nvPr/>
        </p:nvSpPr>
        <p:spPr>
          <a:xfrm>
            <a:off x="1005840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is about the future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C00BD0F-418A-F5B4-6C25-D0E53EF10C9A}"/>
              </a:ext>
            </a:extLst>
          </p:cNvPr>
          <p:cNvSpPr/>
          <p:nvPr/>
        </p:nvSpPr>
        <p:spPr>
          <a:xfrm>
            <a:off x="4389120" y="1143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Decided today, played out over years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47A9CBD-B043-C8C6-FE4E-D189683D86C4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AE5123E-755B-E8D9-C6BF-FAAFAF36077E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7719713-93B4-4642-4900-8082FFE294A2}"/>
              </a:ext>
            </a:extLst>
          </p:cNvPr>
          <p:cNvSpPr/>
          <p:nvPr/>
        </p:nvSpPr>
        <p:spPr>
          <a:xfrm>
            <a:off x="1005840" y="17099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needs trade-offs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0A55AC7-25FE-A4D2-311A-38BC616FAB40}"/>
              </a:ext>
            </a:extLst>
          </p:cNvPr>
          <p:cNvSpPr/>
          <p:nvPr/>
        </p:nvSpPr>
        <p:spPr>
          <a:xfrm>
            <a:off x="4389120" y="17099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cannot be everything to everyone</a:t>
            </a:r>
            <a:endParaRPr lang="en-US" sz="11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B929E58-FCB7-FBA9-8EFA-FF8DE8911DFC}"/>
              </a:ext>
            </a:extLst>
          </p:cNvPr>
          <p:cNvSpPr/>
          <p:nvPr/>
        </p:nvSpPr>
        <p:spPr>
          <a:xfrm>
            <a:off x="502920" y="2716666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CFDA918-3478-6949-0D13-78657C0E91B7}"/>
              </a:ext>
            </a:extLst>
          </p:cNvPr>
          <p:cNvSpPr/>
          <p:nvPr/>
        </p:nvSpPr>
        <p:spPr>
          <a:xfrm>
            <a:off x="502920" y="271666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919F970-6FF0-ABD8-CFED-018B37AB8B77}"/>
              </a:ext>
            </a:extLst>
          </p:cNvPr>
          <p:cNvSpPr/>
          <p:nvPr/>
        </p:nvSpPr>
        <p:spPr>
          <a:xfrm>
            <a:off x="1005840" y="268923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fit the environment</a:t>
            </a:r>
            <a:endParaRPr lang="en-US" sz="1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1139006-1CEE-70F4-69B1-4A5268C372AF}"/>
              </a:ext>
            </a:extLst>
          </p:cNvPr>
          <p:cNvSpPr/>
          <p:nvPr/>
        </p:nvSpPr>
        <p:spPr>
          <a:xfrm>
            <a:off x="4389120" y="268923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works depends on the world outside</a:t>
            </a: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B4FEFF2-1932-1839-997D-3D29F19053D1}"/>
              </a:ext>
            </a:extLst>
          </p:cNvPr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strategic-management principles synthesized for classroom use; see A. Nag, Ch. 1.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91314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E25A28-6068-D9EC-414F-B8324DB38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1A04AE9E-324E-C10D-C02A-B0F05EBE5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5F43028-321D-2B49-D7B1-F8212B9DC428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1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3479DB0-FAA3-F513-E455-70D1B51FA894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1–5: Setting the Direction</a:t>
            </a:r>
            <a:endParaRPr lang="en-US" sz="2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5BF6C66-7726-2A6D-73EA-6402371974F3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FC2D304-6DE8-B349-20CC-D16E914C0489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F90DE73-D555-FAE9-C973-C4F58D4A926B}"/>
              </a:ext>
            </a:extLst>
          </p:cNvPr>
          <p:cNvSpPr/>
          <p:nvPr/>
        </p:nvSpPr>
        <p:spPr>
          <a:xfrm>
            <a:off x="1005840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is about the future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0D728AD-9D20-9EAB-0873-A95EDD40ED49}"/>
              </a:ext>
            </a:extLst>
          </p:cNvPr>
          <p:cNvSpPr/>
          <p:nvPr/>
        </p:nvSpPr>
        <p:spPr>
          <a:xfrm>
            <a:off x="4389120" y="1143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Decided today, played out over years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A0095D8-EF3D-70C3-DAE6-4DC71DA1DFE0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39469EF-7E3D-D5E0-3397-008B565FA86F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ADE16E2-E866-FA03-565C-7CEBF1982B41}"/>
              </a:ext>
            </a:extLst>
          </p:cNvPr>
          <p:cNvSpPr/>
          <p:nvPr/>
        </p:nvSpPr>
        <p:spPr>
          <a:xfrm>
            <a:off x="1005840" y="17099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needs trade-offs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685612C-BA3A-3F90-DBBA-F0DBBC34F08A}"/>
              </a:ext>
            </a:extLst>
          </p:cNvPr>
          <p:cNvSpPr/>
          <p:nvPr/>
        </p:nvSpPr>
        <p:spPr>
          <a:xfrm>
            <a:off x="4389120" y="17099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cannot be everything to everyone</a:t>
            </a:r>
            <a:endParaRPr lang="en-US" sz="11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0914E07-A1ED-BCC3-B682-468EC409C5DD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8992A33-FE99-80E0-CE5B-CA5762DBA30B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42C5B24-7349-2435-042B-9BFD4C30966F}"/>
              </a:ext>
            </a:extLst>
          </p:cNvPr>
          <p:cNvSpPr/>
          <p:nvPr/>
        </p:nvSpPr>
        <p:spPr>
          <a:xfrm>
            <a:off x="1005840" y="22768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fit the environment</a:t>
            </a:r>
            <a:endParaRPr lang="en-US" sz="1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89C7837-95AA-C5B3-CBF9-BCE799FEE7A8}"/>
              </a:ext>
            </a:extLst>
          </p:cNvPr>
          <p:cNvSpPr/>
          <p:nvPr/>
        </p:nvSpPr>
        <p:spPr>
          <a:xfrm>
            <a:off x="4389120" y="22768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works depends on the world outside</a:t>
            </a:r>
            <a:endParaRPr lang="en-US" sz="11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471E0B6-A1B2-823C-41C5-B598C4EA41CA}"/>
              </a:ext>
            </a:extLst>
          </p:cNvPr>
          <p:cNvSpPr/>
          <p:nvPr/>
        </p:nvSpPr>
        <p:spPr>
          <a:xfrm>
            <a:off x="502920" y="3282696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7767F09-F6E9-0A63-9B4F-BCF5DB2848E6}"/>
              </a:ext>
            </a:extLst>
          </p:cNvPr>
          <p:cNvSpPr/>
          <p:nvPr/>
        </p:nvSpPr>
        <p:spPr>
          <a:xfrm>
            <a:off x="50292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7816679-75D5-D51D-0099-A85923FCA271}"/>
              </a:ext>
            </a:extLst>
          </p:cNvPr>
          <p:cNvSpPr/>
          <p:nvPr/>
        </p:nvSpPr>
        <p:spPr>
          <a:xfrm>
            <a:off x="1005840" y="32552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fit your capabilities</a:t>
            </a:r>
            <a:endParaRPr lang="en-US" sz="12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A78E5D0A-F5C9-BEA3-65E1-12DDDF302B76}"/>
              </a:ext>
            </a:extLst>
          </p:cNvPr>
          <p:cNvSpPr/>
          <p:nvPr/>
        </p:nvSpPr>
        <p:spPr>
          <a:xfrm>
            <a:off x="4389120" y="32552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Ambition without resources is a wish</a:t>
            </a: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9D58E25-71B4-70FD-855E-2CB0C80E7036}"/>
              </a:ext>
            </a:extLst>
          </p:cNvPr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strategic-management principles synthesized for classroom use; see A. Nag, Ch. 1.</a:t>
            </a:r>
            <a:endParaRPr lang="en-US" sz="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193D934-1862-8B18-4131-B751EA8172DC}"/>
              </a:ext>
            </a:extLst>
          </p:cNvPr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4342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4FAA2-0587-1E5B-69E6-11509F8CD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DC574499-6007-5355-50DB-1DADA9925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2C6D57-2F13-78DD-4912-E5CA0368EB3F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1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D3D74FE-3F18-C380-CBFA-595A72BA00AA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1–5: Setting the Direction</a:t>
            </a:r>
            <a:endParaRPr lang="en-US" sz="2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4A67C6B-3343-4908-CC68-98A6A869D258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8B4B87B-1287-5906-2E05-A79512BEE030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AEA4989-A1DB-A593-FFF6-4251884FC501}"/>
              </a:ext>
            </a:extLst>
          </p:cNvPr>
          <p:cNvSpPr/>
          <p:nvPr/>
        </p:nvSpPr>
        <p:spPr>
          <a:xfrm>
            <a:off x="1005840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is about the future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AD551E4-0696-EDF6-93F3-88D3B09D87B9}"/>
              </a:ext>
            </a:extLst>
          </p:cNvPr>
          <p:cNvSpPr/>
          <p:nvPr/>
        </p:nvSpPr>
        <p:spPr>
          <a:xfrm>
            <a:off x="4389120" y="1143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Decided today, played out over years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0B73795-CB00-7BC2-40DA-C6C046F680AF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E18D738-AC11-235C-E40A-865BB1FCC26F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84A02FF-CA26-5014-7B3A-20643BC4656C}"/>
              </a:ext>
            </a:extLst>
          </p:cNvPr>
          <p:cNvSpPr/>
          <p:nvPr/>
        </p:nvSpPr>
        <p:spPr>
          <a:xfrm>
            <a:off x="1005840" y="17099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needs trade-offs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3DCBF2E-37EC-BC05-E323-2A0A978FECA9}"/>
              </a:ext>
            </a:extLst>
          </p:cNvPr>
          <p:cNvSpPr/>
          <p:nvPr/>
        </p:nvSpPr>
        <p:spPr>
          <a:xfrm>
            <a:off x="4389120" y="17099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cannot be everything to everyone</a:t>
            </a:r>
            <a:endParaRPr lang="en-US" sz="11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D69E942-E7DC-F5F7-7FC6-79E51DD9175F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CC9DC39-85A3-96B5-F6FE-4F8778863D23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0C5C417-C609-4228-2F19-5FB6A77A1363}"/>
              </a:ext>
            </a:extLst>
          </p:cNvPr>
          <p:cNvSpPr/>
          <p:nvPr/>
        </p:nvSpPr>
        <p:spPr>
          <a:xfrm>
            <a:off x="1005840" y="22768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fit the environment</a:t>
            </a:r>
            <a:endParaRPr lang="en-US" sz="1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AE8EA8B-C823-3608-3C92-DCFEBDDC4981}"/>
              </a:ext>
            </a:extLst>
          </p:cNvPr>
          <p:cNvSpPr/>
          <p:nvPr/>
        </p:nvSpPr>
        <p:spPr>
          <a:xfrm>
            <a:off x="4389120" y="22768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works depends on the world outside</a:t>
            </a:r>
            <a:endParaRPr lang="en-US" sz="11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CDCBDF9-1B24-23FF-F763-1588041CC2B9}"/>
              </a:ext>
            </a:extLst>
          </p:cNvPr>
          <p:cNvSpPr/>
          <p:nvPr/>
        </p:nvSpPr>
        <p:spPr>
          <a:xfrm>
            <a:off x="502920" y="2871216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60DD8A7-834D-B3D6-488F-B0CD04FEEFD5}"/>
              </a:ext>
            </a:extLst>
          </p:cNvPr>
          <p:cNvSpPr/>
          <p:nvPr/>
        </p:nvSpPr>
        <p:spPr>
          <a:xfrm>
            <a:off x="50292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F90A8A1-475C-4F6F-D80C-0DF62F715045}"/>
              </a:ext>
            </a:extLst>
          </p:cNvPr>
          <p:cNvSpPr/>
          <p:nvPr/>
        </p:nvSpPr>
        <p:spPr>
          <a:xfrm>
            <a:off x="1005840" y="28437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fit your capabilities</a:t>
            </a:r>
            <a:endParaRPr lang="en-US" sz="12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95F7B02-7C36-6BDA-8CF9-5EF372EB9BFE}"/>
              </a:ext>
            </a:extLst>
          </p:cNvPr>
          <p:cNvSpPr/>
          <p:nvPr/>
        </p:nvSpPr>
        <p:spPr>
          <a:xfrm>
            <a:off x="4389120" y="28437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Ambition without resources is a wish</a:t>
            </a:r>
            <a:endParaRPr lang="en-US" sz="11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7BA8D12-8B30-2E48-85A9-F352699C97F8}"/>
              </a:ext>
            </a:extLst>
          </p:cNvPr>
          <p:cNvSpPr/>
          <p:nvPr/>
        </p:nvSpPr>
        <p:spPr>
          <a:xfrm>
            <a:off x="502920" y="3438144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F92D762-3D05-F68A-7A61-5E7010398713}"/>
              </a:ext>
            </a:extLst>
          </p:cNvPr>
          <p:cNvSpPr/>
          <p:nvPr/>
        </p:nvSpPr>
        <p:spPr>
          <a:xfrm>
            <a:off x="50292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209F159-CF2F-05D4-B4C8-600464ED8079}"/>
              </a:ext>
            </a:extLst>
          </p:cNvPr>
          <p:cNvSpPr/>
          <p:nvPr/>
        </p:nvSpPr>
        <p:spPr>
          <a:xfrm>
            <a:off x="1005840" y="3410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aims for lasting advantage</a:t>
            </a:r>
            <a:endParaRPr lang="en-US" sz="12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006974E-CDE3-787D-9E16-7051C0FCC567}"/>
              </a:ext>
            </a:extLst>
          </p:cNvPr>
          <p:cNvSpPr/>
          <p:nvPr/>
        </p:nvSpPr>
        <p:spPr>
          <a:xfrm>
            <a:off x="4389120" y="34107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just one good quarter</a:t>
            </a: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5F9B643-0166-9D8C-C67D-60FBFA9C7110}"/>
              </a:ext>
            </a:extLst>
          </p:cNvPr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strategic-management principles synthesized for classroom use; see A. Nag, Ch. 1.</a:t>
            </a:r>
            <a:endParaRPr lang="en-US" sz="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642C5B0-4261-38F5-F03F-D5CFE54C530F}"/>
              </a:ext>
            </a:extLst>
          </p:cNvPr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79282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6–10: Making It Real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2093976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20665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Top management sets it, everyone implements it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663440" y="20665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needs buy-in at every level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9BCDC-26D7-F0BE-71F7-9355A19F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7A2B8969-C4AD-D2F2-61F1-CA0785C43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4C3DAED-0C76-D7E7-DECD-CFED3495C007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2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530FA6C-CF09-7196-47FD-0BF9524A3C1E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6–10: Making It Real</a:t>
            </a:r>
            <a:endParaRPr lang="en-US" sz="2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EA5F83B-1532-3929-E9D4-4DA73B06D9CF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E64A404-1E44-D917-BC62-1C969741A249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E4A78DD-3DDA-39A4-4EED-8614DB9D48B0}"/>
              </a:ext>
            </a:extLst>
          </p:cNvPr>
          <p:cNvSpPr/>
          <p:nvPr/>
        </p:nvSpPr>
        <p:spPr>
          <a:xfrm>
            <a:off x="100584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Top management sets it, everyone implements it</a:t>
            </a:r>
            <a:endParaRPr lang="en-US" sz="11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2D3F823-D6C7-93E6-5566-DA16212ACB89}"/>
              </a:ext>
            </a:extLst>
          </p:cNvPr>
          <p:cNvSpPr/>
          <p:nvPr/>
        </p:nvSpPr>
        <p:spPr>
          <a:xfrm>
            <a:off x="466344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needs buy-in at every level</a:t>
            </a:r>
            <a:endParaRPr lang="en-US" sz="10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285C1A4-1705-1DA4-7600-F97D0BC571DD}"/>
              </a:ext>
            </a:extLst>
          </p:cNvPr>
          <p:cNvSpPr/>
          <p:nvPr/>
        </p:nvSpPr>
        <p:spPr>
          <a:xfrm>
            <a:off x="502920" y="2548890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8AB6720-D5D5-D5E8-522C-0FE1372E40DD}"/>
              </a:ext>
            </a:extLst>
          </p:cNvPr>
          <p:cNvSpPr/>
          <p:nvPr/>
        </p:nvSpPr>
        <p:spPr>
          <a:xfrm>
            <a:off x="502920" y="254889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EDE48FC-9E10-372E-377F-06E2466DFE2A}"/>
              </a:ext>
            </a:extLst>
          </p:cNvPr>
          <p:cNvSpPr/>
          <p:nvPr/>
        </p:nvSpPr>
        <p:spPr>
          <a:xfrm>
            <a:off x="1005840" y="252145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always involves risk</a:t>
            </a:r>
            <a:endParaRPr lang="en-US" sz="11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4B091B3-06B3-2226-C10F-2A08C3209453}"/>
              </a:ext>
            </a:extLst>
          </p:cNvPr>
          <p:cNvSpPr/>
          <p:nvPr/>
        </p:nvSpPr>
        <p:spPr>
          <a:xfrm>
            <a:off x="4663440" y="252145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guaranteed outcomes, ever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3367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EFA17-390F-183D-BF2F-29E1FE213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89D35B64-5503-6D8B-869B-AC09C271E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2C69651-8FCE-0E8F-E014-EC0C8CC46599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2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38159D1-3CDD-0570-E246-E5982292855F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6–10: Making It Real</a:t>
            </a:r>
            <a:endParaRPr lang="en-US" sz="2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61883FB-DE91-E606-8453-2E403FF34C7D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CBFFE9B-62F6-175F-AE02-D342758553B7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D3FD290-1EDA-06D9-1851-4132B67D7B27}"/>
              </a:ext>
            </a:extLst>
          </p:cNvPr>
          <p:cNvSpPr/>
          <p:nvPr/>
        </p:nvSpPr>
        <p:spPr>
          <a:xfrm>
            <a:off x="100584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Top management sets it, everyone implements it</a:t>
            </a:r>
            <a:endParaRPr lang="en-US" sz="11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4EB783F-DD9B-9807-76E0-1FB356F9FD7B}"/>
              </a:ext>
            </a:extLst>
          </p:cNvPr>
          <p:cNvSpPr/>
          <p:nvPr/>
        </p:nvSpPr>
        <p:spPr>
          <a:xfrm>
            <a:off x="466344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needs buy-in at every level</a:t>
            </a:r>
            <a:endParaRPr lang="en-US" sz="10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7B0BFE8-4933-636F-E21B-7B87A0D7F812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9F2BC8A-0B70-CC3F-1629-822A14357710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C795A46-C739-4022-E08F-71258055B578}"/>
              </a:ext>
            </a:extLst>
          </p:cNvPr>
          <p:cNvSpPr/>
          <p:nvPr/>
        </p:nvSpPr>
        <p:spPr>
          <a:xfrm>
            <a:off x="1005840" y="17099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always involves risk</a:t>
            </a:r>
            <a:endParaRPr lang="en-US" sz="11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CC20131-A023-AE60-26E0-842BE3F5023A}"/>
              </a:ext>
            </a:extLst>
          </p:cNvPr>
          <p:cNvSpPr/>
          <p:nvPr/>
        </p:nvSpPr>
        <p:spPr>
          <a:xfrm>
            <a:off x="4663440" y="17099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guaranteed outcomes, ever</a:t>
            </a:r>
            <a:endParaRPr lang="en-US" sz="10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64F86D5-2C06-3EB3-7031-A24534B1B13E}"/>
              </a:ext>
            </a:extLst>
          </p:cNvPr>
          <p:cNvSpPr/>
          <p:nvPr/>
        </p:nvSpPr>
        <p:spPr>
          <a:xfrm>
            <a:off x="502920" y="2772918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99D0B4C-BF06-D5BD-372E-7B04AFDD81AC}"/>
              </a:ext>
            </a:extLst>
          </p:cNvPr>
          <p:cNvSpPr/>
          <p:nvPr/>
        </p:nvSpPr>
        <p:spPr>
          <a:xfrm>
            <a:off x="502920" y="277291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7A3C257-6613-762A-50CA-C3E8DD1D3E26}"/>
              </a:ext>
            </a:extLst>
          </p:cNvPr>
          <p:cNvSpPr/>
          <p:nvPr/>
        </p:nvSpPr>
        <p:spPr>
          <a:xfrm>
            <a:off x="1005840" y="274548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stay flexible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97B08D2-0AC6-B6E5-5CBF-85391379EF30}"/>
              </a:ext>
            </a:extLst>
          </p:cNvPr>
          <p:cNvSpPr/>
          <p:nvPr/>
        </p:nvSpPr>
        <p:spPr>
          <a:xfrm>
            <a:off x="4663440" y="274548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Rigid plans break when conditions change</a:t>
            </a:r>
            <a:endParaRPr lang="en-US" sz="10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1668248-BBC3-D344-99B7-F6ADDACC95CC}"/>
              </a:ext>
            </a:extLst>
          </p:cNvPr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strategic-management principles synthesized for classroom use; see A. Nag, Ch. 1.</a:t>
            </a:r>
            <a:endParaRPr lang="en-US" sz="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E356A71-2A32-E048-0B2C-4F2DF616A317}"/>
              </a:ext>
            </a:extLst>
          </p:cNvPr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100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B821-ED7C-715A-E5A3-959968CF0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E847695A-DA12-CF63-93C9-BA9ADA7C0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A10371F-F0B0-9952-950C-BBC9793E03F1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2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15144AB-8BA2-E4B1-D8D1-85A611181EEA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6–10: Making It Real</a:t>
            </a:r>
            <a:endParaRPr lang="en-US" sz="2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A3F8EF3-744D-4040-3165-6E9EBDA8789B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E8C472A-13C5-65E4-5C2F-D77D35CD8825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2043A97-16BF-C1CB-F50A-103D8093574C}"/>
              </a:ext>
            </a:extLst>
          </p:cNvPr>
          <p:cNvSpPr/>
          <p:nvPr/>
        </p:nvSpPr>
        <p:spPr>
          <a:xfrm>
            <a:off x="100584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Top management sets it, everyone implements it</a:t>
            </a:r>
            <a:endParaRPr lang="en-US" sz="11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92D88E2-16AC-97BB-3413-6D48858A4A58}"/>
              </a:ext>
            </a:extLst>
          </p:cNvPr>
          <p:cNvSpPr/>
          <p:nvPr/>
        </p:nvSpPr>
        <p:spPr>
          <a:xfrm>
            <a:off x="466344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needs buy-in at every level</a:t>
            </a:r>
            <a:endParaRPr lang="en-US" sz="10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2D6B93A-AFFD-6F7B-0F98-C5CFB980D7D5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E46EF5E-3A4C-7A03-622B-4D421FD9E1F1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4D50DC0-4EFE-1800-9745-935212C6EC98}"/>
              </a:ext>
            </a:extLst>
          </p:cNvPr>
          <p:cNvSpPr/>
          <p:nvPr/>
        </p:nvSpPr>
        <p:spPr>
          <a:xfrm>
            <a:off x="1005840" y="17099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always involves risk</a:t>
            </a:r>
            <a:endParaRPr lang="en-US" sz="11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B0CFD9C-8E4E-484E-DB9B-16C250B08245}"/>
              </a:ext>
            </a:extLst>
          </p:cNvPr>
          <p:cNvSpPr/>
          <p:nvPr/>
        </p:nvSpPr>
        <p:spPr>
          <a:xfrm>
            <a:off x="4663440" y="17099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guaranteed outcomes, ever</a:t>
            </a:r>
            <a:endParaRPr lang="en-US" sz="10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8161681-C8B8-809C-BB30-C40C4ECB891C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2B88197-7E95-893A-2736-A9E248B9CDD7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C360898-601E-AFEC-C4C0-EF24B40384B0}"/>
              </a:ext>
            </a:extLst>
          </p:cNvPr>
          <p:cNvSpPr/>
          <p:nvPr/>
        </p:nvSpPr>
        <p:spPr>
          <a:xfrm>
            <a:off x="1005840" y="22768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stay flexible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4FA5CD3-8803-CD63-2148-DA99756048E8}"/>
              </a:ext>
            </a:extLst>
          </p:cNvPr>
          <p:cNvSpPr/>
          <p:nvPr/>
        </p:nvSpPr>
        <p:spPr>
          <a:xfrm>
            <a:off x="4663440" y="22768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Rigid plans break when conditions change</a:t>
            </a:r>
            <a:endParaRPr lang="en-US" sz="10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90360EDF-1514-E918-2C22-D3DAC5BDCC85}"/>
              </a:ext>
            </a:extLst>
          </p:cNvPr>
          <p:cNvSpPr/>
          <p:nvPr/>
        </p:nvSpPr>
        <p:spPr>
          <a:xfrm>
            <a:off x="502920" y="3179826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E0D9CDA-1442-9616-0570-B6DE2D51696D}"/>
              </a:ext>
            </a:extLst>
          </p:cNvPr>
          <p:cNvSpPr/>
          <p:nvPr/>
        </p:nvSpPr>
        <p:spPr>
          <a:xfrm>
            <a:off x="502920" y="317982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4CD157B-B6DE-2F0F-09B9-68A93F1D5E8F}"/>
              </a:ext>
            </a:extLst>
          </p:cNvPr>
          <p:cNvSpPr/>
          <p:nvPr/>
        </p:nvSpPr>
        <p:spPr>
          <a:xfrm>
            <a:off x="1005840" y="315239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is only as good as its execution</a:t>
            </a:r>
            <a:endParaRPr lang="en-US" sz="11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0AE6BD2-97C4-84C4-9B1B-C0B39B4E3B96}"/>
              </a:ext>
            </a:extLst>
          </p:cNvPr>
          <p:cNvSpPr/>
          <p:nvPr/>
        </p:nvSpPr>
        <p:spPr>
          <a:xfrm>
            <a:off x="4663440" y="315239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brilliant plan, poorly run, still fails</a:t>
            </a:r>
            <a:endParaRPr lang="en-US" sz="10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E2F3FDB-3995-B172-A7C3-19BC302FEED7}"/>
              </a:ext>
            </a:extLst>
          </p:cNvPr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strategic-management principles synthesized for classroom use; see A. Nag, Ch. 1.</a:t>
            </a:r>
            <a:endParaRPr lang="en-US" sz="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B22A7844-2218-8D6B-57EC-AEB855A7352E}"/>
              </a:ext>
            </a:extLst>
          </p:cNvPr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6362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2C946-F503-DD33-91E3-9420126E1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931975F8-8394-1DF2-024A-107A5B464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BC4AB3C-DF47-7AD5-AE6C-A374649D82E8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2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C819072-F608-A868-3BD4-8DCBC97C8615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6–10: Making It Real</a:t>
            </a:r>
            <a:endParaRPr lang="en-US" sz="2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EC616A2-A5A7-CF36-D1E8-829E7A16E53B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C9E8AF7-18B2-E6DC-002E-CAA3FBFF36A2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16E278C-65A0-8100-B4DE-EDD161391921}"/>
              </a:ext>
            </a:extLst>
          </p:cNvPr>
          <p:cNvSpPr/>
          <p:nvPr/>
        </p:nvSpPr>
        <p:spPr>
          <a:xfrm>
            <a:off x="100584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Top management sets it, everyone implements it</a:t>
            </a:r>
            <a:endParaRPr lang="en-US" sz="11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B84AB87-B7DD-FCFF-8230-9F2DFE5FFF60}"/>
              </a:ext>
            </a:extLst>
          </p:cNvPr>
          <p:cNvSpPr/>
          <p:nvPr/>
        </p:nvSpPr>
        <p:spPr>
          <a:xfrm>
            <a:off x="466344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needs buy-in at every level</a:t>
            </a:r>
            <a:endParaRPr lang="en-US" sz="10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3D09A4A-5B36-059A-1E5F-25F73E5ACD65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D6D314B-B021-C9FA-290D-0EACD77537DB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7B31D53-4DDC-D091-4DB6-90F79CC0F5D6}"/>
              </a:ext>
            </a:extLst>
          </p:cNvPr>
          <p:cNvSpPr/>
          <p:nvPr/>
        </p:nvSpPr>
        <p:spPr>
          <a:xfrm>
            <a:off x="1005840" y="17099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always involves risk</a:t>
            </a:r>
            <a:endParaRPr lang="en-US" sz="11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03672E5-88AF-B09B-E2F8-D7CA94936320}"/>
              </a:ext>
            </a:extLst>
          </p:cNvPr>
          <p:cNvSpPr/>
          <p:nvPr/>
        </p:nvSpPr>
        <p:spPr>
          <a:xfrm>
            <a:off x="4663440" y="17099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guaranteed outcomes, ever</a:t>
            </a:r>
            <a:endParaRPr lang="en-US" sz="10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2207215-AE20-41F6-35E2-7F8DFF3249C0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88BED36-6FE4-71FE-B37B-241D705E63C7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07ABEC1-0007-A580-BE2A-E99FA57FBCD1}"/>
              </a:ext>
            </a:extLst>
          </p:cNvPr>
          <p:cNvSpPr/>
          <p:nvPr/>
        </p:nvSpPr>
        <p:spPr>
          <a:xfrm>
            <a:off x="1005840" y="22768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stay flexible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395D034-7C64-9A62-C8A9-265F0B21A1EF}"/>
              </a:ext>
            </a:extLst>
          </p:cNvPr>
          <p:cNvSpPr/>
          <p:nvPr/>
        </p:nvSpPr>
        <p:spPr>
          <a:xfrm>
            <a:off x="4663440" y="22768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Rigid plans break when conditions change</a:t>
            </a:r>
            <a:endParaRPr lang="en-US" sz="10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A16FFB10-CAA8-52C9-C16C-F847D700C3D0}"/>
              </a:ext>
            </a:extLst>
          </p:cNvPr>
          <p:cNvSpPr/>
          <p:nvPr/>
        </p:nvSpPr>
        <p:spPr>
          <a:xfrm>
            <a:off x="502920" y="2871216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58182AD-C561-2257-5012-70D7102962FA}"/>
              </a:ext>
            </a:extLst>
          </p:cNvPr>
          <p:cNvSpPr/>
          <p:nvPr/>
        </p:nvSpPr>
        <p:spPr>
          <a:xfrm>
            <a:off x="50292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E964FE4-7EA7-7C8B-CF9D-901C82349D03}"/>
              </a:ext>
            </a:extLst>
          </p:cNvPr>
          <p:cNvSpPr/>
          <p:nvPr/>
        </p:nvSpPr>
        <p:spPr>
          <a:xfrm>
            <a:off x="1005840" y="28437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is only as good as its execution</a:t>
            </a:r>
            <a:endParaRPr lang="en-US" sz="11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82298B9-BD60-69D4-E82B-06D5E7F6298D}"/>
              </a:ext>
            </a:extLst>
          </p:cNvPr>
          <p:cNvSpPr/>
          <p:nvPr/>
        </p:nvSpPr>
        <p:spPr>
          <a:xfrm>
            <a:off x="4663440" y="28437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brilliant plan, poorly run, still fails</a:t>
            </a:r>
            <a:endParaRPr lang="en-US" sz="105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2CC53A4-9BD0-5292-9152-9BB6CA386186}"/>
              </a:ext>
            </a:extLst>
          </p:cNvPr>
          <p:cNvSpPr/>
          <p:nvPr/>
        </p:nvSpPr>
        <p:spPr>
          <a:xfrm>
            <a:off x="502920" y="3438144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D6B6E9B-E873-5047-7A12-0D4C3BDF9C70}"/>
              </a:ext>
            </a:extLst>
          </p:cNvPr>
          <p:cNvSpPr/>
          <p:nvPr/>
        </p:nvSpPr>
        <p:spPr>
          <a:xfrm>
            <a:off x="50292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E1B6BC1-6192-A566-ABFF-815F4D79B71A}"/>
              </a:ext>
            </a:extLst>
          </p:cNvPr>
          <p:cNvSpPr/>
          <p:nvPr/>
        </p:nvSpPr>
        <p:spPr>
          <a:xfrm>
            <a:off x="1005840" y="34107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needs continuous evaluation</a:t>
            </a:r>
            <a:endParaRPr lang="en-US" sz="11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BC5F87F-5C2C-32BC-175C-D8C4DD51C95B}"/>
              </a:ext>
            </a:extLst>
          </p:cNvPr>
          <p:cNvSpPr/>
          <p:nvPr/>
        </p:nvSpPr>
        <p:spPr>
          <a:xfrm>
            <a:off x="4663440" y="34107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it's working; correct course early</a:t>
            </a:r>
            <a:endParaRPr lang="en-US" sz="10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12DCE01-EFF5-2E5A-A1CF-95BC9AA339EE}"/>
              </a:ext>
            </a:extLst>
          </p:cNvPr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strategic-management principles synthesized for classroom use; see A. Nag, Ch. 1.</a:t>
            </a:r>
            <a:endParaRPr lang="en-US" sz="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8976702-D53E-602E-8639-73E32B2D8D63}"/>
              </a:ext>
            </a:extLst>
          </p:cNvPr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64902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A5CF5-C9A2-F551-AE06-6652D881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134C4911-103A-511A-374A-409D2A7FE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ED2BAD6-6E58-2551-F2A7-2AABCC7EE45E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1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A6C4937-CC94-4E89-29A9-26B933C32BC9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1–5: Applying to Bonsho’s</a:t>
            </a:r>
            <a:endParaRPr lang="en-US" sz="2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E8396E7-5DCC-4B59-4E6F-77D699B3A545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8730F99-F878-A25A-A106-5D0A0EA82969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4A137DA-C714-D9CE-5FBA-0DD63D552100}"/>
              </a:ext>
            </a:extLst>
          </p:cNvPr>
          <p:cNvSpPr/>
          <p:nvPr/>
        </p:nvSpPr>
        <p:spPr>
          <a:xfrm>
            <a:off x="1005840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is about the future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CC90D5B-C655-34B2-69F7-93C34D2D59E6}"/>
              </a:ext>
            </a:extLst>
          </p:cNvPr>
          <p:cNvSpPr/>
          <p:nvPr/>
        </p:nvSpPr>
        <p:spPr>
          <a:xfrm>
            <a:off x="4389120" y="1143000"/>
            <a:ext cx="2857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highlight>
                  <a:srgbClr val="FF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Obvious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C4FE4D7-3554-F46F-4C90-921446D4D017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903B657-25EB-81FE-2F67-9DF257D8D47C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A935A07-39AC-8048-2ABE-D4BDD312D783}"/>
              </a:ext>
            </a:extLst>
          </p:cNvPr>
          <p:cNvSpPr/>
          <p:nvPr/>
        </p:nvSpPr>
        <p:spPr>
          <a:xfrm>
            <a:off x="1005840" y="17099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needs trade-offs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F6564D6-109D-2DBE-14F0-0F7E67D3BE59}"/>
              </a:ext>
            </a:extLst>
          </p:cNvPr>
          <p:cNvSpPr/>
          <p:nvPr/>
        </p:nvSpPr>
        <p:spPr>
          <a:xfrm>
            <a:off x="4389120" y="1709928"/>
            <a:ext cx="2857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cannot be everything to everyone</a:t>
            </a:r>
            <a:endParaRPr lang="en-US" sz="11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4C085A7-D6C1-4054-F228-68CCC33F2E71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B7A9AF8-7C9E-A27D-6F6F-8B0229FFCF55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62F83B5-CE59-37D4-3313-0DC7DE82DA5F}"/>
              </a:ext>
            </a:extLst>
          </p:cNvPr>
          <p:cNvSpPr/>
          <p:nvPr/>
        </p:nvSpPr>
        <p:spPr>
          <a:xfrm>
            <a:off x="1005840" y="22768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fit the environment</a:t>
            </a:r>
            <a:endParaRPr lang="en-US" sz="1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B9AA9BA-45FB-3392-17D7-9D43DC218ADF}"/>
              </a:ext>
            </a:extLst>
          </p:cNvPr>
          <p:cNvSpPr/>
          <p:nvPr/>
        </p:nvSpPr>
        <p:spPr>
          <a:xfrm>
            <a:off x="4389120" y="22768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works depends on the world outside</a:t>
            </a:r>
            <a:endParaRPr lang="en-US" sz="11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796645C-3E59-4367-9622-148997B8252A}"/>
              </a:ext>
            </a:extLst>
          </p:cNvPr>
          <p:cNvSpPr/>
          <p:nvPr/>
        </p:nvSpPr>
        <p:spPr>
          <a:xfrm>
            <a:off x="502920" y="2871216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8C622E5-2E6E-A6E2-B338-0C70469A6067}"/>
              </a:ext>
            </a:extLst>
          </p:cNvPr>
          <p:cNvSpPr/>
          <p:nvPr/>
        </p:nvSpPr>
        <p:spPr>
          <a:xfrm>
            <a:off x="50292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C986158-A48D-B3E7-F45F-92F3885B9E9D}"/>
              </a:ext>
            </a:extLst>
          </p:cNvPr>
          <p:cNvSpPr/>
          <p:nvPr/>
        </p:nvSpPr>
        <p:spPr>
          <a:xfrm>
            <a:off x="1005840" y="28437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fit your capabilities</a:t>
            </a:r>
            <a:endParaRPr lang="en-US" sz="12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257E01D-CB55-1FDE-0C21-FC7D447B46FC}"/>
              </a:ext>
            </a:extLst>
          </p:cNvPr>
          <p:cNvSpPr/>
          <p:nvPr/>
        </p:nvSpPr>
        <p:spPr>
          <a:xfrm>
            <a:off x="4389120" y="28437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Ambition without resources is a wish</a:t>
            </a:r>
            <a:endParaRPr lang="en-US" sz="11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591EA57E-571B-8CD3-14E3-16CD5DDCD506}"/>
              </a:ext>
            </a:extLst>
          </p:cNvPr>
          <p:cNvSpPr/>
          <p:nvPr/>
        </p:nvSpPr>
        <p:spPr>
          <a:xfrm>
            <a:off x="502920" y="3438144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E75F317-578E-ACFF-CD17-045DD3B524C3}"/>
              </a:ext>
            </a:extLst>
          </p:cNvPr>
          <p:cNvSpPr/>
          <p:nvPr/>
        </p:nvSpPr>
        <p:spPr>
          <a:xfrm>
            <a:off x="50292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01A3950-335A-8002-7EE8-DD407850B315}"/>
              </a:ext>
            </a:extLst>
          </p:cNvPr>
          <p:cNvSpPr/>
          <p:nvPr/>
        </p:nvSpPr>
        <p:spPr>
          <a:xfrm>
            <a:off x="1005840" y="3410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aims for lasting advantage</a:t>
            </a:r>
            <a:endParaRPr lang="en-US" sz="12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FADD546-6993-21FC-8521-7C1684F8D335}"/>
              </a:ext>
            </a:extLst>
          </p:cNvPr>
          <p:cNvSpPr/>
          <p:nvPr/>
        </p:nvSpPr>
        <p:spPr>
          <a:xfrm>
            <a:off x="4389120" y="34107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highlight>
                  <a:srgbClr val="FFFF00"/>
                </a:highlight>
              </a:rPr>
              <a:t>Obvious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9A72D51F-1012-AEDD-8D32-9688132785EC}"/>
              </a:ext>
            </a:extLst>
          </p:cNvPr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strategic-management principles synthesized for classroom use; see A. Nag, Ch. 1.</a:t>
            </a:r>
            <a:endParaRPr lang="en-US" sz="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5FA154F-2FAF-579D-251F-D4A20FF12A49}"/>
              </a:ext>
            </a:extLst>
          </p:cNvPr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13736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12618-ACE0-718A-A0CB-4863B331D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535E0965-2978-A1D3-D3C5-D28BD5E0B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08E4886-790F-AB24-4AB9-93C365E2C7BF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2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0AAC672-A439-93C9-FCA2-137DC20CDB7A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6–10: Applying to Bonsho’s</a:t>
            </a:r>
            <a:endParaRPr lang="en-US" sz="2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04BDBCE-F7B1-19D4-C1D9-7162FA5AF5C8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57C8475-D505-B515-08EA-3D2057E18B8E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05F6D1C-64D9-BB76-8944-A87A8BAB6570}"/>
              </a:ext>
            </a:extLst>
          </p:cNvPr>
          <p:cNvSpPr/>
          <p:nvPr/>
        </p:nvSpPr>
        <p:spPr>
          <a:xfrm>
            <a:off x="100584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Top management sets it, everyone implements it</a:t>
            </a:r>
            <a:endParaRPr lang="en-US" sz="11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7D07CFC-4447-794C-FC7D-CBDD48115550}"/>
              </a:ext>
            </a:extLst>
          </p:cNvPr>
          <p:cNvSpPr/>
          <p:nvPr/>
        </p:nvSpPr>
        <p:spPr>
          <a:xfrm>
            <a:off x="466344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highlight>
                  <a:srgbClr val="FF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Obvious</a:t>
            </a:r>
            <a:endParaRPr lang="en-US" sz="1050" dirty="0">
              <a:highlight>
                <a:srgbClr val="FFFF00"/>
              </a:highlight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BE885C5-F707-966F-A0D1-98E5CF840BC5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E3F77A1-D13A-A988-DD55-7B5343866E77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DD453D6-C4A7-C51F-CDF2-1E588EFC1D08}"/>
              </a:ext>
            </a:extLst>
          </p:cNvPr>
          <p:cNvSpPr/>
          <p:nvPr/>
        </p:nvSpPr>
        <p:spPr>
          <a:xfrm>
            <a:off x="1005840" y="17099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always involves risk</a:t>
            </a:r>
            <a:endParaRPr lang="en-US" sz="11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6BF3B50-8B63-A028-9453-DCE220E7C68D}"/>
              </a:ext>
            </a:extLst>
          </p:cNvPr>
          <p:cNvSpPr/>
          <p:nvPr/>
        </p:nvSpPr>
        <p:spPr>
          <a:xfrm>
            <a:off x="4663440" y="17099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guaranteed outcomes, ever</a:t>
            </a:r>
            <a:endParaRPr lang="en-US" sz="10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6527E36-B564-FF30-5CFF-488A7B2483E8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41CF4B2-BCB7-7766-44E0-FF68258090C4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3FFD66B-3920-BD26-DDCD-D784A55FA5D8}"/>
              </a:ext>
            </a:extLst>
          </p:cNvPr>
          <p:cNvSpPr/>
          <p:nvPr/>
        </p:nvSpPr>
        <p:spPr>
          <a:xfrm>
            <a:off x="1005840" y="22768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stay flexible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9EC1C12-3027-D3B9-3F3C-B91F1D5C33D7}"/>
              </a:ext>
            </a:extLst>
          </p:cNvPr>
          <p:cNvSpPr/>
          <p:nvPr/>
        </p:nvSpPr>
        <p:spPr>
          <a:xfrm>
            <a:off x="4663440" y="22768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Rigid plans break when conditions change</a:t>
            </a:r>
            <a:endParaRPr lang="en-US" sz="10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AED10CE5-09C3-A261-ED96-A6EB0C58AE51}"/>
              </a:ext>
            </a:extLst>
          </p:cNvPr>
          <p:cNvSpPr/>
          <p:nvPr/>
        </p:nvSpPr>
        <p:spPr>
          <a:xfrm>
            <a:off x="502920" y="2871216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CC6AA62-BDE4-B3A2-2979-3548D7A909A5}"/>
              </a:ext>
            </a:extLst>
          </p:cNvPr>
          <p:cNvSpPr/>
          <p:nvPr/>
        </p:nvSpPr>
        <p:spPr>
          <a:xfrm>
            <a:off x="50292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17FE392-9742-2876-2D51-2D92664266B7}"/>
              </a:ext>
            </a:extLst>
          </p:cNvPr>
          <p:cNvSpPr/>
          <p:nvPr/>
        </p:nvSpPr>
        <p:spPr>
          <a:xfrm>
            <a:off x="1005840" y="28437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is only as good as its execution</a:t>
            </a:r>
            <a:endParaRPr lang="en-US" sz="11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734EB85-E6DC-40F9-AFEF-216228879795}"/>
              </a:ext>
            </a:extLst>
          </p:cNvPr>
          <p:cNvSpPr/>
          <p:nvPr/>
        </p:nvSpPr>
        <p:spPr>
          <a:xfrm>
            <a:off x="4663440" y="28437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brilliant plan, poorly run, still fails</a:t>
            </a:r>
            <a:endParaRPr lang="en-US" sz="105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C4BC5BFA-12B1-D929-7B65-01D01F3CE685}"/>
              </a:ext>
            </a:extLst>
          </p:cNvPr>
          <p:cNvSpPr/>
          <p:nvPr/>
        </p:nvSpPr>
        <p:spPr>
          <a:xfrm>
            <a:off x="502920" y="3438144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3412EE5-EB36-16B9-CAF8-31ACC631333C}"/>
              </a:ext>
            </a:extLst>
          </p:cNvPr>
          <p:cNvSpPr/>
          <p:nvPr/>
        </p:nvSpPr>
        <p:spPr>
          <a:xfrm>
            <a:off x="50292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45F2A1DC-370C-8914-1D1C-4377CBBC73BA}"/>
              </a:ext>
            </a:extLst>
          </p:cNvPr>
          <p:cNvSpPr/>
          <p:nvPr/>
        </p:nvSpPr>
        <p:spPr>
          <a:xfrm>
            <a:off x="1005840" y="34107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needs continuous evaluation</a:t>
            </a:r>
            <a:endParaRPr lang="en-US" sz="11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70792604-8AF2-498F-5FA3-E8E5C146276F}"/>
              </a:ext>
            </a:extLst>
          </p:cNvPr>
          <p:cNvSpPr/>
          <p:nvPr/>
        </p:nvSpPr>
        <p:spPr>
          <a:xfrm>
            <a:off x="4663440" y="34107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it's working; correct course early</a:t>
            </a:r>
            <a:endParaRPr lang="en-US" sz="10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021942C-E12F-4412-F9DF-FBC19A26DC08}"/>
              </a:ext>
            </a:extLst>
          </p:cNvPr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strategic-management principles synthesized for classroom use; see A. Nag, Ch. 1.</a:t>
            </a:r>
            <a:endParaRPr lang="en-US" sz="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31CC6E0-3CE4-189C-8CC2-06264DB10465}"/>
              </a:ext>
            </a:extLst>
          </p:cNvPr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188368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144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These Principles Matter for You as a Founder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280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give you a checklist — something to test your own idea against before committing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14884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1031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explain why some ideas that sound great on paper still fail in the real world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297180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29260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remind you that strategy is a discipline, not a single moment of inspiration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0" y="477316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Key Takeaways from Today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73152" cy="73152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Good strategy always involves trade-offs — deliberately choosing what NOT to do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21992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2221992"/>
            <a:ext cx="73152" cy="73152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2219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must fit both the outside environment and your own real capabilities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07238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3072384"/>
            <a:ext cx="73152" cy="73152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3072384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Execution matters as much as the plan itself — often more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392277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3922776"/>
            <a:ext cx="73152" cy="73152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3922776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same ten principles apply whether you're Titan or a single momo cart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DC40D-06E2-0B86-15FA-C157F227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70E5E3CD-8919-8535-3EF1-588DE35F4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568813F-6DF0-FF29-7996-565095C4DB2F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EECB06C-DE3B-4FDF-6A74-7390281C195E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BC95A6A-2EB6-5CAD-2EED-D87A01E89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309" y="850392"/>
            <a:ext cx="6646547" cy="362538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4BEF4CB-E789-4797-93E0-CF6714640E7F}"/>
              </a:ext>
            </a:extLst>
          </p:cNvPr>
          <p:cNvSpPr txBox="1"/>
          <p:nvPr/>
        </p:nvSpPr>
        <p:spPr>
          <a:xfrm>
            <a:off x="258935" y="2387084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Achilles</a:t>
            </a:r>
          </a:p>
        </p:txBody>
      </p:sp>
    </p:spTree>
    <p:extLst>
      <p:ext uri="{BB962C8B-B14F-4D97-AF65-F5344CB8AC3E}">
        <p14:creationId xmlns:p14="http://schemas.microsoft.com/office/powerpoint/2010/main" val="188193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D5593-65C7-FB4E-1FD1-681F4086F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810B4802-559F-FEC7-BBDA-F6507CBD4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CD52B09-9E94-537C-AA55-6D1CCA4BAB35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91F7C45-E706-268F-1890-39A2B1276F42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FCCD5B-DD6C-87A9-B5FD-A94D7BCDE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536" y="960120"/>
            <a:ext cx="6646927" cy="362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213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2FEFC-230C-725B-D419-697C941D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E8325EAC-AA53-898F-E992-5F8EF0291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88B1C93-BB67-C3F7-A5B1-E05E37D7C320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06D9A20-D2CE-7F7E-6738-2C5457339164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A05E8F-DEE7-7535-F87B-5D2E01587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812" y="1051560"/>
            <a:ext cx="6768467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85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89FDD-762D-86B1-34FB-267BCF9F0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B6CE4897-31D5-0C21-2ED5-CDC33B1A8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977054D-9644-D35D-B26D-AED2710F70DA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86F927A-ED22-5FB7-44F6-3988D9531F61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97D19F-5F05-5B9A-B196-01C4949C62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629"/>
          <a:stretch>
            <a:fillRect/>
          </a:stretch>
        </p:blipFill>
        <p:spPr>
          <a:xfrm>
            <a:off x="685800" y="1480324"/>
            <a:ext cx="7772400" cy="18811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D27DA7-0FBC-180E-2EFF-CE15778EDB9A}"/>
              </a:ext>
            </a:extLst>
          </p:cNvPr>
          <p:cNvCxnSpPr/>
          <p:nvPr/>
        </p:nvCxnSpPr>
        <p:spPr>
          <a:xfrm>
            <a:off x="3977640" y="2571750"/>
            <a:ext cx="0" cy="1543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8C93AAF-7A58-4750-9079-4842DBF72F15}"/>
              </a:ext>
            </a:extLst>
          </p:cNvPr>
          <p:cNvSpPr txBox="1"/>
          <p:nvPr/>
        </p:nvSpPr>
        <p:spPr>
          <a:xfrm>
            <a:off x="2594610" y="4259818"/>
            <a:ext cx="3107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Focal Point or Center of Gravity</a:t>
            </a:r>
          </a:p>
        </p:txBody>
      </p:sp>
    </p:spTree>
    <p:extLst>
      <p:ext uri="{BB962C8B-B14F-4D97-AF65-F5344CB8AC3E}">
        <p14:creationId xmlns:p14="http://schemas.microsoft.com/office/powerpoint/2010/main" val="387599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FF622-4C0B-DBC8-FF2F-E74AB9AC6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D533F7CE-E127-BD14-9442-A8ABDFF12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1BE87BB-14DA-BFCF-E21F-B4BB0D86D2D6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D5EA310-58B4-5BFF-2AE4-43E5DB6374D2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F1471-D27E-DC4C-CF99-0A8E9897AB07}"/>
              </a:ext>
            </a:extLst>
          </p:cNvPr>
          <p:cNvSpPr txBox="1"/>
          <p:nvPr/>
        </p:nvSpPr>
        <p:spPr>
          <a:xfrm>
            <a:off x="2394512" y="1866876"/>
            <a:ext cx="4354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Similarly, all organizations have Achilles heel.</a:t>
            </a:r>
          </a:p>
        </p:txBody>
      </p:sp>
    </p:spTree>
    <p:extLst>
      <p:ext uri="{BB962C8B-B14F-4D97-AF65-F5344CB8AC3E}">
        <p14:creationId xmlns:p14="http://schemas.microsoft.com/office/powerpoint/2010/main" val="4210069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B4957B-616C-35DF-FB08-58207628E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7EF78E0E-C0F1-6B2D-8D21-EA19DA3AA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C27F4A6-547D-97CF-8769-110067362493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05FD82B-4AB4-02C8-0437-20E86A8619BE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2EDA89-313F-6FA8-D199-746B4447BE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983" b="49763"/>
          <a:stretch>
            <a:fillRect/>
          </a:stretch>
        </p:blipFill>
        <p:spPr>
          <a:xfrm>
            <a:off x="2628265" y="1506855"/>
            <a:ext cx="3887470" cy="212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56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8C3D0-7070-ACA0-E281-038C16C5D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A1419A49-F458-3821-B160-804219931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7656B95-2911-76F2-175B-85DAB3C2825B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8DBC8E-66CC-9FD2-EB66-975F84E46556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9CCAC6-C3BE-93B6-1A3E-9E6C0B6BC2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1" t="-270" r="-18" b="50033"/>
          <a:stretch>
            <a:fillRect/>
          </a:stretch>
        </p:blipFill>
        <p:spPr>
          <a:xfrm>
            <a:off x="2628265" y="1506855"/>
            <a:ext cx="3887470" cy="212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12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DF28D0-45C9-AE40-D663-4413AD2A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22A9C2ED-4604-4EC6-923D-8A4C0B04D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07504B6-627E-360F-4EB7-705437B6176C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82DA000-297D-002E-6019-ABFECBB68B17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5A25B6-2A13-7082-70CC-74BA21A0FA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854" t="50686" r="129" b="-923"/>
          <a:stretch>
            <a:fillRect/>
          </a:stretch>
        </p:blipFill>
        <p:spPr>
          <a:xfrm>
            <a:off x="2628265" y="1506855"/>
            <a:ext cx="3887470" cy="212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13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AE4D6-C798-951A-14AF-A9C81907B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EBFA6793-68E6-E445-BF74-7CA10ACED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4326F5A-9F6D-52A8-E84A-ADD7495487D3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FACCCCD-32A5-32E7-D2CA-8532C9B6F51D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Schwerpunkt</a:t>
            </a:r>
            <a:endParaRPr 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ACF22-680C-9FB2-C42A-94BF852C2EA6}"/>
              </a:ext>
            </a:extLst>
          </p:cNvPr>
          <p:cNvSpPr txBox="1"/>
          <p:nvPr/>
        </p:nvSpPr>
        <p:spPr>
          <a:xfrm>
            <a:off x="2704437" y="2051542"/>
            <a:ext cx="3735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Can you imagine any other examples?</a:t>
            </a:r>
          </a:p>
        </p:txBody>
      </p:sp>
    </p:spTree>
    <p:extLst>
      <p:ext uri="{BB962C8B-B14F-4D97-AF65-F5344CB8AC3E}">
        <p14:creationId xmlns:p14="http://schemas.microsoft.com/office/powerpoint/2010/main" val="955436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 &amp; NEXT SESSION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Sources &amp; What's Coming Up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Required Reading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4813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A. Nag — Strategic Management: Analysis, Implementation and Control, Ch. 1 (pp. 12, 18, 23, 28–30)
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</a:rPr>
              <a:t>Term for next class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7157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highlight>
                  <a:srgbClr val="FFFF00"/>
                </a:highlight>
              </a:rPr>
              <a:t>Fabian Strategy</a:t>
            </a:r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0" y="1353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Coming Up — Session 7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Strategic Management Model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37760" y="22128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four-stage process every real strategy actually goes through.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3566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prep needed — just come curious.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15</a:t>
            </a:r>
            <a:endParaRPr lang="en-US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08BA6F-C743-4F3B-B8AA-11EE8DCA3032}"/>
              </a:ext>
            </a:extLst>
          </p:cNvPr>
          <p:cNvSpPr txBox="1"/>
          <p:nvPr/>
        </p:nvSpPr>
        <p:spPr>
          <a:xfrm>
            <a:off x="2286000" y="238665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1900</Words>
  <Application>Microsoft Office PowerPoint</Application>
  <PresentationFormat>On-screen Show (16:9)</PresentationFormat>
  <Paragraphs>352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Arial</vt:lpstr>
      <vt:lpstr>Calibri</vt:lpstr>
      <vt:lpstr>Montserrat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Shridhar samant</cp:lastModifiedBy>
  <cp:revision>8</cp:revision>
  <dcterms:created xsi:type="dcterms:W3CDTF">2026-07-31T08:50:52Z</dcterms:created>
  <dcterms:modified xsi:type="dcterms:W3CDTF">2026-08-18T06:36:00Z</dcterms:modified>
</cp:coreProperties>
</file>