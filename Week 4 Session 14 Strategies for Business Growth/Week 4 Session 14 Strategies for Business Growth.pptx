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9" r:id="rId2"/>
    <p:sldId id="274" r:id="rId3"/>
    <p:sldId id="296" r:id="rId4"/>
    <p:sldId id="262" r:id="rId5"/>
    <p:sldId id="297" r:id="rId6"/>
    <p:sldId id="268" r:id="rId7"/>
    <p:sldId id="269" r:id="rId8"/>
    <p:sldId id="270" r:id="rId9"/>
    <p:sldId id="298" r:id="rId10"/>
    <p:sldId id="271" r:id="rId11"/>
    <p:sldId id="275" r:id="rId12"/>
    <p:sldId id="276" r:id="rId13"/>
    <p:sldId id="277" r:id="rId14"/>
    <p:sldId id="294" r:id="rId15"/>
    <p:sldId id="291" r:id="rId16"/>
    <p:sldId id="292" r:id="rId17"/>
    <p:sldId id="293" r:id="rId18"/>
    <p:sldId id="278" r:id="rId19"/>
    <p:sldId id="279" r:id="rId20"/>
    <p:sldId id="261" r:id="rId21"/>
    <p:sldId id="280" r:id="rId22"/>
    <p:sldId id="281" r:id="rId23"/>
    <p:sldId id="282" r:id="rId24"/>
    <p:sldId id="272" r:id="rId25"/>
    <p:sldId id="26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85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443" y="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4434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B5F2C-7837-D21C-450D-8CFC0BDF2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10EA29-2B0D-B61E-7377-2E4EC0D3C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7F8E32-6690-D67C-8FAB-71DE8747C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1BDC4-8233-4D0F-4F0A-D8B2308880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858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B5F2C-7837-D21C-450D-8CFC0BDF2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10EA29-2B0D-B61E-7377-2E4EC0D3C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7F8E32-6690-D67C-8FAB-71DE8747C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1BDC4-8233-4D0F-4F0A-D8B2308880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40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60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8753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326F8-6416-E025-29FF-027F17294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EF92A-0918-E6E3-DE41-58ED62F94D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EA144B-52A6-5F7B-BF31-35F1C42B0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1E0D1-65FB-A288-7832-97D42DB9C0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5085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3EC7F-DFB1-C744-C1B5-EB79AC836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D8B968-83DA-AA3F-0F52-53BE6FCFFA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F09FAA-F737-4F76-632F-360B0851F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F058C-7630-199E-7878-B0B7CE8CF5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0022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B1801-68B3-F0B8-C837-C5839159F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43FA4B-504F-25E2-7A41-8146BB184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59A578-F219-2952-C565-C1B73288D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E414F-AB08-38EB-9BEF-D96E34FF6B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424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775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35B86-5775-0504-B23F-00D1899BA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8F86DD-18E7-4757-58E0-E6A498602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E47042-FBE3-A1EB-D6F2-1A25BA7B5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7E64A-E18F-C2E3-FA55-77FA9597D4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0075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9CE9E-B290-ED63-CABB-D2E33EE37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1C9333-B03C-030E-510F-3D860063AA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744909-63C9-7694-0B02-64C5D2F576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EA62A-7D84-5076-6A87-F191B3F7C5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0971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9C277-54C3-F20C-0DC2-FF4D8FD9F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F4593-9441-DD50-D92E-9B71A19A2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42990D-7C55-F2F4-8878-E029607E94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5C4B0-ACD2-8B23-A9E8-9EF74C8EE2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180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1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RECAP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Last Session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4FF554-BBD2-9364-BD7E-3E6D67462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41FB6A61-DFAF-01E5-DE3B-D80A723F8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ABEE314-D916-2867-1679-F4F8CAAE63C4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BB90CFC-8DD2-B6A2-981E-347A107DA4C3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</a:rPr>
              <a:t>What are Resources?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693997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4FF554-BBD2-9364-BD7E-3E6D67462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41FB6A61-DFAF-01E5-DE3B-D80A723F8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599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ABEE314-D916-2867-1679-F4F8CAAE63C4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BB90CFC-8DD2-B6A2-981E-347A107DA4C3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</a:rPr>
              <a:t> Resources, Capability, Competency </a:t>
            </a:r>
            <a:endParaRPr lang="en-US" sz="25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C40AF13-4634-4740-A22E-469C5C01A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774" y="1744658"/>
            <a:ext cx="748020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 is a source of supply, support, or available means to function or reach a goal.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Capability: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organization’s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ability to use its resources to perform a particular activity effectively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Competency: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organization’s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proven ability to perform an activity better than competitors or create superior value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6789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4266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CONCEPT 1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Four Kinds of Resources</a:t>
            </a:r>
            <a:endParaRPr lang="en-US" sz="2500" dirty="0"/>
          </a:p>
        </p:txBody>
      </p:sp>
      <p:sp>
        <p:nvSpPr>
          <p:cNvPr id="17" name="Text 14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Framework based on: A. Nag, Strategic Management: Analysis, Implementation and Control, Ch. 5.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17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CONCEPT 1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Four Kinds of Resources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365760" y="1280160"/>
            <a:ext cx="1947672" cy="2926080"/>
          </a:xfrm>
          <a:prstGeom prst="roundRect">
            <a:avLst>
              <a:gd name="adj" fmla="val 3756"/>
            </a:avLst>
          </a:prstGeom>
          <a:solidFill>
            <a:srgbClr val="FFFFFF">
              <a:alpha val="88000"/>
            </a:srgbClr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150876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Physical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02920" y="2194560"/>
            <a:ext cx="1673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Buildings, equipment, inventory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423160" y="1280160"/>
            <a:ext cx="1947672" cy="2926080"/>
          </a:xfrm>
          <a:prstGeom prst="roundRect">
            <a:avLst>
              <a:gd name="adj" fmla="val 3756"/>
            </a:avLst>
          </a:prstGeom>
          <a:solidFill>
            <a:srgbClr val="FFFFFF">
              <a:alpha val="88000"/>
            </a:srgbClr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560320" y="150876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Financial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2560320" y="2194560"/>
            <a:ext cx="1673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Cash, credit, access to capital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80560" y="1280160"/>
            <a:ext cx="1947672" cy="2926080"/>
          </a:xfrm>
          <a:prstGeom prst="roundRect">
            <a:avLst>
              <a:gd name="adj" fmla="val 3756"/>
            </a:avLst>
          </a:prstGeom>
          <a:solidFill>
            <a:srgbClr val="FFFFFF">
              <a:alpha val="88000"/>
            </a:srgbClr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617720" y="150876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Human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617720" y="2194560"/>
            <a:ext cx="1673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People and their skills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37960" y="1280160"/>
            <a:ext cx="1947672" cy="2926080"/>
          </a:xfrm>
          <a:prstGeom prst="roundRect">
            <a:avLst>
              <a:gd name="adj" fmla="val 3756"/>
            </a:avLst>
          </a:prstGeom>
          <a:solidFill>
            <a:srgbClr val="FFFFFF">
              <a:alpha val="88000"/>
            </a:srgbClr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675120" y="150876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Intangible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675120" y="2194560"/>
            <a:ext cx="1673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Brand, reputation, patents, culture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Framework based on: A. Nag, Strategic Management: Analysis, Implementation and Control, Ch. 5.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17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995478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 TO PRIYA'S MOMOS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Her Four Resource Types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1920240" cy="713232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28016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Physical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423160" y="1280160"/>
            <a:ext cx="6263640" cy="713232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606040" y="128016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 cart, steamer, and cooking equipment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103120"/>
            <a:ext cx="1920240" cy="713232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210312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Financial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423160" y="2103120"/>
            <a:ext cx="6263640" cy="713232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606040" y="210312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 monthly budget and small savings buffer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926080"/>
            <a:ext cx="1920240" cy="713232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292608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Human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423160" y="2926080"/>
            <a:ext cx="6263640" cy="713232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606040" y="292608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Herself, and the helper she hires on weekends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749040"/>
            <a:ext cx="1920240" cy="713232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7200" y="374904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Intangible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423160" y="3749040"/>
            <a:ext cx="6263640" cy="713232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606040" y="374904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 reputation for fresh, reliable food among regulars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“Priya's Momos” is a fictional business created for classroom illustration only.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 / 17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6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ACTIVITY · 10 MINUTES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Resource or Competence?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each item, call out: is this a resource, or a competence built from resources?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15544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“A fleet of 500 delivery vans”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7200" y="25603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256032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“The ability to deliver any order within 2 hours”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57200" y="35661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31520" y="356616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“₹10 crore in the bank”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MATTERS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Why This Distinction Matters for a Founder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/ 17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MATTERS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Why This Distinction Matters for a Founder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37160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Investors fund resources, but they bet on competencies  what you can actually do with what you're given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286000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224028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businesses can have identical resources and completely different outcomes, based on competence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3154680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51560" y="310896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Knowing your weakest resource tells you exactly what to fundraise, hire, or build for next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/ 17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365455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SUMMARY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Key Takeaways from Today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5443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154430"/>
            <a:ext cx="73152" cy="658368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115443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resource types: physical, financial, human, and intangible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90881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1908810"/>
            <a:ext cx="73152" cy="658368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190881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Resources are things you have; competencies are what you can do with them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68605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2686050"/>
            <a:ext cx="73152" cy="658368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77240" y="268605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Sun Tzu priced out an army's resources 2,500 years ago — and warned that even strong resources drain if not actively protected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46329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57200" y="3463290"/>
            <a:ext cx="73152" cy="658368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77240" y="346329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Investors fund resources, but they bet on competencies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F4CF6-B727-EBD9-154C-7CE16F234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6FA7DBBA-2C2A-2663-EC52-0196798BE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86B8E9B-5FA6-2B14-3E10-85D9B41C533C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C02760B-AAD1-492B-F30F-63735B4A672F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Apostatic Selection</a:t>
            </a:r>
            <a:endParaRPr lang="en-US" sz="25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70F63ED-8ED4-7CCD-4252-7E7160A29E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0205" y="1051560"/>
            <a:ext cx="5417820" cy="361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308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4F7F33-6157-FA0E-937E-E7AA731E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CD06A4CD-2877-4E5D-FD80-898F051D8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4A4CFB8-FAC9-B713-F472-F09F18B328B1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0AC8256-6D27-C4A2-143F-9E839C5656D5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Apostatic Selection</a:t>
            </a:r>
            <a:endParaRPr lang="en-US" sz="25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E3CCA1B-A0CF-053F-24D5-5EF633F51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5" y="1748790"/>
            <a:ext cx="3017520" cy="2011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777447-E536-8651-2719-D251EB2705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7585" y="1051560"/>
            <a:ext cx="5263515" cy="350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974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959539-A4D4-62B7-2943-C4F57552D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FF292B4D-B65E-D572-A34B-21ADBD8B2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52CBDE0-0AF4-C7AA-7812-4B6793020D59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163F3C6-1658-A4BD-1790-DDA90FA455E5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Apostatic Selection</a:t>
            </a:r>
            <a:endParaRPr lang="en-US" sz="2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C121B5-355C-AF36-3362-C03762AA5E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1689" y="838962"/>
            <a:ext cx="5892165" cy="392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406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c_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" y="0"/>
            <a:ext cx="9141714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9831" y="2125980"/>
            <a:ext cx="80238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Unit 1 complete.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9831" y="2708910"/>
            <a:ext cx="80238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i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quick recap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790611" y="240030"/>
            <a:ext cx="19888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 / 17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75869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C167C-6B9F-7AC4-B4EB-DF7E7833E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BD691308-3A36-EDF3-C4CA-C4FDCAD91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40E8338-ABF7-3C54-5F63-E55D3BC5F325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Recap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F198E28-0D73-5B3B-D3B3-B53EB88C16C5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Building blocks of strategy</a:t>
            </a:r>
            <a:endParaRPr lang="en-US" sz="25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F8E8320-51F1-46A1-12E4-84048B52DAF9}"/>
              </a:ext>
            </a:extLst>
          </p:cNvPr>
          <p:cNvGrpSpPr/>
          <p:nvPr/>
        </p:nvGrpSpPr>
        <p:grpSpPr>
          <a:xfrm>
            <a:off x="0" y="1224354"/>
            <a:ext cx="7475548" cy="3031829"/>
            <a:chOff x="88790" y="923544"/>
            <a:chExt cx="8849801" cy="3763350"/>
          </a:xfrm>
        </p:grpSpPr>
        <p:sp>
          <p:nvSpPr>
            <p:cNvPr id="14" name="Shape 2">
              <a:extLst>
                <a:ext uri="{FF2B5EF4-FFF2-40B4-BE49-F238E27FC236}">
                  <a16:creationId xmlns:a16="http://schemas.microsoft.com/office/drawing/2014/main" id="{285BB1EC-3AE1-FEC6-5F8A-4791151AA969}"/>
                </a:ext>
              </a:extLst>
            </p:cNvPr>
            <p:cNvSpPr/>
            <p:nvPr/>
          </p:nvSpPr>
          <p:spPr>
            <a:xfrm>
              <a:off x="640080" y="923544"/>
              <a:ext cx="7863840" cy="384048"/>
            </a:xfrm>
            <a:prstGeom prst="roundRect">
              <a:avLst>
                <a:gd name="adj" fmla="val 11905"/>
              </a:avLst>
            </a:prstGeom>
            <a:solidFill>
              <a:srgbClr val="B20E3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3">
              <a:extLst>
                <a:ext uri="{FF2B5EF4-FFF2-40B4-BE49-F238E27FC236}">
                  <a16:creationId xmlns:a16="http://schemas.microsoft.com/office/drawing/2014/main" id="{24089F05-6F4E-83F0-DAE5-E6952DBC4EE5}"/>
                </a:ext>
              </a:extLst>
            </p:cNvPr>
            <p:cNvSpPr/>
            <p:nvPr/>
          </p:nvSpPr>
          <p:spPr>
            <a:xfrm>
              <a:off x="777240" y="923544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Montserrat SemiBold" pitchFamily="34" charset="0"/>
                  <a:ea typeface="Montserrat SemiBold" pitchFamily="34" charset="-122"/>
                  <a:cs typeface="Montserrat SemiBold" pitchFamily="34" charset="-120"/>
                </a:rPr>
                <a:t>Mission</a:t>
              </a:r>
              <a:endParaRPr lang="en-US" sz="1150" dirty="0"/>
            </a:p>
          </p:txBody>
        </p:sp>
        <p:sp>
          <p:nvSpPr>
            <p:cNvPr id="16" name="Text 4">
              <a:extLst>
                <a:ext uri="{FF2B5EF4-FFF2-40B4-BE49-F238E27FC236}">
                  <a16:creationId xmlns:a16="http://schemas.microsoft.com/office/drawing/2014/main" id="{0EB40930-E78C-1877-A9AD-F759924D25D1}"/>
                </a:ext>
              </a:extLst>
            </p:cNvPr>
            <p:cNvSpPr/>
            <p:nvPr/>
          </p:nvSpPr>
          <p:spPr>
            <a:xfrm>
              <a:off x="2468880" y="923544"/>
              <a:ext cx="5897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Why we exist</a:t>
              </a:r>
              <a:endParaRPr lang="en-US" sz="1000" dirty="0"/>
            </a:p>
          </p:txBody>
        </p:sp>
        <p:sp>
          <p:nvSpPr>
            <p:cNvPr id="17" name="Shape 5">
              <a:extLst>
                <a:ext uri="{FF2B5EF4-FFF2-40B4-BE49-F238E27FC236}">
                  <a16:creationId xmlns:a16="http://schemas.microsoft.com/office/drawing/2014/main" id="{407DC857-8322-894D-51EE-9BE82F9E9111}"/>
                </a:ext>
              </a:extLst>
            </p:cNvPr>
            <p:cNvSpPr/>
            <p:nvPr/>
          </p:nvSpPr>
          <p:spPr>
            <a:xfrm>
              <a:off x="868680" y="1380744"/>
              <a:ext cx="7406640" cy="384048"/>
            </a:xfrm>
            <a:prstGeom prst="roundRect">
              <a:avLst>
                <a:gd name="adj" fmla="val 11905"/>
              </a:avLst>
            </a:prstGeom>
            <a:solidFill>
              <a:srgbClr val="FFFFFF"/>
            </a:solidFill>
            <a:ln/>
            <a:effectLst>
              <a:outerShdw blurRad="38100" dist="127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 6">
              <a:extLst>
                <a:ext uri="{FF2B5EF4-FFF2-40B4-BE49-F238E27FC236}">
                  <a16:creationId xmlns:a16="http://schemas.microsoft.com/office/drawing/2014/main" id="{9A0D026E-F14C-67DB-05B7-A6344F885FA0}"/>
                </a:ext>
              </a:extLst>
            </p:cNvPr>
            <p:cNvSpPr/>
            <p:nvPr/>
          </p:nvSpPr>
          <p:spPr>
            <a:xfrm>
              <a:off x="1005840" y="1380744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B20E38"/>
                  </a:solidFill>
                  <a:latin typeface="Montserrat SemiBold" pitchFamily="34" charset="0"/>
                  <a:ea typeface="Montserrat SemiBold" pitchFamily="34" charset="-122"/>
                  <a:cs typeface="Montserrat SemiBold" pitchFamily="34" charset="-120"/>
                </a:rPr>
                <a:t>Goal</a:t>
              </a:r>
              <a:endParaRPr lang="en-US" sz="1150" dirty="0"/>
            </a:p>
          </p:txBody>
        </p:sp>
        <p:sp>
          <p:nvSpPr>
            <p:cNvPr id="19" name="Text 7">
              <a:extLst>
                <a:ext uri="{FF2B5EF4-FFF2-40B4-BE49-F238E27FC236}">
                  <a16:creationId xmlns:a16="http://schemas.microsoft.com/office/drawing/2014/main" id="{45672A49-3E73-CAF0-DBC1-1CB034D316C1}"/>
                </a:ext>
              </a:extLst>
            </p:cNvPr>
            <p:cNvSpPr/>
            <p:nvPr/>
          </p:nvSpPr>
          <p:spPr>
            <a:xfrm>
              <a:off x="2697480" y="1380744"/>
              <a:ext cx="5440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1A1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What we want to achieve over the long term</a:t>
              </a:r>
              <a:endParaRPr lang="en-US" sz="1000" dirty="0"/>
            </a:p>
          </p:txBody>
        </p:sp>
        <p:sp>
          <p:nvSpPr>
            <p:cNvPr id="20" name="Shape 8">
              <a:extLst>
                <a:ext uri="{FF2B5EF4-FFF2-40B4-BE49-F238E27FC236}">
                  <a16:creationId xmlns:a16="http://schemas.microsoft.com/office/drawing/2014/main" id="{74CFB401-A030-4471-FFE0-0F396AB1CD72}"/>
                </a:ext>
              </a:extLst>
            </p:cNvPr>
            <p:cNvSpPr/>
            <p:nvPr/>
          </p:nvSpPr>
          <p:spPr>
            <a:xfrm>
              <a:off x="1097280" y="1837944"/>
              <a:ext cx="6949440" cy="384048"/>
            </a:xfrm>
            <a:prstGeom prst="roundRect">
              <a:avLst>
                <a:gd name="adj" fmla="val 11905"/>
              </a:avLst>
            </a:prstGeom>
            <a:solidFill>
              <a:srgbClr val="FFFFFF"/>
            </a:solidFill>
            <a:ln/>
            <a:effectLst>
              <a:outerShdw blurRad="38100" dist="127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9">
              <a:extLst>
                <a:ext uri="{FF2B5EF4-FFF2-40B4-BE49-F238E27FC236}">
                  <a16:creationId xmlns:a16="http://schemas.microsoft.com/office/drawing/2014/main" id="{E501F963-DACF-3B46-83D8-881877A645F4}"/>
                </a:ext>
              </a:extLst>
            </p:cNvPr>
            <p:cNvSpPr/>
            <p:nvPr/>
          </p:nvSpPr>
          <p:spPr>
            <a:xfrm>
              <a:off x="1234440" y="1837944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50" b="1" dirty="0">
                  <a:solidFill>
                    <a:srgbClr val="B20E38"/>
                  </a:solidFill>
                  <a:latin typeface="Montserrat SemiBold" pitchFamily="34" charset="0"/>
                  <a:ea typeface="Montserrat SemiBold" pitchFamily="34" charset="-122"/>
                  <a:cs typeface="Montserrat SemiBold" pitchFamily="34" charset="-120"/>
                </a:rPr>
                <a:t>Objectives</a:t>
              </a:r>
              <a:endParaRPr lang="en-US" sz="1150" dirty="0"/>
            </a:p>
          </p:txBody>
        </p:sp>
        <p:sp>
          <p:nvSpPr>
            <p:cNvPr id="22" name="Text 10">
              <a:extLst>
                <a:ext uri="{FF2B5EF4-FFF2-40B4-BE49-F238E27FC236}">
                  <a16:creationId xmlns:a16="http://schemas.microsoft.com/office/drawing/2014/main" id="{77AF5430-9559-5184-FCC3-8BDB29BDDEE8}"/>
                </a:ext>
              </a:extLst>
            </p:cNvPr>
            <p:cNvSpPr/>
            <p:nvPr/>
          </p:nvSpPr>
          <p:spPr>
            <a:xfrm>
              <a:off x="2926080" y="1837944"/>
              <a:ext cx="49834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dirty="0">
                  <a:solidFill>
                    <a:srgbClr val="1A1A1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What we're specifically trying to achieve</a:t>
              </a:r>
              <a:endParaRPr lang="en-US" sz="1000" dirty="0"/>
            </a:p>
          </p:txBody>
        </p:sp>
        <p:sp>
          <p:nvSpPr>
            <p:cNvPr id="23" name="Shape 11">
              <a:extLst>
                <a:ext uri="{FF2B5EF4-FFF2-40B4-BE49-F238E27FC236}">
                  <a16:creationId xmlns:a16="http://schemas.microsoft.com/office/drawing/2014/main" id="{15008571-7D48-187D-DB40-6C14C96B6DBE}"/>
                </a:ext>
              </a:extLst>
            </p:cNvPr>
            <p:cNvSpPr/>
            <p:nvPr/>
          </p:nvSpPr>
          <p:spPr>
            <a:xfrm>
              <a:off x="1325880" y="2474046"/>
              <a:ext cx="6492240" cy="384048"/>
            </a:xfrm>
            <a:prstGeom prst="roundRect">
              <a:avLst>
                <a:gd name="adj" fmla="val 11905"/>
              </a:avLst>
            </a:prstGeom>
            <a:solidFill>
              <a:srgbClr val="FFFFFF"/>
            </a:solidFill>
            <a:ln/>
            <a:effectLst>
              <a:outerShdw blurRad="38100" dist="127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12">
              <a:extLst>
                <a:ext uri="{FF2B5EF4-FFF2-40B4-BE49-F238E27FC236}">
                  <a16:creationId xmlns:a16="http://schemas.microsoft.com/office/drawing/2014/main" id="{2D79F8CF-1C6D-C495-636E-F578B2B62A8F}"/>
                </a:ext>
              </a:extLst>
            </p:cNvPr>
            <p:cNvSpPr/>
            <p:nvPr/>
          </p:nvSpPr>
          <p:spPr>
            <a:xfrm>
              <a:off x="1463040" y="2474046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50" b="1" dirty="0">
                  <a:solidFill>
                    <a:srgbClr val="B20E38"/>
                  </a:solidFill>
                  <a:latin typeface="Montserrat SemiBold" pitchFamily="34" charset="0"/>
                  <a:ea typeface="Montserrat SemiBold" pitchFamily="34" charset="-122"/>
                  <a:cs typeface="Montserrat SemiBold" pitchFamily="34" charset="-120"/>
                </a:rPr>
                <a:t>Policy</a:t>
              </a:r>
              <a:endParaRPr lang="en-US" sz="1150" dirty="0"/>
            </a:p>
          </p:txBody>
        </p:sp>
        <p:sp>
          <p:nvSpPr>
            <p:cNvPr id="25" name="Text 13">
              <a:extLst>
                <a:ext uri="{FF2B5EF4-FFF2-40B4-BE49-F238E27FC236}">
                  <a16:creationId xmlns:a16="http://schemas.microsoft.com/office/drawing/2014/main" id="{C9FA8EDF-5FBD-291D-CD84-046591434C84}"/>
                </a:ext>
              </a:extLst>
            </p:cNvPr>
            <p:cNvSpPr/>
            <p:nvPr/>
          </p:nvSpPr>
          <p:spPr>
            <a:xfrm>
              <a:off x="3154680" y="2474046"/>
              <a:ext cx="45262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dirty="0">
                  <a:solidFill>
                    <a:srgbClr val="1A1A1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The standing guidelines we follow</a:t>
              </a:r>
              <a:endParaRPr lang="en-US" sz="1000" dirty="0"/>
            </a:p>
          </p:txBody>
        </p:sp>
        <p:sp>
          <p:nvSpPr>
            <p:cNvPr id="26" name="Shape 14">
              <a:extLst>
                <a:ext uri="{FF2B5EF4-FFF2-40B4-BE49-F238E27FC236}">
                  <a16:creationId xmlns:a16="http://schemas.microsoft.com/office/drawing/2014/main" id="{E79D5739-27EE-38CC-7811-78C9D2B5D804}"/>
                </a:ext>
              </a:extLst>
            </p:cNvPr>
            <p:cNvSpPr/>
            <p:nvPr/>
          </p:nvSpPr>
          <p:spPr>
            <a:xfrm>
              <a:off x="1554480" y="2931246"/>
              <a:ext cx="6035040" cy="384048"/>
            </a:xfrm>
            <a:prstGeom prst="roundRect">
              <a:avLst>
                <a:gd name="adj" fmla="val 11905"/>
              </a:avLst>
            </a:prstGeom>
            <a:solidFill>
              <a:srgbClr val="FFFFFF"/>
            </a:solidFill>
            <a:ln/>
            <a:effectLst>
              <a:outerShdw blurRad="38100" dist="127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15">
              <a:extLst>
                <a:ext uri="{FF2B5EF4-FFF2-40B4-BE49-F238E27FC236}">
                  <a16:creationId xmlns:a16="http://schemas.microsoft.com/office/drawing/2014/main" id="{A8723C59-6512-016A-5EE7-9DA6ED88E05E}"/>
                </a:ext>
              </a:extLst>
            </p:cNvPr>
            <p:cNvSpPr/>
            <p:nvPr/>
          </p:nvSpPr>
          <p:spPr>
            <a:xfrm>
              <a:off x="1691640" y="2931246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50" b="1" dirty="0">
                  <a:solidFill>
                    <a:srgbClr val="B20E38"/>
                  </a:solidFill>
                  <a:latin typeface="Montserrat SemiBold" pitchFamily="34" charset="0"/>
                  <a:ea typeface="Montserrat SemiBold" pitchFamily="34" charset="-122"/>
                  <a:cs typeface="Montserrat SemiBold" pitchFamily="34" charset="-120"/>
                </a:rPr>
                <a:t>Program</a:t>
              </a:r>
              <a:endParaRPr lang="en-US" sz="1150" dirty="0"/>
            </a:p>
          </p:txBody>
        </p:sp>
        <p:sp>
          <p:nvSpPr>
            <p:cNvPr id="28" name="Text 16">
              <a:extLst>
                <a:ext uri="{FF2B5EF4-FFF2-40B4-BE49-F238E27FC236}">
                  <a16:creationId xmlns:a16="http://schemas.microsoft.com/office/drawing/2014/main" id="{D1F9B2A6-9F85-877F-73DA-7FBF7ECF3C42}"/>
                </a:ext>
              </a:extLst>
            </p:cNvPr>
            <p:cNvSpPr/>
            <p:nvPr/>
          </p:nvSpPr>
          <p:spPr>
            <a:xfrm>
              <a:off x="3383280" y="2931246"/>
              <a:ext cx="40690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dirty="0">
                  <a:solidFill>
                    <a:srgbClr val="1A1A1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The time-bound activities we run</a:t>
              </a:r>
              <a:endParaRPr lang="en-US" sz="1000" dirty="0"/>
            </a:p>
          </p:txBody>
        </p:sp>
        <p:sp>
          <p:nvSpPr>
            <p:cNvPr id="29" name="Shape 17">
              <a:extLst>
                <a:ext uri="{FF2B5EF4-FFF2-40B4-BE49-F238E27FC236}">
                  <a16:creationId xmlns:a16="http://schemas.microsoft.com/office/drawing/2014/main" id="{7EF41352-6C4C-5BF2-6FF5-0553A1DC5CF7}"/>
                </a:ext>
              </a:extLst>
            </p:cNvPr>
            <p:cNvSpPr/>
            <p:nvPr/>
          </p:nvSpPr>
          <p:spPr>
            <a:xfrm>
              <a:off x="1783080" y="3388446"/>
              <a:ext cx="5577840" cy="384048"/>
            </a:xfrm>
            <a:prstGeom prst="roundRect">
              <a:avLst>
                <a:gd name="adj" fmla="val 11905"/>
              </a:avLst>
            </a:prstGeom>
            <a:solidFill>
              <a:srgbClr val="FFFFFF"/>
            </a:solidFill>
            <a:ln/>
            <a:effectLst>
              <a:outerShdw blurRad="38100" dist="127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18">
              <a:extLst>
                <a:ext uri="{FF2B5EF4-FFF2-40B4-BE49-F238E27FC236}">
                  <a16:creationId xmlns:a16="http://schemas.microsoft.com/office/drawing/2014/main" id="{CD18356C-6685-259D-4A9C-3077D2E73733}"/>
                </a:ext>
              </a:extLst>
            </p:cNvPr>
            <p:cNvSpPr/>
            <p:nvPr/>
          </p:nvSpPr>
          <p:spPr>
            <a:xfrm>
              <a:off x="1920240" y="3388446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50" b="1" dirty="0">
                  <a:solidFill>
                    <a:srgbClr val="B20E38"/>
                  </a:solidFill>
                  <a:latin typeface="Montserrat SemiBold" pitchFamily="34" charset="0"/>
                  <a:ea typeface="Montserrat SemiBold" pitchFamily="34" charset="-122"/>
                  <a:cs typeface="Montserrat SemiBold" pitchFamily="34" charset="-120"/>
                </a:rPr>
                <a:t>Procedure</a:t>
              </a:r>
              <a:endParaRPr lang="en-US" sz="1150" dirty="0"/>
            </a:p>
          </p:txBody>
        </p:sp>
        <p:sp>
          <p:nvSpPr>
            <p:cNvPr id="31" name="Text 19">
              <a:extLst>
                <a:ext uri="{FF2B5EF4-FFF2-40B4-BE49-F238E27FC236}">
                  <a16:creationId xmlns:a16="http://schemas.microsoft.com/office/drawing/2014/main" id="{1D9E8687-E2E1-4F09-13F1-B305E891672A}"/>
                </a:ext>
              </a:extLst>
            </p:cNvPr>
            <p:cNvSpPr/>
            <p:nvPr/>
          </p:nvSpPr>
          <p:spPr>
            <a:xfrm>
              <a:off x="3611880" y="3388446"/>
              <a:ext cx="36118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dirty="0">
                  <a:solidFill>
                    <a:srgbClr val="1A1A1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The exact steps we repeat</a:t>
              </a:r>
              <a:endParaRPr lang="en-US" sz="1000" dirty="0"/>
            </a:p>
          </p:txBody>
        </p:sp>
        <p:sp>
          <p:nvSpPr>
            <p:cNvPr id="32" name="Shape 20">
              <a:extLst>
                <a:ext uri="{FF2B5EF4-FFF2-40B4-BE49-F238E27FC236}">
                  <a16:creationId xmlns:a16="http://schemas.microsoft.com/office/drawing/2014/main" id="{43FF2F36-678D-1020-1894-9B9223EF487E}"/>
                </a:ext>
              </a:extLst>
            </p:cNvPr>
            <p:cNvSpPr/>
            <p:nvPr/>
          </p:nvSpPr>
          <p:spPr>
            <a:xfrm>
              <a:off x="2011680" y="3845646"/>
              <a:ext cx="5120640" cy="384048"/>
            </a:xfrm>
            <a:prstGeom prst="roundRect">
              <a:avLst>
                <a:gd name="adj" fmla="val 11905"/>
              </a:avLst>
            </a:prstGeom>
            <a:solidFill>
              <a:srgbClr val="FFFFFF"/>
            </a:solidFill>
            <a:ln/>
            <a:effectLst>
              <a:outerShdw blurRad="38100" dist="127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3" name="Text 21">
              <a:extLst>
                <a:ext uri="{FF2B5EF4-FFF2-40B4-BE49-F238E27FC236}">
                  <a16:creationId xmlns:a16="http://schemas.microsoft.com/office/drawing/2014/main" id="{9F047B81-E8EF-11CB-6E77-AF539E8EA2C9}"/>
                </a:ext>
              </a:extLst>
            </p:cNvPr>
            <p:cNvSpPr/>
            <p:nvPr/>
          </p:nvSpPr>
          <p:spPr>
            <a:xfrm>
              <a:off x="2148840" y="3845646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50" b="1" dirty="0">
                  <a:solidFill>
                    <a:srgbClr val="B20E38"/>
                  </a:solidFill>
                  <a:latin typeface="Montserrat SemiBold" pitchFamily="34" charset="0"/>
                  <a:ea typeface="Montserrat SemiBold" pitchFamily="34" charset="-122"/>
                  <a:cs typeface="Montserrat SemiBold" pitchFamily="34" charset="-120"/>
                </a:rPr>
                <a:t>Budget</a:t>
              </a:r>
              <a:endParaRPr lang="en-US" sz="1150" dirty="0"/>
            </a:p>
          </p:txBody>
        </p:sp>
        <p:sp>
          <p:nvSpPr>
            <p:cNvPr id="34" name="Text 22">
              <a:extLst>
                <a:ext uri="{FF2B5EF4-FFF2-40B4-BE49-F238E27FC236}">
                  <a16:creationId xmlns:a16="http://schemas.microsoft.com/office/drawing/2014/main" id="{1238FDCD-D365-E7F3-365D-B8EBEB99FF01}"/>
                </a:ext>
              </a:extLst>
            </p:cNvPr>
            <p:cNvSpPr/>
            <p:nvPr/>
          </p:nvSpPr>
          <p:spPr>
            <a:xfrm>
              <a:off x="3840480" y="3845646"/>
              <a:ext cx="3154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dirty="0">
                  <a:solidFill>
                    <a:srgbClr val="1A1A1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The numbers behind it all</a:t>
              </a:r>
              <a:endParaRPr lang="en-US" sz="1000" dirty="0"/>
            </a:p>
          </p:txBody>
        </p:sp>
        <p:sp>
          <p:nvSpPr>
            <p:cNvPr id="35" name="Shape 23">
              <a:extLst>
                <a:ext uri="{FF2B5EF4-FFF2-40B4-BE49-F238E27FC236}">
                  <a16:creationId xmlns:a16="http://schemas.microsoft.com/office/drawing/2014/main" id="{14C780E9-48B8-2E77-DCB3-7EABACF2158F}"/>
                </a:ext>
              </a:extLst>
            </p:cNvPr>
            <p:cNvSpPr/>
            <p:nvPr/>
          </p:nvSpPr>
          <p:spPr>
            <a:xfrm>
              <a:off x="2240280" y="4302846"/>
              <a:ext cx="4663440" cy="384048"/>
            </a:xfrm>
            <a:prstGeom prst="roundRect">
              <a:avLst>
                <a:gd name="adj" fmla="val 11905"/>
              </a:avLst>
            </a:prstGeom>
            <a:solidFill>
              <a:srgbClr val="FFFFFF"/>
            </a:solidFill>
            <a:ln/>
            <a:effectLst>
              <a:outerShdw blurRad="38100" dist="12700" dir="54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24">
              <a:extLst>
                <a:ext uri="{FF2B5EF4-FFF2-40B4-BE49-F238E27FC236}">
                  <a16:creationId xmlns:a16="http://schemas.microsoft.com/office/drawing/2014/main" id="{49E0E7E0-88B5-B68C-FE77-72198339FF78}"/>
                </a:ext>
              </a:extLst>
            </p:cNvPr>
            <p:cNvSpPr/>
            <p:nvPr/>
          </p:nvSpPr>
          <p:spPr>
            <a:xfrm>
              <a:off x="2377440" y="4302846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B20E38"/>
                  </a:solidFill>
                  <a:latin typeface="Montserrat SemiBold" pitchFamily="34" charset="0"/>
                  <a:ea typeface="Montserrat SemiBold" pitchFamily="34" charset="-122"/>
                  <a:cs typeface="Montserrat SemiBold" pitchFamily="34" charset="-120"/>
                </a:rPr>
                <a:t>Tactic</a:t>
              </a:r>
              <a:endParaRPr lang="en-US" sz="1150" dirty="0"/>
            </a:p>
          </p:txBody>
        </p:sp>
        <p:sp>
          <p:nvSpPr>
            <p:cNvPr id="37" name="Text 25">
              <a:extLst>
                <a:ext uri="{FF2B5EF4-FFF2-40B4-BE49-F238E27FC236}">
                  <a16:creationId xmlns:a16="http://schemas.microsoft.com/office/drawing/2014/main" id="{ADD78FE1-6901-613A-9077-C5ECC9B6DC07}"/>
                </a:ext>
              </a:extLst>
            </p:cNvPr>
            <p:cNvSpPr/>
            <p:nvPr/>
          </p:nvSpPr>
          <p:spPr>
            <a:xfrm>
              <a:off x="4069080" y="4302846"/>
              <a:ext cx="26974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1A1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The quick moves we make in the moment</a:t>
              </a:r>
              <a:endParaRPr lang="en-US" sz="1000" dirty="0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ACA54B1-221B-72BF-C717-77ED27B68561}"/>
                </a:ext>
              </a:extLst>
            </p:cNvPr>
            <p:cNvCxnSpPr>
              <a:cxnSpLocks/>
            </p:cNvCxnSpPr>
            <p:nvPr/>
          </p:nvCxnSpPr>
          <p:spPr>
            <a:xfrm>
              <a:off x="185530" y="2363393"/>
              <a:ext cx="875306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F6EF81A-4B6A-5CDD-E533-44A9D4E58C4D}"/>
                </a:ext>
              </a:extLst>
            </p:cNvPr>
            <p:cNvSpPr txBox="1"/>
            <p:nvPr/>
          </p:nvSpPr>
          <p:spPr>
            <a:xfrm>
              <a:off x="88790" y="2109287"/>
              <a:ext cx="46382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rgbClr val="B20E38"/>
                  </a:solidFill>
                  <a:latin typeface="Montserrat SemiBold" pitchFamily="34" charset="0"/>
                  <a:ea typeface="Montserrat SemiBold" pitchFamily="34" charset="-122"/>
                  <a:cs typeface="Montserrat SemiBold" pitchFamily="34" charset="-120"/>
                </a:rPr>
                <a:t>Strategy</a:t>
              </a:r>
              <a:endParaRPr lang="en-US" sz="12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61A6B0B-E5CF-255B-0E61-2BF701BDBC06}"/>
              </a:ext>
            </a:extLst>
          </p:cNvPr>
          <p:cNvGrpSpPr/>
          <p:nvPr/>
        </p:nvGrpSpPr>
        <p:grpSpPr>
          <a:xfrm>
            <a:off x="7475549" y="1983498"/>
            <a:ext cx="379147" cy="845087"/>
            <a:chOff x="8115631" y="1699154"/>
            <a:chExt cx="525449" cy="142871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F09C4A0-0E70-EDB5-7D3A-84B6D24BFE1F}"/>
                </a:ext>
              </a:extLst>
            </p:cNvPr>
            <p:cNvCxnSpPr/>
            <p:nvPr/>
          </p:nvCxnSpPr>
          <p:spPr>
            <a:xfrm>
              <a:off x="8124775" y="1700784"/>
              <a:ext cx="0" cy="14270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4A7B3E3-08F2-B872-B971-9D5C695FA791}"/>
                </a:ext>
              </a:extLst>
            </p:cNvPr>
            <p:cNvCxnSpPr/>
            <p:nvPr/>
          </p:nvCxnSpPr>
          <p:spPr>
            <a:xfrm>
              <a:off x="8124775" y="1699154"/>
              <a:ext cx="51630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E608719-5A07-99FE-AE13-24B9FDA1DE01}"/>
                </a:ext>
              </a:extLst>
            </p:cNvPr>
            <p:cNvCxnSpPr/>
            <p:nvPr/>
          </p:nvCxnSpPr>
          <p:spPr>
            <a:xfrm>
              <a:off x="8121727" y="2107586"/>
              <a:ext cx="51630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808BBF4-165C-4CFD-2D2B-1B54F6FB5F12}"/>
                </a:ext>
              </a:extLst>
            </p:cNvPr>
            <p:cNvCxnSpPr/>
            <p:nvPr/>
          </p:nvCxnSpPr>
          <p:spPr>
            <a:xfrm>
              <a:off x="8118679" y="2589170"/>
              <a:ext cx="51630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838D394-4E88-321B-8792-DB60BF28D3C2}"/>
                </a:ext>
              </a:extLst>
            </p:cNvPr>
            <p:cNvCxnSpPr/>
            <p:nvPr/>
          </p:nvCxnSpPr>
          <p:spPr>
            <a:xfrm>
              <a:off x="8115631" y="3116474"/>
              <a:ext cx="51630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C256E04A-B238-E9B9-55E6-4D2A1018AA0C}"/>
              </a:ext>
            </a:extLst>
          </p:cNvPr>
          <p:cNvSpPr txBox="1"/>
          <p:nvPr/>
        </p:nvSpPr>
        <p:spPr>
          <a:xfrm>
            <a:off x="7810031" y="1854101"/>
            <a:ext cx="6751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Planning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D81F17-6769-1A61-56C9-0BEF0B322CC0}"/>
              </a:ext>
            </a:extLst>
          </p:cNvPr>
          <p:cNvSpPr txBox="1"/>
          <p:nvPr/>
        </p:nvSpPr>
        <p:spPr>
          <a:xfrm>
            <a:off x="7801831" y="2092384"/>
            <a:ext cx="11336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Decision-Making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E4BA8E4-523A-DB41-5D42-4A2F6F4728CA}"/>
              </a:ext>
            </a:extLst>
          </p:cNvPr>
          <p:cNvSpPr txBox="1"/>
          <p:nvPr/>
        </p:nvSpPr>
        <p:spPr>
          <a:xfrm>
            <a:off x="7801831" y="2380188"/>
            <a:ext cx="8755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Formulating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68FE97-0E92-5A0F-2D19-A2B019079205}"/>
              </a:ext>
            </a:extLst>
          </p:cNvPr>
          <p:cNvSpPr txBox="1"/>
          <p:nvPr/>
        </p:nvSpPr>
        <p:spPr>
          <a:xfrm>
            <a:off x="7800887" y="2697780"/>
            <a:ext cx="7761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Evaluating</a:t>
            </a:r>
          </a:p>
        </p:txBody>
      </p:sp>
    </p:spTree>
    <p:extLst>
      <p:ext uri="{BB962C8B-B14F-4D97-AF65-F5344CB8AC3E}">
        <p14:creationId xmlns:p14="http://schemas.microsoft.com/office/powerpoint/2010/main" val="1721447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4FAA2-0587-1E5B-69E6-11509F8CD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DC574499-6007-5355-50DB-1DADA9925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02C6D57-2F13-78DD-4912-E5CA0368EB3F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 PRINCIPLES · PART 1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D3D74FE-3F18-C380-CBFA-595A72BA00AA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Principles 1–5: Setting the Direction</a:t>
            </a:r>
            <a:endParaRPr lang="en-US" sz="25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4A67C6B-3343-4908-CC68-98A6A869D258}"/>
              </a:ext>
            </a:extLst>
          </p:cNvPr>
          <p:cNvSpPr/>
          <p:nvPr/>
        </p:nvSpPr>
        <p:spPr>
          <a:xfrm>
            <a:off x="502920" y="1170432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8B4B87B-1287-5906-2E05-A79512BEE030}"/>
              </a:ext>
            </a:extLst>
          </p:cNvPr>
          <p:cNvSpPr/>
          <p:nvPr/>
        </p:nvSpPr>
        <p:spPr>
          <a:xfrm>
            <a:off x="50292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AEA4989-A1DB-A593-FFF6-4251884FC501}"/>
              </a:ext>
            </a:extLst>
          </p:cNvPr>
          <p:cNvSpPr/>
          <p:nvPr/>
        </p:nvSpPr>
        <p:spPr>
          <a:xfrm>
            <a:off x="1005840" y="1143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is about the future</a:t>
            </a:r>
            <a:endParaRPr lang="en-US" sz="1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AD551E4-0696-EDF6-93F3-88D3B09D87B9}"/>
              </a:ext>
            </a:extLst>
          </p:cNvPr>
          <p:cNvSpPr/>
          <p:nvPr/>
        </p:nvSpPr>
        <p:spPr>
          <a:xfrm>
            <a:off x="4389120" y="1143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Decided today, played out over years</a:t>
            </a:r>
            <a:endParaRPr lang="en-US" sz="11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00B73795-CB00-7BC2-40DA-C6C046F680AF}"/>
              </a:ext>
            </a:extLst>
          </p:cNvPr>
          <p:cNvSpPr/>
          <p:nvPr/>
        </p:nvSpPr>
        <p:spPr>
          <a:xfrm>
            <a:off x="502920" y="1737360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E18D738-AC11-235C-E40A-865BB1FCC26F}"/>
              </a:ext>
            </a:extLst>
          </p:cNvPr>
          <p:cNvSpPr/>
          <p:nvPr/>
        </p:nvSpPr>
        <p:spPr>
          <a:xfrm>
            <a:off x="50292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84A02FF-CA26-5014-7B3A-20643BC4656C}"/>
              </a:ext>
            </a:extLst>
          </p:cNvPr>
          <p:cNvSpPr/>
          <p:nvPr/>
        </p:nvSpPr>
        <p:spPr>
          <a:xfrm>
            <a:off x="1005840" y="17099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needs trade-offs</a:t>
            </a:r>
            <a:endParaRPr lang="en-US" sz="1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3DCBF2E-37EC-BC05-E323-2A0A978FECA9}"/>
              </a:ext>
            </a:extLst>
          </p:cNvPr>
          <p:cNvSpPr/>
          <p:nvPr/>
        </p:nvSpPr>
        <p:spPr>
          <a:xfrm>
            <a:off x="4389120" y="17099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cannot be everything to everyone</a:t>
            </a:r>
            <a:endParaRPr lang="en-US" sz="11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4D69E942-E7DC-F5F7-7FC6-79E51DD9175F}"/>
              </a:ext>
            </a:extLst>
          </p:cNvPr>
          <p:cNvSpPr/>
          <p:nvPr/>
        </p:nvSpPr>
        <p:spPr>
          <a:xfrm>
            <a:off x="502920" y="2304288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CC9DC39-85A3-96B5-F6FE-4F8778863D23}"/>
              </a:ext>
            </a:extLst>
          </p:cNvPr>
          <p:cNvSpPr/>
          <p:nvPr/>
        </p:nvSpPr>
        <p:spPr>
          <a:xfrm>
            <a:off x="50292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0C5C417-C609-4228-2F19-5FB6A77A1363}"/>
              </a:ext>
            </a:extLst>
          </p:cNvPr>
          <p:cNvSpPr/>
          <p:nvPr/>
        </p:nvSpPr>
        <p:spPr>
          <a:xfrm>
            <a:off x="1005840" y="227685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must fit the environment</a:t>
            </a:r>
            <a:endParaRPr lang="en-US" sz="12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AE8EA8B-C823-3608-3C92-DCFEBDDC4981}"/>
              </a:ext>
            </a:extLst>
          </p:cNvPr>
          <p:cNvSpPr/>
          <p:nvPr/>
        </p:nvSpPr>
        <p:spPr>
          <a:xfrm>
            <a:off x="4389120" y="227685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works depends on the world outside</a:t>
            </a:r>
            <a:endParaRPr lang="en-US" sz="11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7CDCBDF9-1B24-23FF-F763-1588041CC2B9}"/>
              </a:ext>
            </a:extLst>
          </p:cNvPr>
          <p:cNvSpPr/>
          <p:nvPr/>
        </p:nvSpPr>
        <p:spPr>
          <a:xfrm>
            <a:off x="502920" y="2871216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60DD8A7-834D-B3D6-488F-B0CD04FEEFD5}"/>
              </a:ext>
            </a:extLst>
          </p:cNvPr>
          <p:cNvSpPr/>
          <p:nvPr/>
        </p:nvSpPr>
        <p:spPr>
          <a:xfrm>
            <a:off x="50292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F90A8A1-475C-4F6F-D80C-0DF62F715045}"/>
              </a:ext>
            </a:extLst>
          </p:cNvPr>
          <p:cNvSpPr/>
          <p:nvPr/>
        </p:nvSpPr>
        <p:spPr>
          <a:xfrm>
            <a:off x="1005840" y="284378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must fit your capabilities</a:t>
            </a:r>
            <a:endParaRPr lang="en-US" sz="12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B95F7B02-7C36-6BDA-8CF9-5EF372EB9BFE}"/>
              </a:ext>
            </a:extLst>
          </p:cNvPr>
          <p:cNvSpPr/>
          <p:nvPr/>
        </p:nvSpPr>
        <p:spPr>
          <a:xfrm>
            <a:off x="4389120" y="28437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Ambition without resources is a wish</a:t>
            </a:r>
            <a:endParaRPr lang="en-US" sz="11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67BA8D12-8B30-2E48-85A9-F352699C97F8}"/>
              </a:ext>
            </a:extLst>
          </p:cNvPr>
          <p:cNvSpPr/>
          <p:nvPr/>
        </p:nvSpPr>
        <p:spPr>
          <a:xfrm>
            <a:off x="502920" y="3438144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5F92D762-3D05-F68A-7A61-5E7010398713}"/>
              </a:ext>
            </a:extLst>
          </p:cNvPr>
          <p:cNvSpPr/>
          <p:nvPr/>
        </p:nvSpPr>
        <p:spPr>
          <a:xfrm>
            <a:off x="50292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0209F159-CF2F-05D4-B4C8-600464ED8079}"/>
              </a:ext>
            </a:extLst>
          </p:cNvPr>
          <p:cNvSpPr/>
          <p:nvPr/>
        </p:nvSpPr>
        <p:spPr>
          <a:xfrm>
            <a:off x="1005840" y="34107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aims for lasting advantage</a:t>
            </a:r>
            <a:endParaRPr lang="en-US" sz="12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B006974E-CDE3-787D-9E16-7051C0FCC567}"/>
              </a:ext>
            </a:extLst>
          </p:cNvPr>
          <p:cNvSpPr/>
          <p:nvPr/>
        </p:nvSpPr>
        <p:spPr>
          <a:xfrm>
            <a:off x="4389120" y="34107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just one good quarter</a:t>
            </a:r>
            <a:endParaRPr lang="en-US" sz="11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35F9B643-0166-9D8C-C67D-60FBFA9C7110}"/>
              </a:ext>
            </a:extLst>
          </p:cNvPr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General strategic-management principles synthesized for classroom use; see A. Nag, Ch. 1.</a:t>
            </a:r>
            <a:endParaRPr lang="en-US" sz="8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2642C5B0-4261-38F5-F03F-D5CFE54C530F}"/>
              </a:ext>
            </a:extLst>
          </p:cNvPr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979282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2C946-F503-DD33-91E3-9420126E1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931975F8-8394-1DF2-024A-107A5B464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BC4AB3C-DF47-7AD5-AE6C-A374649D82E8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 PRINCIPLES · PART 2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C819072-F608-A868-3BD4-8DCBC97C8615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Principles 6–10: Making It Real</a:t>
            </a:r>
            <a:endParaRPr lang="en-US" sz="25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EC616A2-A5A7-CF36-D1E8-829E7A16E53B}"/>
              </a:ext>
            </a:extLst>
          </p:cNvPr>
          <p:cNvSpPr/>
          <p:nvPr/>
        </p:nvSpPr>
        <p:spPr>
          <a:xfrm>
            <a:off x="502920" y="1170432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C9E8AF7-18B2-E6DC-002E-CAA3FBFF36A2}"/>
              </a:ext>
            </a:extLst>
          </p:cNvPr>
          <p:cNvSpPr/>
          <p:nvPr/>
        </p:nvSpPr>
        <p:spPr>
          <a:xfrm>
            <a:off x="50292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6</a:t>
            </a: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16E278C-65A0-8100-B4DE-EDD161391921}"/>
              </a:ext>
            </a:extLst>
          </p:cNvPr>
          <p:cNvSpPr/>
          <p:nvPr/>
        </p:nvSpPr>
        <p:spPr>
          <a:xfrm>
            <a:off x="100584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Top management sets it, everyone implements it</a:t>
            </a:r>
            <a:endParaRPr lang="en-US" sz="11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B84AB87-B7DD-FCFF-8230-9F2DFE5FFF60}"/>
              </a:ext>
            </a:extLst>
          </p:cNvPr>
          <p:cNvSpPr/>
          <p:nvPr/>
        </p:nvSpPr>
        <p:spPr>
          <a:xfrm>
            <a:off x="466344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 needs buy-in at every level</a:t>
            </a:r>
            <a:endParaRPr lang="en-US" sz="10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3D09A4A-5B36-059A-1E5F-25F73E5ACD65}"/>
              </a:ext>
            </a:extLst>
          </p:cNvPr>
          <p:cNvSpPr/>
          <p:nvPr/>
        </p:nvSpPr>
        <p:spPr>
          <a:xfrm>
            <a:off x="502920" y="1737360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D6D314B-B021-C9FA-290D-0EACD77537DB}"/>
              </a:ext>
            </a:extLst>
          </p:cNvPr>
          <p:cNvSpPr/>
          <p:nvPr/>
        </p:nvSpPr>
        <p:spPr>
          <a:xfrm>
            <a:off x="50292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7</a:t>
            </a:r>
            <a:endParaRPr lang="en-US" sz="13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7B31D53-4DDC-D091-4DB6-90F79CC0F5D6}"/>
              </a:ext>
            </a:extLst>
          </p:cNvPr>
          <p:cNvSpPr/>
          <p:nvPr/>
        </p:nvSpPr>
        <p:spPr>
          <a:xfrm>
            <a:off x="1005840" y="17099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always involves risk</a:t>
            </a:r>
            <a:endParaRPr lang="en-US" sz="11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03672E5-88AF-B09B-E2F8-D7CA94936320}"/>
              </a:ext>
            </a:extLst>
          </p:cNvPr>
          <p:cNvSpPr/>
          <p:nvPr/>
        </p:nvSpPr>
        <p:spPr>
          <a:xfrm>
            <a:off x="4663440" y="17099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guaranteed outcomes, ever</a:t>
            </a:r>
            <a:endParaRPr lang="en-US" sz="10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52207215-AE20-41F6-35E2-7F8DFF3249C0}"/>
              </a:ext>
            </a:extLst>
          </p:cNvPr>
          <p:cNvSpPr/>
          <p:nvPr/>
        </p:nvSpPr>
        <p:spPr>
          <a:xfrm>
            <a:off x="502920" y="2304288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88BED36-6FE4-71FE-B37B-241D705E63C7}"/>
              </a:ext>
            </a:extLst>
          </p:cNvPr>
          <p:cNvSpPr/>
          <p:nvPr/>
        </p:nvSpPr>
        <p:spPr>
          <a:xfrm>
            <a:off x="50292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8</a:t>
            </a:r>
            <a:endParaRPr lang="en-US" sz="13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07ABEC1-0007-A580-BE2A-E99FA57FBCD1}"/>
              </a:ext>
            </a:extLst>
          </p:cNvPr>
          <p:cNvSpPr/>
          <p:nvPr/>
        </p:nvSpPr>
        <p:spPr>
          <a:xfrm>
            <a:off x="1005840" y="227685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must stay flexible</a:t>
            </a:r>
            <a:endParaRPr lang="en-US" sz="11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395D034-7C64-9A62-C8A9-265F0B21A1EF}"/>
              </a:ext>
            </a:extLst>
          </p:cNvPr>
          <p:cNvSpPr/>
          <p:nvPr/>
        </p:nvSpPr>
        <p:spPr>
          <a:xfrm>
            <a:off x="4663440" y="22768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Rigid plans break when conditions change</a:t>
            </a:r>
            <a:endParaRPr lang="en-US" sz="105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A16FFB10-CAA8-52C9-C16C-F847D700C3D0}"/>
              </a:ext>
            </a:extLst>
          </p:cNvPr>
          <p:cNvSpPr/>
          <p:nvPr/>
        </p:nvSpPr>
        <p:spPr>
          <a:xfrm>
            <a:off x="502920" y="2871216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58182AD-C561-2257-5012-70D7102962FA}"/>
              </a:ext>
            </a:extLst>
          </p:cNvPr>
          <p:cNvSpPr/>
          <p:nvPr/>
        </p:nvSpPr>
        <p:spPr>
          <a:xfrm>
            <a:off x="50292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9</a:t>
            </a:r>
            <a:endParaRPr lang="en-US" sz="13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DE964FE4-7EA7-7C8B-CF9D-901C82349D03}"/>
              </a:ext>
            </a:extLst>
          </p:cNvPr>
          <p:cNvSpPr/>
          <p:nvPr/>
        </p:nvSpPr>
        <p:spPr>
          <a:xfrm>
            <a:off x="1005840" y="284378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is only as good as its execution</a:t>
            </a:r>
            <a:endParaRPr lang="en-US" sz="115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482298B9-BD60-69D4-E82B-06D5E7F6298D}"/>
              </a:ext>
            </a:extLst>
          </p:cNvPr>
          <p:cNvSpPr/>
          <p:nvPr/>
        </p:nvSpPr>
        <p:spPr>
          <a:xfrm>
            <a:off x="4663440" y="284378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brilliant plan, poorly run, still fails</a:t>
            </a:r>
            <a:endParaRPr lang="en-US" sz="105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A2CC53A4-9BD0-5292-9152-9BB6CA386186}"/>
              </a:ext>
            </a:extLst>
          </p:cNvPr>
          <p:cNvSpPr/>
          <p:nvPr/>
        </p:nvSpPr>
        <p:spPr>
          <a:xfrm>
            <a:off x="502920" y="3438144"/>
            <a:ext cx="347472" cy="347472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7D6B6E9B-E873-5047-7A12-0D4C3BDF9C70}"/>
              </a:ext>
            </a:extLst>
          </p:cNvPr>
          <p:cNvSpPr/>
          <p:nvPr/>
        </p:nvSpPr>
        <p:spPr>
          <a:xfrm>
            <a:off x="50292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10</a:t>
            </a:r>
            <a:endParaRPr lang="en-US" sz="13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1E1B6BC1-6192-A566-ABFF-815F4D79B71A}"/>
              </a:ext>
            </a:extLst>
          </p:cNvPr>
          <p:cNvSpPr/>
          <p:nvPr/>
        </p:nvSpPr>
        <p:spPr>
          <a:xfrm>
            <a:off x="1005840" y="34107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needs continuous evaluation</a:t>
            </a:r>
            <a:endParaRPr lang="en-US" sz="115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FBC5F87F-5C2C-32BC-175C-D8C4DD51C95B}"/>
              </a:ext>
            </a:extLst>
          </p:cNvPr>
          <p:cNvSpPr/>
          <p:nvPr/>
        </p:nvSpPr>
        <p:spPr>
          <a:xfrm>
            <a:off x="4663440" y="34107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 it's working; correct course early</a:t>
            </a:r>
            <a:endParaRPr lang="en-US" sz="105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312DCE01-EFF5-2E5A-A1CF-95BC9AA339EE}"/>
              </a:ext>
            </a:extLst>
          </p:cNvPr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General strategic-management principles synthesized for classroom use; see A. Nag, Ch. 1.</a:t>
            </a:r>
            <a:endParaRPr lang="en-US" sz="8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78976702-D53E-602E-8639-73E32B2D8D63}"/>
              </a:ext>
            </a:extLst>
          </p:cNvPr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764902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c_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" y="0"/>
            <a:ext cx="9141714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8381" y="24003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Recap 2 of 8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78381" y="651510"/>
            <a:ext cx="8366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25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 Levels: Corporate, SBU, Functional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549831" y="1577340"/>
            <a:ext cx="2571750" cy="2674620"/>
          </a:xfrm>
          <a:prstGeom prst="roundRect">
            <a:avLst>
              <a:gd name="adj" fmla="val 2133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7" name="Text 4"/>
          <p:cNvSpPr/>
          <p:nvPr/>
        </p:nvSpPr>
        <p:spPr>
          <a:xfrm>
            <a:off x="686991" y="1714500"/>
            <a:ext cx="22974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Corporate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6991" y="2125980"/>
            <a:ext cx="229743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975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Which businesses to be in. Reliance deciding to enter telecom with Jio.</a:t>
            </a:r>
            <a:endParaRPr lang="en-US" sz="975" dirty="0"/>
          </a:p>
        </p:txBody>
      </p:sp>
      <p:sp>
        <p:nvSpPr>
          <p:cNvPr id="9" name="Shape 6"/>
          <p:cNvSpPr/>
          <p:nvPr/>
        </p:nvSpPr>
        <p:spPr>
          <a:xfrm>
            <a:off x="3258741" y="1577340"/>
            <a:ext cx="2571750" cy="2674620"/>
          </a:xfrm>
          <a:prstGeom prst="roundRect">
            <a:avLst>
              <a:gd name="adj" fmla="val 2133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0" name="Text 7"/>
          <p:cNvSpPr/>
          <p:nvPr/>
        </p:nvSpPr>
        <p:spPr>
          <a:xfrm>
            <a:off x="3395901" y="1714500"/>
            <a:ext cx="22974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SBU (Business Unit)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95901" y="2125980"/>
            <a:ext cx="229743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975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to win within one business. Jio's pricing war within telecom specifically.</a:t>
            </a:r>
            <a:endParaRPr lang="en-US" sz="975" dirty="0"/>
          </a:p>
        </p:txBody>
      </p:sp>
      <p:sp>
        <p:nvSpPr>
          <p:cNvPr id="12" name="Shape 9"/>
          <p:cNvSpPr/>
          <p:nvPr/>
        </p:nvSpPr>
        <p:spPr>
          <a:xfrm>
            <a:off x="5967651" y="1577340"/>
            <a:ext cx="2571750" cy="2674620"/>
          </a:xfrm>
          <a:prstGeom prst="roundRect">
            <a:avLst>
              <a:gd name="adj" fmla="val 2133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3" name="Text 10"/>
          <p:cNvSpPr/>
          <p:nvPr/>
        </p:nvSpPr>
        <p:spPr>
          <a:xfrm>
            <a:off x="6104811" y="1714500"/>
            <a:ext cx="22974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Functional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04811" y="2125980"/>
            <a:ext cx="229743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975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each department executes. Jio's network rollout, marketing, and pricing teams each playing their part.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6790611" y="240030"/>
            <a:ext cx="19888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/ 17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c_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" y="0"/>
            <a:ext cx="9141714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8381" y="24003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Recap 3 of 8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78381" y="651510"/>
            <a:ext cx="8366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25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PESTEL &amp; Environmental Scanning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549831" y="1577340"/>
            <a:ext cx="8023860" cy="2674620"/>
          </a:xfrm>
          <a:prstGeom prst="roundRect">
            <a:avLst>
              <a:gd name="adj" fmla="val 2051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7" name="Text 4"/>
          <p:cNvSpPr/>
          <p:nvPr/>
        </p:nvSpPr>
        <p:spPr>
          <a:xfrm>
            <a:off x="755571" y="1783080"/>
            <a:ext cx="76123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25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Political · Economic · Social · Technological · Environmental · Legal</a:t>
            </a:r>
            <a:endParaRPr lang="en-US" sz="1425" dirty="0"/>
          </a:p>
        </p:txBody>
      </p:sp>
      <p:sp>
        <p:nvSpPr>
          <p:cNvPr id="8" name="Text 5"/>
          <p:cNvSpPr/>
          <p:nvPr/>
        </p:nvSpPr>
        <p:spPr>
          <a:xfrm>
            <a:off x="755571" y="2331720"/>
            <a:ext cx="76123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163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Nokia's decline: a technological shift (touchscreen smartphones) it scanned for too slowly. Demonetisation (2016) and GST (2017): two real Economic and Legal shocks that reshaped Indian business overnight.</a:t>
            </a:r>
            <a:endParaRPr lang="en-US" sz="1163" dirty="0"/>
          </a:p>
        </p:txBody>
      </p:sp>
      <p:sp>
        <p:nvSpPr>
          <p:cNvPr id="9" name="Text 6"/>
          <p:cNvSpPr/>
          <p:nvPr/>
        </p:nvSpPr>
        <p:spPr>
          <a:xfrm>
            <a:off x="6790611" y="240030"/>
            <a:ext cx="19888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/ 17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c_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" y="0"/>
            <a:ext cx="9141714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8381" y="24003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Recap 4 of 8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78381" y="651510"/>
            <a:ext cx="8366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25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Porter's Five Forces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549831" y="1577340"/>
            <a:ext cx="8023860" cy="2674620"/>
          </a:xfrm>
          <a:prstGeom prst="roundRect">
            <a:avLst>
              <a:gd name="adj" fmla="val 2051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7" name="Text 4"/>
          <p:cNvSpPr/>
          <p:nvPr/>
        </p:nvSpPr>
        <p:spPr>
          <a:xfrm>
            <a:off x="755571" y="1783080"/>
            <a:ext cx="76123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Threat of New Entrants · Supplier Power · Buyer Power · Threat of Substitutes · Rivalry</a:t>
            </a:r>
            <a:endParaRPr lang="en-US" sz="1275" dirty="0"/>
          </a:p>
        </p:txBody>
      </p:sp>
      <p:sp>
        <p:nvSpPr>
          <p:cNvPr id="8" name="Text 5"/>
          <p:cNvSpPr/>
          <p:nvPr/>
        </p:nvSpPr>
        <p:spPr>
          <a:xfrm>
            <a:off x="755571" y="2400300"/>
            <a:ext cx="76123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163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Patanjali entered FMCG from a level HUL and Colgate had overlooked entirely, home remedies and Ayurveda, and turned that blind spot into real brand-level rivalry within a few years.</a:t>
            </a:r>
            <a:endParaRPr lang="en-US" sz="1163" dirty="0"/>
          </a:p>
        </p:txBody>
      </p:sp>
      <p:sp>
        <p:nvSpPr>
          <p:cNvPr id="9" name="Text 6"/>
          <p:cNvSpPr/>
          <p:nvPr/>
        </p:nvSpPr>
        <p:spPr>
          <a:xfrm>
            <a:off x="6790611" y="240030"/>
            <a:ext cx="19888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17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c_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" y="0"/>
            <a:ext cx="9141714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8381" y="24003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Recap 5 of 8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78381" y="651510"/>
            <a:ext cx="8366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25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SWOT Analysis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549831" y="1577340"/>
            <a:ext cx="3840480" cy="2743200"/>
          </a:xfrm>
          <a:prstGeom prst="roundRect">
            <a:avLst>
              <a:gd name="adj" fmla="val 2000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7" name="Text 4"/>
          <p:cNvSpPr/>
          <p:nvPr/>
        </p:nvSpPr>
        <p:spPr>
          <a:xfrm>
            <a:off x="755571" y="1748790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Internal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55571" y="2160270"/>
            <a:ext cx="342900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Strengths and Weaknesses. What </a:t>
            </a:r>
            <a:r>
              <a:rPr lang="en-US" sz="1125" dirty="0" err="1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Boncho’s</a:t>
            </a:r>
            <a:r>
              <a:rPr lang="en-US" sz="1125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Momos controls: her recipe, her costs, her hygiene standards.</a:t>
            </a:r>
            <a:endParaRPr lang="en-US" sz="1125" dirty="0"/>
          </a:p>
        </p:txBody>
      </p:sp>
      <p:sp>
        <p:nvSpPr>
          <p:cNvPr id="9" name="Shape 6"/>
          <p:cNvSpPr/>
          <p:nvPr/>
        </p:nvSpPr>
        <p:spPr>
          <a:xfrm>
            <a:off x="4630341" y="1577340"/>
            <a:ext cx="3840480" cy="2743200"/>
          </a:xfrm>
          <a:prstGeom prst="roundRect">
            <a:avLst>
              <a:gd name="adj" fmla="val 2000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0" name="Text 7"/>
          <p:cNvSpPr/>
          <p:nvPr/>
        </p:nvSpPr>
        <p:spPr>
          <a:xfrm>
            <a:off x="4836081" y="1748790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External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836081" y="2160270"/>
            <a:ext cx="342900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Opportunities and Threats. What </a:t>
            </a:r>
            <a:r>
              <a:rPr lang="en-US" sz="1125" dirty="0" err="1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Boncho’s</a:t>
            </a:r>
            <a:r>
              <a:rPr lang="en-US" sz="1125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Momos does not control: a new competitor opening nearby, a festival boosting footfall.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6790611" y="240030"/>
            <a:ext cx="19888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17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c_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" y="0"/>
            <a:ext cx="9141714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8381" y="24003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Recap 6 of 8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78381" y="651510"/>
            <a:ext cx="8366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25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Value Chain &amp; Cost Analysis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549831" y="1577340"/>
            <a:ext cx="8023860" cy="2674620"/>
          </a:xfrm>
          <a:prstGeom prst="roundRect">
            <a:avLst>
              <a:gd name="adj" fmla="val 2051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7" name="Text 4"/>
          <p:cNvSpPr/>
          <p:nvPr/>
        </p:nvSpPr>
        <p:spPr>
          <a:xfrm>
            <a:off x="755571" y="1817370"/>
            <a:ext cx="76123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 activities create the product; support activities make the primary ones possible. Hero Cycles built its cost advantage through supplier relationships and logistics, not just factory efficiency.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55571" y="2811780"/>
            <a:ext cx="7612380" cy="1097280"/>
          </a:xfrm>
          <a:prstGeom prst="roundRect">
            <a:avLst>
              <a:gd name="adj" fmla="val 5000"/>
            </a:avLst>
          </a:prstGeom>
          <a:solidFill>
            <a:srgbClr val="B20E38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9" name="Text 6"/>
          <p:cNvSpPr/>
          <p:nvPr/>
        </p:nvSpPr>
        <p:spPr>
          <a:xfrm>
            <a:off x="961311" y="2811780"/>
            <a:ext cx="72009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3" b="1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Sun Tzu's economics of war: “the skillful soldier forages on the enemy.” A lean cost structure isn't a limitation, it's a weapon.</a:t>
            </a:r>
            <a:endParaRPr lang="en-US" sz="1163" dirty="0"/>
          </a:p>
        </p:txBody>
      </p:sp>
      <p:sp>
        <p:nvSpPr>
          <p:cNvPr id="10" name="Text 7"/>
          <p:cNvSpPr/>
          <p:nvPr/>
        </p:nvSpPr>
        <p:spPr>
          <a:xfrm>
            <a:off x="6790611" y="240030"/>
            <a:ext cx="19888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/ 17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c_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" y="0"/>
            <a:ext cx="9141714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8381" y="24003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Recap 8 of 8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78381" y="651510"/>
            <a:ext cx="8366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25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Four Resource Types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549831" y="1645920"/>
            <a:ext cx="1885950" cy="2468880"/>
          </a:xfrm>
          <a:prstGeom prst="roundRect">
            <a:avLst>
              <a:gd name="adj" fmla="val 2909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7" name="Text 4"/>
          <p:cNvSpPr/>
          <p:nvPr/>
        </p:nvSpPr>
        <p:spPr>
          <a:xfrm>
            <a:off x="652701" y="1783080"/>
            <a:ext cx="16802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Physical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2701" y="2263140"/>
            <a:ext cx="168021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975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Warehouses, delivery fleets</a:t>
            </a:r>
            <a:endParaRPr lang="en-US" sz="975" dirty="0"/>
          </a:p>
        </p:txBody>
      </p:sp>
      <p:sp>
        <p:nvSpPr>
          <p:cNvPr id="9" name="Shape 6"/>
          <p:cNvSpPr/>
          <p:nvPr/>
        </p:nvSpPr>
        <p:spPr>
          <a:xfrm>
            <a:off x="2572941" y="1645920"/>
            <a:ext cx="1885950" cy="2468880"/>
          </a:xfrm>
          <a:prstGeom prst="roundRect">
            <a:avLst>
              <a:gd name="adj" fmla="val 2909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0" name="Text 7"/>
          <p:cNvSpPr/>
          <p:nvPr/>
        </p:nvSpPr>
        <p:spPr>
          <a:xfrm>
            <a:off x="2675811" y="1783080"/>
            <a:ext cx="16802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Financial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75811" y="2263140"/>
            <a:ext cx="168021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975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Cash reserves, ability to raise capital</a:t>
            </a:r>
            <a:endParaRPr lang="en-US" sz="975" dirty="0"/>
          </a:p>
        </p:txBody>
      </p:sp>
      <p:sp>
        <p:nvSpPr>
          <p:cNvPr id="12" name="Shape 9"/>
          <p:cNvSpPr/>
          <p:nvPr/>
        </p:nvSpPr>
        <p:spPr>
          <a:xfrm>
            <a:off x="4596051" y="1645920"/>
            <a:ext cx="1885950" cy="2468880"/>
          </a:xfrm>
          <a:prstGeom prst="roundRect">
            <a:avLst>
              <a:gd name="adj" fmla="val 2909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3" name="Text 10"/>
          <p:cNvSpPr/>
          <p:nvPr/>
        </p:nvSpPr>
        <p:spPr>
          <a:xfrm>
            <a:off x="4698921" y="1783080"/>
            <a:ext cx="16802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Human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98921" y="2263140"/>
            <a:ext cx="168021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975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Talent, leadership, culture</a:t>
            </a:r>
            <a:endParaRPr lang="en-US" sz="975" dirty="0"/>
          </a:p>
        </p:txBody>
      </p:sp>
      <p:sp>
        <p:nvSpPr>
          <p:cNvPr id="15" name="Shape 12"/>
          <p:cNvSpPr/>
          <p:nvPr/>
        </p:nvSpPr>
        <p:spPr>
          <a:xfrm>
            <a:off x="6619161" y="1645920"/>
            <a:ext cx="1885950" cy="2468880"/>
          </a:xfrm>
          <a:prstGeom prst="roundRect">
            <a:avLst>
              <a:gd name="adj" fmla="val 2909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6" name="Text 13"/>
          <p:cNvSpPr/>
          <p:nvPr/>
        </p:nvSpPr>
        <p:spPr>
          <a:xfrm>
            <a:off x="6722031" y="1783080"/>
            <a:ext cx="16802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Intangible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722031" y="2263140"/>
            <a:ext cx="168021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975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trust, patents, data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6790611" y="240030"/>
            <a:ext cx="19888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17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REFERENCES &amp; NEXT WEEK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Sources &amp; What's Coming Up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Required Reading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148132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A. Nag — Strategic Management: Analysis, Implementation and Control, Ch. 5, 7
Sun Tzu — The Art of War, Ch. II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Case &amp; History Sources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7157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Publicly documented history of Amazon (founded 1994)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188720"/>
            <a:ext cx="397764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52060" y="22722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Next Session — </a:t>
            </a:r>
            <a:r>
              <a:rPr lang="en-US" sz="1400" b="1" dirty="0">
                <a:solidFill>
                  <a:srgbClr val="B20E38"/>
                </a:solidFill>
                <a:highlight>
                  <a:srgbClr val="FFFF00"/>
                </a:highlight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Quiz 1</a:t>
            </a:r>
            <a:endParaRPr lang="en-US" sz="1400" dirty="0">
              <a:highlight>
                <a:srgbClr val="FFFF00"/>
              </a:highlight>
            </a:endParaRPr>
          </a:p>
        </p:txBody>
      </p:sp>
      <p:sp>
        <p:nvSpPr>
          <p:cNvPr id="14" name="Text 11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 / 17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ASSESSMENT REMINDER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Assessment 3 Is Due this Sunday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8229600" cy="2651760"/>
          </a:xfrm>
          <a:prstGeom prst="roundRect">
            <a:avLst>
              <a:gd name="adj" fmla="val 3448"/>
            </a:avLst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344168"/>
            <a:ext cx="7680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Using Porter 5 forces (from previous assessment), create a SWOT &amp; VRIO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20141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</a:rPr>
              <a:t>Please complete this before the end of this week. Make sure all three methods are clearly separated into distinct sections, with a proper explanation of how each method leads to the next. Use the same company that you used for Porter’s Five Forces analysis throughout all three methods.</a:t>
            </a:r>
          </a:p>
          <a:p>
            <a:pPr>
              <a:lnSpc>
                <a:spcPct val="150000"/>
              </a:lnSpc>
            </a:pPr>
            <a:endParaRPr lang="en-US" sz="1300" dirty="0">
              <a:solidFill>
                <a:srgbClr val="1A1A1A"/>
              </a:solidFill>
              <a:latin typeface="Montserrat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14553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50" i="1" dirty="0">
                <a:solidFill>
                  <a:srgbClr val="2A2A2A"/>
                </a:solidFill>
                <a:latin typeface="Montserrat" pitchFamily="34" charset="0"/>
              </a:rPr>
              <a:t>Marks will largely depend on the quality of your analysis and how well you justify your insights. AI usage will be checked.</a:t>
            </a:r>
          </a:p>
          <a:p>
            <a:pPr marL="0" indent="0">
              <a:buNone/>
            </a:pPr>
            <a:r>
              <a:rPr lang="en-US" sz="1250" i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741323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1228</Words>
  <Application>Microsoft Office PowerPoint</Application>
  <PresentationFormat>On-screen Show (16:9)</PresentationFormat>
  <Paragraphs>212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Arial</vt:lpstr>
      <vt:lpstr>Calibri</vt:lpstr>
      <vt:lpstr>Montserrat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Shridhar samant</cp:lastModifiedBy>
  <cp:revision>16</cp:revision>
  <dcterms:created xsi:type="dcterms:W3CDTF">2026-08-06T10:21:28Z</dcterms:created>
  <dcterms:modified xsi:type="dcterms:W3CDTF">2026-09-02T05:28:18Z</dcterms:modified>
</cp:coreProperties>
</file>