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76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79" r:id="rId15"/>
    <p:sldId id="287" r:id="rId16"/>
    <p:sldId id="288" r:id="rId17"/>
    <p:sldId id="289" r:id="rId18"/>
    <p:sldId id="280" r:id="rId19"/>
    <p:sldId id="260" r:id="rId20"/>
    <p:sldId id="281" r:id="rId21"/>
    <p:sldId id="290" r:id="rId22"/>
    <p:sldId id="282" r:id="rId23"/>
    <p:sldId id="285" r:id="rId24"/>
    <p:sldId id="291" r:id="rId25"/>
    <p:sldId id="286" r:id="rId26"/>
    <p:sldId id="271" r:id="rId27"/>
    <p:sldId id="272" r:id="rId2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45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450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7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01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D9C2-7D7A-80B6-11BC-FD9FE9CB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770D0-449A-BE00-9184-0C0E39EE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3E3DE-0EFA-645B-3759-443867818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EF4BB-96DF-52FE-213A-8F390AC33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81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0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75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D9C2-7D7A-80B6-11BC-FD9FE9CB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770D0-449A-BE00-9184-0C0E39EE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3E3DE-0EFA-645B-3759-443867818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EF4BB-96DF-52FE-213A-8F390AC33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65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894C-5CAC-CD6B-15B3-D035C6A1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54CFF-C9F4-930A-344D-3EC129099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224BB-F447-A355-DEDA-C8B897C5D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E8FCE-188E-C99C-0D1C-12A18D600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24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C3D07-BE33-1A68-313A-83EDA695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C3443-1D43-CEF1-1ADF-66BE9083C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DA7D5-2127-5993-81FB-A8DDD698E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92C79-FCAE-66A7-9F36-56A0156F5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02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D9C2-7D7A-80B6-11BC-FD9FE9CB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770D0-449A-BE00-9184-0C0E39EE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3E3DE-0EFA-645B-3759-443867818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EF4BB-96DF-52FE-213A-8F390AC33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7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D9A1-7C0F-FBF1-1E4E-F33CE063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6E5BB-3DAE-3565-F08A-424EDF8F9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A04DD-94AD-DC4A-C007-D5652B7DB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645B2-52E5-6FDA-010D-21E0FEBB9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0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738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97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8391-FE43-46D1-818C-650E1845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105EA-4A19-6A75-17C2-F4495CE07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3F0E5-7D41-0F84-AF6E-3DE4602E7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8BD0C-A52E-F6BD-E5A8-0A4D32A15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11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7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Strategies for Business Growth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Week 7 · Session 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 / McKinsey Nine-Cell Matrix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/ 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BCG Was a Start, Not the Whole Story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393192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BCG Matrix uses two numbers, market growth and relative market share, to sort a portfolio into four boxes. Fast, simple, and honestly, a little crude.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3566160"/>
            <a:ext cx="10149840" cy="2103120"/>
          </a:xfrm>
          <a:prstGeom prst="roundRect">
            <a:avLst>
              <a:gd name="adj" fmla="val 3478"/>
            </a:avLst>
          </a:prstGeom>
          <a:solidFill>
            <a:srgbClr val="B20E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5661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Electric, working with McKinsey in the early 1970s, built a richer version: instead of two numbers, it uses two composite judgments, industry attractiveness and business strength, each built from multiple real factors.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20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Tool Exists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Problem BCG Couldn't Solve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393192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real businesses can have identical growth and share numbers, and still be nothing alike. A slow-growing category can still be genuinely attractive: high margins, few competitors, loyal customers, low regulatory risk.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BCG's two axes can't capture that nuance. GE's matrix was built specifically to let managers weigh in judgment, not just plug in two numbers.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20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Two Composite Axes, Not Two Numbers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Industry Attractiveness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size, market growth rate, competitive intensity, profit margins, technology requirements, regulatory environment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Strength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share, brand strength, cost position, distribution reach, technical capability, management quality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Nine Cells, Three Zones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29000" cy="1280160"/>
          </a:xfrm>
          <a:prstGeom prst="rect">
            <a:avLst/>
          </a:prstGeom>
          <a:solidFill>
            <a:srgbClr val="B20E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429000" cy="1280160"/>
          </a:xfrm>
          <a:prstGeom prst="rect">
            <a:avLst/>
          </a:prstGeom>
          <a:solidFill>
            <a:srgbClr val="B20E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488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2148840"/>
            <a:ext cx="3429000" cy="1280160"/>
          </a:xfrm>
          <a:prstGeom prst="rect">
            <a:avLst/>
          </a:prstGeom>
          <a:solidFill>
            <a:srgbClr val="D96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1488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3429000" cy="1280160"/>
          </a:xfrm>
          <a:prstGeom prst="rect">
            <a:avLst/>
          </a:prstGeom>
          <a:solidFill>
            <a:srgbClr val="B20E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3566160"/>
            <a:ext cx="3429000" cy="1280160"/>
          </a:xfrm>
          <a:prstGeom prst="rect">
            <a:avLst/>
          </a:prstGeom>
          <a:solidFill>
            <a:srgbClr val="D96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5661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5280" y="3566160"/>
            <a:ext cx="3429000" cy="1280160"/>
          </a:xfrm>
          <a:prstGeom prst="rect">
            <a:avLst/>
          </a:prstGeom>
          <a:solidFill>
            <a:srgbClr val="8A6A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5661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983480"/>
            <a:ext cx="3429000" cy="1280160"/>
          </a:xfrm>
          <a:prstGeom prst="rect">
            <a:avLst/>
          </a:prstGeom>
          <a:solidFill>
            <a:srgbClr val="D96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834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4983480"/>
            <a:ext cx="3429000" cy="1280160"/>
          </a:xfrm>
          <a:prstGeom prst="rect">
            <a:avLst/>
          </a:prstGeom>
          <a:solidFill>
            <a:srgbClr val="8A6A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9834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55280" y="4983480"/>
            <a:ext cx="3429000" cy="1280160"/>
          </a:xfrm>
          <a:prstGeom prst="rect">
            <a:avLst/>
          </a:prstGeom>
          <a:solidFill>
            <a:srgbClr val="8A6A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9834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Top-left = strong on both axes, invest heavily. Bottom-right = weak on both, harvest cash or exit.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20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Mckinsey</a:t>
            </a: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14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84DC92-16FA-434E-BB77-392C70A9C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18422"/>
              </p:ext>
            </p:extLst>
          </p:nvPr>
        </p:nvGraphicFramePr>
        <p:xfrm>
          <a:off x="697117" y="2254313"/>
          <a:ext cx="10653508" cy="2889982"/>
        </p:xfrm>
        <a:graphic>
          <a:graphicData uri="http://schemas.openxmlformats.org/drawingml/2006/table">
            <a:tbl>
              <a:tblPr/>
              <a:tblGrid>
                <a:gridCol w="2663377">
                  <a:extLst>
                    <a:ext uri="{9D8B030D-6E8A-4147-A177-3AD203B41FA5}">
                      <a16:colId xmlns:a16="http://schemas.microsoft.com/office/drawing/2014/main" val="2343375530"/>
                    </a:ext>
                  </a:extLst>
                </a:gridCol>
                <a:gridCol w="2663377">
                  <a:extLst>
                    <a:ext uri="{9D8B030D-6E8A-4147-A177-3AD203B41FA5}">
                      <a16:colId xmlns:a16="http://schemas.microsoft.com/office/drawing/2014/main" val="2146996037"/>
                    </a:ext>
                  </a:extLst>
                </a:gridCol>
                <a:gridCol w="2663377">
                  <a:extLst>
                    <a:ext uri="{9D8B030D-6E8A-4147-A177-3AD203B41FA5}">
                      <a16:colId xmlns:a16="http://schemas.microsoft.com/office/drawing/2014/main" val="1266458771"/>
                    </a:ext>
                  </a:extLst>
                </a:gridCol>
                <a:gridCol w="2663377">
                  <a:extLst>
                    <a:ext uri="{9D8B030D-6E8A-4147-A177-3AD203B41FA5}">
                      <a16:colId xmlns:a16="http://schemas.microsoft.com/office/drawing/2014/main" val="3730997399"/>
                    </a:ext>
                  </a:extLst>
                </a:gridCol>
              </a:tblGrid>
              <a:tr h="4623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Strong Business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Average Business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Weak Business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57592"/>
                  </a:ext>
                </a:extLst>
              </a:tr>
              <a:tr h="809195">
                <a:tc>
                  <a:txBody>
                    <a:bodyPr/>
                    <a:lstStyle/>
                    <a:p>
                      <a:r>
                        <a:rPr lang="en-IN" b="1"/>
                        <a:t>High Industry Attractiveness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🟢 Invest/Grow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🟢 Selective Investment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🟡 Build/Select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907426"/>
                  </a:ext>
                </a:extLst>
              </a:tr>
              <a:tr h="809195">
                <a:tc>
                  <a:txBody>
                    <a:bodyPr/>
                    <a:lstStyle/>
                    <a:p>
                      <a:r>
                        <a:rPr lang="en-IN" b="1"/>
                        <a:t>Medium Industry Attractiveness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🟢 Selective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🟡 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🟠 Harvest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651997"/>
                  </a:ext>
                </a:extLst>
              </a:tr>
              <a:tr h="809195">
                <a:tc>
                  <a:txBody>
                    <a:bodyPr/>
                    <a:lstStyle/>
                    <a:p>
                      <a:r>
                        <a:rPr lang="en-IN" b="1"/>
                        <a:t>Low Industry Attractiveness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🟡 Protect/Harvest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🟠 Harvest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🔴 Exit/Divest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74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00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Story · Part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Group: A Portfolio Worth Mapping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20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Story · Part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Group: A Portfolio Worth Mapping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393192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Founded 1897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locks and safes to one of India's most diversified conglomerates, spanning consumer products, real estate, agrochemicals, appliances, and more.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businesses worth examining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16052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Godrej Consumer Products (soaps, hair colour, household insecticides), Godrej Properties (real estate development), and Godrej Agrovet (animal feed, agri-inputs).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472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Story · Part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Mapping the Group onto the Grid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1284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Consumer Products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23360" y="221284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attractiveness, high strength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2128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Decades of brand trust and distribution reach in a steadily growing FMCG market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8444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Properties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3360" y="358444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attractiveness, medium strength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35844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Cyclical, capital-intensive, strong brand but exposed to real-estate cycles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95604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Agrovet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23360" y="495604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attractiveness, building strength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4956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genuinely important sector, but still establishing scale relative to specialised agri players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20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 Do You Do With This?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Each Zone Implies a Different Move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331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 aggressively, this is where the group's future is being built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520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35204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 carefully, fix specific weaknesses before committing more capital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47091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Minimise new investment, extract cash, or exit entirely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20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Comparing the Two Tools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 Matrix vs. BCG Matrix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BCG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hard numbers: growth rate, relative share. Fast, objective, easy to defend, but can miss real nuance.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 / McKinsey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weighted factors, judgment-based. Richer picture, but the weights and scores can be gamed or biased.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20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Common Mistake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Weights Are Never Neutral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0698480" cy="3291840"/>
          </a:xfrm>
          <a:prstGeom prst="roundRect">
            <a:avLst>
              <a:gd name="adj" fmla="val 2778"/>
            </a:avLst>
          </a:prstGeom>
          <a:solidFill>
            <a:srgbClr val="B20E3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28600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Whoever picks the factors and assigns the weights is making a strategic argument, whether they admit it or not. A manager defending a pet project can quietly weight the factors that make it look attractive. The tool is only as honest as the people scoring it.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20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the Art of War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“Know the Enemy, Know Yourself”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3840480"/>
          </a:xfrm>
          <a:prstGeom prst="roundRect">
            <a:avLst>
              <a:gd name="adj" fmla="val 190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146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 Tzu, Chapter III: “if you know the enemy and know yourself, you need not fear the result of a hundred battles.”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703320"/>
            <a:ext cx="10149840" cy="1965960"/>
          </a:xfrm>
          <a:prstGeom prst="roundRect">
            <a:avLst>
              <a:gd name="adj" fmla="val 3721"/>
            </a:avLst>
          </a:prstGeom>
          <a:solidFill>
            <a:srgbClr val="B20E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703320"/>
            <a:ext cx="9601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attractiveness is knowing the enemy, the terrain. Business strength is knowing yourself. The GE Matrix simply forces both judgments to be made honestly, side by side.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20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2B90-F75E-5648-B217-25A6C944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F73F8B7-583B-6C88-2CD0-42BDB533AA65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643872-B7D1-13CF-C8E7-03823FFE2EDD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Nine Cells, Three Zones</a:t>
            </a:r>
            <a:endParaRPr lang="en-US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7DB497-45A1-0C81-3EBD-137ABA38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34" r="16646"/>
          <a:stretch>
            <a:fillRect/>
          </a:stretch>
        </p:blipFill>
        <p:spPr>
          <a:xfrm>
            <a:off x="3093720" y="2092244"/>
            <a:ext cx="5364480" cy="39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1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Two Composite Axes, Not Two Numbers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Industry Attractiveness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Strength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3475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Two Composite Axes, Not Two Numbers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Industry Attractiveness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size, market growth rate, competitive intensity, profit margins, technology requirements, regulatory environment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Strength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share, brand strength, cost position, distribution reach, technical capability, management quality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55752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2B90-F75E-5648-B217-25A6C944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F73F8B7-583B-6C88-2CD0-42BDB533AA65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643872-B7D1-13CF-C8E7-03823FFE2EDD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Nine Cells, Three Zones</a:t>
            </a:r>
            <a:endParaRPr lang="en-US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7DB497-45A1-0C81-3EBD-137ABA38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34" r="16646"/>
          <a:stretch>
            <a:fillRect/>
          </a:stretch>
        </p:blipFill>
        <p:spPr>
          <a:xfrm>
            <a:off x="3093720" y="2092244"/>
            <a:ext cx="5364480" cy="39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82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E247-F98A-61D0-966D-42E030C5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4AE67E-64F7-7712-E814-0747B7AE94F9}"/>
              </a:ext>
            </a:extLst>
          </p:cNvPr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7EEB9C-2B83-6DCF-4709-C603D023F775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It's Actually Built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A33FBE-2593-5136-010D-E4EA45033261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Step 1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D0C757-1709-69BB-02E2-92423D215855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1965959"/>
          <a:ext cx="10573384" cy="32697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1360">
                  <a:extLst>
                    <a:ext uri="{9D8B030D-6E8A-4147-A177-3AD203B41FA5}">
                      <a16:colId xmlns:a16="http://schemas.microsoft.com/office/drawing/2014/main" val="380231859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706278675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3013605704"/>
                    </a:ext>
                  </a:extLst>
                </a:gridCol>
                <a:gridCol w="2648584">
                  <a:extLst>
                    <a:ext uri="{9D8B030D-6E8A-4147-A177-3AD203B41FA5}">
                      <a16:colId xmlns:a16="http://schemas.microsoft.com/office/drawing/2014/main" val="3331603259"/>
                    </a:ext>
                  </a:extLst>
                </a:gridCol>
              </a:tblGrid>
              <a:tr h="847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Industry Attractiveness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Business Strength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952141"/>
                  </a:ext>
                </a:extLst>
              </a:tr>
              <a:tr h="484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 Growth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Relative Market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757041"/>
                  </a:ext>
                </a:extLst>
              </a:tr>
              <a:tr h="484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Industry Profit Margins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Brand Reputation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831266"/>
                  </a:ext>
                </a:extLst>
              </a:tr>
              <a:tr h="484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Technological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475818"/>
                  </a:ext>
                </a:extLst>
              </a:tr>
              <a:tr h="484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Barriers to 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Profit Margins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16705"/>
                  </a:ext>
                </a:extLst>
              </a:tr>
              <a:tr h="484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98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073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It's Actually Built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Weighting and Scoring, Step by Step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19456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the factors that matter for each axis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457200" cy="45720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182112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each factor a weight, all weights on one axis sum to 1.0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" y="416966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352544"/>
            <a:ext cx="457200" cy="45720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16966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the business 1 (weak) to 5 (strong) on each factor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31520" y="515721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5340096"/>
            <a:ext cx="457200" cy="45720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515721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Multiply weight × score, sum for a final position on each axis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20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D2A7-1808-A526-4C84-894DE514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42748A-28BB-276B-EAF4-C3DEEDD76F92}"/>
              </a:ext>
            </a:extLst>
          </p:cNvPr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84466C-9B96-D413-922D-EE2418D4727F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It's Actually Built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C4DCE6E-C1F7-C470-5978-3CDA5CAB9EF2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Step 2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E2C19-5410-6714-B97C-9CA8D532253D}"/>
              </a:ext>
            </a:extLst>
          </p:cNvPr>
          <p:cNvSpPr txBox="1"/>
          <p:nvPr/>
        </p:nvSpPr>
        <p:spPr>
          <a:xfrm>
            <a:off x="746760" y="1965959"/>
            <a:ext cx="8366760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/>
              <a:t>Scoring:</a:t>
            </a:r>
            <a:r>
              <a:rPr lang="en-US" sz="2000" dirty="0"/>
              <a:t> Each factor is rated from </a:t>
            </a:r>
            <a:r>
              <a:rPr lang="en-US" sz="2000" b="1" dirty="0"/>
              <a:t>1 (Poor) to 5 (Excellent)</a:t>
            </a:r>
            <a:r>
              <a:rPr lang="en-US" sz="20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B4156-9D27-FA4D-D07B-C9E6BC0775E5}"/>
              </a:ext>
            </a:extLst>
          </p:cNvPr>
          <p:cNvSpPr txBox="1"/>
          <p:nvPr/>
        </p:nvSpPr>
        <p:spPr>
          <a:xfrm>
            <a:off x="746760" y="2846457"/>
            <a:ext cx="812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Weighted scores are then combined to obtain the final score for each SBU.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D6E8CC-35B6-6D62-AD01-AD1C6469E4BE}"/>
              </a:ext>
            </a:extLst>
          </p:cNvPr>
          <p:cNvGraphicFramePr>
            <a:graphicFrameLocks noGrp="1"/>
          </p:cNvGraphicFramePr>
          <p:nvPr/>
        </p:nvGraphicFramePr>
        <p:xfrm>
          <a:off x="373379" y="3520440"/>
          <a:ext cx="11442066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41">
                  <a:extLst>
                    <a:ext uri="{9D8B030D-6E8A-4147-A177-3AD203B41FA5}">
                      <a16:colId xmlns:a16="http://schemas.microsoft.com/office/drawing/2014/main" val="156988022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50621518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746821595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409537752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881807410"/>
                    </a:ext>
                  </a:extLst>
                </a:gridCol>
                <a:gridCol w="1856105">
                  <a:extLst>
                    <a:ext uri="{9D8B030D-6E8A-4147-A177-3AD203B41FA5}">
                      <a16:colId xmlns:a16="http://schemas.microsoft.com/office/drawing/2014/main" val="21899188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SBU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Industry Attractiveness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Business Strength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Strategic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1951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🏎️ Electric Vehicles (EV)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Selective 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0778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📱 Smartphones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Protect / Hold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0473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📷 Digital Cameras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Divest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11068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CD6E4C-6691-9619-FA16-8010DBC92D2A}"/>
              </a:ext>
            </a:extLst>
          </p:cNvPr>
          <p:cNvGraphicFramePr>
            <a:graphicFrameLocks noGrp="1"/>
          </p:cNvGraphicFramePr>
          <p:nvPr/>
        </p:nvGraphicFramePr>
        <p:xfrm>
          <a:off x="7193280" y="1067470"/>
          <a:ext cx="4858384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9192">
                  <a:extLst>
                    <a:ext uri="{9D8B030D-6E8A-4147-A177-3AD203B41FA5}">
                      <a16:colId xmlns:a16="http://schemas.microsoft.com/office/drawing/2014/main" val="285977796"/>
                    </a:ext>
                  </a:extLst>
                </a:gridCol>
                <a:gridCol w="2429192">
                  <a:extLst>
                    <a:ext uri="{9D8B030D-6E8A-4147-A177-3AD203B41FA5}">
                      <a16:colId xmlns:a16="http://schemas.microsoft.com/office/drawing/2014/main" val="100485287"/>
                    </a:ext>
                  </a:extLst>
                </a:gridCol>
              </a:tblGrid>
              <a:tr h="34881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63201"/>
                  </a:ext>
                </a:extLst>
              </a:tr>
              <a:tr h="34881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3.67 – 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515539"/>
                  </a:ext>
                </a:extLst>
              </a:tr>
              <a:tr h="34881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2.34 – 3.66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198015"/>
                  </a:ext>
                </a:extLst>
              </a:tr>
              <a:tr h="34881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1.00 – 2.33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829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6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2B90-F75E-5648-B217-25A6C944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F73F8B7-583B-6C88-2CD0-42BDB533AA65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643872-B7D1-13CF-C8E7-03823FFE2EDD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Nine Cells, Three Zones</a:t>
            </a:r>
            <a:endParaRPr lang="en-US" sz="3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7DB497-45A1-0C81-3EBD-137ABA38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34" r="16646"/>
          <a:stretch>
            <a:fillRect/>
          </a:stretch>
        </p:blipFill>
        <p:spPr>
          <a:xfrm>
            <a:off x="3093720" y="2092244"/>
            <a:ext cx="5364480" cy="39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65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7899C-CA1B-899C-0DFA-BDE033D4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CD7116-48A0-D7D3-E1CB-55409D96F8DA}"/>
              </a:ext>
            </a:extLst>
          </p:cNvPr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117C9C-FFAB-4031-1CF2-2369E09A2A27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It's Actually Built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C3980C-14A4-DC7D-5BCA-D74E62366FF1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Step 3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F2ACA-5640-C255-A886-D284FE6A7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844040"/>
            <a:ext cx="6355080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47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434113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Poison Pill Effect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71065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Poison Pill Effect</a:t>
            </a:r>
            <a:endParaRPr lang="en-US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9386E8-EE20-B4C0-FD82-A1209C693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386" y="1965959"/>
            <a:ext cx="6262052" cy="417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90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C943-1243-2391-7D7C-9E40DF96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1CCE3A-E0D6-8349-9EEA-97E26DFDE9D3}"/>
              </a:ext>
            </a:extLst>
          </p:cNvPr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D7406A-B00C-6322-33EA-4404D7F3895E}"/>
              </a:ext>
            </a:extLst>
          </p:cNvPr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704127-9318-DBC0-4A27-A26661A38035}"/>
              </a:ext>
            </a:extLst>
          </p:cNvPr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Poison Pill Effect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C0501-EC8B-F2A5-7EB4-03F7822E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118" y="1874520"/>
            <a:ext cx="6478588" cy="43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13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Connecting Back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This Feeds Straight Back Into Week 5 and 6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393192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 Matrix doesn't replace anything you've already learned, it organises it. A business landing in Invest/Grow is a strong candidate for the Growth strategies from Week 5. A business landing in Harvest/Divest is a strong candidate for Retrenchment.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matrix tells you where to look. Ansoff and the four grand strategies tell you what to actually do once you're there.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7544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77240"/>
            <a:ext cx="1106424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11475720" y="256032"/>
            <a:ext cx="365760" cy="4572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40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94560"/>
            <a:ext cx="91440" cy="91440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94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 / McKinsey Matrix uses two composite axes, Industry Attractiveness and Business Strength, built from multiple weighted factors, not just two numbers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246120"/>
            <a:ext cx="91440" cy="91440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461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was built to capture nuance that BCG's simpler two-axis approach misses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97680"/>
            <a:ext cx="91440" cy="91440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976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nine cells collapse into three zones: Invest/Grow, Selective Growth, and Harvest/Divest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349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349240"/>
            <a:ext cx="91440" cy="91440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3492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Because weights and scores rely on judgment, the tool is only as honest as the people using 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93348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1373</Words>
  <Application>Microsoft Office PowerPoint</Application>
  <PresentationFormat>Custom</PresentationFormat>
  <Paragraphs>252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4</cp:revision>
  <dcterms:created xsi:type="dcterms:W3CDTF">2026-09-14T08:09:05Z</dcterms:created>
  <dcterms:modified xsi:type="dcterms:W3CDTF">2026-09-19T07:59:03Z</dcterms:modified>
</cp:coreProperties>
</file>