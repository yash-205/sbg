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97" r:id="rId2"/>
    <p:sldId id="282" r:id="rId3"/>
    <p:sldId id="295" r:id="rId4"/>
    <p:sldId id="261" r:id="rId5"/>
    <p:sldId id="290" r:id="rId6"/>
    <p:sldId id="283" r:id="rId7"/>
    <p:sldId id="264" r:id="rId8"/>
    <p:sldId id="291" r:id="rId9"/>
    <p:sldId id="266" r:id="rId10"/>
    <p:sldId id="273" r:id="rId11"/>
    <p:sldId id="292" r:id="rId12"/>
    <p:sldId id="276" r:id="rId13"/>
    <p:sldId id="271" r:id="rId14"/>
    <p:sldId id="274" r:id="rId15"/>
    <p:sldId id="293" r:id="rId16"/>
    <p:sldId id="275" r:id="rId17"/>
    <p:sldId id="277" r:id="rId18"/>
    <p:sldId id="278" r:id="rId19"/>
    <p:sldId id="294" r:id="rId20"/>
    <p:sldId id="269" r:id="rId21"/>
    <p:sldId id="270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02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84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370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14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42AC-6EBF-F22B-DE33-3D97BA9C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749E2-EA46-B00F-7535-7DA693A34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93FCE-A375-3E27-659E-FEE86322E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BE646-FA0E-3986-E1CD-3C1E8E21B3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89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42AC-6EBF-F22B-DE33-3D97BA9C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749E2-EA46-B00F-7535-7DA693A34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93FCE-A375-3E27-659E-FEE86322E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BE646-FA0E-3986-E1CD-3C1E8E21B3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49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40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05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8A2E7-5FC4-8FC6-C790-8065DC8E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DFD87-4E9F-B36F-A5B5-EA311DD38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29C11-8AE9-6175-8EB6-307F248D5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43E93-94F3-69E8-4D3D-2A418C9C38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0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99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72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49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94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57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57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20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222921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Week 1 Session 3 and 4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5216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CCC8F-8359-FD80-FF5B-226C7266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0BF98F8-6799-5AE1-C399-EFBA54FDC5C2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679EE8-F33A-0C23-EED2-C08DD24A036C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CC869A2-BB3F-6C9C-11C1-819CC631FC99}"/>
              </a:ext>
            </a:extLst>
          </p:cNvPr>
          <p:cNvSpPr/>
          <p:nvPr/>
        </p:nvSpPr>
        <p:spPr>
          <a:xfrm>
            <a:off x="457200" y="932688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0CEC2E6-67A3-6FE1-DE9D-7CEE7893859F}"/>
              </a:ext>
            </a:extLst>
          </p:cNvPr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4131552-AF47-7104-3204-AF994586F745}"/>
              </a:ext>
            </a:extLst>
          </p:cNvPr>
          <p:cNvSpPr/>
          <p:nvPr/>
        </p:nvSpPr>
        <p:spPr>
          <a:xfrm>
            <a:off x="457200" y="2907792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76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ECCC8F-8359-FD80-FF5B-226C7266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8EA213AB-B94E-CE4D-5156-7D6A352F5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0BF98F8-6799-5AE1-C399-EFBA54FDC5C2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679EE8-F33A-0C23-EED2-C08DD24A036C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71A0D08-6AFB-4708-26AA-C46006C779A7}"/>
              </a:ext>
            </a:extLst>
          </p:cNvPr>
          <p:cNvSpPr/>
          <p:nvPr/>
        </p:nvSpPr>
        <p:spPr>
          <a:xfrm>
            <a:off x="457200" y="93268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CC869A2-BB3F-6C9C-11C1-819CC631FC99}"/>
              </a:ext>
            </a:extLst>
          </p:cNvPr>
          <p:cNvSpPr/>
          <p:nvPr/>
        </p:nvSpPr>
        <p:spPr>
          <a:xfrm>
            <a:off x="457200" y="932688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5973C4-1168-5D71-EEE4-8B17236F3FDB}"/>
              </a:ext>
            </a:extLst>
          </p:cNvPr>
          <p:cNvSpPr/>
          <p:nvPr/>
        </p:nvSpPr>
        <p:spPr>
          <a:xfrm>
            <a:off x="777240" y="93268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policy is a standing guideline — a boundary, not a script</a:t>
            </a:r>
            <a:endParaRPr lang="en-US" sz="13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C51915F-B631-89FF-0C73-F5C3AF1E7AE3}"/>
              </a:ext>
            </a:extLst>
          </p:cNvPr>
          <p:cNvSpPr/>
          <p:nvPr/>
        </p:nvSpPr>
        <p:spPr>
          <a:xfrm>
            <a:off x="457200" y="19202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0CEC2E6-67A3-6FE1-DE9D-7CEE7893859F}"/>
              </a:ext>
            </a:extLst>
          </p:cNvPr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129C52A-98F9-BBF6-2B72-610F971604BD}"/>
              </a:ext>
            </a:extLst>
          </p:cNvPr>
          <p:cNvSpPr/>
          <p:nvPr/>
        </p:nvSpPr>
        <p:spPr>
          <a:xfrm>
            <a:off x="777240" y="1920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program is a time-bound set of activities aimed at one goal</a:t>
            </a:r>
            <a:endParaRPr lang="en-US" sz="13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92C74EE-EACA-A8B6-3671-E23E4BEFFD80}"/>
              </a:ext>
            </a:extLst>
          </p:cNvPr>
          <p:cNvSpPr/>
          <p:nvPr/>
        </p:nvSpPr>
        <p:spPr>
          <a:xfrm>
            <a:off x="457200" y="290779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4131552-AF47-7104-3204-AF994586F745}"/>
              </a:ext>
            </a:extLst>
          </p:cNvPr>
          <p:cNvSpPr/>
          <p:nvPr/>
        </p:nvSpPr>
        <p:spPr>
          <a:xfrm>
            <a:off x="457200" y="2907792"/>
            <a:ext cx="73152" cy="86868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F3FCECB-1A5E-318B-45C6-748C506455FF}"/>
              </a:ext>
            </a:extLst>
          </p:cNvPr>
          <p:cNvSpPr/>
          <p:nvPr/>
        </p:nvSpPr>
        <p:spPr>
          <a:xfrm>
            <a:off x="777240" y="290779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procedure is a fixed, repeatable, step-by-step method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7003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BLOCK 1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22921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Budget?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32145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BLOCK 1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a Budget?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06299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24587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plan expressed in numbers how much money will be spent, on what, and by when.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02311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budget turns good intentions into a resource commitment it forces you to choose, because money is always limited.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5463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Example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16611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“₹8,000 for ingredients, ₹3,000 for gas and packaging, ₹2,000 for a helper this month, no more.”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6832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F491-EC7C-F921-4C0E-2A0D4F3BA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>
            <a:extLst>
              <a:ext uri="{FF2B5EF4-FFF2-40B4-BE49-F238E27FC236}">
                <a16:creationId xmlns:a16="http://schemas.microsoft.com/office/drawing/2014/main" id="{4E8B4E41-0E9C-C098-4A78-E86E7BAB9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D8165E2-FABE-D412-34B3-D3969C9C2A01}"/>
              </a:ext>
            </a:extLst>
          </p:cNvPr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AB8B993-D084-8EBF-F6AE-63E0A02B9E33}"/>
              </a:ext>
            </a:extLst>
          </p:cNvPr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Identity of any country</a:t>
            </a:r>
            <a:endParaRPr lang="en-US" sz="2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6CE8A6-23EF-8EC5-076D-6A9FD48701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81" r="67042"/>
          <a:stretch>
            <a:fillRect/>
          </a:stretch>
        </p:blipFill>
        <p:spPr>
          <a:xfrm>
            <a:off x="847895" y="849769"/>
            <a:ext cx="2192484" cy="3835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1391D9-8618-BAF1-7C46-61E72BE0CB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34" r="66896"/>
          <a:stretch>
            <a:fillRect/>
          </a:stretch>
        </p:blipFill>
        <p:spPr>
          <a:xfrm>
            <a:off x="5225584" y="849769"/>
            <a:ext cx="2192485" cy="380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1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BLOCK 4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2722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a Tactic?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3526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BLOCK 4 OF 4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a Tactic?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07442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2573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short-term, specific move made to gain an immediate advantage.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9431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a program is a whole campaign, a tactic is one small, quick action inside it often decided in the moment, not planned months ahead.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660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Example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1775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“Free chutney sachet for the first 20 customers this Friday” a quick, small nudge, not a big plan.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3710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BONSHO'S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His Budget &amp; Tactics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70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Budget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508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₹6,000/month on vegetables, ₹2,500 on gas and packaging, ₹1,500 set aside for a helper on weekends ₹10,000 total, tracked weekly.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“Priya's Momos” is a fictional business created for classroom illustration only.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15</a:t>
            </a:r>
            <a:endParaRPr lang="en-US" sz="8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DCCB820-3DD0-F415-282B-AB36FE53E065}"/>
              </a:ext>
            </a:extLst>
          </p:cNvPr>
          <p:cNvSpPr/>
          <p:nvPr/>
        </p:nvSpPr>
        <p:spPr>
          <a:xfrm>
            <a:off x="457200" y="268605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EF09429-4A68-253B-3ACD-4EAE04384E03}"/>
              </a:ext>
            </a:extLst>
          </p:cNvPr>
          <p:cNvSpPr/>
          <p:nvPr/>
        </p:nvSpPr>
        <p:spPr>
          <a:xfrm>
            <a:off x="731520" y="280492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Tactic</a:t>
            </a:r>
            <a:endParaRPr lang="en-US" sz="13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C7945207-F406-0EDB-2785-1267A2C5419D}"/>
              </a:ext>
            </a:extLst>
          </p:cNvPr>
          <p:cNvSpPr/>
          <p:nvPr/>
        </p:nvSpPr>
        <p:spPr>
          <a:xfrm>
            <a:off x="731520" y="314325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Noticing a slow Tuesday afternoon, Mohit/Aditya hands out a free chutney sachet to the next 20 customers a quick, unplanned nudge.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2438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366717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Mission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a Mission?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9829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mission is the </a:t>
            </a:r>
            <a:r>
              <a:rPr lang="en-US" sz="16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 a business exists</a:t>
            </a:r>
            <a:r>
              <a:rPr lang="en-US" sz="16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broader than any single goal, and stable even as objectives, budgets and tactics change year to year.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Amul's mission, in spirit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“To give India's dairy farmers fair, remunerative returns for their milk.” That idea hasn't changed since 1946  even as the specific objectives, budgets and products around it changed constantly.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1909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BONSHO'S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He Writes His Mission Statement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2834640"/>
          </a:xfrm>
          <a:prstGeom prst="roundRect">
            <a:avLst>
              <a:gd name="adj" fmla="val 3226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i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“To bring fresh, hygienic, affordable momos to every student in this city, without them ever having to choose between taste and their budget.”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26974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Notice: this mission doesn't mention 100 plates a day, or gloves, or Friday combos. It's bigger and slower-moving than any of those everything else we've written for Bono serves this one idea.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“Priya's Momos” is a fictional business created for classroom illustration only.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STORY TO START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a Farmers' Cooperative Needed a Mission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324612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2527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1946, Anand, Gujarat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1508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group of local dairy farmers, tired of unfair middlemen, form a cooperative. No fancy office, no big budget  just farmers and milk.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2585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mission that held it together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59689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farmers themselves fair, remunerative returns for their milk — not maximize profit for a few owners. Every later decision traced back to that one idea.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2552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Today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 cooperative is one of India's largest food brands, still owned by its farmer-members. A clear mission, followed for decades, built an empire no single budget or tactic ever could alone.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based on widely documented accounts of Amul's founding (1946) as a farmers' cooperative.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3469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USEFUL DISTINCTION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2722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Mission, Goal &amp; Objectives: What's the Difference?</a:t>
            </a:r>
            <a:endParaRPr lang="en-US" sz="2500" dirty="0"/>
          </a:p>
        </p:txBody>
      </p:sp>
      <p:sp>
        <p:nvSpPr>
          <p:cNvPr id="6" name="Text 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USEFUL DISTINCTION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Mission, Goal &amp; Objectives: What's the Difference?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6263477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Mission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1200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charset="0"/>
                          <a:cs typeface="Montserrat" charset="0"/>
                        </a:rPr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Objectives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0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Why the business exists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Montserrat" charset="0"/>
                          <a:ea typeface="Montserrat" charset="0"/>
                          <a:cs typeface="Montserrat" charset="0"/>
                        </a:rPr>
                        <a:t>What the business aims/wants to achieve overall (long-term)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What it's trying to achieve, right now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Broad, stable, rarely changes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Montserrat" charset="0"/>
                          <a:ea typeface="Montserrat" charset="0"/>
                          <a:cs typeface="Montserrat" charset="0"/>
                        </a:rPr>
                        <a:t>Medium to long-term, semi-broad, updated periodically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Specific, measurable, changes often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“Fair returns for farmers”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Montserrat" charset="0"/>
                          <a:ea typeface="Montserrat" charset="0"/>
                          <a:cs typeface="Montserrat" charset="0"/>
                        </a:rPr>
                        <a:t>Expand the milk procurement and processing network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“Increase milk procurement 10% this year”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B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8646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8A6A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Based on: A. Nag, Strategic Management: Analysis, Implementation and Control, Ch. 4.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33669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 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Full Stack: From Mission to Tactic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51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Mission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468880" y="1051560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we exist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1508760"/>
            <a:ext cx="7406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0584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Goal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697480" y="150876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want to achieve over the long term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097280" y="1965960"/>
            <a:ext cx="6949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234440" y="1965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926080" y="19659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we're specifically trying to achieve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325880" y="2602062"/>
            <a:ext cx="6492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63040" y="260206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Policy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154680" y="260206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standing guidelines we follow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554480" y="3059262"/>
            <a:ext cx="6035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691640" y="305926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Program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383280" y="305926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time-bound activities we run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783080" y="3516462"/>
            <a:ext cx="5577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920240" y="351646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Procedure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611880" y="351646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exact steps we repeat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011680" y="3973662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Text 21"/>
          <p:cNvSpPr/>
          <p:nvPr/>
        </p:nvSpPr>
        <p:spPr>
          <a:xfrm>
            <a:off x="2148840" y="397366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Budget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3840480" y="397366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numbers behind it all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40280" y="4430862"/>
            <a:ext cx="4663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377440" y="443086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Tactic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069080" y="443086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quick moves we make in the moment</a:t>
            </a:r>
            <a:endParaRPr lang="en-US" sz="10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558AD30-957E-E2D3-C074-DC7ECF05B129}"/>
              </a:ext>
            </a:extLst>
          </p:cNvPr>
          <p:cNvCxnSpPr/>
          <p:nvPr/>
        </p:nvCxnSpPr>
        <p:spPr>
          <a:xfrm>
            <a:off x="185530" y="2491409"/>
            <a:ext cx="87530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7F0316C-8373-419C-B675-CA68BC2B25FE}"/>
              </a:ext>
            </a:extLst>
          </p:cNvPr>
          <p:cNvSpPr txBox="1"/>
          <p:nvPr/>
        </p:nvSpPr>
        <p:spPr>
          <a:xfrm>
            <a:off x="88790" y="2237303"/>
            <a:ext cx="4638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Strategy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TO BONSHO'S MOMOS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His Complete Picture, All Nine Blocks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Mission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148840" y="1051560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331720" y="105156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Fresh, hygienic, affordable momos for every student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5087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48840" y="1508760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331720" y="150876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1965960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19659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148840" y="1965960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331720" y="1965960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plates/day within 3 months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596417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259641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Policy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148840" y="2596417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331720" y="2596417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fresh vegetables, never leftovers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053617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305361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Program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148840" y="3053617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331720" y="3053617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 Combo Week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3510817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351081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Procedure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148840" y="3510817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331720" y="3510817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5-step plating process, every order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3968017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" y="396801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Budget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148840" y="3968017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331720" y="3968017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₹10,000/month, tracked weekly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4425217"/>
            <a:ext cx="1645920" cy="402336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7200" y="4425217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Tactic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2148840" y="4425217"/>
            <a:ext cx="6537960" cy="402336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331720" y="4425217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 chutney for first 20 on slow days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15</a:t>
            </a:r>
            <a:endParaRPr lang="en-US" sz="800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1997492-6C34-F48A-B58F-2CC535FC3722}"/>
              </a:ext>
            </a:extLst>
          </p:cNvPr>
          <p:cNvCxnSpPr/>
          <p:nvPr/>
        </p:nvCxnSpPr>
        <p:spPr>
          <a:xfrm>
            <a:off x="86627" y="2502567"/>
            <a:ext cx="89202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D9F7650-46D3-FDF6-C571-86502CD599CD}"/>
              </a:ext>
            </a:extLst>
          </p:cNvPr>
          <p:cNvSpPr txBox="1"/>
          <p:nvPr/>
        </p:nvSpPr>
        <p:spPr>
          <a:xfrm>
            <a:off x="4094818" y="2280470"/>
            <a:ext cx="95436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Strategy</a:t>
            </a:r>
            <a:endParaRPr lang="en-IN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795E8268-12D6-DB2C-42DC-08DD012308B5}"/>
              </a:ext>
            </a:extLst>
          </p:cNvPr>
          <p:cNvSpPr/>
          <p:nvPr/>
        </p:nvSpPr>
        <p:spPr>
          <a:xfrm>
            <a:off x="2339739" y="1511972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1A"/>
                </a:solidFill>
                <a:latin typeface="Montserrat" pitchFamily="34" charset="0"/>
              </a:rPr>
              <a:t>Become the most popular student </a:t>
            </a:r>
            <a:r>
              <a:rPr lang="en-US" sz="1050" dirty="0" err="1">
                <a:solidFill>
                  <a:srgbClr val="1A1A1A"/>
                </a:solidFill>
                <a:latin typeface="Montserrat" pitchFamily="34" charset="0"/>
              </a:rPr>
              <a:t>momo</a:t>
            </a:r>
            <a:r>
              <a:rPr lang="en-US" sz="1050" dirty="0">
                <a:solidFill>
                  <a:srgbClr val="1A1A1A"/>
                </a:solidFill>
                <a:latin typeface="Montserrat" pitchFamily="34" charset="0"/>
              </a:rPr>
              <a:t> spot in the area / Become the go-to campus </a:t>
            </a:r>
            <a:r>
              <a:rPr lang="en-US" sz="1050" dirty="0" err="1">
                <a:solidFill>
                  <a:srgbClr val="1A1A1A"/>
                </a:solidFill>
                <a:latin typeface="Montserrat" pitchFamily="34" charset="0"/>
              </a:rPr>
              <a:t>momo</a:t>
            </a:r>
            <a:r>
              <a:rPr lang="en-US" sz="1050" dirty="0">
                <a:solidFill>
                  <a:srgbClr val="1A1A1A"/>
                </a:solidFill>
                <a:latin typeface="Montserrat" pitchFamily="34" charset="0"/>
              </a:rPr>
              <a:t> stall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20" grpId="0" animBg="1"/>
      <p:bldP spid="24" grpId="0" animBg="1"/>
      <p:bldP spid="28" grpId="0" animBg="1"/>
      <p:bldP spid="32" grpId="0" animBg="1"/>
      <p:bldP spid="36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717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COMMON MISTAKE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3545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Some Founders Get This Wrong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8229600" y="464743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1717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COMMON MISTAKE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Why Some Founders Get This Wrong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2920" y="110871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11087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06299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Writing an inspiring mission, then never translating it into a real objective or budget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88595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8859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4023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Setting strict procedures and policies with no mission behind them staff follow rules without understanding why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66319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6631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51560" y="261747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exciting tactics and programs that quietly contradict the stated mission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4043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4404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51560" y="339471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fix: everything below the mission should trace back up to it, cleanly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0" y="464743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2099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98066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980666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98066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budget is a plan expressed in numbers — it forces real trade-offs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1881949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7200" y="1881949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1881949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tactic is a quick, short-term move — smaller and faster than a program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15</a:t>
            </a:r>
            <a:endParaRPr lang="en-US" sz="8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331ABD8F-69EB-FFC7-3966-499A4500EA60}"/>
              </a:ext>
            </a:extLst>
          </p:cNvPr>
          <p:cNvSpPr/>
          <p:nvPr/>
        </p:nvSpPr>
        <p:spPr>
          <a:xfrm>
            <a:off x="457200" y="2802835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3D74053-9108-8CEF-6865-A130799A1B7C}"/>
              </a:ext>
            </a:extLst>
          </p:cNvPr>
          <p:cNvSpPr/>
          <p:nvPr/>
        </p:nvSpPr>
        <p:spPr>
          <a:xfrm>
            <a:off x="457200" y="2802835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64B3BE0-E128-0942-8590-ABC45C095AA8}"/>
              </a:ext>
            </a:extLst>
          </p:cNvPr>
          <p:cNvSpPr/>
          <p:nvPr/>
        </p:nvSpPr>
        <p:spPr>
          <a:xfrm>
            <a:off x="777240" y="2802835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mission is the reason a business exists — broad and stable, unlike an objective</a:t>
            </a:r>
            <a:endParaRPr lang="en-US" sz="12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4F4F8391-88DD-1986-9C5C-1BE8DDB808B3}"/>
              </a:ext>
            </a:extLst>
          </p:cNvPr>
          <p:cNvSpPr/>
          <p:nvPr/>
        </p:nvSpPr>
        <p:spPr>
          <a:xfrm>
            <a:off x="457200" y="3714553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EE12B381-0D40-0913-1350-9271768A62CE}"/>
              </a:ext>
            </a:extLst>
          </p:cNvPr>
          <p:cNvSpPr/>
          <p:nvPr/>
        </p:nvSpPr>
        <p:spPr>
          <a:xfrm>
            <a:off x="457200" y="3714553"/>
            <a:ext cx="73152" cy="73152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B831401-BF23-5C9A-1B09-E28D7FFB5AAF}"/>
              </a:ext>
            </a:extLst>
          </p:cNvPr>
          <p:cNvSpPr/>
          <p:nvPr/>
        </p:nvSpPr>
        <p:spPr>
          <a:xfrm>
            <a:off x="777240" y="3714553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Nine building blocks — mission, objectives, policy, program, procedure, budget, rule, tactic — should trace back to one mission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SESSION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Required Reading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Nag — Strategic Management: Analysis, Implementation and Control, Ch. 4
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Further Resources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53288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Kazmi, A. — Business Policy and Strategic Management
Fred R. David — Strategic Management Concepts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594360"/>
          </a:xfrm>
          <a:prstGeom prst="roundRect">
            <a:avLst>
              <a:gd name="adj" fmla="val 3175"/>
            </a:avLst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1353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Coming Up —  Week 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1307</Words>
  <Application>Microsoft Office PowerPoint</Application>
  <PresentationFormat>On-screen Show (16:9)</PresentationFormat>
  <Paragraphs>180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15</cp:revision>
  <dcterms:created xsi:type="dcterms:W3CDTF">2026-07-31T08:37:52Z</dcterms:created>
  <dcterms:modified xsi:type="dcterms:W3CDTF">2026-09-02T12:21:41Z</dcterms:modified>
</cp:coreProperties>
</file>