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74" r:id="rId2"/>
    <p:sldId id="275" r:id="rId3"/>
    <p:sldId id="285" r:id="rId4"/>
    <p:sldId id="257" r:id="rId5"/>
    <p:sldId id="259" r:id="rId6"/>
    <p:sldId id="258" r:id="rId7"/>
    <p:sldId id="260" r:id="rId8"/>
    <p:sldId id="284" r:id="rId9"/>
    <p:sldId id="261" r:id="rId10"/>
    <p:sldId id="286" r:id="rId11"/>
    <p:sldId id="262" r:id="rId12"/>
    <p:sldId id="287" r:id="rId13"/>
    <p:sldId id="263" r:id="rId14"/>
    <p:sldId id="264" r:id="rId15"/>
    <p:sldId id="288" r:id="rId16"/>
    <p:sldId id="266" r:id="rId17"/>
    <p:sldId id="289" r:id="rId18"/>
    <p:sldId id="278" r:id="rId19"/>
    <p:sldId id="277" r:id="rId20"/>
    <p:sldId id="280" r:id="rId21"/>
    <p:sldId id="281" r:id="rId22"/>
    <p:sldId id="268" r:id="rId23"/>
    <p:sldId id="290" r:id="rId24"/>
    <p:sldId id="269" r:id="rId25"/>
    <p:sldId id="270" r:id="rId26"/>
    <p:sldId id="265" r:id="rId27"/>
    <p:sldId id="271" r:id="rId28"/>
    <p:sldId id="272" r:id="rId29"/>
    <p:sldId id="282" r:id="rId30"/>
    <p:sldId id="273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774"/>
    <p:restoredTop sz="94610"/>
  </p:normalViewPr>
  <p:slideViewPr>
    <p:cSldViewPr snapToGrid="0" snapToObjects="1">
      <p:cViewPr varScale="1">
        <p:scale>
          <a:sx n="103" d="100"/>
          <a:sy n="103" d="100"/>
        </p:scale>
        <p:origin x="492" y="7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865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BB63-D77A-87C2-1D69-42E5D7D0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F3CC3-69A6-7ECB-011F-D155CC399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54E6-B3B7-57C4-20A7-09E2185D2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690DB-A02B-94F0-6960-5B393E596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6788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0BB63-D77A-87C2-1D69-42E5D7D0D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F3CC3-69A6-7ECB-011F-D155CC3998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5454E6-B3B7-57C4-20A7-09E2185D28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D690DB-A02B-94F0-6960-5B393E5966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32812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03EA99-892B-2DDA-D5C4-E1A231965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6DD35F-03AC-C300-DBF9-56C8EDFEB9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51DC41-304C-A94E-4A82-703BC048FA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F52F59-A4B0-990C-A3ED-C670DEE5D2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2850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82113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919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89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2383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9B9EC9-64C4-CE17-BF3D-49F2489476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F71544-48AC-04B7-9A3C-4D0EC306A5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80133-2D1F-C20A-9EA3-E69E769B3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3B1D7-6266-715F-7ACA-861368CD11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1017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C4F9C6-084F-F574-D3B1-30C807CDB5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D73B32-01C4-4001-6BBF-3DE02FC75A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94FE3-4F14-6861-01BC-D1D4BCE1E3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10776-26F1-8888-8FC6-F8501FB7D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34031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3FD7-EB9F-EB01-40D2-27E4A4C9BF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483BB2-401E-5793-42D5-524A3510E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3C325-E0A9-FA04-4509-270A35A59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9D1DCB-0BFE-5649-D86A-0E357DAA26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84384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53031-D129-49F2-C612-CBDDF727D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D7BC92-B4CD-8577-E5BA-7B737C573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F6E90-69DF-48BC-742D-DAD0BBAC4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2A922C-8BB9-3869-2894-B62DC05D77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97000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8185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0A166C-FD84-9ADE-5DE2-8DF33C5A0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C9282-DA9E-2684-D486-D94A129C5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AD9501-517F-5CCD-4BAC-03F0B94AC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D8DA64-9F0A-E86B-BF5B-D722D0E12D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8816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conten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486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54864"/>
            <a:ext cx="8412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RECAP</a:t>
            </a:r>
            <a:endParaRPr lang="en-US" sz="1050" dirty="0"/>
          </a:p>
        </p:txBody>
      </p:sp>
      <p:sp>
        <p:nvSpPr>
          <p:cNvPr id="4" name="Text 1"/>
          <p:cNvSpPr/>
          <p:nvPr/>
        </p:nvSpPr>
        <p:spPr>
          <a:xfrm>
            <a:off x="365760" y="256032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Last Session</a:t>
            </a:r>
            <a:endParaRPr lang="en-US" sz="2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0344-4181-2DA4-D9E2-32FA7BF5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>
            <a:extLst>
              <a:ext uri="{FF2B5EF4-FFF2-40B4-BE49-F238E27FC236}">
                <a16:creationId xmlns:a16="http://schemas.microsoft.com/office/drawing/2014/main" id="{9A5D63B1-6410-7A1A-CBE3-18394FE52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B4AE350-2784-41FA-BFC4-E3D562142D30}"/>
              </a:ext>
            </a:extLst>
          </p:cNvPr>
          <p:cNvSpPr/>
          <p:nvPr/>
        </p:nvSpPr>
        <p:spPr>
          <a:xfrm>
            <a:off x="345872" y="417211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</a:rPr>
              <a:t>The TOWS Matrix.</a:t>
            </a:r>
          </a:p>
          <a:p>
            <a:endParaRPr lang="en-US" sz="2550" b="1" dirty="0">
              <a:solidFill>
                <a:srgbClr val="B20E38"/>
              </a:solidFill>
              <a:latin typeface="Montserrat SemiBold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10670-B8DE-898A-AF9D-81E7B729373E}"/>
              </a:ext>
            </a:extLst>
          </p:cNvPr>
          <p:cNvSpPr txBox="1"/>
          <p:nvPr/>
        </p:nvSpPr>
        <p:spPr>
          <a:xfrm>
            <a:off x="593961" y="2658234"/>
            <a:ext cx="71910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1A1A1A"/>
                </a:solidFill>
                <a:latin typeface="Montserrat" pitchFamily="34" charset="0"/>
              </a:rPr>
              <a:t>The TOWS Matrix.</a:t>
            </a:r>
          </a:p>
        </p:txBody>
      </p:sp>
    </p:spTree>
    <p:extLst>
      <p:ext uri="{BB962C8B-B14F-4D97-AF65-F5344CB8AC3E}">
        <p14:creationId xmlns:p14="http://schemas.microsoft.com/office/powerpoint/2010/main" val="2096948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B0344-4181-2DA4-D9E2-32FA7BF50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sc_assets/content_bg.png">
            <a:extLst>
              <a:ext uri="{FF2B5EF4-FFF2-40B4-BE49-F238E27FC236}">
                <a16:creationId xmlns:a16="http://schemas.microsoft.com/office/drawing/2014/main" id="{9A5D63B1-6410-7A1A-CBE3-18394FE52B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" y="0"/>
            <a:ext cx="9141714" cy="5143500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4B4AE350-2784-41FA-BFC4-E3D562142D30}"/>
              </a:ext>
            </a:extLst>
          </p:cNvPr>
          <p:cNvSpPr/>
          <p:nvPr/>
        </p:nvSpPr>
        <p:spPr>
          <a:xfrm>
            <a:off x="345872" y="417211"/>
            <a:ext cx="836676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550" b="1" dirty="0">
                <a:solidFill>
                  <a:srgbClr val="B20E38"/>
                </a:solidFill>
                <a:latin typeface="Montserrat SemiBold" pitchFamily="34" charset="0"/>
              </a:rPr>
              <a:t>So, we have the Choices... But how to formulate the strategies for the choices?</a:t>
            </a:r>
          </a:p>
          <a:p>
            <a:endParaRPr lang="en-US" sz="2550" b="1" dirty="0">
              <a:solidFill>
                <a:srgbClr val="B20E38"/>
              </a:solidFill>
              <a:latin typeface="Montserrat SemiBold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AB10670-B8DE-898A-AF9D-81E7B729373E}"/>
              </a:ext>
            </a:extLst>
          </p:cNvPr>
          <p:cNvSpPr txBox="1"/>
          <p:nvPr/>
        </p:nvSpPr>
        <p:spPr>
          <a:xfrm>
            <a:off x="593961" y="2658234"/>
            <a:ext cx="719106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b="1" dirty="0">
                <a:solidFill>
                  <a:srgbClr val="1A1A1A"/>
                </a:solidFill>
                <a:latin typeface="Montserrat" pitchFamily="34" charset="0"/>
              </a:rPr>
              <a:t>The TOWS Matrix.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5B5746-371C-4B62-396D-3607D0ED4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625" y="1579952"/>
            <a:ext cx="3566422" cy="285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729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From SWOT to TOWS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2351442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en-US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tells you what's true about a business. </a:t>
            </a:r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doesn't tell you what to do next.
</a:t>
            </a:r>
            <a:r>
              <a:rPr lang="en-US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TOWS Matrix the tool that turns a SWOT list into actual, actionable strategies.</a:t>
            </a:r>
            <a:endParaRPr lang="en-US" sz="1600" dirty="0"/>
          </a:p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38107" y="2414863"/>
            <a:ext cx="7589520" cy="4449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/ 18</a:t>
            </a:r>
            <a:endParaRPr lang="en-US" sz="800" dirty="0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77BE2BA2-12FC-5492-E931-3B2D2EF7E022}"/>
              </a:ext>
            </a:extLst>
          </p:cNvPr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E4C06BE0-A8A8-5671-9131-36F17B824D7D}"/>
              </a:ext>
            </a:extLst>
          </p:cNvPr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is the diagnosis. </a:t>
            </a: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TOWS is the prescription.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SWOT vs. TOWS — What Changed?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2377440"/>
          </a:xfrm>
          <a:prstGeom prst="roundRect">
            <a:avLst>
              <a:gd name="adj" fmla="val 2308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SWOT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863937"/>
            <a:ext cx="342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list. Four boxes of facts about your business and its environment. Good for understanding a situation.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2377440"/>
          </a:xfrm>
          <a:prstGeom prst="roundRect">
            <a:avLst>
              <a:gd name="adj" fmla="val 2308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TOWS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937760" y="1870287"/>
            <a:ext cx="3429000" cy="9486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matrix. Factors are paired into four strategy types. Good for deciding what to do next.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3749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is the diagnosis. </a:t>
            </a:r>
            <a:r>
              <a:rPr lang="en-US" sz="1500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TOWS is the prescription.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DEFINITION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What Is the TOWS Matrix?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8229600" cy="3063240"/>
          </a:xfrm>
          <a:prstGeom prst="roundRect">
            <a:avLst>
              <a:gd name="adj" fmla="val 1791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TOWS matrix pairs each external factor </a:t>
            </a:r>
            <a:r>
              <a:rPr lang="en-US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(Threats, Opportunities)</a:t>
            </a:r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with each internal factor </a:t>
            </a:r>
            <a:r>
              <a:rPr lang="en-US" b="1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(Weaknesses, Strengths)</a:t>
            </a:r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to generate four distinct sets of strategic options.</a:t>
            </a:r>
          </a:p>
          <a:p>
            <a:endParaRPr lang="en-US" dirty="0">
              <a:solidFill>
                <a:srgbClr val="1A1A1A"/>
              </a:solidFill>
              <a:latin typeface="Montserrat" pitchFamily="34" charset="0"/>
            </a:endParaRPr>
          </a:p>
          <a:p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Developed by </a:t>
            </a:r>
            <a:r>
              <a:rPr lang="en-US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Heinz </a:t>
            </a:r>
            <a:r>
              <a:rPr lang="en-US" b="1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Weihrich</a:t>
            </a:r>
            <a:r>
              <a:rPr lang="en-US" b="1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(1982) </a:t>
            </a:r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 a refinement of the classic SWOT framework.</a:t>
            </a:r>
          </a:p>
          <a:p>
            <a:endParaRPr lang="en-US" dirty="0">
              <a:solidFill>
                <a:srgbClr val="1A1A1A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r>
              <a:rPr lang="en-US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name deliberately flips the order — a reminder to start from the outside (T, O) before looking inside (W, S).</a:t>
            </a:r>
          </a:p>
          <a:p>
            <a:endParaRPr lang="en-US" dirty="0">
              <a:solidFill>
                <a:srgbClr val="1A1A1A"/>
              </a:solidFill>
              <a:latin typeface="Montserrat" pitchFamily="34" charset="0"/>
            </a:endParaRPr>
          </a:p>
          <a:p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The Four Strategy Types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 — Maxi-Maxi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830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Strengths to capture Opportunities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 — Mini-Maxi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Opportunities to overcome Weaknesses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 — Maxi-Mini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29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Strengths to avoid or reduce Threats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WT — Mini-Mini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42900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Minimize Weaknesses and avoid Threats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ECD444-A26F-3369-37FA-8F58FF45B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1EA0C722-C081-9920-DC88-E1F3D9F87169}"/>
              </a:ext>
            </a:extLst>
          </p:cNvPr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B6ED529-6B44-D73A-E295-A1DCB4ED4EFA}"/>
              </a:ext>
            </a:extLst>
          </p:cNvPr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TOWS Matrix</a:t>
            </a:r>
            <a:endParaRPr lang="en-US" sz="22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8F048DE-C3EA-3B80-7B64-961CF468F6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2291" y="960035"/>
            <a:ext cx="3799417" cy="3799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275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SO: Amul's Strength Meets Rising Demand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136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SO: Amul's Strength Meets Rising Demand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Amul's cooperative network of 3.6 million farmers gives it the largest, most reliable milk-procurement chain in India.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24942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7860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fast-growing urban market for packaged dairy, ice cream, and value-added products.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136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 Strategy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655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Amul aggressively expanded into ice cream, cheese, and chocolate — using the exact same cooperative supply chain that built its milk business.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 / 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2698815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WO: Ola's EV Push Turns a Weakness Into a Fix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3136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 Strategy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18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WO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WO: Ola's EV Push Turns a Weakness Into a Fix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Ola's petrol-based cab fleet was expensive to fuel and hard to scale profitably at high volumes.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Government EV subsidies (FAME II) and falling battery costs opened a path to cheaper, cleaner mobility.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13639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 Strategy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6557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Ola launched Ola Electric and pushed its fleet toward EVs — using the external opportunity to fix an internal cost weakness.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 / 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03314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ST: Indian IT Blunts an Offshoring Threat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deep, English-speaking, cost-effective technical talent pool at firms like TCS, Infosys, and Wipro.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18541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514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anti-outsourcing political sentiment in the US and Europe threatens offshore contracts.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30723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 Strategy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401568"/>
            <a:ext cx="7772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Indian IT majors opened local delivery centres and hired directly in the US/UK — using their talent strength to blunt the threat, rather than retreating.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WT: Jet Airways' Missing Prescription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20665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WT strategy would have meant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WT STRATEGY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WT: Jet Airways' Missing Prescription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3108960"/>
          </a:xfrm>
          <a:prstGeom prst="roundRect">
            <a:avLst>
              <a:gd name="adj" fmla="val 176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29844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6276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debt, an ageing fleet, and thin cash reserves.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85800" y="20665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9572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Aggressive low-cost rivals (IndiGo) and rising fuel costs squeezed margins further.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95351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 WT strategy would have meant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8269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Selling non-core assets, cutting unprofitable routes, and finding a strategic partner early — defensive moves to survive, not grow. Jet delayed these too long and collapsed in 2019.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 / 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4278457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Bonsho's Momos — His SWOT Recap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18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Bonsho's Momos — His SWOT Recap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local customer base and a strong recipe reputation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006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delivery app presence; only a single physical outlet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demand for late-night food delivery in her city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006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new cloud-kitchen chain entering her neighbourhood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18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44893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7415B0-7F4C-ABC7-1E62-12DD6DB98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732051F-2D73-7702-3EFF-F3F9A709D6CB}"/>
              </a:ext>
            </a:extLst>
          </p:cNvPr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2420826-BBB5-6F35-B0E4-6B4A171240A8}"/>
              </a:ext>
            </a:extLst>
          </p:cNvPr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6562D46-BA06-941A-1894-310F901ABABB}"/>
              </a:ext>
            </a:extLst>
          </p:cNvPr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Bonsho's Momos — SO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6B47C3E-08C2-82B6-758A-412222EA0614}"/>
              </a:ext>
            </a:extLst>
          </p:cNvPr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7938E25B-0EFF-671C-D2ED-D2294DB5C871}"/>
              </a:ext>
            </a:extLst>
          </p:cNvPr>
          <p:cNvSpPr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182EAF8-5348-0187-AA62-AC3218D11334}"/>
              </a:ext>
            </a:extLst>
          </p:cNvPr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local customer base and a strong recipe reputation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51952A1-F986-8121-3D3D-AAFBB1E01F9F}"/>
              </a:ext>
            </a:extLst>
          </p:cNvPr>
          <p:cNvSpPr/>
          <p:nvPr/>
        </p:nvSpPr>
        <p:spPr>
          <a:xfrm>
            <a:off x="4800600" y="1954108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AEA30E7-5ACE-94DF-118C-8B8506057CAB}"/>
              </a:ext>
            </a:extLst>
          </p:cNvPr>
          <p:cNvSpPr/>
          <p:nvPr/>
        </p:nvSpPr>
        <p:spPr>
          <a:xfrm>
            <a:off x="5029200" y="2091268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009B854-A22D-B90D-4CBC-3EA2DAE196F5}"/>
              </a:ext>
            </a:extLst>
          </p:cNvPr>
          <p:cNvSpPr/>
          <p:nvPr/>
        </p:nvSpPr>
        <p:spPr>
          <a:xfrm>
            <a:off x="5029200" y="24844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Use his loyal following to launch a delivery-only late-night menu, backed by existing reputation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7C05691-937A-D88E-37BE-644D76DED013}"/>
              </a:ext>
            </a:extLst>
          </p:cNvPr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9F290C75-565C-C717-F82D-154DA2BE5C4F}"/>
              </a:ext>
            </a:extLst>
          </p:cNvPr>
          <p:cNvSpPr/>
          <p:nvPr/>
        </p:nvSpPr>
        <p:spPr>
          <a:xfrm>
            <a:off x="685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485AF7B-5561-CADE-D5D8-837A181C88AC}"/>
              </a:ext>
            </a:extLst>
          </p:cNvPr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demand for late-night food delivery in her city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3AF87F0-7129-16D7-65AF-7C6B96BC07D1}"/>
              </a:ext>
            </a:extLst>
          </p:cNvPr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18</a:t>
            </a:r>
            <a:endParaRPr lang="en-US" sz="8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BBBCFAF-2628-807C-E74D-CB055AE08E3E}"/>
              </a:ext>
            </a:extLst>
          </p:cNvPr>
          <p:cNvCxnSpPr>
            <a:stCxn id="8" idx="2"/>
          </p:cNvCxnSpPr>
          <p:nvPr/>
        </p:nvCxnSpPr>
        <p:spPr>
          <a:xfrm flipH="1">
            <a:off x="6731000" y="3462868"/>
            <a:ext cx="12700" cy="668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79768421-4641-3058-9D00-AA2682CB1409}"/>
              </a:ext>
            </a:extLst>
          </p:cNvPr>
          <p:cNvSpPr txBox="1"/>
          <p:nvPr/>
        </p:nvSpPr>
        <p:spPr>
          <a:xfrm>
            <a:off x="6344868" y="4100747"/>
            <a:ext cx="772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Attack</a:t>
            </a:r>
          </a:p>
        </p:txBody>
      </p:sp>
    </p:spTree>
    <p:extLst>
      <p:ext uri="{BB962C8B-B14F-4D97-AF65-F5344CB8AC3E}">
        <p14:creationId xmlns:p14="http://schemas.microsoft.com/office/powerpoint/2010/main" val="1130054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4C7E2A-4B5D-FD6B-D3AD-691715B6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427B5A-5903-4DAD-4FBE-D5513972F8FF}"/>
              </a:ext>
            </a:extLst>
          </p:cNvPr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CE98A2-0BAA-72E5-19BD-D4481DDF4E86}"/>
              </a:ext>
            </a:extLst>
          </p:cNvPr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4A01290-D561-D044-6576-863DEB3EFB3E}"/>
              </a:ext>
            </a:extLst>
          </p:cNvPr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Bonsho's Momos — WO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E53DB5A3-7F11-85E2-66CC-BC027B1896A4}"/>
              </a:ext>
            </a:extLst>
          </p:cNvPr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BD2C63C-991F-22A9-0BFE-FF7228AB8949}"/>
              </a:ext>
            </a:extLst>
          </p:cNvPr>
          <p:cNvSpPr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016C73E-DBF8-E8AC-F972-8E4A6559F0A7}"/>
              </a:ext>
            </a:extLst>
          </p:cNvPr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personal delivery app; only a single physical outlet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770B34D-ED30-473D-4ACC-291800D128E8}"/>
              </a:ext>
            </a:extLst>
          </p:cNvPr>
          <p:cNvSpPr/>
          <p:nvPr/>
        </p:nvSpPr>
        <p:spPr>
          <a:xfrm>
            <a:off x="4800600" y="2098041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8F665F-5C67-7B56-664B-EE6F8E74B656}"/>
              </a:ext>
            </a:extLst>
          </p:cNvPr>
          <p:cNvSpPr/>
          <p:nvPr/>
        </p:nvSpPr>
        <p:spPr>
          <a:xfrm>
            <a:off x="5029200" y="2235201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WO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BA4B2B3C-99AD-AE6A-DF6A-8D578777CE8E}"/>
              </a:ext>
            </a:extLst>
          </p:cNvPr>
          <p:cNvSpPr/>
          <p:nvPr/>
        </p:nvSpPr>
        <p:spPr>
          <a:xfrm>
            <a:off x="5029200" y="2628393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Partner with an aggregator (Swiggy/Zomato) for instant delivery reach without building her own app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1A0828B-1A1E-0161-9261-1158BE0E800A}"/>
              </a:ext>
            </a:extLst>
          </p:cNvPr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D9E5CB-B3C7-FA0A-CBF7-3A8D362E74DD}"/>
              </a:ext>
            </a:extLst>
          </p:cNvPr>
          <p:cNvSpPr/>
          <p:nvPr/>
        </p:nvSpPr>
        <p:spPr>
          <a:xfrm>
            <a:off x="685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Opportunity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F28D21D-61B1-9221-7E4C-DC603AE3A737}"/>
              </a:ext>
            </a:extLst>
          </p:cNvPr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Rising demand for late-night food delivery in her city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8364E5D-0BAE-BCB2-3E22-9A1169582164}"/>
              </a:ext>
            </a:extLst>
          </p:cNvPr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18</a:t>
            </a:r>
            <a:endParaRPr lang="en-US" sz="8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22C75E2-0B6E-D97E-05F5-EF665CDD608B}"/>
              </a:ext>
            </a:extLst>
          </p:cNvPr>
          <p:cNvCxnSpPr/>
          <p:nvPr/>
        </p:nvCxnSpPr>
        <p:spPr>
          <a:xfrm flipH="1">
            <a:off x="6731000" y="3606801"/>
            <a:ext cx="12700" cy="668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EC735564-B86E-5BF7-9F21-DB05B1345580}"/>
              </a:ext>
            </a:extLst>
          </p:cNvPr>
          <p:cNvSpPr txBox="1"/>
          <p:nvPr/>
        </p:nvSpPr>
        <p:spPr>
          <a:xfrm>
            <a:off x="6175535" y="4253147"/>
            <a:ext cx="12139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Fix &amp; Grow</a:t>
            </a:r>
          </a:p>
        </p:txBody>
      </p:sp>
    </p:spTree>
    <p:extLst>
      <p:ext uri="{BB962C8B-B14F-4D97-AF65-F5344CB8AC3E}">
        <p14:creationId xmlns:p14="http://schemas.microsoft.com/office/powerpoint/2010/main" val="192344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A5137D-35F2-0361-B090-D1F3EB194A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7DD31C8-9CFA-EB27-6762-373E0A165EA3}"/>
              </a:ext>
            </a:extLst>
          </p:cNvPr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E633C3C-E0B1-387C-F6A4-6AFE55CDD525}"/>
              </a:ext>
            </a:extLst>
          </p:cNvPr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80CB660-9332-D71A-5587-265ECE2CCD8B}"/>
              </a:ext>
            </a:extLst>
          </p:cNvPr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Bonsho's Momos — ST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5E64E36-7FE1-6F1F-D8DC-BB8B38BAC45C}"/>
              </a:ext>
            </a:extLst>
          </p:cNvPr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A7DD2AC-2C52-2166-E105-2B85C343FBCD}"/>
              </a:ext>
            </a:extLst>
          </p:cNvPr>
          <p:cNvSpPr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Strength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3EE3B31F-388F-A5B2-9EC4-9E37DFA19633}"/>
              </a:ext>
            </a:extLst>
          </p:cNvPr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Loyal local customer base and a strong recipe reputation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8B6C97E8-45D3-2547-47F1-21D2DBF464A2}"/>
              </a:ext>
            </a:extLst>
          </p:cNvPr>
          <p:cNvSpPr/>
          <p:nvPr/>
        </p:nvSpPr>
        <p:spPr>
          <a:xfrm>
            <a:off x="4800600" y="2081109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B765A8D9-A37E-DEB4-13A5-6F2F14E9EBCD}"/>
              </a:ext>
            </a:extLst>
          </p:cNvPr>
          <p:cNvSpPr/>
          <p:nvPr/>
        </p:nvSpPr>
        <p:spPr>
          <a:xfrm>
            <a:off x="5029200" y="2218269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ST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ADDEB18-7AB4-F1C9-7E0A-3BACD72AC36C}"/>
              </a:ext>
            </a:extLst>
          </p:cNvPr>
          <p:cNvSpPr/>
          <p:nvPr/>
        </p:nvSpPr>
        <p:spPr>
          <a:xfrm>
            <a:off x="5029200" y="2611461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Lean on her recipe reputation and regulars' loyalty to hold customers against the new chain's pricing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B4A4D0D-8F56-4EA2-D0F8-2E2D82DBB797}"/>
              </a:ext>
            </a:extLst>
          </p:cNvPr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385EC8C2-C3A8-BB7C-DB44-99E821219881}"/>
              </a:ext>
            </a:extLst>
          </p:cNvPr>
          <p:cNvSpPr/>
          <p:nvPr/>
        </p:nvSpPr>
        <p:spPr>
          <a:xfrm>
            <a:off x="685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24A96E6-FEAC-0B5E-DFF0-2E7F79A0C3FA}"/>
              </a:ext>
            </a:extLst>
          </p:cNvPr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new cloud-kitchen chain entering her neighborhood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1624292-FEE6-71F3-C243-20A269B3FB1B}"/>
              </a:ext>
            </a:extLst>
          </p:cNvPr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18</a:t>
            </a:r>
            <a:endParaRPr lang="en-US" sz="800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7973C44-2DA9-A0E7-F303-7F8CED141A79}"/>
              </a:ext>
            </a:extLst>
          </p:cNvPr>
          <p:cNvCxnSpPr/>
          <p:nvPr/>
        </p:nvCxnSpPr>
        <p:spPr>
          <a:xfrm flipH="1">
            <a:off x="6731000" y="3606801"/>
            <a:ext cx="12700" cy="668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1F3307C-4A60-87B2-E7FD-2A994D9EF5BC}"/>
              </a:ext>
            </a:extLst>
          </p:cNvPr>
          <p:cNvSpPr txBox="1"/>
          <p:nvPr/>
        </p:nvSpPr>
        <p:spPr>
          <a:xfrm>
            <a:off x="6311434" y="4257197"/>
            <a:ext cx="8645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Defend</a:t>
            </a:r>
          </a:p>
        </p:txBody>
      </p:sp>
    </p:spTree>
    <p:extLst>
      <p:ext uri="{BB962C8B-B14F-4D97-AF65-F5344CB8AC3E}">
        <p14:creationId xmlns:p14="http://schemas.microsoft.com/office/powerpoint/2010/main" val="4200958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8A10EB-AE3D-6892-1442-B1745E7F6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42F358D-EC17-EB35-9467-CC0DDDE50BF2}"/>
              </a:ext>
            </a:extLst>
          </p:cNvPr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88EADB-10F4-5080-FA3C-2DC9ACDA5932}"/>
              </a:ext>
            </a:extLst>
          </p:cNvPr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RUNNING EXAMPLE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BC4A7C2-DFBC-37CC-12C4-EDDCADFFBE63}"/>
              </a:ext>
            </a:extLst>
          </p:cNvPr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Bonsho's Momos — WT</a:t>
            </a:r>
            <a:endParaRPr lang="en-US" sz="25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9E54999-03C2-941B-71DC-9012B9D7FFA7}"/>
              </a:ext>
            </a:extLst>
          </p:cNvPr>
          <p:cNvSpPr/>
          <p:nvPr/>
        </p:nvSpPr>
        <p:spPr>
          <a:xfrm>
            <a:off x="457200" y="123444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E33440C9-6100-6CBE-2C9B-A4D11594592D}"/>
              </a:ext>
            </a:extLst>
          </p:cNvPr>
          <p:cNvSpPr/>
          <p:nvPr/>
        </p:nvSpPr>
        <p:spPr>
          <a:xfrm>
            <a:off x="685800" y="137160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Weakness</a:t>
            </a:r>
            <a:endParaRPr lang="en-US" sz="1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10EBDC4-939F-EE23-3C55-DF7E8942E338}"/>
              </a:ext>
            </a:extLst>
          </p:cNvPr>
          <p:cNvSpPr/>
          <p:nvPr/>
        </p:nvSpPr>
        <p:spPr>
          <a:xfrm>
            <a:off x="685800" y="176479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delivery app presence; only a single physical outlet</a:t>
            </a:r>
            <a:endParaRPr lang="en-US" sz="13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1BF4172-A1ED-1380-4204-31135DB7F471}"/>
              </a:ext>
            </a:extLst>
          </p:cNvPr>
          <p:cNvSpPr/>
          <p:nvPr/>
        </p:nvSpPr>
        <p:spPr>
          <a:xfrm>
            <a:off x="4800600" y="2114972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C500DC35-AA81-18D7-093B-B4069CDD2623}"/>
              </a:ext>
            </a:extLst>
          </p:cNvPr>
          <p:cNvSpPr/>
          <p:nvPr/>
        </p:nvSpPr>
        <p:spPr>
          <a:xfrm>
            <a:off x="5029200" y="225213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WT</a:t>
            </a:r>
            <a:endParaRPr lang="en-US" sz="14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9D15E91-B674-A0D9-6343-D0D3DFFAAF83}"/>
              </a:ext>
            </a:extLst>
          </p:cNvPr>
          <p:cNvSpPr/>
          <p:nvPr/>
        </p:nvSpPr>
        <p:spPr>
          <a:xfrm>
            <a:off x="5029200" y="2645324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 to low-cost delivery options and tighten operations at her single outlet until the threat passes</a:t>
            </a:r>
            <a:endParaRPr lang="en-US" sz="140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3C80EF21-8318-AD69-B4D7-BCA41C0FA9F5}"/>
              </a:ext>
            </a:extLst>
          </p:cNvPr>
          <p:cNvSpPr/>
          <p:nvPr/>
        </p:nvSpPr>
        <p:spPr>
          <a:xfrm>
            <a:off x="457200" y="2880360"/>
            <a:ext cx="3886200" cy="1508760"/>
          </a:xfrm>
          <a:prstGeom prst="roundRect">
            <a:avLst>
              <a:gd name="adj" fmla="val 3636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39CCDDF-8185-A311-2AF3-03E14C39C4A6}"/>
              </a:ext>
            </a:extLst>
          </p:cNvPr>
          <p:cNvSpPr/>
          <p:nvPr/>
        </p:nvSpPr>
        <p:spPr>
          <a:xfrm>
            <a:off x="685800" y="301752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Threat</a:t>
            </a:r>
            <a:endParaRPr lang="en-US" sz="1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1C5D3D8-143E-E4D5-0295-5BEB4017149E}"/>
              </a:ext>
            </a:extLst>
          </p:cNvPr>
          <p:cNvSpPr/>
          <p:nvPr/>
        </p:nvSpPr>
        <p:spPr>
          <a:xfrm>
            <a:off x="685800" y="3410712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new cloud-kitchen chain entering her </a:t>
            </a:r>
            <a:r>
              <a:rPr lang="en-US" sz="1300" dirty="0" err="1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neighbourhood</a:t>
            </a:r>
            <a:endParaRPr lang="en-US" sz="13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FB33EF9-646F-F4C8-8FBA-124B0FC0F603}"/>
              </a:ext>
            </a:extLst>
          </p:cNvPr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 / 18</a:t>
            </a:r>
            <a:endParaRPr lang="en-US" sz="8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C1B3AAF-6020-9C26-04D7-3A259F52AB4C}"/>
              </a:ext>
            </a:extLst>
          </p:cNvPr>
          <p:cNvCxnSpPr>
            <a:stCxn id="8" idx="2"/>
          </p:cNvCxnSpPr>
          <p:nvPr/>
        </p:nvCxnSpPr>
        <p:spPr>
          <a:xfrm flipH="1">
            <a:off x="6739467" y="3623732"/>
            <a:ext cx="4233" cy="5334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A98BF786-C86B-AC7E-3B24-A2DBAE1C5729}"/>
              </a:ext>
            </a:extLst>
          </p:cNvPr>
          <p:cNvSpPr txBox="1"/>
          <p:nvPr/>
        </p:nvSpPr>
        <p:spPr>
          <a:xfrm>
            <a:off x="6319901" y="4180995"/>
            <a:ext cx="8690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Survive</a:t>
            </a:r>
          </a:p>
        </p:txBody>
      </p:sp>
    </p:spTree>
    <p:extLst>
      <p:ext uri="{BB962C8B-B14F-4D97-AF65-F5344CB8AC3E}">
        <p14:creationId xmlns:p14="http://schemas.microsoft.com/office/powerpoint/2010/main" val="39522636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Which Cell Matters Most, and When? (Not a thumb rule)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143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143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Growing business, strong position → lean into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287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287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Growing business, weak position → prioritize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431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431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business, hostile environment → prioritize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575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7575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 business, hostile environment → prioritize</a:t>
            </a:r>
            <a:endParaRPr lang="en-US" sz="13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APPLICATION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403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Which Cell Matters Most, and When? (Not a thumb rule)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0143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143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Growing business, strong position → lean into SO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19287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287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Growing business, weak position → prioritize WO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28431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431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 business, hostile environment → prioritize ST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" y="3757504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757504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 business, hostile environment → WT is about survival, not growth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31288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Limitations of the TOWS Matrix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3970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3970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It's only as good as the SWOT feeding it — garbage in, garbage out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5410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5410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Highly subjective — two teams can pair the same SWOT into very different strategies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6850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6850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Doesn't rank or prioritize strategies — that's a separate step, using tools like the BCG matrix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82906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78290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A static snapshot — needs revisiting as internal and external factors shift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 / 18</a:t>
            </a:r>
            <a:endParaRPr lang="en-US" sz="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Common Pitfalls When Using TOWS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1005839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005839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Writing strategies that just restate a SWOT item, instead of a real pairing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20239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920239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Filling all four cells equally instead of focusing where it matters most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834639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34639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Skipping SO/ST (offense) because WO/WT (defense) feels safer — or the reverse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3749039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749039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Treating the matrix as a one-time exercise instead of revisiting it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 / 18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Let’s build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124373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Complete your SWOT list first — TOWS only works with a solid SWOT underneath it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121408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1982553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Draw a 2×2 grid — Opportunities &amp; Threats across the top, Strengths &amp; Weaknesses down the side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962656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962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2832269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Fill each of the 4 cells by asking one pairing question — e.g., "How can we use this strength to capture this opportunity?"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365760" cy="365760"/>
          </a:xfrm>
          <a:prstGeom prst="ellipse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03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3631183"/>
            <a:ext cx="7406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Pick the 2–3 strongest strategies per cell — don't try to act on all of them at once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/ 18</a:t>
            </a:r>
            <a:endParaRPr lang="en-US" sz="800" dirty="0"/>
          </a:p>
        </p:txBody>
      </p:sp>
      <p:sp>
        <p:nvSpPr>
          <p:cNvPr id="19" name="Text 1">
            <a:extLst>
              <a:ext uri="{FF2B5EF4-FFF2-40B4-BE49-F238E27FC236}">
                <a16:creationId xmlns:a16="http://schemas.microsoft.com/office/drawing/2014/main" id="{080E420C-A683-CD58-0BCB-45F2006B2651}"/>
              </a:ext>
            </a:extLst>
          </p:cNvPr>
          <p:cNvSpPr/>
          <p:nvPr/>
        </p:nvSpPr>
        <p:spPr>
          <a:xfrm>
            <a:off x="365760" y="132588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EXERCISE · 5-7 MIN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0" grpId="0" animBg="1"/>
      <p:bldP spid="13" grpId="0" animBg="1"/>
      <p:bldP spid="1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QUICK EXERCISE · 5-7 MIN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393CCEA-DC88-F5FE-D08A-3E98554BD0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79" y="753533"/>
            <a:ext cx="2605881" cy="1955800"/>
          </a:xfrm>
          <a:prstGeom prst="rect">
            <a:avLst/>
          </a:prstGeom>
        </p:spPr>
      </p:pic>
      <p:sp>
        <p:nvSpPr>
          <p:cNvPr id="18" name="Freeform 17">
            <a:extLst>
              <a:ext uri="{FF2B5EF4-FFF2-40B4-BE49-F238E27FC236}">
                <a16:creationId xmlns:a16="http://schemas.microsoft.com/office/drawing/2014/main" id="{7F325598-9FEF-7C38-6F89-FA01B907BCA1}"/>
              </a:ext>
            </a:extLst>
          </p:cNvPr>
          <p:cNvSpPr/>
          <p:nvPr/>
        </p:nvSpPr>
        <p:spPr>
          <a:xfrm>
            <a:off x="2480733" y="2734733"/>
            <a:ext cx="2192867" cy="677325"/>
          </a:xfrm>
          <a:custGeom>
            <a:avLst/>
            <a:gdLst>
              <a:gd name="csX0" fmla="*/ 0 w 2192867"/>
              <a:gd name="csY0" fmla="*/ 0 h 677325"/>
              <a:gd name="csX1" fmla="*/ 575734 w 2192867"/>
              <a:gd name="csY1" fmla="*/ 601134 h 677325"/>
              <a:gd name="csX2" fmla="*/ 2192867 w 2192867"/>
              <a:gd name="csY2" fmla="*/ 668867 h 677325"/>
              <a:gd name="csX3" fmla="*/ 2192867 w 2192867"/>
              <a:gd name="csY3" fmla="*/ 668867 h 6773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192867" h="677325">
                <a:moveTo>
                  <a:pt x="0" y="0"/>
                </a:moveTo>
                <a:cubicBezTo>
                  <a:pt x="105128" y="244828"/>
                  <a:pt x="210256" y="489656"/>
                  <a:pt x="575734" y="601134"/>
                </a:cubicBezTo>
                <a:cubicBezTo>
                  <a:pt x="941212" y="712612"/>
                  <a:pt x="2192867" y="668867"/>
                  <a:pt x="2192867" y="668867"/>
                </a:cubicBezTo>
                <a:lnTo>
                  <a:pt x="2192867" y="668867"/>
                </a:ln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D40A6CC-18C0-B68B-10E9-39D2F98042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38" y="2166400"/>
            <a:ext cx="3866153" cy="249131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Key Takeaways from Today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457200" y="926252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926252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SWOT tells you what's true; TOWS tells you what to do about it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76060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676060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Four strategy types: SO (attack), WO (fix &amp; grow), ST (defend), WT (survive)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425868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425868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Always build TOWS from a solid SWOT — pairing quality depends on SWOT quality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175676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175676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matrix doesn't prioritize for you — that's your job as a strategist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25484"/>
            <a:ext cx="8229600" cy="658368"/>
          </a:xfrm>
          <a:prstGeom prst="roundRect">
            <a:avLst>
              <a:gd name="adj" fmla="val 8333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925484"/>
            <a:ext cx="7589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companies live in specific cells: Amul in SO, Ola Electric in WO, Indian IT in ST, Jet Airways failed at WT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D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0DCE2E-4862-E957-6C06-13C9B9A14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ACF2354-94FD-5543-8EA6-3177A8186597}"/>
              </a:ext>
            </a:extLst>
          </p:cNvPr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FD5E93A-C89E-3E28-5BC9-094F4DDB158C}"/>
              </a:ext>
            </a:extLst>
          </p:cNvPr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Term of the day</a:t>
            </a:r>
            <a:endParaRPr lang="en-US" sz="11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77B1FD4-8A9F-18DA-641C-BC0B09233823}"/>
              </a:ext>
            </a:extLst>
          </p:cNvPr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</a:rPr>
              <a:t>Potemkin Village</a:t>
            </a:r>
            <a:endParaRPr lang="en-US" sz="25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F4B33AA-76C7-0B86-70DF-A3ABA7300A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14" y="852790"/>
            <a:ext cx="5771092" cy="3847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666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DD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06340"/>
            <a:ext cx="9144000" cy="137160"/>
          </a:xfrm>
          <a:prstGeom prst="rect">
            <a:avLst/>
          </a:prstGeom>
          <a:solidFill>
            <a:srgbClr val="B20E3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7772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200" dirty="0">
                <a:solidFill>
                  <a:srgbClr val="8C103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REFERENCES &amp; NEXT SESSION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38404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Sources &amp; What's Coming Up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Required Reading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Weihrich, H. (1982). "The TOWS Matrix — A Tool for Situational Analysis." Long Range Planning.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20E38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Case &amp; History Sources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87752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•  Public accounts of Amul's cooperative model, Ola Electric's launch, Indian IT's global delivery model, and Jet Airways' 2019 collapse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1234440"/>
            <a:ext cx="4114800" cy="2834640"/>
          </a:xfrm>
          <a:prstGeom prst="roundRect">
            <a:avLst>
              <a:gd name="adj" fmla="val 1935"/>
            </a:avLst>
          </a:prstGeom>
          <a:solidFill>
            <a:srgbClr val="FFFFFF">
              <a:alpha val="90000"/>
            </a:srgbClr>
          </a:solidFill>
          <a:ln/>
          <a:effectLst>
            <a:outerShdw blurRad="381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955280" y="4828032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20E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 / 18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365</TotalTime>
  <Words>1428</Words>
  <Application>Microsoft Office PowerPoint</Application>
  <PresentationFormat>On-screen Show (16:9)</PresentationFormat>
  <Paragraphs>234</Paragraphs>
  <Slides>30</Slides>
  <Notes>30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Montserrat</vt:lpstr>
      <vt:lpstr>Montserrat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Shridhar samant</cp:lastModifiedBy>
  <cp:revision>9</cp:revision>
  <dcterms:created xsi:type="dcterms:W3CDTF">2026-09-08T14:26:20Z</dcterms:created>
  <dcterms:modified xsi:type="dcterms:W3CDTF">2026-09-11T12:23:25Z</dcterms:modified>
</cp:coreProperties>
</file>