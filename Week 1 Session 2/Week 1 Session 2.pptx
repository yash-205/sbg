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80" r:id="rId2"/>
    <p:sldId id="257" r:id="rId3"/>
    <p:sldId id="279" r:id="rId4"/>
    <p:sldId id="275" r:id="rId5"/>
    <p:sldId id="259" r:id="rId6"/>
    <p:sldId id="276" r:id="rId7"/>
    <p:sldId id="260" r:id="rId8"/>
    <p:sldId id="261" r:id="rId9"/>
    <p:sldId id="277" r:id="rId10"/>
    <p:sldId id="262" r:id="rId11"/>
    <p:sldId id="278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Montserrat SemiBold" panose="000007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hAEXUXYA3yjh6SiqxFD/j2BVns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D0DA05-7471-4236-AF2A-F02376663505}">
  <a:tblStyle styleId="{9DD0DA05-7471-4236-AF2A-F023766635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736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8341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7069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9037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2829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8120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2372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4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8;p1">
            <a:extLst>
              <a:ext uri="{FF2B5EF4-FFF2-40B4-BE49-F238E27FC236}">
                <a16:creationId xmlns:a16="http://schemas.microsoft.com/office/drawing/2014/main" id="{D122BA3C-9054-49D3-A807-CFA85FE42CB3}"/>
              </a:ext>
            </a:extLst>
          </p:cNvPr>
          <p:cNvSpPr/>
          <p:nvPr/>
        </p:nvSpPr>
        <p:spPr>
          <a:xfrm>
            <a:off x="457200" y="159639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Montserrat SemiBold"/>
              <a:buNone/>
            </a:pPr>
            <a:r>
              <a:rPr lang="en-US" sz="4000" dirty="0">
                <a:solidFill>
                  <a:srgbClr val="1A1A1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Strategies for Business Growth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Montserrat SemiBold"/>
              <a:buNone/>
            </a:pPr>
            <a:r>
              <a:rPr lang="en-US" sz="4000" dirty="0">
                <a:solidFill>
                  <a:srgbClr val="1A1A1A"/>
                </a:solidFill>
                <a:latin typeface="Montserrat SemiBold"/>
                <a:ea typeface="Calibri"/>
                <a:cs typeface="Calibri"/>
                <a:sym typeface="Montserrat SemiBold"/>
              </a:rPr>
              <a:t>W1 S2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7;p1" descr="/home/claude/assets/logo.png">
            <a:extLst>
              <a:ext uri="{FF2B5EF4-FFF2-40B4-BE49-F238E27FC236}">
                <a16:creationId xmlns:a16="http://schemas.microsoft.com/office/drawing/2014/main" id="{10DF8FDB-6FB8-43E8-8C37-18659E8A2C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320040"/>
            <a:ext cx="1234440" cy="5724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7278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Last Session, in 60 Seconds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4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Last Session, in 60 Seconds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57200" y="1371600"/>
            <a:ext cx="73152" cy="86868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77240" y="1371600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Montserrat"/>
              <a:buNone/>
            </a:pPr>
            <a:r>
              <a:rPr lang="en-US" sz="135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Strategy is deliberate direction not just hard work</a:t>
            </a: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235915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" y="2359152"/>
            <a:ext cx="73152" cy="86868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77240" y="2359152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Montserrat"/>
              <a:buNone/>
            </a:pPr>
            <a:r>
              <a:rPr lang="en-US" sz="135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Haldiram's grew from one Bikaner shop through deliberate choices over decades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334670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57200" y="3346704"/>
            <a:ext cx="73152" cy="86868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77240" y="3346704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Montserrat"/>
              <a:buNone/>
            </a:pPr>
            <a:r>
              <a:rPr lang="en-US" sz="135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We met Bono, whose </a:t>
            </a:r>
            <a:r>
              <a:rPr lang="en-US" sz="1350" dirty="0" err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momo</a:t>
            </a:r>
            <a:r>
              <a:rPr lang="en-US" sz="135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 cart is our running example all week</a:t>
            </a: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"/>
              <a:buNone/>
            </a:pPr>
            <a:r>
              <a:rPr lang="en-US" sz="1300" b="1" i="1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Today, we learn the first real building blocks of a business.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4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6730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0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CORE CONCEPT 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Strategic Management, Formally?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731520" y="100584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Decision-Making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3383280" y="100584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Choosing among alternatives, deliberately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457200" y="190195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731520" y="1901952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Planning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3383280" y="1901952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Deciding today what to do to reach tomorrow's goal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457200" y="2798064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731520" y="2798064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Formulation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3383280" y="2798064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Designing the strategy itself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457200" y="3694176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731520" y="3694176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3383280" y="3694176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Checking whether the strategy is working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893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A STORY TO START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65760" y="1917917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Why Every </a:t>
            </a:r>
            <a:r>
              <a:rPr lang="en-US" sz="2500" b="1" dirty="0" err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Haldiram's</a:t>
            </a:r>
            <a:r>
              <a:rPr lang="en-US" sz="2500" b="1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Outlet Feels the Same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i="1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Illustrative framing based on Haldiram's publicly documented multi-city operations.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5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A STORY TO START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Why Every Haldiram's Outlet Feels the Same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1188720"/>
            <a:ext cx="8046720" cy="1965960"/>
          </a:xfrm>
          <a:prstGeom prst="roundRect">
            <a:avLst>
              <a:gd name="adj" fmla="val 4651"/>
            </a:avLst>
          </a:prstGeom>
          <a:solidFill>
            <a:srgbClr val="FFFFFF">
              <a:alpha val="90196"/>
            </a:srgbClr>
          </a:solidFill>
          <a:ln>
            <a:noFill/>
          </a:ln>
          <a:effectLst>
            <a:outerShdw blurRad="762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22960" y="1325880"/>
            <a:ext cx="749808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ontserrat"/>
              <a:buNone/>
            </a:pPr>
            <a:r>
              <a:rPr lang="en-US" sz="140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Walk into a </a:t>
            </a:r>
            <a:r>
              <a:rPr lang="en-US" sz="1400" dirty="0" err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Haldiram's</a:t>
            </a:r>
            <a:r>
              <a:rPr lang="en-US" sz="140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 in Delhi, then one in Nagpur. The </a:t>
            </a:r>
            <a:r>
              <a:rPr lang="en-US" sz="1400" dirty="0" err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soan</a:t>
            </a:r>
            <a:r>
              <a:rPr lang="en-US" sz="140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papdi</a:t>
            </a:r>
            <a:r>
              <a:rPr lang="en-US" sz="140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 tastes the same. The counters look the same. Nobody is standing over every employee, every day, making sure of that.</a:t>
            </a:r>
            <a:br>
              <a:rPr lang="en-US" sz="140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140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450" b="1" i="1" dirty="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Something else is doing that work quietly, in the background.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33375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400"/>
              <a:buFont typeface="Montserrat"/>
              <a:buNone/>
            </a:pPr>
            <a:r>
              <a:rPr lang="en-US" sz="1400" b="1" dirty="0">
                <a:solidFill>
                  <a:srgbClr val="2A2A2A"/>
                </a:solidFill>
                <a:latin typeface="Montserrat"/>
                <a:ea typeface="Montserrat"/>
                <a:cs typeface="Montserrat"/>
                <a:sym typeface="Montserrat"/>
              </a:rPr>
              <a:t>That's what a policy does and it's where we start today.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i="1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Illustrative framing based on Haldiram's publicly documented multi-city operations.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5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6171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5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BUILDING BLOCK 1 OF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a Policy?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standing guideline for how decisions get made written once, applied again and again.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31520" y="214884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 policy doesn't tell you exactly what to do in every situation it tells you the boundary you must stay inside while deciding.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31520" y="28803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Example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i="1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“We only use fresh ingredients, never leftovers from the previous day” a rule every future decision must respect.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i="1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4.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6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5603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BUILDING BLOCK 2 OF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96388" y="200710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a Program?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i="1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4.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7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BUILDING BLOCK 2 OF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a Program?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set of activities designed to accomplish a specific goal usually with a start and an end.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31520" y="214884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Unlike a policy, a program isn't a permanent guideline it's a temporary push toward one particular objective.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31520" y="28803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Example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i="1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 “weekend combo offer” running for two months to build repeat weekend customers a defined activity with a defined end.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i="1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4.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7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1490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7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BUILDING BLOCK 3 OF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65760" y="227457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a Procedure?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i="1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4.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8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7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BUILDING BLOCK 3 OF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a Procedure?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step-by-step method for carrying out a policy or activity, in the same order, every time.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731520" y="214884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If a policy is the boundary, a procedure is the exact path someone walks inside it — no guesswork, no room for the day's mood.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31520" y="28803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Example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i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Wash hands → steam the momos → plate them → add chutney → serve — the same five steps, every single plate.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i="1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4.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8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6707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8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PUTTING THEM TOGETHER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Policy vs. Program vs. Procedure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" name="Google Shape;147;p8"/>
          <p:cNvGraphicFramePr/>
          <p:nvPr/>
        </p:nvGraphicFramePr>
        <p:xfrm>
          <a:off x="457200" y="1234440"/>
          <a:ext cx="8229600" cy="2743200"/>
        </p:xfrm>
        <a:graphic>
          <a:graphicData uri="http://schemas.openxmlformats.org/drawingml/2006/table">
            <a:tbl>
              <a:tblPr>
                <a:noFill/>
                <a:tableStyleId>{9DD0DA05-7471-4236-AF2A-F02376663505}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ontserrat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Policy</a:t>
                      </a:r>
                      <a:endParaRPr sz="13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0E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ontserrat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Program</a:t>
                      </a:r>
                      <a:endParaRPr sz="13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0E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ontserrat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Procedure</a:t>
                      </a:r>
                      <a:endParaRPr sz="13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0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Montserrat"/>
                        <a:buNone/>
                      </a:pPr>
                      <a:r>
                        <a:rPr lang="en-US" sz="1150" u="none" strike="noStrike" cap="none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Standing guideline</a:t>
                      </a:r>
                      <a:endParaRPr sz="11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Montserrat"/>
                        <a:buNone/>
                      </a:pPr>
                      <a:r>
                        <a:rPr lang="en-US" sz="1150" u="none" strike="noStrike" cap="none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Time-bound set of activities</a:t>
                      </a:r>
                      <a:endParaRPr sz="11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Montserrat"/>
                        <a:buNone/>
                      </a:pPr>
                      <a:r>
                        <a:rPr lang="en-US" sz="1150" u="none" strike="noStrike" cap="none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Step-by-step method</a:t>
                      </a:r>
                      <a:endParaRPr sz="11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Montserrat"/>
                        <a:buNone/>
                      </a:pPr>
                      <a:r>
                        <a:rPr lang="en-US" sz="1150" u="none" strike="noStrike" cap="none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Lasts indefinitely</a:t>
                      </a:r>
                      <a:endParaRPr sz="11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Montserrat"/>
                        <a:buNone/>
                      </a:pPr>
                      <a:r>
                        <a:rPr lang="en-US" sz="1150" u="none" strike="noStrike" cap="none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Has a start and an end</a:t>
                      </a:r>
                      <a:endParaRPr sz="11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Montserrat"/>
                        <a:buNone/>
                      </a:pPr>
                      <a:r>
                        <a:rPr lang="en-US" sz="1150" u="none" strike="noStrike" cap="none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Repeats identically every time</a:t>
                      </a:r>
                      <a:endParaRPr sz="11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Montserrat"/>
                        <a:buNone/>
                      </a:pPr>
                      <a:r>
                        <a:rPr lang="en-US" sz="1150" i="1" u="none" strike="noStrike" cap="none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“Always fresh ingredients”</a:t>
                      </a:r>
                      <a:endParaRPr sz="11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Montserrat"/>
                        <a:buNone/>
                      </a:pPr>
                      <a:r>
                        <a:rPr lang="en-US" sz="1150" i="1" u="none" strike="noStrike" cap="none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“Weekend combo offer”</a:t>
                      </a:r>
                      <a:endParaRPr sz="11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Montserrat"/>
                        <a:buNone/>
                      </a:pPr>
                      <a:r>
                        <a:rPr lang="en-US" sz="1150" i="1" u="none" strike="noStrike" cap="none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“Five steps to plate momos”</a:t>
                      </a:r>
                      <a:endParaRPr sz="11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8CB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8" name="Google Shape;148;p8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i="1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Based on: A. Nag, Strategic Management: Analysis, Implementation and Control, Ch. 4.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9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9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BACK TO PRIYA'S MOMOS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Bono Writes His First Policy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57200" y="1280160"/>
            <a:ext cx="8229600" cy="2834640"/>
          </a:xfrm>
          <a:prstGeom prst="roundRect">
            <a:avLst>
              <a:gd name="adj" fmla="val 3226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731520" y="150876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600"/>
              <a:buFont typeface="Montserrat SemiBold"/>
              <a:buNone/>
            </a:pPr>
            <a:r>
              <a:rPr lang="en-US" sz="1600" b="1" i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</a:t>
            </a:r>
            <a:r>
              <a:rPr lang="en-US" sz="1600" b="1" i="1">
                <a:solidFill>
                  <a:srgbClr val="B20E38"/>
                </a:solidFill>
                <a:latin typeface="Arial"/>
                <a:ea typeface="Arial"/>
                <a:cs typeface="Arial"/>
                <a:sym typeface="Arial"/>
              </a:rPr>
              <a:t>We use only fresh vegetables, prepared the same day — nothing from yesterday goes into a plate.”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731520" y="2606040"/>
            <a:ext cx="7680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Notice what this policy does: it doesn't tell her staff exactly what to cook today. It just sets a boundary every future decision has to respect even as she hires new staff or opens new carts.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i="1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“Priya's Momos” is a fictional business created for classroom illustration only.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10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0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BACK TO PRIYA'S MOMOS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Her First Program &amp; Procedure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457200" y="12344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731520" y="1353312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Program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“Friday Combo Week” — 6 plates for the price of 5, every Friday for the next 8 weeks, to build a weekend habit.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57200" y="27432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731520" y="2862072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50"/>
              <a:buFont typeface="Montserrat SemiBold"/>
              <a:buNone/>
            </a:pPr>
            <a:r>
              <a:rPr lang="en-US" sz="135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Procedure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731520" y="32004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Wash hands → steam for exactly 8 minutes → plate with tongs → add one chutney sachet → hand over with a smile — every single order, every single time.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i="1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“Priya's Momos” is a fictional business created for classroom illustration only.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11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1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CLASS DISCUSSION · 5 MINUTES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Spot the Term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300"/>
              <a:buFont typeface="Montserrat"/>
              <a:buNone/>
            </a:pPr>
            <a:r>
              <a:rPr lang="en-US" sz="1300" i="1">
                <a:solidFill>
                  <a:srgbClr val="2A2A2A"/>
                </a:solidFill>
                <a:latin typeface="Montserrat"/>
                <a:ea typeface="Montserrat"/>
                <a:cs typeface="Montserrat"/>
                <a:sym typeface="Montserrat"/>
              </a:rPr>
              <a:t>For each statement, call out: is it a policy, a program, or a procedure?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57200" y="1554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731520" y="1554480"/>
            <a:ext cx="7680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Montserrat"/>
              <a:buNone/>
            </a:pPr>
            <a:r>
              <a:rPr lang="en-US" sz="1350" i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“All customer complaints must be resolved within 24 hours.”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57200" y="2560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731520" y="2560320"/>
            <a:ext cx="7680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Montserrat"/>
              <a:buNone/>
            </a:pPr>
            <a:r>
              <a:rPr lang="en-US" sz="1350" i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“Our 3-day flash sale for college festival week.”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731520" y="3566160"/>
            <a:ext cx="7680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Montserrat"/>
              <a:buNone/>
            </a:pPr>
            <a:r>
              <a:rPr lang="en-US" sz="1350" i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“Every new employee shadows a senior staff member for their first three shifts.”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A55"/>
              </a:buClr>
              <a:buSzPts val="800"/>
              <a:buFont typeface="Montserrat"/>
              <a:buNone/>
            </a:pPr>
            <a:r>
              <a:rPr lang="en-US" sz="800" i="1">
                <a:solidFill>
                  <a:srgbClr val="8A6A55"/>
                </a:solidFill>
                <a:latin typeface="Montserrat"/>
                <a:ea typeface="Montserrat"/>
                <a:cs typeface="Montserrat"/>
                <a:sym typeface="Montserrat"/>
              </a:rPr>
              <a:t>Illustrative examples for classroom discussion — no external source.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12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A WORD OF CAUTION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Why Entrepreneurs Skip This and Regret It Later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500"/>
              <a:buFont typeface="Montserrat SemiBold"/>
              <a:buNone/>
            </a:pPr>
            <a:r>
              <a:rPr lang="en-US" sz="1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These sound boring. That's exactly the trap.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731520" y="182880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lang="en-US" sz="1300" dirty="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At one cart, Priya doesn't need a written policy — she remembers everything herself. But the moment she hires her first employee, or opens a second cart, memory stops being enough.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731520" y="2743200"/>
            <a:ext cx="76809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300"/>
              <a:buFont typeface="Montserrat"/>
              <a:buNone/>
            </a:pPr>
            <a:r>
              <a:rPr lang="en-US" sz="1300" i="1" dirty="0">
                <a:solidFill>
                  <a:srgbClr val="2A2A2A"/>
                </a:solidFill>
                <a:latin typeface="Montserrat"/>
                <a:ea typeface="Montserrat"/>
                <a:cs typeface="Montserrat"/>
                <a:sym typeface="Montserrat"/>
              </a:rPr>
              <a:t>Businesses that skip writing these down don't fail immediately — they fail quietly, through inconsistency, the moment they try to grow.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13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3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3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 Takeaways from Today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457200" y="947533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457200" y="947533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777240" y="947533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 policy is a standing guideline; it sets a boundary, not a script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457200" y="1797925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457200" y="1797925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777240" y="1797925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 program is a time-bound set of activities aimed at one goal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457200" y="2648317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457200" y="2648317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777240" y="2648317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 procedure is a fixed, repeatable, step-by-step method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457200" y="3498709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457200" y="3498709"/>
            <a:ext cx="73152" cy="731520"/>
          </a:xfrm>
          <a:prstGeom prst="rect">
            <a:avLst/>
          </a:prstGeom>
          <a:solidFill>
            <a:srgbClr val="B20E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777240" y="3498709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Writing these down matters most exactly when a business starts to grow beyond one person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8229600" y="4440541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14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4" descr="/home/claude/assets/conten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4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1030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8C1030"/>
                </a:solidFill>
                <a:latin typeface="Montserrat"/>
                <a:ea typeface="Montserrat"/>
                <a:cs typeface="Montserrat"/>
                <a:sym typeface="Montserrat"/>
              </a:rPr>
              <a:t>REFERENCES &amp; NEXT SESSION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2500"/>
              <a:buFont typeface="Montserrat SemiBold"/>
              <a:buNone/>
            </a:pPr>
            <a:r>
              <a:rPr lang="en-US" sz="25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Sources 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Required Reading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457200" y="1481328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Char char="•"/>
            </a:pPr>
            <a:r>
              <a:rPr lang="en-US" sz="11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A. Nag — Strategic Management: Analysis, Implementation and Control, Ch. 4</a:t>
            </a:r>
            <a:br>
              <a:rPr lang="en-US" sz="11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457200" y="2240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300"/>
              <a:buFont typeface="Montserrat SemiBold"/>
              <a:buNone/>
            </a:pPr>
            <a:r>
              <a:rPr lang="en-US" sz="1300" b="1">
                <a:solidFill>
                  <a:srgbClr val="B20E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Further Resources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457200" y="2532888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Char char="•"/>
            </a:pPr>
            <a:r>
              <a:rPr lang="en-US" sz="11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Kazmi, A. — Business Policy and Strategic Management</a:t>
            </a:r>
            <a:br>
              <a:rPr lang="en-US" sz="11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1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Publicly documented Haldiram's operations across cities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57200" y="35890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1100"/>
              <a:buFont typeface="Montserrat"/>
              <a:buNone/>
            </a:pPr>
            <a:r>
              <a:rPr lang="en-US" sz="1100" b="1" dirty="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No prep needed — just come curious.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20E38"/>
              </a:buClr>
              <a:buSzPts val="800"/>
              <a:buFont typeface="Montserrat"/>
              <a:buNone/>
            </a:pPr>
            <a:r>
              <a:rPr lang="en-US" sz="800">
                <a:solidFill>
                  <a:srgbClr val="B20E38"/>
                </a:solidFill>
                <a:latin typeface="Montserrat"/>
                <a:ea typeface="Montserrat"/>
                <a:cs typeface="Montserrat"/>
                <a:sym typeface="Montserrat"/>
              </a:rPr>
              <a:t>15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1125</Words>
  <Application>Microsoft Office PowerPoint</Application>
  <PresentationFormat>On-screen Show (16:9)</PresentationFormat>
  <Paragraphs>142</Paragraphs>
  <Slides>18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Montserrat</vt:lpstr>
      <vt:lpstr>Montserrat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Shridhar samant</cp:lastModifiedBy>
  <cp:revision>3</cp:revision>
  <dcterms:created xsi:type="dcterms:W3CDTF">2026-07-31T08:36:35Z</dcterms:created>
  <dcterms:modified xsi:type="dcterms:W3CDTF">2026-08-24T19:18:05Z</dcterms:modified>
</cp:coreProperties>
</file>