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9" r:id="rId2"/>
    <p:sldId id="271" r:id="rId3"/>
    <p:sldId id="260" r:id="rId4"/>
    <p:sldId id="272" r:id="rId5"/>
    <p:sldId id="261" r:id="rId6"/>
    <p:sldId id="273" r:id="rId7"/>
    <p:sldId id="262" r:id="rId8"/>
    <p:sldId id="263" r:id="rId9"/>
    <p:sldId id="274" r:id="rId10"/>
    <p:sldId id="264" r:id="rId11"/>
    <p:sldId id="275" r:id="rId12"/>
    <p:sldId id="265" r:id="rId13"/>
    <p:sldId id="266" r:id="rId14"/>
    <p:sldId id="267" r:id="rId15"/>
    <p:sldId id="268" r:id="rId16"/>
    <p:sldId id="269" r:id="rId17"/>
    <p:sldId id="276" r:id="rId18"/>
    <p:sldId id="284" r:id="rId19"/>
    <p:sldId id="277" r:id="rId20"/>
    <p:sldId id="278" r:id="rId21"/>
    <p:sldId id="279" r:id="rId22"/>
    <p:sldId id="280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580" y="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3073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788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82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618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1290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1671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3EA99-0476-01E6-B9FD-020D37FB8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942FEE-46C1-7645-E8FF-F565354EE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236F4F-E87A-13CC-A2FD-0E7BDD422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A1410-F939-DD9D-6965-33C5171124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1122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3EA99-0476-01E6-B9FD-020D37FB8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942FEE-46C1-7645-E8FF-F565354EE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236F4F-E87A-13CC-A2FD-0E7BDD422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A1410-F939-DD9D-6965-33C5171124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7036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1464D-0FC0-1725-DDD8-5C9650259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FB84C0-1F3D-9CD3-2C58-9F2EB84EAC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B96F1F-EE66-F1AA-26F7-E3B22FFB1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EF14A-DBBF-FE1D-AD16-AE2573B4F2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1374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EA10A-9B45-4444-EA97-89CD99C7F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C8D568-6989-A4EF-BEAF-911878871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DFE1F4-6E9F-93BE-8A44-7701117C2D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D41C7-B6D5-A46F-C4D8-83BB1D6E18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491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0BEFA-A247-97FC-8607-246904B9F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66E078-ED8E-7962-4CF6-A17F7E777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C6D1C8-300E-0F1C-AAA3-A974293806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27722-1B04-3B18-3199-446D48C876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4040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5D499-97E6-560B-1231-15B33CA71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10458A-7FD3-96F6-8D9B-2894AEADD5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A95CBB-08CB-296B-6231-4A4B535E2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C3BBA-DDD6-855D-C3EB-D97EC55694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265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7" y="5486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RECAP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Last Session, in 60 Seconds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/ 15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RECAP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Last Session, in 60 Seconds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371600"/>
            <a:ext cx="73152" cy="86868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3716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real strategic bet plays out at all three levels: corporate, SBU, functional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359152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2359152"/>
            <a:ext cx="73152" cy="86868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359152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Reliance's telecom entry was corporate; Jio pricing was SBU; the network build was functional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3346704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" y="3346704"/>
            <a:ext cx="73152" cy="86868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346704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 a single momo cart makes decisions at all three levels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/ 15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04884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STORY TO START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Phone That Ruled India, Then Nearly Vanished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History based on widely documented accounts of Nokia's decline in India and globally (post-2009).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/ 15</a:t>
            </a:r>
            <a:endParaRPr lang="en-US" sz="800" dirty="0"/>
          </a:p>
        </p:txBody>
      </p:sp>
      <p:pic>
        <p:nvPicPr>
          <p:cNvPr id="1030" name="Picture 6" descr="Once Upon a Time: History of Old Nokia Phones">
            <a:extLst>
              <a:ext uri="{FF2B5EF4-FFF2-40B4-BE49-F238E27FC236}">
                <a16:creationId xmlns:a16="http://schemas.microsoft.com/office/drawing/2014/main" id="{A951E91D-44BF-4D62-A952-13078C765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53" y="1134999"/>
            <a:ext cx="4381647" cy="3372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lackBerry: From phone dinosaur to tech champion">
            <a:extLst>
              <a:ext uri="{FF2B5EF4-FFF2-40B4-BE49-F238E27FC236}">
                <a16:creationId xmlns:a16="http://schemas.microsoft.com/office/drawing/2014/main" id="{307B215C-ED9B-456D-B244-B8A43D7A2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8098" y="1037140"/>
            <a:ext cx="3538025" cy="3470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STORY TO START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Phone That Ruled India, Then Nearly Vanished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8229600" cy="3246120"/>
          </a:xfrm>
          <a:prstGeom prst="roundRect">
            <a:avLst>
              <a:gd name="adj" fmla="val 2817"/>
            </a:avLst>
          </a:prstGeom>
          <a:solidFill>
            <a:srgbClr val="FFFFFF">
              <a:alpha val="90000"/>
            </a:srgbClr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Around 2009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1520" y="1645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Nokia commands roughly 60% of India's mobile phone market — the default brand in nearly every pocket.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2377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signal it missed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26974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Android-powered touchscreen smartphones began reshaping the market, Nokia stayed loyal to its own ageing software instead of reading where customers were clearly heading.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1520" y="3429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 few years later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31520" y="37490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Nokia's share collapsed as customers moved to Android phones — including budget Indian brands — and its handset business was eventually sold off entirely.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History based on widely documented accounts of Nokia's decline in India and globally (post-2009).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/ 15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649856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47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CONCEPT 1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What Is Environmental Scanning?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on: A. Nag, Strategic Management: Analysis, Implementation and Control, Ch. 6.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/ 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CONCEPT 1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What Is Environmental Scanning?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ongoing habit of </a:t>
            </a:r>
            <a:r>
              <a:rPr lang="en-US" sz="1650" b="1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watching for signals of change</a:t>
            </a:r>
            <a:r>
              <a:rPr lang="en-US" sz="16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 customers, competitors, technology, and the wider world before those changes force your hand.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457200" y="2331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2514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Nokia's signal was there for years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9260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Touchscreens, app ecosystems, and Android were all visible well before Nokia's market share actually collapsed. Scanning isn't about predicting the unpredictable — it's about actually noticing what's already visible.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on: A. Nag, Strategic Management: Analysis, Implementation and Control, Ch. 6.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/ 15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966361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DIRECTIONS TO LOOK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Scanning Outward vs. Scanning Inward</a:t>
            </a:r>
            <a:endParaRPr lang="en-US" sz="2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873186"/>
              </p:ext>
            </p:extLst>
          </p:nvPr>
        </p:nvGraphicFramePr>
        <p:xfrm>
          <a:off x="457200" y="1325880"/>
          <a:ext cx="8229600" cy="2331720"/>
        </p:xfrm>
        <a:graphic>
          <a:graphicData uri="http://schemas.openxmlformats.org/drawingml/2006/table">
            <a:tbl>
              <a:tblPr/>
              <a:tblGrid>
                <a:gridCol w="3798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1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Outward Scanning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0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Inward Scanning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0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What are customers, competitors and technology doing?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What can we actually afford, staff and support well?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Nokia should have watched Android's rise closely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Nokia should have honestly assessed its own software gap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 scanning always looks both ways at once.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/ 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2824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CONCEPT 2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Forecasting?</a:t>
            </a:r>
            <a:endParaRPr lang="en-US" sz="2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CONCEPT 2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What Is Forecasting?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822960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Turning the signals you've scanned into an actual, usable guess about the future.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21488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Scanning without forecasting just leaves you with a pile of interesting facts. Forecasting forces you to commit to what those facts likely mean for tomorrow.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1089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forecast is ever perfectly right  the goal is a reasoned, honest guess, not a guarantee.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on: A. Nag, Strategic Management: Analysis, Implementation and Control, Ch. 6.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/ 15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708441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MAKING IT PRACTICAL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Three Simple Ways to Forecast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71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Trend extrapolation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1520" y="171907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450592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54203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Expert judgment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" y="288950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3621024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71246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Scenario thinking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31520" y="405993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on: A. Nag, Strategic Management: Analysis, Implementation and Control, Ch. 6.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/ 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MAKING IT PRACTICAL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Three Simple Ways to Forecast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71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Trend extrapolation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1520" y="171907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 a pattern has held for years, assume it broadly continues — unless you see a real reason it won't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450592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54203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Expert judgment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" y="288950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Ask people who've watched this space for years what they honestly expect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3621024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71246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Scenario thinking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31520" y="405993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Sketch a best case, a worst case, and a most-likely case — then plan for more than one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on: A. Nag, Strategic Management: Analysis, Implementation and Control, Ch. 6.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/ 15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883090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 TO NOKIA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What Real Scanning Would Have Shown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71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Outward signal missed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1520" y="171907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Android adoption climbing fast among developers and rival phone makers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35915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45059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Inward signal ignored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" y="279806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Its own software (Symbian) was falling further behind every year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438144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52958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 better forecast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31520" y="387705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“If this trend continues, touchscreens and app stores become the default within a few years”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History based on widely documented accounts of Nokia's decline.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/ 15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 TO PRIYA'S MOMOS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Scanning Her Own Market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8229600" cy="2834640"/>
          </a:xfrm>
          <a:prstGeom prst="roundRect">
            <a:avLst>
              <a:gd name="adj" fmla="val 3226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463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Outward: Two new food-delivery apps have started covering her college's neighbourhood this year.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1520" y="21488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Inward: She's never tracked how many of her customers actually order through those apps versus walking up to her cart.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Her forecast: if delivery apps keep growing, cart-only sales may plateau within a year — worth watching closely, not ignoring.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“Priya's Momos” is a fictional business created for classroom illustration only.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/ 15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 DISCUSSION · 5 MINUTES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What Signals Are You Missing?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Think about a business you know well — a family shop, a college canteen, anything.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8288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What outward signal might they be ignoring right now?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724912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724912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What inward weakness might they be avoiding looking at honestly?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3621024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3621024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If current trends continue for 2 more years, what happens to them?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/ 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THIS MATTERS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Why This Matters for a Founder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02920" y="1417320"/>
            <a:ext cx="365760" cy="365760"/>
          </a:xfrm>
          <a:prstGeom prst="ellipse">
            <a:avLst/>
          </a:prstGeom>
          <a:solidFill>
            <a:srgbClr val="B20E38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1560" y="137160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Small businesses can't afford Nokia's mistake there's no cushion of size to survive it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2240280"/>
            <a:ext cx="365760" cy="365760"/>
          </a:xfrm>
          <a:prstGeom prst="ellipse">
            <a:avLst/>
          </a:prstGeom>
          <a:solidFill>
            <a:srgbClr val="B20E38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21945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Scanning is cheap; ignoring visible change is expensive later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3063240"/>
            <a:ext cx="365760" cy="365760"/>
          </a:xfrm>
          <a:prstGeom prst="ellipse">
            <a:avLst/>
          </a:prstGeom>
          <a:solidFill>
            <a:srgbClr val="B20E38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51560" y="30175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simple weekly habit of asking “what changed this week?” beats an annual deep-dive nobody does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 / 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SUMMARY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Key Takeaways from Today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371600"/>
            <a:ext cx="73152" cy="73152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3716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Environmental scanning means watching for signals of change before they force your hand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221992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2221992"/>
            <a:ext cx="73152" cy="73152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22199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Scan both outward (the world) and inward (your own capabilities) at once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3072384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" y="3072384"/>
            <a:ext cx="73152" cy="73152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072384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Forecasting turns scanned signals into a usable, honest guess about what's coming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3922776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" y="3922776"/>
            <a:ext cx="73152" cy="73152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922776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Nokia's signals were visible for years  the failure was in not acting on them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 / 15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BCB2B-D9E8-02A1-71FD-5B870DC5A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3033797F-1D12-8F23-1F14-18842F8B4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0EA6A46-8E8F-A646-1FBA-3895AD42CA6C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B0D6746-9DD3-E964-062D-32E14959E974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</a:rPr>
              <a:t>Fabian Strategy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753546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BCB2B-D9E8-02A1-71FD-5B870DC5A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3033797F-1D12-8F23-1F14-18842F8B4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0EA6A46-8E8F-A646-1FBA-3895AD42CA6C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B0D6746-9DD3-E964-062D-32E14959E974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</a:rPr>
              <a:t>Fabian Strategy</a:t>
            </a:r>
            <a:endParaRPr lang="en-US" sz="25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1E408B0-C560-B5BF-3252-6EFD04C953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6608" y="1160240"/>
            <a:ext cx="4591916" cy="306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8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F8B6C-1ABE-1338-28F4-293B43F87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DB08E864-C1EE-82A0-5844-71C103E50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63BB570-5C01-5645-2CE6-59088FD1669D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1C60D62-513F-DAF1-CDB4-734BB68A073D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</a:rPr>
              <a:t>Fabian Strategy</a:t>
            </a:r>
            <a:endParaRPr lang="en-US" sz="25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2B0FC47-CD75-A054-F926-DBDB831999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269" y="1312640"/>
            <a:ext cx="2820819" cy="18811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750A39-16E4-3C41-44D4-644D1B1433D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430" t="8270" r="17514" b="20185"/>
          <a:stretch>
            <a:fillRect/>
          </a:stretch>
        </p:blipFill>
        <p:spPr>
          <a:xfrm>
            <a:off x="3094382" y="2511961"/>
            <a:ext cx="2955235" cy="22588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682C658-B7D7-3A20-EB01-AF1C3C187C7D}"/>
              </a:ext>
            </a:extLst>
          </p:cNvPr>
          <p:cNvSpPr txBox="1"/>
          <p:nvPr/>
        </p:nvSpPr>
        <p:spPr>
          <a:xfrm>
            <a:off x="3674789" y="2068541"/>
            <a:ext cx="20316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Gray-zone warfare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50CD6C5-B4CD-80BF-723B-BA8FCA1375D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3960" t="9297"/>
          <a:stretch>
            <a:fillRect/>
          </a:stretch>
        </p:blipFill>
        <p:spPr>
          <a:xfrm>
            <a:off x="6203911" y="676972"/>
            <a:ext cx="2680886" cy="200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442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6668D-B1AF-A55D-6981-2E2E83C4C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B07820F5-BFFF-4F62-F5F9-5CA5FCCC3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7A382C8-FFD3-3D41-90FC-EFD84F6B903C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98232B7-97B0-4DFD-7A46-D55056F570BC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</a:rPr>
              <a:t>Fabian Strategy</a:t>
            </a:r>
            <a:endParaRPr lang="en-US" sz="25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72445B-B7B7-81D8-4A61-050DD48D38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1751" y="1051560"/>
            <a:ext cx="6031258" cy="328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117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DC5D0-427B-3A47-3519-FA4B35C28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2EF87196-25B1-C50C-AD39-0FCF6ACA8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F66E135-6F32-7BA8-D953-CCE56AA83EA5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B140E09-3645-BCE0-5D00-81429D10B2F0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</a:rPr>
              <a:t>Fabian Strategy</a:t>
            </a:r>
            <a:endParaRPr lang="en-US" sz="25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0DA571-F43C-5B74-8E20-271220A9D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43" y="1341124"/>
            <a:ext cx="3004157" cy="16386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5AB52A-DB9F-9A50-CA67-0725DFB3DC7D}"/>
              </a:ext>
            </a:extLst>
          </p:cNvPr>
          <p:cNvSpPr txBox="1"/>
          <p:nvPr/>
        </p:nvSpPr>
        <p:spPr>
          <a:xfrm>
            <a:off x="3538330" y="1778601"/>
            <a:ext cx="51484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Where a side avoids direct, large battles and instead wears down an enemy through a slow war of attrition, minor skirmishes, and supply disruption</a:t>
            </a:r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44820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F16DD-E39C-2A03-C2B7-48B3AF39C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22DA172D-206C-B789-86F3-5E899F018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AAD71C1-D927-95A1-996F-D82D44986089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A6FDE60-5168-C737-0719-198CD7BB481C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</a:rPr>
              <a:t>Fabian Strategy</a:t>
            </a:r>
            <a:endParaRPr lang="en-US" sz="25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68F3B9-E3B0-BF7E-48CA-14505835CA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202" t="14804" r="7162" b="5355"/>
          <a:stretch>
            <a:fillRect/>
          </a:stretch>
        </p:blipFill>
        <p:spPr>
          <a:xfrm>
            <a:off x="1757681" y="1051560"/>
            <a:ext cx="5531015" cy="305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414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1055</Words>
  <Application>Microsoft Office PowerPoint</Application>
  <PresentationFormat>On-screen Show (16:9)</PresentationFormat>
  <Paragraphs>146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Montserrat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Shridhar samant</cp:lastModifiedBy>
  <cp:revision>4</cp:revision>
  <dcterms:created xsi:type="dcterms:W3CDTF">2026-07-31T12:52:05Z</dcterms:created>
  <dcterms:modified xsi:type="dcterms:W3CDTF">2026-08-30T19:26:03Z</dcterms:modified>
</cp:coreProperties>
</file>