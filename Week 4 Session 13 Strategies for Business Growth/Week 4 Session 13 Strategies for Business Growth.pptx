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9" r:id="rId2"/>
    <p:sldId id="281" r:id="rId3"/>
    <p:sldId id="272" r:id="rId4"/>
    <p:sldId id="277" r:id="rId5"/>
    <p:sldId id="260" r:id="rId6"/>
    <p:sldId id="261" r:id="rId7"/>
    <p:sldId id="285" r:id="rId8"/>
    <p:sldId id="283" r:id="rId9"/>
    <p:sldId id="262" r:id="rId10"/>
    <p:sldId id="263" r:id="rId11"/>
    <p:sldId id="284" r:id="rId12"/>
    <p:sldId id="264" r:id="rId13"/>
    <p:sldId id="266" r:id="rId14"/>
    <p:sldId id="267" r:id="rId15"/>
    <p:sldId id="282" r:id="rId16"/>
    <p:sldId id="268" r:id="rId17"/>
    <p:sldId id="276" r:id="rId18"/>
    <p:sldId id="279" r:id="rId19"/>
    <p:sldId id="280" r:id="rId20"/>
    <p:sldId id="269" r:id="rId21"/>
    <p:sldId id="270" r:id="rId22"/>
    <p:sldId id="278" r:id="rId23"/>
    <p:sldId id="271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74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92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62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8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0E9F-51B5-98C7-7F2A-2E91574C5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FF378-79D5-D082-7F0E-51E087C09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38049-EA0E-70F1-F87D-98730A383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B7374-562A-DD59-0741-9FE8664D6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40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3E558-4EAD-25F5-796D-ACCB0EE7D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80BB2-2515-32F0-FA55-0162DBDFA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B2FA2-AC99-414B-EA89-A5CB659EA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2B2C-A175-90F8-AC26-D5AF30048D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78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95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90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92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00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4FA14-F2E0-621B-760B-758C9AD4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F17B2-5206-DF63-2001-BDF8CD8EC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57747-3676-D7D8-8AC1-8368A657E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6A4BB-3F7C-D41E-EBC6-033C97EFD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128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E36C-813F-6EFE-BBCD-A8F22D45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675AB-4A3E-B64C-1C25-24018B8F2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C4BE8-6A72-EB42-D89A-860693B0E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E4AD7-C0A0-1A5A-34A4-F42ADD10D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99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7155-C333-7D1A-D515-A37371492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76CA7-096E-8834-C4D0-87C23B2D1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B2D01-F5BA-B3B3-C7A5-9BB2E76B9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D2A9F-AE6D-796D-FB49-89FEE8EF7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08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51BA-33DC-3364-2A4F-2CDC6B3E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F2680-5E03-2E13-CDD0-80DA22E5E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90D93-270D-BAE5-1EEA-39DAE5518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2D5C1-42BC-7DAF-2CD6-9F31227EA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438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5" y="5486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3968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139686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139686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value chain is every step that turns inputs into something customers will pay for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2723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2127238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12723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analysis finds where money is spent, and whether each step earns it back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11479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3114790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311479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Hero Cycles built a world-record business by controlling one link better than rivals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2884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B1DDF-9CD4-30AE-B83C-FDED33A6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EB455E47-EF4C-F1BD-5F78-3E3EEC668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B597093-C361-1531-DB53-B5E42C6D21E8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Tale of Brothers</a:t>
            </a:r>
            <a:endParaRPr lang="en-US" sz="1050" dirty="0"/>
          </a:p>
        </p:txBody>
      </p:sp>
      <p:pic>
        <p:nvPicPr>
          <p:cNvPr id="1030" name="Picture 6" descr="A tale of two brothers: Where does Anil Ambani go from here?">
            <a:extLst>
              <a:ext uri="{FF2B5EF4-FFF2-40B4-BE49-F238E27FC236}">
                <a16:creationId xmlns:a16="http://schemas.microsoft.com/office/drawing/2014/main" id="{B6812388-6CCA-4472-895E-EE103E6BE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914400"/>
            <a:ext cx="5915025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226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1FC85E-5273-BF91-BCC8-BB656282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9B1411F3-C2B6-0C9F-D7BA-B90DC9466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97" y="199380"/>
            <a:ext cx="8558449" cy="48141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7E4CE8-0F85-6010-8C64-A2F15DC216C2}"/>
              </a:ext>
            </a:extLst>
          </p:cNvPr>
          <p:cNvSpPr txBox="1"/>
          <p:nvPr/>
        </p:nvSpPr>
        <p:spPr>
          <a:xfrm>
            <a:off x="1683440" y="710184"/>
            <a:ext cx="5488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why Anil Ambani failed but Kamath brothers thrived?</a:t>
            </a:r>
            <a:endParaRPr lang="en-IN" dirty="0"/>
          </a:p>
        </p:txBody>
      </p:sp>
      <p:pic>
        <p:nvPicPr>
          <p:cNvPr id="2050" name="Picture 2" descr="Billionaire Brothers Who Built India's Largest Discount Brokerage Face Reality Check">
            <a:extLst>
              <a:ext uri="{FF2B5EF4-FFF2-40B4-BE49-F238E27FC236}">
                <a16:creationId xmlns:a16="http://schemas.microsoft.com/office/drawing/2014/main" id="{178B3FCE-6482-49B5-93E5-64BB870C6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828" y="1223783"/>
            <a:ext cx="3533393" cy="355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51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STORY TO START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Zero Funding, India's Largest Stockbroker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3246120"/>
          </a:xfrm>
          <a:prstGeom prst="roundRect">
            <a:avLst>
              <a:gd name="adj" fmla="val 2817"/>
            </a:avLst>
          </a:prstGeom>
          <a:solidFill>
            <a:srgbClr val="FFFFFF">
              <a:alpha val="90000"/>
            </a:srgbClr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26624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2010, Bengaluru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52665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frustrated trader tired of expensive, clunky brokers, starts a startup with his brother— no venture capital, no big launch budget.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26479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they built instead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52520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simple, low-cost, technology-first trading platform built entirely in-house — something bigger, funded rivals struggled to copy quickly.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296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Today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360326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 venture is one of India's largest stockbrokers by active clients, built entirely without outside investors — on the strength of one deep, hard-to-copy capability.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Competence?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5.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a Competence?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794804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competence is a </a:t>
            </a:r>
            <a:r>
              <a:rPr lang="en-US" sz="16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or capability</a:t>
            </a:r>
            <a:r>
              <a:rPr lang="en-US" sz="16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your organization has built up not a thing you own, like cash or equipment, but something you and your people know how to do well.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18364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3012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Resource vs. competence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694436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resource is a laptop. A competence is knowing how to build fast, reliable trading software with it. Zerodha's real edge was never the laptops — it was the capability.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5.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4807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OF FOUR TYPES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Threshold vs. Core Competencies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Threshold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548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5.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4545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OF FOUR TYPES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Threshold vs. Core Competencies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Threshold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bare minimum every player in the category needs just to compete at all — like basic regulatory compliance for a broker.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548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54880" y="1874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Hard-to-imitate strengths leveraged across markets — like Zerodha's customer support operations.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5.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16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OTHER TWO TYPES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Distinctive vs. Strategic Competencies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Distinctive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548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Strategic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5.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16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OTHER TWO TYPES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Distinctive vs. Strategic Competencies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Distinctive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Genuinely rare but not impossible for rivals to copy quickly — like Zerodha's in-house technology platform, built over years.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1188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548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Strategic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54880" y="1874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distinctive competence that also directly drives what customers choose you for — the rarest, most valuable overlap of all.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5.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7197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PUTTING THEM TOGETHER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Four Types, Side by Side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572226"/>
              </p:ext>
            </p:extLst>
          </p:nvPr>
        </p:nvGraphicFramePr>
        <p:xfrm>
          <a:off x="457200" y="1234440"/>
          <a:ext cx="822960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Type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It Means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Rare?</a:t>
                      </a:r>
                      <a:endParaRPr lang="en-US" sz="12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Threshold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The minimum to compete at all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Core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Important, even if others have it too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Yes/No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Distinctive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Rare but not impossible for rivals to copy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Strategic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Rare AND drives customer choice and hard to copy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5.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ZERODHA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Which Competencies Mattered Most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Threshold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423160" y="1280160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06040" y="12801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Regulatory licensing — required, but not a real advantage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21992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22199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23160" y="2221992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06040" y="22219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support and operations — solid, but not unique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163824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316382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Strategic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423160" y="3163824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606040" y="316382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In-house trading technology — rare, hard to copy, and exactly why customers chose Zerodha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based on widely documented accounts of Zerodha's technology-led business model.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BONSHO'S MOMOS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His Competencies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902970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90297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Threshold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423160" y="902970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844802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84480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</a:rPr>
              <a:t>Distinctive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23160" y="1844802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786634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78663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423160" y="2786634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986228EF-7F72-B102-4F6A-2435319BBEB4}"/>
              </a:ext>
            </a:extLst>
          </p:cNvPr>
          <p:cNvSpPr/>
          <p:nvPr/>
        </p:nvSpPr>
        <p:spPr>
          <a:xfrm>
            <a:off x="461010" y="3750564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</a:rPr>
              <a:t>Strategic</a:t>
            </a:r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73DA00ED-E45E-81A7-92CB-C3A9937622D4}"/>
              </a:ext>
            </a:extLst>
          </p:cNvPr>
          <p:cNvSpPr/>
          <p:nvPr/>
        </p:nvSpPr>
        <p:spPr>
          <a:xfrm>
            <a:off x="2426970" y="3750564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BONSHO'S MOMOS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His Competencies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902970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90297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Threshold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423160" y="902970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06040" y="90297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A1A1A"/>
                </a:solidFill>
                <a:latin typeface="Montserrat" pitchFamily="34" charset="0"/>
              </a:rPr>
              <a:t>Commercial kitchen setup, food safety/FSSAI licenses, sourcing standard flour and vegetables, and standard steaming equipment</a:t>
            </a:r>
            <a:r>
              <a:rPr lang="en-US" sz="1400" dirty="0">
                <a:solidFill>
                  <a:srgbClr val="1A1A1A"/>
                </a:solidFill>
                <a:latin typeface="Montserrat" pitchFamily="34" charset="0"/>
              </a:rPr>
              <a:t>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844802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84480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</a:rPr>
              <a:t>Distinctive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23160" y="1844802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06040" y="184480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A1A1A"/>
                </a:solidFill>
                <a:latin typeface="Montserrat" pitchFamily="34" charset="0"/>
              </a:rPr>
              <a:t>Trendy branding, Instagram-friendly packaging, a highly visible prime location near a college, or a unique trending flavor (like "Peri-Peri Cheese Injection Momos").</a:t>
            </a:r>
          </a:p>
        </p:txBody>
      </p:sp>
      <p:sp>
        <p:nvSpPr>
          <p:cNvPr id="13" name="Shape 10"/>
          <p:cNvSpPr/>
          <p:nvPr/>
        </p:nvSpPr>
        <p:spPr>
          <a:xfrm>
            <a:off x="457200" y="2786634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78663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423160" y="2786634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606040" y="278663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A1A1A"/>
                </a:solidFill>
                <a:latin typeface="Montserrat" pitchFamily="34" charset="0"/>
              </a:rPr>
              <a:t>Unique and tasty recipe for the chili chutney (sauce) that uses a specific, hard-to-source spice blend, combined with a highly specialized dough-folding technique.</a:t>
            </a: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986228EF-7F72-B102-4F6A-2435319BBEB4}"/>
              </a:ext>
            </a:extLst>
          </p:cNvPr>
          <p:cNvSpPr/>
          <p:nvPr/>
        </p:nvSpPr>
        <p:spPr>
          <a:xfrm>
            <a:off x="461010" y="3750564"/>
            <a:ext cx="1920240" cy="8229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pPr algn="ctr">
              <a:lnSpc>
                <a:spcPct val="250000"/>
              </a:lnSpc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</a:rPr>
              <a:t>Strategic</a:t>
            </a:r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73DA00ED-E45E-81A7-92CB-C3A9937622D4}"/>
              </a:ext>
            </a:extLst>
          </p:cNvPr>
          <p:cNvSpPr/>
          <p:nvPr/>
        </p:nvSpPr>
        <p:spPr>
          <a:xfrm>
            <a:off x="2426970" y="3750564"/>
            <a:ext cx="6263640" cy="8229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E947A531-7877-FF97-9B53-3E035BF9A4FE}"/>
              </a:ext>
            </a:extLst>
          </p:cNvPr>
          <p:cNvSpPr/>
          <p:nvPr/>
        </p:nvSpPr>
        <p:spPr>
          <a:xfrm>
            <a:off x="2609850" y="375056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A1A1A"/>
                </a:solidFill>
                <a:latin typeface="Montserrat" pitchFamily="34" charset="0"/>
              </a:rPr>
              <a:t>A proprietary blast-freezing and cold-chain distribution process that preserves 100% of the fresh taste</a:t>
            </a:r>
          </a:p>
        </p:txBody>
      </p:sp>
    </p:spTree>
    <p:extLst>
      <p:ext uri="{BB962C8B-B14F-4D97-AF65-F5344CB8AC3E}">
        <p14:creationId xmlns:p14="http://schemas.microsoft.com/office/powerpoint/2010/main" val="100968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ACTIVITY · 10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Sort the Competency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97155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a business you know, sort one real capability into the right box: threshold, core, distinctive, or strategic.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4879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74879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What can it do that almost no one else can copy quickly?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64490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64490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Is that rare thing why customers choose it?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541014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354101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If the answer to both is yes, you've found a strategic competence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57A57-3589-9C1C-2FD2-46C44B927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F8C291BA-F449-8ECA-4104-0BEEB7D7C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7231C66-5136-C6F6-8716-0E80830A063A}"/>
              </a:ext>
            </a:extLst>
          </p:cNvPr>
          <p:cNvSpPr/>
          <p:nvPr/>
        </p:nvSpPr>
        <p:spPr>
          <a:xfrm>
            <a:off x="182880" y="47548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How to Identify the Competencies – VRIO Framework</a:t>
            </a: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635A9-161F-7E35-E159-22AF19BD9E2F}"/>
              </a:ext>
            </a:extLst>
          </p:cNvPr>
          <p:cNvSpPr txBox="1"/>
          <p:nvPr/>
        </p:nvSpPr>
        <p:spPr>
          <a:xfrm>
            <a:off x="1517904" y="1386316"/>
            <a:ext cx="74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15E9E-29EE-9631-11D8-19711E7C232A}"/>
              </a:ext>
            </a:extLst>
          </p:cNvPr>
          <p:cNvSpPr txBox="1"/>
          <p:nvPr/>
        </p:nvSpPr>
        <p:spPr>
          <a:xfrm>
            <a:off x="6281665" y="1360670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Porter’s 5 forces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4B8CFF-B410-0869-814B-F31927E11D24}"/>
              </a:ext>
            </a:extLst>
          </p:cNvPr>
          <p:cNvCxnSpPr/>
          <p:nvPr/>
        </p:nvCxnSpPr>
        <p:spPr>
          <a:xfrm>
            <a:off x="1892782" y="1764792"/>
            <a:ext cx="0" cy="761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BFB511-3B85-36A5-A4D8-7E51F15A86DE}"/>
              </a:ext>
            </a:extLst>
          </p:cNvPr>
          <p:cNvSpPr txBox="1"/>
          <p:nvPr/>
        </p:nvSpPr>
        <p:spPr>
          <a:xfrm>
            <a:off x="1354173" y="2526030"/>
            <a:ext cx="107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Strengths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10CBA7-5CA9-7A78-A0BD-AF7205403086}"/>
              </a:ext>
            </a:extLst>
          </p:cNvPr>
          <p:cNvCxnSpPr/>
          <p:nvPr/>
        </p:nvCxnSpPr>
        <p:spPr>
          <a:xfrm>
            <a:off x="7458429" y="1754862"/>
            <a:ext cx="0" cy="761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A05B99B-FA85-DF74-F8B2-E93F5FD6D0AF}"/>
              </a:ext>
            </a:extLst>
          </p:cNvPr>
          <p:cNvSpPr txBox="1"/>
          <p:nvPr/>
        </p:nvSpPr>
        <p:spPr>
          <a:xfrm>
            <a:off x="6550263" y="2516100"/>
            <a:ext cx="181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Competitors Info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18C26-5A84-6133-0CC5-73E891639652}"/>
              </a:ext>
            </a:extLst>
          </p:cNvPr>
          <p:cNvSpPr txBox="1"/>
          <p:nvPr/>
        </p:nvSpPr>
        <p:spPr>
          <a:xfrm>
            <a:off x="2267661" y="3332488"/>
            <a:ext cx="4440639" cy="1531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Does this strength provide value to your customer?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Can this be  easily imitated by your competition?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Is this strength rare in your industry?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Is the firm ready to leverage the advantage fully?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563DC1-DF10-E3D4-3D84-CD7F6535DEF0}"/>
              </a:ext>
            </a:extLst>
          </p:cNvPr>
          <p:cNvCxnSpPr/>
          <p:nvPr/>
        </p:nvCxnSpPr>
        <p:spPr>
          <a:xfrm>
            <a:off x="2075688" y="2895362"/>
            <a:ext cx="1746504" cy="49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03CD4D-6A16-1533-3405-1FE9CCEA64C5}"/>
              </a:ext>
            </a:extLst>
          </p:cNvPr>
          <p:cNvCxnSpPr>
            <a:cxnSpLocks/>
          </p:cNvCxnSpPr>
          <p:nvPr/>
        </p:nvCxnSpPr>
        <p:spPr>
          <a:xfrm flipH="1">
            <a:off x="5157216" y="2855857"/>
            <a:ext cx="1551084" cy="557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66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BC585-4300-3C97-E364-96A1ED8C9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960896F5-2191-E093-D778-C5E219E7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634C6AC-B7DA-EA19-9EF0-5518360704F8}"/>
              </a:ext>
            </a:extLst>
          </p:cNvPr>
          <p:cNvSpPr/>
          <p:nvPr/>
        </p:nvSpPr>
        <p:spPr>
          <a:xfrm>
            <a:off x="182880" y="47548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How to Identify the Competencies – VRIO Framework</a:t>
            </a:r>
            <a:endParaRPr lang="en-US" sz="2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BEBCD2-9579-84A6-975B-4483C79E0E2A}"/>
              </a:ext>
            </a:extLst>
          </p:cNvPr>
          <p:cNvSpPr txBox="1"/>
          <p:nvPr/>
        </p:nvSpPr>
        <p:spPr>
          <a:xfrm>
            <a:off x="182880" y="1446538"/>
            <a:ext cx="4440639" cy="1531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Does this strength provide value to your customer?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Is this strength rare in your industry?   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Can this be  easily imitated by your competition?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Is the firm ready to leverage the advantage fully?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68F4E-14AB-FFB2-7BD1-150CB6E2CABB}"/>
              </a:ext>
            </a:extLst>
          </p:cNvPr>
          <p:cNvSpPr txBox="1"/>
          <p:nvPr/>
        </p:nvSpPr>
        <p:spPr>
          <a:xfrm>
            <a:off x="4572000" y="1503688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6DCEB0-DDCA-9C8B-F0CE-65DD2E21F72B}"/>
              </a:ext>
            </a:extLst>
          </p:cNvPr>
          <p:cNvSpPr txBox="1"/>
          <p:nvPr/>
        </p:nvSpPr>
        <p:spPr>
          <a:xfrm>
            <a:off x="3306620" y="1873020"/>
            <a:ext cx="18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Rare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8CBED-1DE5-C2D9-0CFF-23BA676B8C0F}"/>
              </a:ext>
            </a:extLst>
          </p:cNvPr>
          <p:cNvSpPr txBox="1"/>
          <p:nvPr/>
        </p:nvSpPr>
        <p:spPr>
          <a:xfrm>
            <a:off x="4336919" y="2229438"/>
            <a:ext cx="1129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Inimitable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2228A0-9FE0-02DB-8682-CBFED47C6C1D}"/>
              </a:ext>
            </a:extLst>
          </p:cNvPr>
          <p:cNvSpPr txBox="1"/>
          <p:nvPr/>
        </p:nvSpPr>
        <p:spPr>
          <a:xfrm>
            <a:off x="4336919" y="2607974"/>
            <a:ext cx="1127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Organized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C2FD90B4-90DA-A4F8-D22C-A95FBDE8DE34}"/>
              </a:ext>
            </a:extLst>
          </p:cNvPr>
          <p:cNvSpPr/>
          <p:nvPr/>
        </p:nvSpPr>
        <p:spPr>
          <a:xfrm>
            <a:off x="5464344" y="1400604"/>
            <a:ext cx="1165056" cy="168349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DFE3B2-C14C-5DD0-22D1-366B89C10C2A}"/>
              </a:ext>
            </a:extLst>
          </p:cNvPr>
          <p:cNvSpPr txBox="1"/>
          <p:nvPr/>
        </p:nvSpPr>
        <p:spPr>
          <a:xfrm>
            <a:off x="6691200" y="2057686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VRIO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6B3ED4D-37D3-75BC-B06F-F383E98DD3D4}"/>
              </a:ext>
            </a:extLst>
          </p:cNvPr>
          <p:cNvCxnSpPr>
            <a:stCxn id="20" idx="2"/>
          </p:cNvCxnSpPr>
          <p:nvPr/>
        </p:nvCxnSpPr>
        <p:spPr>
          <a:xfrm>
            <a:off x="7016770" y="2427018"/>
            <a:ext cx="0" cy="750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FF0284B-3135-5987-FD5A-0CE313276109}"/>
              </a:ext>
            </a:extLst>
          </p:cNvPr>
          <p:cNvSpPr txBox="1"/>
          <p:nvPr/>
        </p:nvSpPr>
        <p:spPr>
          <a:xfrm>
            <a:off x="5891141" y="3274695"/>
            <a:ext cx="225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you are best at?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16F632-D917-2372-C54B-B5FAD1E13852}"/>
              </a:ext>
            </a:extLst>
          </p:cNvPr>
          <p:cNvSpPr txBox="1"/>
          <p:nvPr/>
        </p:nvSpPr>
        <p:spPr>
          <a:xfrm>
            <a:off x="6003767" y="3744468"/>
            <a:ext cx="20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 to be best at?</a:t>
            </a:r>
          </a:p>
        </p:txBody>
      </p:sp>
    </p:spTree>
    <p:extLst>
      <p:ext uri="{BB962C8B-B14F-4D97-AF65-F5344CB8AC3E}">
        <p14:creationId xmlns:p14="http://schemas.microsoft.com/office/powerpoint/2010/main" val="184992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6" grpId="0"/>
      <p:bldP spid="20" grpId="0"/>
      <p:bldP spid="20" grpId="1"/>
      <p:bldP spid="23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EE0EF-46D3-A4DB-6B33-2782A5DC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7CB83B03-EAD1-40DF-4659-AA2553C9A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B81E4BE-8A0B-6B91-F46B-638E22D7A6EE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ACTIVITY · 10 MINUTES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3A7084F-1582-739C-18D8-1E7E89275A8F}"/>
              </a:ext>
            </a:extLst>
          </p:cNvPr>
          <p:cNvSpPr/>
          <p:nvPr/>
        </p:nvSpPr>
        <p:spPr>
          <a:xfrm>
            <a:off x="182880" y="47548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Competency mapping through VRIO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330709-19AA-31DD-EFBD-961E653406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2" t="20800" b="15334"/>
          <a:stretch>
            <a:fillRect/>
          </a:stretch>
        </p:blipFill>
        <p:spPr>
          <a:xfrm>
            <a:off x="722947" y="1271016"/>
            <a:ext cx="7698105" cy="328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18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You Must Know your Real Competence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Spending time and money polishing a threshold competence wastes resources better spent on a strategic one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28600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2402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Zerodha didn't win by matching every rival feature — it won on the one capability that was genuinely rare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15468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31089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Knowing your competence type tells you exactly what to protect, and what's safe to outsource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73152" cy="6583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9601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competence is a skill or capability — not a resource you simply own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73152" cy="6583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16916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 and core competencies are necessary but not unique; distinctive and strategic ones are rare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231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57200" y="2423160"/>
            <a:ext cx="73152" cy="6583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2423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VRIO framework as a tool to identify and work on competencies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1546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3154680"/>
            <a:ext cx="73152" cy="6583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31546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strategic competence is rare AND drives why customers choose you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3886200"/>
            <a:ext cx="73152" cy="6583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38862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Zerodha won on one strategic competence — in-house technology — not on matching every rival feature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CBF86-B936-7F31-2FDA-5E903870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B81D41CD-B40A-BBE4-64A2-9880F4113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8AB1693-F391-E163-1FA4-98888EC28C1B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32A5A6-67ED-9726-C294-054D7A5593A9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Pyrrhic Victory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14D16A-AF7D-7C17-52E4-4379BEDE1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947" y="850392"/>
            <a:ext cx="5412105" cy="360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80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&amp; NEXT SESSION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Sources &amp; What's Coming Up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Required Reading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4813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Nag — Strategic Management: Analysis, Implementation and Control, Ch. 5, 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Case &amp; History Sources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715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Publicly documented history of Zerodha (founded 2010)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2" y="2377440"/>
            <a:ext cx="3863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</a:rPr>
              <a:t>Term for next session: </a:t>
            </a:r>
            <a:r>
              <a:rPr lang="en-US" sz="1400" b="1" dirty="0">
                <a:solidFill>
                  <a:srgbClr val="B20E38"/>
                </a:solidFill>
                <a:highlight>
                  <a:srgbClr val="FFFF00"/>
                </a:highlight>
                <a:latin typeface="Montserrat SemiBold" pitchFamily="34" charset="0"/>
              </a:rPr>
              <a:t>Apostatic Selection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1174</Words>
  <Application>Microsoft Office PowerPoint</Application>
  <PresentationFormat>On-screen Show (16:9)</PresentationFormat>
  <Paragraphs>180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22</cp:revision>
  <dcterms:created xsi:type="dcterms:W3CDTF">2026-08-06T05:21:10Z</dcterms:created>
  <dcterms:modified xsi:type="dcterms:W3CDTF">2026-09-01T05:33:57Z</dcterms:modified>
</cp:coreProperties>
</file>