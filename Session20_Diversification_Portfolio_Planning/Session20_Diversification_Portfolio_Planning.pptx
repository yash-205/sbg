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61" r:id="rId3"/>
    <p:sldId id="274" r:id="rId4"/>
    <p:sldId id="258" r:id="rId5"/>
    <p:sldId id="273" r:id="rId6"/>
    <p:sldId id="259" r:id="rId7"/>
    <p:sldId id="260" r:id="rId8"/>
    <p:sldId id="262" r:id="rId9"/>
    <p:sldId id="275" r:id="rId10"/>
    <p:sldId id="263" r:id="rId11"/>
    <p:sldId id="264" r:id="rId12"/>
    <p:sldId id="276" r:id="rId13"/>
    <p:sldId id="279" r:id="rId14"/>
    <p:sldId id="265" r:id="rId15"/>
    <p:sldId id="277" r:id="rId16"/>
    <p:sldId id="266" r:id="rId17"/>
    <p:sldId id="267" r:id="rId18"/>
    <p:sldId id="272" r:id="rId19"/>
    <p:sldId id="271" r:id="rId20"/>
    <p:sldId id="268" r:id="rId21"/>
    <p:sldId id="269" r:id="rId22"/>
    <p:sldId id="270" r:id="rId2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545" y="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056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66346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566222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4136264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94283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778253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831126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364877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300301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4412888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377440"/>
            <a:ext cx="10698480" cy="914400"/>
          </a:xfrm>
          <a:prstGeom prst="rect">
            <a:avLst/>
          </a:prstGeom>
          <a:noFill/>
          <a:ln/>
        </p:spPr>
        <p:txBody>
          <a:bodyPr wrap="square" lIns="0" tIns="0" rIns="0" bIns="0" rtlCol="0" anchor="ctr"/>
          <a:lstStyle/>
          <a:p>
            <a:pPr marL="0" indent="0" algn="ctr">
              <a:buNone/>
            </a:pPr>
            <a:r>
              <a:rPr lang="en-US" sz="3800" b="1" dirty="0">
                <a:solidFill>
                  <a:srgbClr val="1A1A1A"/>
                </a:solidFill>
                <a:latin typeface="Montserrat SemiBold" pitchFamily="34" charset="0"/>
                <a:ea typeface="Montserrat SemiBold" pitchFamily="34" charset="-122"/>
                <a:cs typeface="Montserrat SemiBold" pitchFamily="34" charset="-120"/>
              </a:rPr>
              <a:t>Strategies for Business Growth</a:t>
            </a:r>
            <a:endParaRPr lang="en-US" sz="3800" dirty="0"/>
          </a:p>
        </p:txBody>
      </p:sp>
      <p:sp>
        <p:nvSpPr>
          <p:cNvPr id="4" name="Text 1"/>
          <p:cNvSpPr/>
          <p:nvPr/>
        </p:nvSpPr>
        <p:spPr>
          <a:xfrm>
            <a:off x="731520" y="3200400"/>
            <a:ext cx="10698480" cy="548640"/>
          </a:xfrm>
          <a:prstGeom prst="rect">
            <a:avLst/>
          </a:prstGeom>
          <a:noFill/>
          <a:ln/>
        </p:spPr>
        <p:txBody>
          <a:bodyPr wrap="square" lIns="0" tIns="0" rIns="0" bIns="0" rtlCol="0" anchor="ctr"/>
          <a:lstStyle/>
          <a:p>
            <a:pPr marL="0" indent="0" algn="ctr">
              <a:buNone/>
            </a:pPr>
            <a:r>
              <a:rPr lang="en-US" sz="2200" b="1" dirty="0">
                <a:solidFill>
                  <a:srgbClr val="B20E38"/>
                </a:solidFill>
                <a:latin typeface="Montserrat SemiBold" pitchFamily="34" charset="0"/>
                <a:ea typeface="Montserrat SemiBold" pitchFamily="34" charset="-122"/>
                <a:cs typeface="Montserrat SemiBold" pitchFamily="34" charset="-120"/>
              </a:rPr>
              <a:t>Week 5 · Session 20</a:t>
            </a:r>
            <a:endParaRPr lang="en-US" sz="2200" dirty="0"/>
          </a:p>
        </p:txBody>
      </p:sp>
      <p:sp>
        <p:nvSpPr>
          <p:cNvPr id="5" name="Text 2"/>
          <p:cNvSpPr/>
          <p:nvPr/>
        </p:nvSpPr>
        <p:spPr>
          <a:xfrm>
            <a:off x="731520" y="3794760"/>
            <a:ext cx="10698480" cy="548640"/>
          </a:xfrm>
          <a:prstGeom prst="rect">
            <a:avLst/>
          </a:prstGeom>
          <a:noFill/>
          <a:ln/>
        </p:spPr>
        <p:txBody>
          <a:bodyPr wrap="square" lIns="0" tIns="0" rIns="0" bIns="0" rtlCol="0" anchor="ctr"/>
          <a:lstStyle/>
          <a:p>
            <a:pPr marL="0" indent="0" algn="ctr">
              <a:buNone/>
            </a:pPr>
            <a:r>
              <a:rPr lang="en-US" sz="1900" i="1" dirty="0">
                <a:solidFill>
                  <a:srgbClr val="2A2A2A"/>
                </a:solidFill>
                <a:latin typeface="Montserrat" pitchFamily="34" charset="0"/>
                <a:ea typeface="Montserrat" pitchFamily="34" charset="-122"/>
                <a:cs typeface="Montserrat" pitchFamily="34" charset="-120"/>
              </a:rPr>
              <a:t>Diversification &amp; Introduction to Portfolio Planning</a:t>
            </a:r>
            <a:endParaRPr lang="en-US" sz="1900" dirty="0"/>
          </a:p>
        </p:txBody>
      </p:sp>
      <p:sp>
        <p:nvSpPr>
          <p:cNvPr id="6" name="Text 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 / 15</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Why Most Diversification Actually Fails</a:t>
            </a:r>
            <a:endParaRPr lang="en-US" sz="3400" dirty="0"/>
          </a:p>
        </p:txBody>
      </p:sp>
      <p:sp>
        <p:nvSpPr>
          <p:cNvPr id="6" name="Shape 3"/>
          <p:cNvSpPr/>
          <p:nvPr/>
        </p:nvSpPr>
        <p:spPr>
          <a:xfrm>
            <a:off x="731520" y="2194560"/>
            <a:ext cx="10698480" cy="868680"/>
          </a:xfrm>
          <a:prstGeom prst="roundRect">
            <a:avLst>
              <a:gd name="adj" fmla="val 8421"/>
            </a:avLst>
          </a:prstGeom>
          <a:solidFill>
            <a:srgbClr val="FFFFFF">
              <a:alpha val="70000"/>
            </a:srgbClr>
          </a:solidFill>
          <a:ln/>
        </p:spPr>
      </p:sp>
      <p:sp>
        <p:nvSpPr>
          <p:cNvPr id="7" name="Shape 4"/>
          <p:cNvSpPr/>
          <p:nvPr/>
        </p:nvSpPr>
        <p:spPr>
          <a:xfrm>
            <a:off x="914400" y="2377440"/>
            <a:ext cx="457200" cy="457200"/>
          </a:xfrm>
          <a:prstGeom prst="ellipse">
            <a:avLst/>
          </a:prstGeom>
          <a:solidFill>
            <a:srgbClr val="B20E38"/>
          </a:solidFill>
          <a:ln/>
        </p:spPr>
      </p:sp>
      <p:sp>
        <p:nvSpPr>
          <p:cNvPr id="8" name="Text 5"/>
          <p:cNvSpPr/>
          <p:nvPr/>
        </p:nvSpPr>
        <p:spPr>
          <a:xfrm>
            <a:off x="914400" y="23774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1</a:t>
            </a:r>
            <a:endParaRPr lang="en-US" sz="1700" dirty="0"/>
          </a:p>
        </p:txBody>
      </p:sp>
      <p:sp>
        <p:nvSpPr>
          <p:cNvPr id="9" name="Text 6"/>
          <p:cNvSpPr/>
          <p:nvPr/>
        </p:nvSpPr>
        <p:spPr>
          <a:xfrm>
            <a:off x="1600200" y="2194560"/>
            <a:ext cx="9509760" cy="868680"/>
          </a:xfrm>
          <a:prstGeom prst="rect">
            <a:avLst/>
          </a:prstGeom>
          <a:noFill/>
          <a:ln/>
        </p:spPr>
        <p:txBody>
          <a:bodyPr wrap="square" lIns="0" tIns="0" rIns="0" bIns="0" rtlCol="0" anchor="ctr"/>
          <a:lstStyle/>
          <a:p>
            <a:pPr marL="0" indent="0">
              <a:lnSpc>
                <a:spcPct val="120000"/>
              </a:lnSpc>
              <a:buNone/>
            </a:pPr>
            <a:endParaRPr lang="en-US" sz="1500" dirty="0"/>
          </a:p>
        </p:txBody>
      </p:sp>
      <p:sp>
        <p:nvSpPr>
          <p:cNvPr id="10" name="Shape 7"/>
          <p:cNvSpPr/>
          <p:nvPr/>
        </p:nvSpPr>
        <p:spPr>
          <a:xfrm>
            <a:off x="731520" y="3182112"/>
            <a:ext cx="10698480" cy="868680"/>
          </a:xfrm>
          <a:prstGeom prst="roundRect">
            <a:avLst>
              <a:gd name="adj" fmla="val 8421"/>
            </a:avLst>
          </a:prstGeom>
          <a:solidFill>
            <a:srgbClr val="FFFFFF">
              <a:alpha val="70000"/>
            </a:srgbClr>
          </a:solidFill>
          <a:ln/>
        </p:spPr>
      </p:sp>
      <p:sp>
        <p:nvSpPr>
          <p:cNvPr id="11" name="Shape 8"/>
          <p:cNvSpPr/>
          <p:nvPr/>
        </p:nvSpPr>
        <p:spPr>
          <a:xfrm>
            <a:off x="914400" y="3364992"/>
            <a:ext cx="457200" cy="457200"/>
          </a:xfrm>
          <a:prstGeom prst="ellipse">
            <a:avLst/>
          </a:prstGeom>
          <a:solidFill>
            <a:srgbClr val="B20E38"/>
          </a:solidFill>
          <a:ln/>
        </p:spPr>
      </p:sp>
      <p:sp>
        <p:nvSpPr>
          <p:cNvPr id="12" name="Text 9"/>
          <p:cNvSpPr/>
          <p:nvPr/>
        </p:nvSpPr>
        <p:spPr>
          <a:xfrm>
            <a:off x="914400" y="336499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2</a:t>
            </a:r>
            <a:endParaRPr lang="en-US" sz="1700" dirty="0"/>
          </a:p>
        </p:txBody>
      </p:sp>
      <p:sp>
        <p:nvSpPr>
          <p:cNvPr id="13" name="Text 10"/>
          <p:cNvSpPr/>
          <p:nvPr/>
        </p:nvSpPr>
        <p:spPr>
          <a:xfrm>
            <a:off x="1600200" y="3182112"/>
            <a:ext cx="9509760" cy="868680"/>
          </a:xfrm>
          <a:prstGeom prst="rect">
            <a:avLst/>
          </a:prstGeom>
          <a:noFill/>
          <a:ln/>
        </p:spPr>
        <p:txBody>
          <a:bodyPr wrap="square" lIns="0" tIns="0" rIns="0" bIns="0" rtlCol="0" anchor="ctr"/>
          <a:lstStyle/>
          <a:p>
            <a:pPr marL="0" indent="0">
              <a:lnSpc>
                <a:spcPct val="120000"/>
              </a:lnSpc>
              <a:buNone/>
            </a:pPr>
            <a:endParaRPr lang="en-US" sz="1500" dirty="0"/>
          </a:p>
        </p:txBody>
      </p:sp>
      <p:sp>
        <p:nvSpPr>
          <p:cNvPr id="14" name="Shape 11"/>
          <p:cNvSpPr/>
          <p:nvPr/>
        </p:nvSpPr>
        <p:spPr>
          <a:xfrm>
            <a:off x="731520" y="4169664"/>
            <a:ext cx="10698480" cy="868680"/>
          </a:xfrm>
          <a:prstGeom prst="roundRect">
            <a:avLst>
              <a:gd name="adj" fmla="val 8421"/>
            </a:avLst>
          </a:prstGeom>
          <a:solidFill>
            <a:srgbClr val="FFFFFF">
              <a:alpha val="70000"/>
            </a:srgbClr>
          </a:solidFill>
          <a:ln/>
        </p:spPr>
      </p:sp>
      <p:sp>
        <p:nvSpPr>
          <p:cNvPr id="15" name="Shape 12"/>
          <p:cNvSpPr/>
          <p:nvPr/>
        </p:nvSpPr>
        <p:spPr>
          <a:xfrm>
            <a:off x="914400" y="4352544"/>
            <a:ext cx="457200" cy="457200"/>
          </a:xfrm>
          <a:prstGeom prst="ellipse">
            <a:avLst/>
          </a:prstGeom>
          <a:solidFill>
            <a:srgbClr val="B20E38"/>
          </a:solidFill>
          <a:ln/>
        </p:spPr>
      </p:sp>
      <p:sp>
        <p:nvSpPr>
          <p:cNvPr id="16" name="Text 13"/>
          <p:cNvSpPr/>
          <p:nvPr/>
        </p:nvSpPr>
        <p:spPr>
          <a:xfrm>
            <a:off x="914400" y="435254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3</a:t>
            </a:r>
            <a:endParaRPr lang="en-US" sz="1700" dirty="0"/>
          </a:p>
        </p:txBody>
      </p:sp>
      <p:sp>
        <p:nvSpPr>
          <p:cNvPr id="17" name="Text 14"/>
          <p:cNvSpPr/>
          <p:nvPr/>
        </p:nvSpPr>
        <p:spPr>
          <a:xfrm>
            <a:off x="1600200" y="4169664"/>
            <a:ext cx="9509760" cy="868680"/>
          </a:xfrm>
          <a:prstGeom prst="rect">
            <a:avLst/>
          </a:prstGeom>
          <a:noFill/>
          <a:ln/>
        </p:spPr>
        <p:txBody>
          <a:bodyPr wrap="square" lIns="0" tIns="0" rIns="0" bIns="0" rtlCol="0" anchor="ctr"/>
          <a:lstStyle/>
          <a:p>
            <a:pPr marL="0" indent="0">
              <a:lnSpc>
                <a:spcPct val="120000"/>
              </a:lnSpc>
              <a:buNone/>
            </a:pPr>
            <a:endParaRPr lang="en-US" sz="1500" dirty="0"/>
          </a:p>
        </p:txBody>
      </p:sp>
      <p:sp>
        <p:nvSpPr>
          <p:cNvPr id="18" name="Shape 15"/>
          <p:cNvSpPr/>
          <p:nvPr/>
        </p:nvSpPr>
        <p:spPr>
          <a:xfrm>
            <a:off x="731520" y="5157216"/>
            <a:ext cx="10698480" cy="868680"/>
          </a:xfrm>
          <a:prstGeom prst="roundRect">
            <a:avLst>
              <a:gd name="adj" fmla="val 8421"/>
            </a:avLst>
          </a:prstGeom>
          <a:solidFill>
            <a:srgbClr val="FFFFFF">
              <a:alpha val="70000"/>
            </a:srgbClr>
          </a:solidFill>
          <a:ln/>
        </p:spPr>
      </p:sp>
      <p:sp>
        <p:nvSpPr>
          <p:cNvPr id="19" name="Shape 16"/>
          <p:cNvSpPr/>
          <p:nvPr/>
        </p:nvSpPr>
        <p:spPr>
          <a:xfrm>
            <a:off x="914400" y="5340096"/>
            <a:ext cx="457200" cy="457200"/>
          </a:xfrm>
          <a:prstGeom prst="ellipse">
            <a:avLst/>
          </a:prstGeom>
          <a:solidFill>
            <a:srgbClr val="B20E38"/>
          </a:solidFill>
          <a:ln/>
        </p:spPr>
      </p:sp>
      <p:sp>
        <p:nvSpPr>
          <p:cNvPr id="20" name="Text 17"/>
          <p:cNvSpPr/>
          <p:nvPr/>
        </p:nvSpPr>
        <p:spPr>
          <a:xfrm>
            <a:off x="914400" y="534009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4</a:t>
            </a:r>
            <a:endParaRPr lang="en-US" sz="1700" dirty="0"/>
          </a:p>
        </p:txBody>
      </p:sp>
      <p:sp>
        <p:nvSpPr>
          <p:cNvPr id="21" name="Text 18"/>
          <p:cNvSpPr/>
          <p:nvPr/>
        </p:nvSpPr>
        <p:spPr>
          <a:xfrm>
            <a:off x="1600200" y="5157216"/>
            <a:ext cx="9509760" cy="868680"/>
          </a:xfrm>
          <a:prstGeom prst="rect">
            <a:avLst/>
          </a:prstGeom>
          <a:noFill/>
          <a:ln/>
        </p:spPr>
        <p:txBody>
          <a:bodyPr wrap="square" lIns="0" tIns="0" rIns="0" bIns="0" rtlCol="0" anchor="ctr"/>
          <a:lstStyle/>
          <a:p>
            <a:pPr marL="0" indent="0">
              <a:lnSpc>
                <a:spcPct val="120000"/>
              </a:lnSpc>
              <a:buNone/>
            </a:pPr>
            <a:endParaRPr lang="en-US" sz="1500" dirty="0"/>
          </a:p>
        </p:txBody>
      </p:sp>
      <p:sp>
        <p:nvSpPr>
          <p:cNvPr id="22" name="Text 1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6 / 15</a:t>
            </a:r>
            <a:endParaRPr lang="en-US" sz="1600" dirty="0"/>
          </a:p>
        </p:txBody>
      </p:sp>
    </p:spTree>
    <p:extLst>
      <p:ext uri="{BB962C8B-B14F-4D97-AF65-F5344CB8AC3E}">
        <p14:creationId xmlns:p14="http://schemas.microsoft.com/office/powerpoint/2010/main" val="38053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Why Most Diversification Actually Fails</a:t>
            </a:r>
            <a:endParaRPr lang="en-US" sz="3400" dirty="0"/>
          </a:p>
        </p:txBody>
      </p:sp>
      <p:sp>
        <p:nvSpPr>
          <p:cNvPr id="6" name="Shape 3"/>
          <p:cNvSpPr/>
          <p:nvPr/>
        </p:nvSpPr>
        <p:spPr>
          <a:xfrm>
            <a:off x="731520" y="2194560"/>
            <a:ext cx="10698480" cy="868680"/>
          </a:xfrm>
          <a:prstGeom prst="roundRect">
            <a:avLst>
              <a:gd name="adj" fmla="val 8421"/>
            </a:avLst>
          </a:prstGeom>
          <a:solidFill>
            <a:srgbClr val="FFFFFF">
              <a:alpha val="70000"/>
            </a:srgbClr>
          </a:solidFill>
          <a:ln/>
        </p:spPr>
      </p:sp>
      <p:sp>
        <p:nvSpPr>
          <p:cNvPr id="7" name="Shape 4"/>
          <p:cNvSpPr/>
          <p:nvPr/>
        </p:nvSpPr>
        <p:spPr>
          <a:xfrm>
            <a:off x="914400" y="2377440"/>
            <a:ext cx="457200" cy="457200"/>
          </a:xfrm>
          <a:prstGeom prst="ellipse">
            <a:avLst/>
          </a:prstGeom>
          <a:solidFill>
            <a:srgbClr val="B20E38"/>
          </a:solidFill>
          <a:ln/>
        </p:spPr>
      </p:sp>
      <p:sp>
        <p:nvSpPr>
          <p:cNvPr id="8" name="Text 5"/>
          <p:cNvSpPr/>
          <p:nvPr/>
        </p:nvSpPr>
        <p:spPr>
          <a:xfrm>
            <a:off x="914400" y="23774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1</a:t>
            </a:r>
            <a:endParaRPr lang="en-US" sz="1700" dirty="0"/>
          </a:p>
        </p:txBody>
      </p:sp>
      <p:sp>
        <p:nvSpPr>
          <p:cNvPr id="9" name="Text 6"/>
          <p:cNvSpPr/>
          <p:nvPr/>
        </p:nvSpPr>
        <p:spPr>
          <a:xfrm>
            <a:off x="1600200" y="2194560"/>
            <a:ext cx="9509760" cy="868680"/>
          </a:xfrm>
          <a:prstGeom prst="rect">
            <a:avLst/>
          </a:prstGeom>
          <a:noFill/>
          <a:ln/>
        </p:spPr>
        <p:txBody>
          <a:bodyPr wrap="square" lIns="0" tIns="0" rIns="0" bIns="0" rtlCol="0" anchor="ctr"/>
          <a:lstStyle/>
          <a:p>
            <a:pPr marL="0" indent="0">
              <a:lnSpc>
                <a:spcPct val="120000"/>
              </a:lnSpc>
              <a:buNone/>
            </a:pPr>
            <a:r>
              <a:rPr lang="en-US" sz="1500" dirty="0">
                <a:solidFill>
                  <a:srgbClr val="1A1A1A"/>
                </a:solidFill>
                <a:latin typeface="Montserrat" pitchFamily="34" charset="0"/>
                <a:ea typeface="Montserrat" pitchFamily="34" charset="-122"/>
                <a:cs typeface="Montserrat" pitchFamily="34" charset="-120"/>
              </a:rPr>
              <a:t>No real synergy, just a founder's personal interest in a new industry</a:t>
            </a:r>
            <a:endParaRPr lang="en-US" sz="1500" dirty="0"/>
          </a:p>
        </p:txBody>
      </p:sp>
      <p:sp>
        <p:nvSpPr>
          <p:cNvPr id="10" name="Shape 7"/>
          <p:cNvSpPr/>
          <p:nvPr/>
        </p:nvSpPr>
        <p:spPr>
          <a:xfrm>
            <a:off x="731520" y="3182112"/>
            <a:ext cx="10698480" cy="868680"/>
          </a:xfrm>
          <a:prstGeom prst="roundRect">
            <a:avLst>
              <a:gd name="adj" fmla="val 8421"/>
            </a:avLst>
          </a:prstGeom>
          <a:solidFill>
            <a:srgbClr val="FFFFFF">
              <a:alpha val="70000"/>
            </a:srgbClr>
          </a:solidFill>
          <a:ln/>
        </p:spPr>
      </p:sp>
      <p:sp>
        <p:nvSpPr>
          <p:cNvPr id="11" name="Shape 8"/>
          <p:cNvSpPr/>
          <p:nvPr/>
        </p:nvSpPr>
        <p:spPr>
          <a:xfrm>
            <a:off x="914400" y="3364992"/>
            <a:ext cx="457200" cy="457200"/>
          </a:xfrm>
          <a:prstGeom prst="ellipse">
            <a:avLst/>
          </a:prstGeom>
          <a:solidFill>
            <a:srgbClr val="B20E38"/>
          </a:solidFill>
          <a:ln/>
        </p:spPr>
      </p:sp>
      <p:sp>
        <p:nvSpPr>
          <p:cNvPr id="12" name="Text 9"/>
          <p:cNvSpPr/>
          <p:nvPr/>
        </p:nvSpPr>
        <p:spPr>
          <a:xfrm>
            <a:off x="914400" y="336499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2</a:t>
            </a:r>
            <a:endParaRPr lang="en-US" sz="1700" dirty="0"/>
          </a:p>
        </p:txBody>
      </p:sp>
      <p:sp>
        <p:nvSpPr>
          <p:cNvPr id="13" name="Text 10"/>
          <p:cNvSpPr/>
          <p:nvPr/>
        </p:nvSpPr>
        <p:spPr>
          <a:xfrm>
            <a:off x="1600200" y="3182112"/>
            <a:ext cx="9509760" cy="868680"/>
          </a:xfrm>
          <a:prstGeom prst="rect">
            <a:avLst/>
          </a:prstGeom>
          <a:noFill/>
          <a:ln/>
        </p:spPr>
        <p:txBody>
          <a:bodyPr wrap="square" lIns="0" tIns="0" rIns="0" bIns="0" rtlCol="0" anchor="ctr"/>
          <a:lstStyle/>
          <a:p>
            <a:pPr marL="0" indent="0">
              <a:lnSpc>
                <a:spcPct val="120000"/>
              </a:lnSpc>
              <a:buNone/>
            </a:pPr>
            <a:r>
              <a:rPr lang="en-US" sz="1500" dirty="0">
                <a:solidFill>
                  <a:srgbClr val="1A1A1A"/>
                </a:solidFill>
                <a:latin typeface="Montserrat" pitchFamily="34" charset="0"/>
                <a:ea typeface="Montserrat" pitchFamily="34" charset="-122"/>
                <a:cs typeface="Montserrat" pitchFamily="34" charset="-120"/>
              </a:rPr>
              <a:t>Underestimating how different the new business's competitive dynamics really are</a:t>
            </a:r>
            <a:endParaRPr lang="en-US" sz="1500" dirty="0"/>
          </a:p>
        </p:txBody>
      </p:sp>
      <p:sp>
        <p:nvSpPr>
          <p:cNvPr id="14" name="Shape 11"/>
          <p:cNvSpPr/>
          <p:nvPr/>
        </p:nvSpPr>
        <p:spPr>
          <a:xfrm>
            <a:off x="731520" y="4169664"/>
            <a:ext cx="10698480" cy="868680"/>
          </a:xfrm>
          <a:prstGeom prst="roundRect">
            <a:avLst>
              <a:gd name="adj" fmla="val 8421"/>
            </a:avLst>
          </a:prstGeom>
          <a:solidFill>
            <a:srgbClr val="FFFFFF">
              <a:alpha val="70000"/>
            </a:srgbClr>
          </a:solidFill>
          <a:ln/>
        </p:spPr>
      </p:sp>
      <p:sp>
        <p:nvSpPr>
          <p:cNvPr id="15" name="Shape 12"/>
          <p:cNvSpPr/>
          <p:nvPr/>
        </p:nvSpPr>
        <p:spPr>
          <a:xfrm>
            <a:off x="914400" y="4352544"/>
            <a:ext cx="457200" cy="457200"/>
          </a:xfrm>
          <a:prstGeom prst="ellipse">
            <a:avLst/>
          </a:prstGeom>
          <a:solidFill>
            <a:srgbClr val="B20E38"/>
          </a:solidFill>
          <a:ln/>
        </p:spPr>
      </p:sp>
      <p:sp>
        <p:nvSpPr>
          <p:cNvPr id="16" name="Text 13"/>
          <p:cNvSpPr/>
          <p:nvPr/>
        </p:nvSpPr>
        <p:spPr>
          <a:xfrm>
            <a:off x="914400" y="435254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3</a:t>
            </a:r>
            <a:endParaRPr lang="en-US" sz="1700" dirty="0"/>
          </a:p>
        </p:txBody>
      </p:sp>
      <p:sp>
        <p:nvSpPr>
          <p:cNvPr id="17" name="Text 14"/>
          <p:cNvSpPr/>
          <p:nvPr/>
        </p:nvSpPr>
        <p:spPr>
          <a:xfrm>
            <a:off x="1600200" y="4169664"/>
            <a:ext cx="9509760" cy="868680"/>
          </a:xfrm>
          <a:prstGeom prst="rect">
            <a:avLst/>
          </a:prstGeom>
          <a:noFill/>
          <a:ln/>
        </p:spPr>
        <p:txBody>
          <a:bodyPr wrap="square" lIns="0" tIns="0" rIns="0" bIns="0" rtlCol="0" anchor="ctr"/>
          <a:lstStyle/>
          <a:p>
            <a:pPr marL="0" indent="0">
              <a:lnSpc>
                <a:spcPct val="120000"/>
              </a:lnSpc>
              <a:buNone/>
            </a:pPr>
            <a:r>
              <a:rPr lang="en-US" sz="1500" dirty="0">
                <a:solidFill>
                  <a:srgbClr val="1A1A1A"/>
                </a:solidFill>
                <a:latin typeface="Montserrat" pitchFamily="34" charset="0"/>
                <a:ea typeface="Montserrat" pitchFamily="34" charset="-122"/>
                <a:cs typeface="Montserrat" pitchFamily="34" charset="-120"/>
              </a:rPr>
              <a:t>Starving the new business of resources, or starving the old one to fund it</a:t>
            </a:r>
            <a:endParaRPr lang="en-US" sz="1500" dirty="0"/>
          </a:p>
        </p:txBody>
      </p:sp>
      <p:sp>
        <p:nvSpPr>
          <p:cNvPr id="18" name="Shape 15"/>
          <p:cNvSpPr/>
          <p:nvPr/>
        </p:nvSpPr>
        <p:spPr>
          <a:xfrm>
            <a:off x="731520" y="5157216"/>
            <a:ext cx="10698480" cy="868680"/>
          </a:xfrm>
          <a:prstGeom prst="roundRect">
            <a:avLst>
              <a:gd name="adj" fmla="val 8421"/>
            </a:avLst>
          </a:prstGeom>
          <a:solidFill>
            <a:srgbClr val="FFFFFF">
              <a:alpha val="70000"/>
            </a:srgbClr>
          </a:solidFill>
          <a:ln/>
        </p:spPr>
      </p:sp>
      <p:sp>
        <p:nvSpPr>
          <p:cNvPr id="19" name="Shape 16"/>
          <p:cNvSpPr/>
          <p:nvPr/>
        </p:nvSpPr>
        <p:spPr>
          <a:xfrm>
            <a:off x="914400" y="5340096"/>
            <a:ext cx="457200" cy="457200"/>
          </a:xfrm>
          <a:prstGeom prst="ellipse">
            <a:avLst/>
          </a:prstGeom>
          <a:solidFill>
            <a:srgbClr val="B20E38"/>
          </a:solidFill>
          <a:ln/>
        </p:spPr>
      </p:sp>
      <p:sp>
        <p:nvSpPr>
          <p:cNvPr id="20" name="Text 17"/>
          <p:cNvSpPr/>
          <p:nvPr/>
        </p:nvSpPr>
        <p:spPr>
          <a:xfrm>
            <a:off x="914400" y="534009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4</a:t>
            </a:r>
            <a:endParaRPr lang="en-US" sz="1700" dirty="0"/>
          </a:p>
        </p:txBody>
      </p:sp>
      <p:sp>
        <p:nvSpPr>
          <p:cNvPr id="21" name="Text 18"/>
          <p:cNvSpPr/>
          <p:nvPr/>
        </p:nvSpPr>
        <p:spPr>
          <a:xfrm>
            <a:off x="1600200" y="5157216"/>
            <a:ext cx="9509760" cy="868680"/>
          </a:xfrm>
          <a:prstGeom prst="rect">
            <a:avLst/>
          </a:prstGeom>
          <a:noFill/>
          <a:ln/>
        </p:spPr>
        <p:txBody>
          <a:bodyPr wrap="square" lIns="0" tIns="0" rIns="0" bIns="0" rtlCol="0" anchor="ctr"/>
          <a:lstStyle/>
          <a:p>
            <a:pPr marL="0" indent="0">
              <a:lnSpc>
                <a:spcPct val="120000"/>
              </a:lnSpc>
              <a:buNone/>
            </a:pPr>
            <a:r>
              <a:rPr lang="en-US" sz="1500" dirty="0">
                <a:solidFill>
                  <a:srgbClr val="1A1A1A"/>
                </a:solidFill>
                <a:latin typeface="Montserrat" pitchFamily="34" charset="0"/>
                <a:ea typeface="Montserrat" pitchFamily="34" charset="-122"/>
                <a:cs typeface="Montserrat" pitchFamily="34" charset="-120"/>
              </a:rPr>
              <a:t>No patience, expecting quick payback in a business that needs years to mature</a:t>
            </a:r>
            <a:endParaRPr lang="en-US" sz="1500" dirty="0"/>
          </a:p>
        </p:txBody>
      </p:sp>
      <p:sp>
        <p:nvSpPr>
          <p:cNvPr id="22" name="Text 1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6 / 15</a:t>
            </a:r>
            <a:endParaRPr lang="en-US" sz="1600" dirty="0"/>
          </a:p>
        </p:txBody>
      </p:sp>
    </p:spTree>
    <p:extLst>
      <p:ext uri="{BB962C8B-B14F-4D97-AF65-F5344CB8AC3E}">
        <p14:creationId xmlns:p14="http://schemas.microsoft.com/office/powerpoint/2010/main" val="128276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Related vs. Unrelated Diversification</a:t>
            </a:r>
            <a:endParaRPr lang="en-US" sz="3400" dirty="0"/>
          </a:p>
        </p:txBody>
      </p:sp>
      <p:sp>
        <p:nvSpPr>
          <p:cNvPr id="6" name="Shape 3"/>
          <p:cNvSpPr/>
          <p:nvPr/>
        </p:nvSpPr>
        <p:spPr>
          <a:xfrm>
            <a:off x="731520" y="2103120"/>
            <a:ext cx="5120640" cy="3749040"/>
          </a:xfrm>
          <a:prstGeom prst="roundRect">
            <a:avLst>
              <a:gd name="adj" fmla="val 1951"/>
            </a:avLst>
          </a:prstGeom>
          <a:solidFill>
            <a:srgbClr val="FFFFFF">
              <a:alpha val="70000"/>
            </a:srgbClr>
          </a:solidFill>
          <a:ln/>
        </p:spPr>
      </p:sp>
      <p:sp>
        <p:nvSpPr>
          <p:cNvPr id="7" name="Text 4"/>
          <p:cNvSpPr/>
          <p:nvPr/>
        </p:nvSpPr>
        <p:spPr>
          <a:xfrm>
            <a:off x="1005840" y="233172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Related</a:t>
            </a:r>
            <a:endParaRPr lang="en-US" sz="1900" dirty="0"/>
          </a:p>
        </p:txBody>
      </p:sp>
      <p:sp>
        <p:nvSpPr>
          <p:cNvPr id="8" name="Text 5"/>
          <p:cNvSpPr/>
          <p:nvPr/>
        </p:nvSpPr>
        <p:spPr>
          <a:xfrm>
            <a:off x="1005840" y="2880360"/>
            <a:ext cx="4572000" cy="2743200"/>
          </a:xfrm>
          <a:prstGeom prst="rect">
            <a:avLst/>
          </a:prstGeom>
          <a:noFill/>
          <a:ln/>
        </p:spPr>
        <p:txBody>
          <a:bodyPr wrap="square" lIns="0" tIns="0" rIns="0" bIns="0" rtlCol="0" anchor="ctr"/>
          <a:lstStyle/>
          <a:p>
            <a:pPr marL="0" indent="0">
              <a:lnSpc>
                <a:spcPct val="140000"/>
              </a:lnSpc>
              <a:buNone/>
            </a:pPr>
            <a:r>
              <a:rPr lang="en-US" sz="1450" dirty="0">
                <a:solidFill>
                  <a:srgbClr val="1A1A1A"/>
                </a:solidFill>
                <a:latin typeface="Montserrat" pitchFamily="34" charset="0"/>
                <a:ea typeface="Montserrat" pitchFamily="34" charset="-122"/>
                <a:cs typeface="Montserrat" pitchFamily="34" charset="-120"/>
              </a:rPr>
              <a:t>.</a:t>
            </a:r>
            <a:endParaRPr lang="en-US" sz="1450" dirty="0"/>
          </a:p>
        </p:txBody>
      </p:sp>
      <p:sp>
        <p:nvSpPr>
          <p:cNvPr id="9" name="Shape 6"/>
          <p:cNvSpPr/>
          <p:nvPr/>
        </p:nvSpPr>
        <p:spPr>
          <a:xfrm>
            <a:off x="6172200" y="2103120"/>
            <a:ext cx="5120640" cy="3749040"/>
          </a:xfrm>
          <a:prstGeom prst="roundRect">
            <a:avLst>
              <a:gd name="adj" fmla="val 1951"/>
            </a:avLst>
          </a:prstGeom>
          <a:solidFill>
            <a:srgbClr val="FFFFFF">
              <a:alpha val="70000"/>
            </a:srgbClr>
          </a:solidFill>
          <a:ln/>
        </p:spPr>
      </p:sp>
      <p:sp>
        <p:nvSpPr>
          <p:cNvPr id="10" name="Text 7"/>
          <p:cNvSpPr/>
          <p:nvPr/>
        </p:nvSpPr>
        <p:spPr>
          <a:xfrm>
            <a:off x="6446520" y="233172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Unrelated</a:t>
            </a:r>
            <a:endParaRPr lang="en-US" sz="1900" dirty="0"/>
          </a:p>
        </p:txBody>
      </p:sp>
      <p:sp>
        <p:nvSpPr>
          <p:cNvPr id="11" name="Text 8"/>
          <p:cNvSpPr/>
          <p:nvPr/>
        </p:nvSpPr>
        <p:spPr>
          <a:xfrm>
            <a:off x="6446520" y="2880360"/>
            <a:ext cx="4572000" cy="2743200"/>
          </a:xfrm>
          <a:prstGeom prst="rect">
            <a:avLst/>
          </a:prstGeom>
          <a:noFill/>
          <a:ln/>
        </p:spPr>
        <p:txBody>
          <a:bodyPr wrap="square" lIns="0" tIns="0" rIns="0" bIns="0" rtlCol="0" anchor="ctr"/>
          <a:lstStyle/>
          <a:p>
            <a:pPr marL="0" indent="0">
              <a:lnSpc>
                <a:spcPct val="140000"/>
              </a:lnSpc>
              <a:buNone/>
            </a:pPr>
            <a:endParaRPr lang="en-US" sz="1450" dirty="0"/>
          </a:p>
        </p:txBody>
      </p:sp>
      <p:sp>
        <p:nvSpPr>
          <p:cNvPr id="12" name="Text 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15</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Related vs. Unrelated Diversification</a:t>
            </a:r>
            <a:endParaRPr lang="en-US" sz="3400" dirty="0"/>
          </a:p>
        </p:txBody>
      </p:sp>
      <p:sp>
        <p:nvSpPr>
          <p:cNvPr id="6" name="Shape 3"/>
          <p:cNvSpPr/>
          <p:nvPr/>
        </p:nvSpPr>
        <p:spPr>
          <a:xfrm>
            <a:off x="731520" y="2103120"/>
            <a:ext cx="5120640" cy="3749040"/>
          </a:xfrm>
          <a:prstGeom prst="roundRect">
            <a:avLst>
              <a:gd name="adj" fmla="val 1951"/>
            </a:avLst>
          </a:prstGeom>
          <a:solidFill>
            <a:srgbClr val="FFFFFF">
              <a:alpha val="70000"/>
            </a:srgbClr>
          </a:solidFill>
          <a:ln/>
        </p:spPr>
      </p:sp>
      <p:sp>
        <p:nvSpPr>
          <p:cNvPr id="7" name="Text 4"/>
          <p:cNvSpPr/>
          <p:nvPr/>
        </p:nvSpPr>
        <p:spPr>
          <a:xfrm>
            <a:off x="1005840" y="233172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Related</a:t>
            </a:r>
            <a:endParaRPr lang="en-US" sz="1900" dirty="0"/>
          </a:p>
        </p:txBody>
      </p:sp>
      <p:sp>
        <p:nvSpPr>
          <p:cNvPr id="8" name="Text 5"/>
          <p:cNvSpPr/>
          <p:nvPr/>
        </p:nvSpPr>
        <p:spPr>
          <a:xfrm>
            <a:off x="1005840" y="2880360"/>
            <a:ext cx="4572000" cy="2743200"/>
          </a:xfrm>
          <a:prstGeom prst="rect">
            <a:avLst/>
          </a:prstGeom>
          <a:noFill/>
          <a:ln/>
        </p:spPr>
        <p:txBody>
          <a:bodyPr wrap="square" lIns="0" tIns="0" rIns="0" bIns="0" rtlCol="0" anchor="ctr"/>
          <a:lstStyle/>
          <a:p>
            <a:pPr marL="0" indent="0">
              <a:lnSpc>
                <a:spcPct val="140000"/>
              </a:lnSpc>
              <a:buNone/>
            </a:pPr>
            <a:r>
              <a:rPr lang="en-US" sz="2000" dirty="0">
                <a:solidFill>
                  <a:srgbClr val="1A1A1A"/>
                </a:solidFill>
                <a:latin typeface="Montserrat" pitchFamily="34" charset="0"/>
                <a:ea typeface="Montserrat" pitchFamily="34" charset="-122"/>
                <a:cs typeface="Montserrat" pitchFamily="34" charset="-120"/>
              </a:rPr>
              <a:t>The new business shares something real with the old one, a customer base, a distribution network, a brand, or a raw material. There is a genuine synergy to capture.</a:t>
            </a:r>
            <a:endParaRPr lang="en-US" sz="2000" dirty="0"/>
          </a:p>
        </p:txBody>
      </p:sp>
      <p:sp>
        <p:nvSpPr>
          <p:cNvPr id="9" name="Shape 6"/>
          <p:cNvSpPr/>
          <p:nvPr/>
        </p:nvSpPr>
        <p:spPr>
          <a:xfrm>
            <a:off x="6172200" y="2103120"/>
            <a:ext cx="5120640" cy="3749040"/>
          </a:xfrm>
          <a:prstGeom prst="roundRect">
            <a:avLst>
              <a:gd name="adj" fmla="val 1951"/>
            </a:avLst>
          </a:prstGeom>
          <a:solidFill>
            <a:srgbClr val="FFFFFF">
              <a:alpha val="70000"/>
            </a:srgbClr>
          </a:solidFill>
          <a:ln/>
        </p:spPr>
      </p:sp>
      <p:sp>
        <p:nvSpPr>
          <p:cNvPr id="10" name="Text 7"/>
          <p:cNvSpPr/>
          <p:nvPr/>
        </p:nvSpPr>
        <p:spPr>
          <a:xfrm>
            <a:off x="6446520" y="233172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Unrelated</a:t>
            </a:r>
            <a:endParaRPr lang="en-US" sz="1900" dirty="0"/>
          </a:p>
        </p:txBody>
      </p:sp>
      <p:sp>
        <p:nvSpPr>
          <p:cNvPr id="11" name="Text 8"/>
          <p:cNvSpPr/>
          <p:nvPr/>
        </p:nvSpPr>
        <p:spPr>
          <a:xfrm>
            <a:off x="6446520" y="2880360"/>
            <a:ext cx="4572000" cy="2743200"/>
          </a:xfrm>
          <a:prstGeom prst="rect">
            <a:avLst/>
          </a:prstGeom>
          <a:noFill/>
          <a:ln/>
        </p:spPr>
        <p:txBody>
          <a:bodyPr wrap="square" lIns="0" tIns="0" rIns="0" bIns="0" rtlCol="0" anchor="ctr"/>
          <a:lstStyle/>
          <a:p>
            <a:pPr marL="0" indent="0">
              <a:lnSpc>
                <a:spcPct val="140000"/>
              </a:lnSpc>
              <a:buNone/>
            </a:pPr>
            <a:r>
              <a:rPr lang="en-US" sz="2000" dirty="0">
                <a:solidFill>
                  <a:srgbClr val="1A1A1A"/>
                </a:solidFill>
                <a:latin typeface="Montserrat" pitchFamily="34" charset="0"/>
                <a:ea typeface="Montserrat" pitchFamily="34" charset="-122"/>
                <a:cs typeface="Montserrat" pitchFamily="34" charset="-120"/>
              </a:rPr>
              <a:t>The new business shares nothing operational with the old one. The only connection is shared ownership and capital. Riskier, but sometimes the only real opportunity available.</a:t>
            </a:r>
            <a:endParaRPr lang="en-US" sz="2000" dirty="0"/>
          </a:p>
        </p:txBody>
      </p:sp>
      <p:sp>
        <p:nvSpPr>
          <p:cNvPr id="12" name="Text 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3 / 15</a:t>
            </a:r>
            <a:endParaRPr lang="en-US" sz="1600" dirty="0"/>
          </a:p>
        </p:txBody>
      </p:sp>
    </p:spTree>
    <p:extLst>
      <p:ext uri="{BB962C8B-B14F-4D97-AF65-F5344CB8AC3E}">
        <p14:creationId xmlns:p14="http://schemas.microsoft.com/office/powerpoint/2010/main" val="17635913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Case Story · Part 1</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ITC: From Tobacco to a Different Kind of Company</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40280"/>
            <a:ext cx="10149840" cy="32004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1910</a:t>
            </a:r>
            <a:endParaRPr lang="en-US" sz="1500" dirty="0"/>
          </a:p>
        </p:txBody>
      </p:sp>
      <p:sp>
        <p:nvSpPr>
          <p:cNvPr id="8" name="Text 5"/>
          <p:cNvSpPr/>
          <p:nvPr/>
        </p:nvSpPr>
        <p:spPr>
          <a:xfrm>
            <a:off x="1005840" y="2560320"/>
            <a:ext cx="10149840" cy="777240"/>
          </a:xfrm>
          <a:prstGeom prst="rect">
            <a:avLst/>
          </a:prstGeom>
          <a:noFill/>
          <a:ln/>
        </p:spPr>
        <p:txBody>
          <a:bodyPr wrap="square" lIns="0" tIns="0" rIns="0" bIns="0" rtlCol="0" anchor="ctr"/>
          <a:lstStyle/>
          <a:p>
            <a:pPr marL="0" indent="0">
              <a:lnSpc>
                <a:spcPct val="130000"/>
              </a:lnSpc>
              <a:buNone/>
            </a:pPr>
            <a:r>
              <a:rPr lang="en-US" sz="1550" dirty="0">
                <a:solidFill>
                  <a:srgbClr val="1A1A1A"/>
                </a:solidFill>
                <a:latin typeface="Montserrat" pitchFamily="34" charset="0"/>
                <a:ea typeface="Montserrat" pitchFamily="34" charset="-122"/>
                <a:cs typeface="Montserrat" pitchFamily="34" charset="-120"/>
              </a:rPr>
              <a:t>Founded as the Imperial Tobacco Company. For decades, cigarettes are essentially the entire business, and a formidable, high-margin one.</a:t>
            </a:r>
            <a:endParaRPr lang="en-US" sz="1550" dirty="0"/>
          </a:p>
        </p:txBody>
      </p:sp>
      <p:sp>
        <p:nvSpPr>
          <p:cNvPr id="9" name="Text 6"/>
          <p:cNvSpPr/>
          <p:nvPr/>
        </p:nvSpPr>
        <p:spPr>
          <a:xfrm>
            <a:off x="1005840" y="3429000"/>
            <a:ext cx="10149840" cy="32004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1970s–1990s</a:t>
            </a:r>
            <a:endParaRPr lang="en-US" sz="1500" dirty="0"/>
          </a:p>
        </p:txBody>
      </p:sp>
      <p:sp>
        <p:nvSpPr>
          <p:cNvPr id="10" name="Text 7"/>
          <p:cNvSpPr/>
          <p:nvPr/>
        </p:nvSpPr>
        <p:spPr>
          <a:xfrm>
            <a:off x="1005840" y="3749040"/>
            <a:ext cx="10149840" cy="1371600"/>
          </a:xfrm>
          <a:prstGeom prst="rect">
            <a:avLst/>
          </a:prstGeom>
          <a:noFill/>
          <a:ln/>
        </p:spPr>
        <p:txBody>
          <a:bodyPr wrap="square" lIns="0" tIns="0" rIns="0" bIns="0" rtlCol="0" anchor="ctr"/>
          <a:lstStyle/>
          <a:p>
            <a:pPr marL="0" indent="0">
              <a:lnSpc>
                <a:spcPct val="130000"/>
              </a:lnSpc>
              <a:buNone/>
            </a:pPr>
            <a:r>
              <a:rPr lang="en-US" sz="1500" dirty="0">
                <a:solidFill>
                  <a:srgbClr val="1A1A1A"/>
                </a:solidFill>
                <a:latin typeface="Montserrat" pitchFamily="34" charset="0"/>
                <a:ea typeface="Montserrat" pitchFamily="34" charset="-122"/>
                <a:cs typeface="Montserrat" pitchFamily="34" charset="-120"/>
              </a:rPr>
              <a:t>Facing growing regulatory pressure on tobacco, ITC begins diversifying, hotels (leveraging real estate and hospitality skills adjacent to its existing operations), and paperboards (an input it already understood, since cigarette packaging needs paper).</a:t>
            </a:r>
            <a:endParaRPr lang="en-US" sz="1500" dirty="0"/>
          </a:p>
        </p:txBody>
      </p:sp>
      <p:sp>
        <p:nvSpPr>
          <p:cNvPr id="11" name="Text 8"/>
          <p:cNvSpPr/>
          <p:nvPr/>
        </p:nvSpPr>
        <p:spPr>
          <a:xfrm>
            <a:off x="1005840" y="5212080"/>
            <a:ext cx="10149840" cy="822960"/>
          </a:xfrm>
          <a:prstGeom prst="rect">
            <a:avLst/>
          </a:prstGeom>
          <a:noFill/>
          <a:ln/>
        </p:spPr>
        <p:txBody>
          <a:bodyPr wrap="square" lIns="0" tIns="0" rIns="0" bIns="0" rtlCol="0" anchor="ctr"/>
          <a:lstStyle/>
          <a:p>
            <a:pPr marL="0" indent="0">
              <a:lnSpc>
                <a:spcPct val="130000"/>
              </a:lnSpc>
              <a:buNone/>
            </a:pPr>
            <a:r>
              <a:rPr lang="en-US" sz="1500" i="1" dirty="0">
                <a:solidFill>
                  <a:srgbClr val="8A6A55"/>
                </a:solidFill>
                <a:latin typeface="Montserrat" pitchFamily="34" charset="0"/>
                <a:ea typeface="Montserrat" pitchFamily="34" charset="-122"/>
                <a:cs typeface="Montserrat" pitchFamily="34" charset="-120"/>
              </a:rPr>
              <a:t>Both of these are Related diversification, built on skills or inputs ITC already had a genuine claim to.</a:t>
            </a:r>
            <a:endParaRPr lang="en-US" sz="1500" dirty="0"/>
          </a:p>
        </p:txBody>
      </p:sp>
      <p:sp>
        <p:nvSpPr>
          <p:cNvPr id="12" name="Text 9"/>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4 / 15</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Case Story · Part 2</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ITC: The FMCG Bet</a:t>
            </a:r>
            <a:endParaRPr lang="en-US" sz="3400" dirty="0"/>
          </a:p>
        </p:txBody>
      </p:sp>
      <p:sp>
        <p:nvSpPr>
          <p:cNvPr id="6" name="Shape 3"/>
          <p:cNvSpPr/>
          <p:nvPr/>
        </p:nvSpPr>
        <p:spPr>
          <a:xfrm>
            <a:off x="731520" y="2011680"/>
            <a:ext cx="10698480" cy="4114800"/>
          </a:xfrm>
          <a:prstGeom prst="roundRect">
            <a:avLst>
              <a:gd name="adj" fmla="val 1778"/>
            </a:avLst>
          </a:prstGeom>
          <a:solidFill>
            <a:srgbClr val="FFFFFF">
              <a:alpha val="70000"/>
            </a:srgbClr>
          </a:solidFill>
          <a:ln/>
        </p:spPr>
      </p:sp>
      <p:sp>
        <p:nvSpPr>
          <p:cNvPr id="7" name="Text 4"/>
          <p:cNvSpPr/>
          <p:nvPr/>
        </p:nvSpPr>
        <p:spPr>
          <a:xfrm>
            <a:off x="1005840" y="2240280"/>
            <a:ext cx="10149840" cy="32004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2000s onward</a:t>
            </a:r>
            <a:endParaRPr lang="en-US" sz="1500" dirty="0"/>
          </a:p>
        </p:txBody>
      </p:sp>
      <p:sp>
        <p:nvSpPr>
          <p:cNvPr id="8" name="Text 5"/>
          <p:cNvSpPr/>
          <p:nvPr/>
        </p:nvSpPr>
        <p:spPr>
          <a:xfrm>
            <a:off x="1005840" y="2560320"/>
            <a:ext cx="10149840" cy="1188720"/>
          </a:xfrm>
          <a:prstGeom prst="rect">
            <a:avLst/>
          </a:prstGeom>
          <a:noFill/>
          <a:ln/>
        </p:spPr>
        <p:txBody>
          <a:bodyPr wrap="square" lIns="0" tIns="0" rIns="0" bIns="0" rtlCol="0" anchor="ctr"/>
          <a:lstStyle/>
          <a:p>
            <a:pPr marL="0" indent="0">
              <a:lnSpc>
                <a:spcPct val="130000"/>
              </a:lnSpc>
              <a:buNone/>
            </a:pPr>
            <a:r>
              <a:rPr lang="en-US" sz="1550" dirty="0">
                <a:solidFill>
                  <a:srgbClr val="1A1A1A"/>
                </a:solidFill>
                <a:latin typeface="Montserrat" pitchFamily="34" charset="0"/>
                <a:ea typeface="Montserrat" pitchFamily="34" charset="-122"/>
                <a:cs typeface="Montserrat" pitchFamily="34" charset="-120"/>
              </a:rPr>
              <a:t>ITC launches into packaged foods and personal care, Aashirvaad atta, Sunfeast biscuits, Bingo chips, Fiama and Engage personal care. A genuinely new customer relationship, daily household purchases, far from cigarettes.</a:t>
            </a:r>
            <a:endParaRPr lang="en-US" sz="1550" dirty="0"/>
          </a:p>
        </p:txBody>
      </p:sp>
      <p:sp>
        <p:nvSpPr>
          <p:cNvPr id="9" name="Shape 6"/>
          <p:cNvSpPr/>
          <p:nvPr/>
        </p:nvSpPr>
        <p:spPr>
          <a:xfrm>
            <a:off x="1005840" y="3931920"/>
            <a:ext cx="10149840" cy="1737360"/>
          </a:xfrm>
          <a:prstGeom prst="roundRect">
            <a:avLst>
              <a:gd name="adj" fmla="val 4211"/>
            </a:avLst>
          </a:prstGeom>
          <a:solidFill>
            <a:srgbClr val="B20E38"/>
          </a:solidFill>
          <a:ln/>
        </p:spPr>
      </p:sp>
      <p:sp>
        <p:nvSpPr>
          <p:cNvPr id="10" name="Text 7"/>
          <p:cNvSpPr/>
          <p:nvPr/>
        </p:nvSpPr>
        <p:spPr>
          <a:xfrm>
            <a:off x="1280160" y="3931920"/>
            <a:ext cx="9601200" cy="1737360"/>
          </a:xfrm>
          <a:prstGeom prst="rect">
            <a:avLst/>
          </a:prstGeom>
          <a:noFill/>
          <a:ln/>
        </p:spPr>
        <p:txBody>
          <a:bodyPr wrap="square" lIns="0" tIns="0" rIns="0" bIns="0" rtlCol="0" anchor="ctr"/>
          <a:lstStyle/>
          <a:p>
            <a:pPr marL="0" indent="0">
              <a:lnSpc>
                <a:spcPct val="130000"/>
              </a:lnSpc>
              <a:buNone/>
            </a:pPr>
            <a:r>
              <a:rPr lang="en-US" sz="1550" b="1" i="1" dirty="0">
                <a:solidFill>
                  <a:srgbClr val="FFFFFF"/>
                </a:solidFill>
                <a:latin typeface="Montserrat" pitchFamily="34" charset="0"/>
                <a:ea typeface="Montserrat" pitchFamily="34" charset="-122"/>
                <a:cs typeface="Montserrat" pitchFamily="34" charset="-120"/>
              </a:rPr>
              <a:t>The synergy here wasn't a shared product, it was ITC's existing distribution reach into Indian retail, and its financial strength from cigarettes funding years of FMCG losses before the business turned profitable.</a:t>
            </a:r>
            <a:endParaRPr lang="en-US" sz="1550" dirty="0"/>
          </a:p>
        </p:txBody>
      </p:sp>
      <p:sp>
        <p:nvSpPr>
          <p:cNvPr id="11" name="Text 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5 / 15</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The Next Problem</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Once You've Diversified, a New Problem Appears</a:t>
            </a:r>
            <a:endParaRPr lang="en-US" sz="3400" dirty="0"/>
          </a:p>
        </p:txBody>
      </p:sp>
      <p:sp>
        <p:nvSpPr>
          <p:cNvPr id="6" name="Shape 3"/>
          <p:cNvSpPr/>
          <p:nvPr/>
        </p:nvSpPr>
        <p:spPr>
          <a:xfrm>
            <a:off x="731520" y="2286000"/>
            <a:ext cx="10698480" cy="3291840"/>
          </a:xfrm>
          <a:prstGeom prst="roundRect">
            <a:avLst>
              <a:gd name="adj" fmla="val 2778"/>
            </a:avLst>
          </a:prstGeom>
          <a:solidFill>
            <a:srgbClr val="B20E38"/>
          </a:solidFill>
          <a:ln/>
        </p:spPr>
      </p:sp>
      <p:sp>
        <p:nvSpPr>
          <p:cNvPr id="7" name="Text 4"/>
          <p:cNvSpPr/>
          <p:nvPr/>
        </p:nvSpPr>
        <p:spPr>
          <a:xfrm>
            <a:off x="1051560" y="2286000"/>
            <a:ext cx="10058400" cy="3291840"/>
          </a:xfrm>
          <a:prstGeom prst="rect">
            <a:avLst/>
          </a:prstGeom>
          <a:noFill/>
          <a:ln/>
        </p:spPr>
        <p:txBody>
          <a:bodyPr wrap="square" lIns="0" tIns="0" rIns="0" bIns="0" rtlCol="0" anchor="ctr"/>
          <a:lstStyle/>
          <a:p>
            <a:pPr marL="0" indent="0" algn="ctr">
              <a:lnSpc>
                <a:spcPct val="140000"/>
              </a:lnSpc>
              <a:buNone/>
            </a:pPr>
            <a:r>
              <a:rPr lang="en-US" sz="1800" b="1" i="1" dirty="0">
                <a:solidFill>
                  <a:srgbClr val="FFFFFF"/>
                </a:solidFill>
                <a:latin typeface="Montserrat" pitchFamily="34" charset="0"/>
                <a:ea typeface="Montserrat" pitchFamily="34" charset="-122"/>
                <a:cs typeface="Montserrat" pitchFamily="34" charset="-120"/>
              </a:rPr>
              <a:t>ITC today runs cigarettes, hotels, paperboards, FMCG, and agri-business, all at once. Each needs a different amount of cash, attention, and patience. How do you decide where to invest more, and where to stop investing? That's what portfolio planning tools exist to answer.</a:t>
            </a:r>
            <a:endParaRPr lang="en-US" sz="1800" dirty="0"/>
          </a:p>
        </p:txBody>
      </p:sp>
      <p:sp>
        <p:nvSpPr>
          <p:cNvPr id="8" name="Text 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7 / 15</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Introducing the BCG Matrix</a:t>
            </a:r>
            <a:endParaRPr lang="en-US" sz="3400" dirty="0"/>
          </a:p>
        </p:txBody>
      </p:sp>
      <p:sp>
        <p:nvSpPr>
          <p:cNvPr id="9" name="Text 6"/>
          <p:cNvSpPr/>
          <p:nvPr/>
        </p:nvSpPr>
        <p:spPr>
          <a:xfrm>
            <a:off x="1005840" y="4480560"/>
            <a:ext cx="10149840" cy="1188720"/>
          </a:xfrm>
          <a:prstGeom prst="rect">
            <a:avLst/>
          </a:prstGeom>
          <a:noFill/>
          <a:ln/>
        </p:spPr>
        <p:txBody>
          <a:bodyPr wrap="square" lIns="0" tIns="0" rIns="0" bIns="0" rtlCol="0" anchor="ctr"/>
          <a:lstStyle/>
          <a:p>
            <a:pPr marL="0" indent="0">
              <a:lnSpc>
                <a:spcPct val="130000"/>
              </a:lnSpc>
              <a:buNone/>
            </a:pPr>
            <a:endParaRPr lang="en-US" sz="155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8 / 15</a:t>
            </a:r>
            <a:endParaRPr lang="en-US" sz="1600" dirty="0"/>
          </a:p>
        </p:txBody>
      </p:sp>
    </p:spTree>
    <p:extLst>
      <p:ext uri="{BB962C8B-B14F-4D97-AF65-F5344CB8AC3E}">
        <p14:creationId xmlns:p14="http://schemas.microsoft.com/office/powerpoint/2010/main" val="374250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Introducing the BCG Matrix</a:t>
            </a:r>
            <a:endParaRPr lang="en-US" sz="3400" dirty="0"/>
          </a:p>
        </p:txBody>
      </p:sp>
      <p:sp>
        <p:nvSpPr>
          <p:cNvPr id="6" name="Shape 3"/>
          <p:cNvSpPr/>
          <p:nvPr/>
        </p:nvSpPr>
        <p:spPr>
          <a:xfrm>
            <a:off x="731520" y="2028305"/>
            <a:ext cx="10698480" cy="4114800"/>
          </a:xfrm>
          <a:prstGeom prst="roundRect">
            <a:avLst>
              <a:gd name="adj" fmla="val 1778"/>
            </a:avLst>
          </a:prstGeom>
          <a:solidFill>
            <a:srgbClr val="FFFFFF">
              <a:alpha val="70000"/>
            </a:srgbClr>
          </a:solidFill>
          <a:ln/>
        </p:spPr>
        <p:txBody>
          <a:bodyPr/>
          <a:lstStyle/>
          <a:p>
            <a:endParaRPr lang="en-IN" dirty="0"/>
          </a:p>
        </p:txBody>
      </p:sp>
      <p:sp>
        <p:nvSpPr>
          <p:cNvPr id="7" name="Text 4"/>
          <p:cNvSpPr/>
          <p:nvPr/>
        </p:nvSpPr>
        <p:spPr>
          <a:xfrm>
            <a:off x="1005840" y="2286000"/>
            <a:ext cx="10149840" cy="1097280"/>
          </a:xfrm>
          <a:prstGeom prst="rect">
            <a:avLst/>
          </a:prstGeom>
          <a:noFill/>
          <a:ln/>
        </p:spPr>
        <p:txBody>
          <a:bodyPr wrap="square" lIns="0" tIns="0" rIns="0" bIns="0" rtlCol="0" anchor="ctr"/>
          <a:lstStyle/>
          <a:p>
            <a:pPr marL="0" indent="0">
              <a:lnSpc>
                <a:spcPct val="135000"/>
              </a:lnSpc>
              <a:buNone/>
            </a:pPr>
            <a:r>
              <a:rPr lang="en-US" sz="2400" dirty="0">
                <a:solidFill>
                  <a:srgbClr val="1A1A1A"/>
                </a:solidFill>
                <a:latin typeface="Montserrat" pitchFamily="34" charset="0"/>
                <a:ea typeface="Montserrat" pitchFamily="34" charset="-122"/>
                <a:cs typeface="Montserrat" pitchFamily="34" charset="-120"/>
              </a:rPr>
              <a:t>Developed by the Boston Consulting Group in 1970. It plots every business unit on two axes: how fast is this market growing, and how strong is our share within it?</a:t>
            </a:r>
            <a:endParaRPr lang="en-US" sz="2400" dirty="0"/>
          </a:p>
        </p:txBody>
      </p:sp>
      <p:sp>
        <p:nvSpPr>
          <p:cNvPr id="8" name="Text 5"/>
          <p:cNvSpPr/>
          <p:nvPr/>
        </p:nvSpPr>
        <p:spPr>
          <a:xfrm>
            <a:off x="1005840" y="4160520"/>
            <a:ext cx="10149840" cy="914400"/>
          </a:xfrm>
          <a:prstGeom prst="rect">
            <a:avLst/>
          </a:prstGeom>
          <a:noFill/>
          <a:ln/>
        </p:spPr>
        <p:txBody>
          <a:bodyPr wrap="square" lIns="0" tIns="0" rIns="0" bIns="0" rtlCol="0" anchor="ctr"/>
          <a:lstStyle/>
          <a:p>
            <a:pPr marL="0" indent="0">
              <a:lnSpc>
                <a:spcPct val="135000"/>
              </a:lnSpc>
              <a:buNone/>
            </a:pPr>
            <a:r>
              <a:rPr lang="en-US" sz="2400" dirty="0">
                <a:solidFill>
                  <a:srgbClr val="1A1A1A"/>
                </a:solidFill>
                <a:latin typeface="Montserrat" pitchFamily="34" charset="0"/>
                <a:ea typeface="Montserrat" pitchFamily="34" charset="-122"/>
                <a:cs typeface="Montserrat" pitchFamily="34" charset="-120"/>
              </a:rPr>
              <a:t>Market growth up top, market share left to right, four resulting quadrants, each with a memorable name and a very different job to do for the company.</a:t>
            </a:r>
            <a:endParaRPr lang="en-US" sz="2400" dirty="0"/>
          </a:p>
        </p:txBody>
      </p:sp>
      <p:sp>
        <p:nvSpPr>
          <p:cNvPr id="9" name="Text 6"/>
          <p:cNvSpPr/>
          <p:nvPr/>
        </p:nvSpPr>
        <p:spPr>
          <a:xfrm>
            <a:off x="1005840" y="4480560"/>
            <a:ext cx="10149840" cy="1188720"/>
          </a:xfrm>
          <a:prstGeom prst="rect">
            <a:avLst/>
          </a:prstGeom>
          <a:noFill/>
          <a:ln/>
        </p:spPr>
        <p:txBody>
          <a:bodyPr wrap="square" lIns="0" tIns="0" rIns="0" bIns="0" rtlCol="0" anchor="ctr"/>
          <a:lstStyle/>
          <a:p>
            <a:pPr marL="0" indent="0">
              <a:lnSpc>
                <a:spcPct val="130000"/>
              </a:lnSpc>
              <a:buNone/>
            </a:pPr>
            <a:endParaRPr lang="en-US" sz="155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8 / 15</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Four Quadrants</a:t>
            </a:r>
            <a:endParaRPr lang="en-US" sz="3400" dirty="0"/>
          </a:p>
        </p:txBody>
      </p:sp>
      <p:sp>
        <p:nvSpPr>
          <p:cNvPr id="6" name="Shape 3"/>
          <p:cNvSpPr/>
          <p:nvPr/>
        </p:nvSpPr>
        <p:spPr>
          <a:xfrm>
            <a:off x="731520" y="2194560"/>
            <a:ext cx="5120640" cy="1737360"/>
          </a:xfrm>
          <a:prstGeom prst="roundRect">
            <a:avLst>
              <a:gd name="adj" fmla="val 4211"/>
            </a:avLst>
          </a:prstGeom>
          <a:solidFill>
            <a:srgbClr val="FFFFFF">
              <a:alpha val="70000"/>
            </a:srgbClr>
          </a:solidFill>
          <a:ln/>
        </p:spPr>
      </p:sp>
      <p:sp>
        <p:nvSpPr>
          <p:cNvPr id="7" name="Text 4"/>
          <p:cNvSpPr/>
          <p:nvPr/>
        </p:nvSpPr>
        <p:spPr>
          <a:xfrm>
            <a:off x="960120" y="233172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Stars</a:t>
            </a:r>
            <a:endParaRPr lang="en-US" sz="1700" dirty="0"/>
          </a:p>
        </p:txBody>
      </p:sp>
      <p:sp>
        <p:nvSpPr>
          <p:cNvPr id="8" name="Text 5"/>
          <p:cNvSpPr/>
          <p:nvPr/>
        </p:nvSpPr>
        <p:spPr>
          <a:xfrm>
            <a:off x="960120" y="2834640"/>
            <a:ext cx="4663440" cy="1005840"/>
          </a:xfrm>
          <a:prstGeom prst="rect">
            <a:avLst/>
          </a:prstGeom>
          <a:noFill/>
          <a:ln/>
        </p:spPr>
        <p:txBody>
          <a:bodyPr wrap="square" lIns="0" tIns="0" rIns="0" bIns="0" rtlCol="0" anchor="ctr"/>
          <a:lstStyle/>
          <a:p>
            <a:pPr marL="0" indent="0">
              <a:lnSpc>
                <a:spcPct val="130000"/>
              </a:lnSpc>
              <a:buNone/>
            </a:pPr>
            <a:endParaRPr lang="en-US" sz="1400" dirty="0"/>
          </a:p>
        </p:txBody>
      </p:sp>
      <p:sp>
        <p:nvSpPr>
          <p:cNvPr id="9" name="Shape 6"/>
          <p:cNvSpPr/>
          <p:nvPr/>
        </p:nvSpPr>
        <p:spPr>
          <a:xfrm>
            <a:off x="6309360" y="2194560"/>
            <a:ext cx="5120640" cy="1737360"/>
          </a:xfrm>
          <a:prstGeom prst="roundRect">
            <a:avLst>
              <a:gd name="adj" fmla="val 4211"/>
            </a:avLst>
          </a:prstGeom>
          <a:solidFill>
            <a:srgbClr val="FFFFFF">
              <a:alpha val="70000"/>
            </a:srgbClr>
          </a:solidFill>
          <a:ln/>
        </p:spPr>
      </p:sp>
      <p:sp>
        <p:nvSpPr>
          <p:cNvPr id="10" name="Text 7"/>
          <p:cNvSpPr/>
          <p:nvPr/>
        </p:nvSpPr>
        <p:spPr>
          <a:xfrm>
            <a:off x="6537960" y="233172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Question Marks</a:t>
            </a:r>
            <a:endParaRPr lang="en-US" sz="1700" dirty="0"/>
          </a:p>
        </p:txBody>
      </p:sp>
      <p:sp>
        <p:nvSpPr>
          <p:cNvPr id="12" name="Shape 9"/>
          <p:cNvSpPr/>
          <p:nvPr/>
        </p:nvSpPr>
        <p:spPr>
          <a:xfrm>
            <a:off x="731520" y="4069080"/>
            <a:ext cx="5120640" cy="1737360"/>
          </a:xfrm>
          <a:prstGeom prst="roundRect">
            <a:avLst>
              <a:gd name="adj" fmla="val 4211"/>
            </a:avLst>
          </a:prstGeom>
          <a:solidFill>
            <a:srgbClr val="FFFFFF">
              <a:alpha val="70000"/>
            </a:srgbClr>
          </a:solidFill>
          <a:ln/>
        </p:spPr>
      </p:sp>
      <p:sp>
        <p:nvSpPr>
          <p:cNvPr id="13" name="Text 10"/>
          <p:cNvSpPr/>
          <p:nvPr/>
        </p:nvSpPr>
        <p:spPr>
          <a:xfrm>
            <a:off x="960120" y="420624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Cash Cows</a:t>
            </a:r>
            <a:endParaRPr lang="en-US" sz="1700" dirty="0"/>
          </a:p>
        </p:txBody>
      </p:sp>
      <p:sp>
        <p:nvSpPr>
          <p:cNvPr id="15" name="Shape 12"/>
          <p:cNvSpPr/>
          <p:nvPr/>
        </p:nvSpPr>
        <p:spPr>
          <a:xfrm>
            <a:off x="6309360" y="4069080"/>
            <a:ext cx="5120640" cy="1737360"/>
          </a:xfrm>
          <a:prstGeom prst="roundRect">
            <a:avLst>
              <a:gd name="adj" fmla="val 4211"/>
            </a:avLst>
          </a:prstGeom>
          <a:solidFill>
            <a:srgbClr val="FFFFFF">
              <a:alpha val="70000"/>
            </a:srgbClr>
          </a:solidFill>
          <a:ln/>
        </p:spPr>
      </p:sp>
      <p:sp>
        <p:nvSpPr>
          <p:cNvPr id="16" name="Text 13"/>
          <p:cNvSpPr/>
          <p:nvPr/>
        </p:nvSpPr>
        <p:spPr>
          <a:xfrm>
            <a:off x="6537960" y="420624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Dogs</a:t>
            </a:r>
            <a:endParaRPr lang="en-US" sz="170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9 / 15</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Four Quadrants</a:t>
            </a:r>
            <a:endParaRPr lang="en-US" sz="3400" dirty="0"/>
          </a:p>
        </p:txBody>
      </p:sp>
      <p:sp>
        <p:nvSpPr>
          <p:cNvPr id="6" name="Shape 3"/>
          <p:cNvSpPr/>
          <p:nvPr/>
        </p:nvSpPr>
        <p:spPr>
          <a:xfrm>
            <a:off x="731520" y="2194560"/>
            <a:ext cx="5120640" cy="1737360"/>
          </a:xfrm>
          <a:prstGeom prst="roundRect">
            <a:avLst>
              <a:gd name="adj" fmla="val 4211"/>
            </a:avLst>
          </a:prstGeom>
          <a:solidFill>
            <a:srgbClr val="FFFFFF">
              <a:alpha val="70000"/>
            </a:srgbClr>
          </a:solidFill>
          <a:ln/>
        </p:spPr>
      </p:sp>
      <p:sp>
        <p:nvSpPr>
          <p:cNvPr id="7" name="Text 4"/>
          <p:cNvSpPr/>
          <p:nvPr/>
        </p:nvSpPr>
        <p:spPr>
          <a:xfrm>
            <a:off x="960120" y="233172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Stars</a:t>
            </a:r>
            <a:endParaRPr lang="en-US" sz="1700" dirty="0"/>
          </a:p>
        </p:txBody>
      </p:sp>
      <p:sp>
        <p:nvSpPr>
          <p:cNvPr id="8" name="Text 5"/>
          <p:cNvSpPr/>
          <p:nvPr/>
        </p:nvSpPr>
        <p:spPr>
          <a:xfrm>
            <a:off x="960120" y="2834640"/>
            <a:ext cx="4663440" cy="1005840"/>
          </a:xfrm>
          <a:prstGeom prst="rect">
            <a:avLst/>
          </a:prstGeom>
          <a:noFill/>
          <a:ln/>
        </p:spPr>
        <p:txBody>
          <a:bodyPr wrap="square" lIns="0" tIns="0" rIns="0" bIns="0" rtlCol="0" anchor="ctr"/>
          <a:lstStyle/>
          <a:p>
            <a:pPr marL="0" indent="0">
              <a:lnSpc>
                <a:spcPct val="130000"/>
              </a:lnSpc>
              <a:buNone/>
            </a:pPr>
            <a:r>
              <a:rPr lang="en-US" sz="1400" dirty="0">
                <a:solidFill>
                  <a:srgbClr val="1A1A1A"/>
                </a:solidFill>
                <a:latin typeface="Montserrat" pitchFamily="34" charset="0"/>
                <a:ea typeface="Montserrat" pitchFamily="34" charset="-122"/>
                <a:cs typeface="Montserrat" pitchFamily="34" charset="-120"/>
              </a:rPr>
              <a:t>High growth, high share. Worth heavy investment.</a:t>
            </a:r>
            <a:endParaRPr lang="en-US" sz="1400" dirty="0"/>
          </a:p>
        </p:txBody>
      </p:sp>
      <p:sp>
        <p:nvSpPr>
          <p:cNvPr id="9" name="Shape 6"/>
          <p:cNvSpPr/>
          <p:nvPr/>
        </p:nvSpPr>
        <p:spPr>
          <a:xfrm>
            <a:off x="6309360" y="2194560"/>
            <a:ext cx="5120640" cy="1737360"/>
          </a:xfrm>
          <a:prstGeom prst="roundRect">
            <a:avLst>
              <a:gd name="adj" fmla="val 4211"/>
            </a:avLst>
          </a:prstGeom>
          <a:solidFill>
            <a:srgbClr val="FFFFFF">
              <a:alpha val="70000"/>
            </a:srgbClr>
          </a:solidFill>
          <a:ln/>
        </p:spPr>
      </p:sp>
      <p:sp>
        <p:nvSpPr>
          <p:cNvPr id="10" name="Text 7"/>
          <p:cNvSpPr/>
          <p:nvPr/>
        </p:nvSpPr>
        <p:spPr>
          <a:xfrm>
            <a:off x="6537960" y="233172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Question Marks</a:t>
            </a:r>
            <a:endParaRPr lang="en-US" sz="1700" dirty="0"/>
          </a:p>
        </p:txBody>
      </p:sp>
      <p:sp>
        <p:nvSpPr>
          <p:cNvPr id="11" name="Text 8"/>
          <p:cNvSpPr/>
          <p:nvPr/>
        </p:nvSpPr>
        <p:spPr>
          <a:xfrm>
            <a:off x="6537960" y="2834640"/>
            <a:ext cx="4663440" cy="1005840"/>
          </a:xfrm>
          <a:prstGeom prst="rect">
            <a:avLst/>
          </a:prstGeom>
          <a:noFill/>
          <a:ln/>
        </p:spPr>
        <p:txBody>
          <a:bodyPr wrap="square" lIns="0" tIns="0" rIns="0" bIns="0" rtlCol="0" anchor="ctr"/>
          <a:lstStyle/>
          <a:p>
            <a:pPr marL="0" indent="0">
              <a:lnSpc>
                <a:spcPct val="130000"/>
              </a:lnSpc>
              <a:buNone/>
            </a:pPr>
            <a:r>
              <a:rPr lang="en-US" sz="1400" dirty="0">
                <a:solidFill>
                  <a:srgbClr val="1A1A1A"/>
                </a:solidFill>
                <a:latin typeface="Montserrat" pitchFamily="34" charset="0"/>
                <a:ea typeface="Montserrat" pitchFamily="34" charset="-122"/>
                <a:cs typeface="Montserrat" pitchFamily="34" charset="-120"/>
              </a:rPr>
              <a:t>High growth, low share. Expensive gambles, could become Stars or fail.</a:t>
            </a:r>
            <a:endParaRPr lang="en-US" sz="1400" dirty="0"/>
          </a:p>
        </p:txBody>
      </p:sp>
      <p:sp>
        <p:nvSpPr>
          <p:cNvPr id="12" name="Shape 9"/>
          <p:cNvSpPr/>
          <p:nvPr/>
        </p:nvSpPr>
        <p:spPr>
          <a:xfrm>
            <a:off x="731520" y="4069080"/>
            <a:ext cx="5120640" cy="1737360"/>
          </a:xfrm>
          <a:prstGeom prst="roundRect">
            <a:avLst>
              <a:gd name="adj" fmla="val 4211"/>
            </a:avLst>
          </a:prstGeom>
          <a:solidFill>
            <a:srgbClr val="FFFFFF">
              <a:alpha val="70000"/>
            </a:srgbClr>
          </a:solidFill>
          <a:ln/>
        </p:spPr>
      </p:sp>
      <p:sp>
        <p:nvSpPr>
          <p:cNvPr id="13" name="Text 10"/>
          <p:cNvSpPr/>
          <p:nvPr/>
        </p:nvSpPr>
        <p:spPr>
          <a:xfrm>
            <a:off x="960120" y="420624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Cash Cows</a:t>
            </a:r>
            <a:endParaRPr lang="en-US" sz="1700" dirty="0"/>
          </a:p>
        </p:txBody>
      </p:sp>
      <p:sp>
        <p:nvSpPr>
          <p:cNvPr id="14" name="Text 11"/>
          <p:cNvSpPr/>
          <p:nvPr/>
        </p:nvSpPr>
        <p:spPr>
          <a:xfrm>
            <a:off x="960120" y="4709160"/>
            <a:ext cx="4663440" cy="1005840"/>
          </a:xfrm>
          <a:prstGeom prst="rect">
            <a:avLst/>
          </a:prstGeom>
          <a:noFill/>
          <a:ln/>
        </p:spPr>
        <p:txBody>
          <a:bodyPr wrap="square" lIns="0" tIns="0" rIns="0" bIns="0" rtlCol="0" anchor="ctr"/>
          <a:lstStyle/>
          <a:p>
            <a:pPr marL="0" indent="0">
              <a:lnSpc>
                <a:spcPct val="130000"/>
              </a:lnSpc>
              <a:buNone/>
            </a:pPr>
            <a:r>
              <a:rPr lang="en-US" sz="1400" dirty="0">
                <a:solidFill>
                  <a:srgbClr val="1A1A1A"/>
                </a:solidFill>
                <a:latin typeface="Montserrat" pitchFamily="34" charset="0"/>
                <a:ea typeface="Montserrat" pitchFamily="34" charset="-122"/>
                <a:cs typeface="Montserrat" pitchFamily="34" charset="-120"/>
              </a:rPr>
              <a:t>Low growth, high share. Fund everything else.</a:t>
            </a:r>
            <a:endParaRPr lang="en-US" sz="1400" dirty="0"/>
          </a:p>
        </p:txBody>
      </p:sp>
      <p:sp>
        <p:nvSpPr>
          <p:cNvPr id="15" name="Shape 12"/>
          <p:cNvSpPr/>
          <p:nvPr/>
        </p:nvSpPr>
        <p:spPr>
          <a:xfrm>
            <a:off x="6309360" y="4069080"/>
            <a:ext cx="5120640" cy="1737360"/>
          </a:xfrm>
          <a:prstGeom prst="roundRect">
            <a:avLst>
              <a:gd name="adj" fmla="val 4211"/>
            </a:avLst>
          </a:prstGeom>
          <a:solidFill>
            <a:srgbClr val="FFFFFF">
              <a:alpha val="70000"/>
            </a:srgbClr>
          </a:solidFill>
          <a:ln/>
        </p:spPr>
      </p:sp>
      <p:sp>
        <p:nvSpPr>
          <p:cNvPr id="16" name="Text 13"/>
          <p:cNvSpPr/>
          <p:nvPr/>
        </p:nvSpPr>
        <p:spPr>
          <a:xfrm>
            <a:off x="6537960" y="420624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Dogs</a:t>
            </a:r>
            <a:endParaRPr lang="en-US" sz="1700" dirty="0"/>
          </a:p>
        </p:txBody>
      </p:sp>
      <p:sp>
        <p:nvSpPr>
          <p:cNvPr id="17" name="Text 14"/>
          <p:cNvSpPr/>
          <p:nvPr/>
        </p:nvSpPr>
        <p:spPr>
          <a:xfrm>
            <a:off x="6537960" y="4709160"/>
            <a:ext cx="4663440" cy="1005840"/>
          </a:xfrm>
          <a:prstGeom prst="rect">
            <a:avLst/>
          </a:prstGeom>
          <a:noFill/>
          <a:ln/>
        </p:spPr>
        <p:txBody>
          <a:bodyPr wrap="square" lIns="0" tIns="0" rIns="0" bIns="0" rtlCol="0" anchor="ctr"/>
          <a:lstStyle/>
          <a:p>
            <a:pPr marL="0" indent="0">
              <a:lnSpc>
                <a:spcPct val="130000"/>
              </a:lnSpc>
              <a:buNone/>
            </a:pPr>
            <a:r>
              <a:rPr lang="en-US" sz="1400" dirty="0">
                <a:solidFill>
                  <a:srgbClr val="1A1A1A"/>
                </a:solidFill>
                <a:latin typeface="Montserrat" pitchFamily="34" charset="0"/>
                <a:ea typeface="Montserrat" pitchFamily="34" charset="-122"/>
                <a:cs typeface="Montserrat" pitchFamily="34" charset="-120"/>
              </a:rPr>
              <a:t>Low growth, low share. Usually candidates for retrenchment.</a:t>
            </a:r>
            <a:endParaRPr lang="en-US" sz="140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9 / 15</a:t>
            </a:r>
            <a:endParaRPr lang="en-US" sz="1600" dirty="0"/>
          </a:p>
        </p:txBody>
      </p:sp>
    </p:spTree>
    <p:extLst>
      <p:ext uri="{BB962C8B-B14F-4D97-AF65-F5344CB8AC3E}">
        <p14:creationId xmlns:p14="http://schemas.microsoft.com/office/powerpoint/2010/main" val="33811733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Core Concept</a:t>
            </a:r>
            <a:endParaRPr lang="en-US" sz="200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9 / 15</a:t>
            </a:r>
            <a:endParaRPr lang="en-US" sz="1600" dirty="0"/>
          </a:p>
        </p:txBody>
      </p:sp>
      <p:pic>
        <p:nvPicPr>
          <p:cNvPr id="6148" name="Picture 4" descr="What Is the BCG Matrix? Definition, Examples &amp; Strategy Guide">
            <a:extLst>
              <a:ext uri="{FF2B5EF4-FFF2-40B4-BE49-F238E27FC236}">
                <a16:creationId xmlns:a16="http://schemas.microsoft.com/office/drawing/2014/main" id="{A4F188DD-A073-4F7D-8B78-4E3C371762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 y="777240"/>
            <a:ext cx="11257799" cy="5686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8449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Applying It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Mapping ITC's Own Businesses</a:t>
            </a:r>
            <a:endParaRPr lang="en-US" sz="3400" dirty="0"/>
          </a:p>
        </p:txBody>
      </p:sp>
      <p:sp>
        <p:nvSpPr>
          <p:cNvPr id="6" name="Shape 3"/>
          <p:cNvSpPr/>
          <p:nvPr/>
        </p:nvSpPr>
        <p:spPr>
          <a:xfrm>
            <a:off x="731520" y="2103120"/>
            <a:ext cx="10698480" cy="1097280"/>
          </a:xfrm>
          <a:prstGeom prst="roundRect">
            <a:avLst>
              <a:gd name="adj" fmla="val 6667"/>
            </a:avLst>
          </a:prstGeom>
          <a:solidFill>
            <a:srgbClr val="FFFFFF">
              <a:alpha val="70000"/>
            </a:srgbClr>
          </a:solidFill>
          <a:ln/>
        </p:spPr>
      </p:sp>
      <p:sp>
        <p:nvSpPr>
          <p:cNvPr id="7" name="Text 4"/>
          <p:cNvSpPr/>
          <p:nvPr/>
        </p:nvSpPr>
        <p:spPr>
          <a:xfrm>
            <a:off x="960120" y="224028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Cigarettes</a:t>
            </a:r>
            <a:endParaRPr lang="en-US" sz="1400" dirty="0"/>
          </a:p>
        </p:txBody>
      </p:sp>
      <p:sp>
        <p:nvSpPr>
          <p:cNvPr id="8" name="Shape 5"/>
          <p:cNvSpPr/>
          <p:nvPr/>
        </p:nvSpPr>
        <p:spPr>
          <a:xfrm>
            <a:off x="4023360" y="2331720"/>
            <a:ext cx="2194560" cy="640080"/>
          </a:xfrm>
          <a:prstGeom prst="roundRect">
            <a:avLst>
              <a:gd name="adj" fmla="val 7143"/>
            </a:avLst>
          </a:prstGeom>
          <a:solidFill>
            <a:srgbClr val="B20E38"/>
          </a:solidFill>
          <a:ln/>
        </p:spPr>
      </p:sp>
      <p:sp>
        <p:nvSpPr>
          <p:cNvPr id="9" name="Text 6"/>
          <p:cNvSpPr/>
          <p:nvPr/>
        </p:nvSpPr>
        <p:spPr>
          <a:xfrm>
            <a:off x="4023360" y="2331720"/>
            <a:ext cx="2194560" cy="640080"/>
          </a:xfrm>
          <a:prstGeom prst="rect">
            <a:avLst/>
          </a:prstGeom>
          <a:noFill/>
          <a:ln/>
        </p:spPr>
        <p:txBody>
          <a:bodyPr wrap="square" lIns="0" tIns="0" rIns="0" bIns="0" rtlCol="0" anchor="ctr"/>
          <a:lstStyle/>
          <a:p>
            <a:pPr marL="0" indent="0" algn="ctr">
              <a:buNone/>
            </a:pPr>
            <a:endParaRPr lang="en-US" sz="1250" dirty="0"/>
          </a:p>
        </p:txBody>
      </p:sp>
      <p:sp>
        <p:nvSpPr>
          <p:cNvPr id="10" name="Text 7"/>
          <p:cNvSpPr/>
          <p:nvPr/>
        </p:nvSpPr>
        <p:spPr>
          <a:xfrm>
            <a:off x="6400800" y="2240280"/>
            <a:ext cx="4846320" cy="822960"/>
          </a:xfrm>
          <a:prstGeom prst="rect">
            <a:avLst/>
          </a:prstGeom>
          <a:noFill/>
          <a:ln/>
        </p:spPr>
        <p:txBody>
          <a:bodyPr wrap="square" lIns="0" tIns="0" rIns="0" bIns="0" rtlCol="0" anchor="ctr"/>
          <a:lstStyle/>
          <a:p>
            <a:pPr marL="0" indent="0">
              <a:lnSpc>
                <a:spcPct val="120000"/>
              </a:lnSpc>
              <a:buNone/>
            </a:pPr>
            <a:endParaRPr lang="en-US" sz="1300" dirty="0"/>
          </a:p>
        </p:txBody>
      </p:sp>
      <p:sp>
        <p:nvSpPr>
          <p:cNvPr id="11" name="Shape 8"/>
          <p:cNvSpPr/>
          <p:nvPr/>
        </p:nvSpPr>
        <p:spPr>
          <a:xfrm>
            <a:off x="731520" y="3337560"/>
            <a:ext cx="10698480" cy="1097280"/>
          </a:xfrm>
          <a:prstGeom prst="roundRect">
            <a:avLst>
              <a:gd name="adj" fmla="val 6667"/>
            </a:avLst>
          </a:prstGeom>
          <a:solidFill>
            <a:srgbClr val="FFFFFF">
              <a:alpha val="70000"/>
            </a:srgbClr>
          </a:solidFill>
          <a:ln/>
        </p:spPr>
      </p:sp>
      <p:sp>
        <p:nvSpPr>
          <p:cNvPr id="12" name="Text 9"/>
          <p:cNvSpPr/>
          <p:nvPr/>
        </p:nvSpPr>
        <p:spPr>
          <a:xfrm>
            <a:off x="960120" y="347472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FMCG (foods, personal care)</a:t>
            </a:r>
            <a:endParaRPr lang="en-US" sz="1400" dirty="0"/>
          </a:p>
        </p:txBody>
      </p:sp>
      <p:sp>
        <p:nvSpPr>
          <p:cNvPr id="13" name="Shape 10"/>
          <p:cNvSpPr/>
          <p:nvPr/>
        </p:nvSpPr>
        <p:spPr>
          <a:xfrm>
            <a:off x="4023360" y="3566160"/>
            <a:ext cx="2194560" cy="640080"/>
          </a:xfrm>
          <a:prstGeom prst="roundRect">
            <a:avLst>
              <a:gd name="adj" fmla="val 7143"/>
            </a:avLst>
          </a:prstGeom>
          <a:solidFill>
            <a:srgbClr val="B20E38"/>
          </a:solidFill>
          <a:ln/>
        </p:spPr>
      </p:sp>
      <p:sp>
        <p:nvSpPr>
          <p:cNvPr id="14" name="Text 11"/>
          <p:cNvSpPr/>
          <p:nvPr/>
        </p:nvSpPr>
        <p:spPr>
          <a:xfrm>
            <a:off x="4023360" y="3566160"/>
            <a:ext cx="2194560" cy="640080"/>
          </a:xfrm>
          <a:prstGeom prst="rect">
            <a:avLst/>
          </a:prstGeom>
          <a:noFill/>
          <a:ln/>
        </p:spPr>
        <p:txBody>
          <a:bodyPr wrap="square" lIns="0" tIns="0" rIns="0" bIns="0" rtlCol="0" anchor="ctr"/>
          <a:lstStyle/>
          <a:p>
            <a:pPr marL="0" indent="0" algn="ctr">
              <a:buNone/>
            </a:pPr>
            <a:endParaRPr lang="en-US" sz="1250" dirty="0"/>
          </a:p>
        </p:txBody>
      </p:sp>
      <p:sp>
        <p:nvSpPr>
          <p:cNvPr id="15" name="Text 12"/>
          <p:cNvSpPr/>
          <p:nvPr/>
        </p:nvSpPr>
        <p:spPr>
          <a:xfrm>
            <a:off x="6400800" y="3474720"/>
            <a:ext cx="4846320" cy="822960"/>
          </a:xfrm>
          <a:prstGeom prst="rect">
            <a:avLst/>
          </a:prstGeom>
          <a:noFill/>
          <a:ln/>
        </p:spPr>
        <p:txBody>
          <a:bodyPr wrap="square" lIns="0" tIns="0" rIns="0" bIns="0" rtlCol="0" anchor="ctr"/>
          <a:lstStyle/>
          <a:p>
            <a:pPr marL="0" indent="0">
              <a:lnSpc>
                <a:spcPct val="120000"/>
              </a:lnSpc>
              <a:buNone/>
            </a:pPr>
            <a:endParaRPr lang="en-US" sz="1300" dirty="0"/>
          </a:p>
        </p:txBody>
      </p:sp>
      <p:sp>
        <p:nvSpPr>
          <p:cNvPr id="16" name="Shape 13"/>
          <p:cNvSpPr/>
          <p:nvPr/>
        </p:nvSpPr>
        <p:spPr>
          <a:xfrm>
            <a:off x="731520" y="4572000"/>
            <a:ext cx="10698480" cy="1097280"/>
          </a:xfrm>
          <a:prstGeom prst="roundRect">
            <a:avLst>
              <a:gd name="adj" fmla="val 6667"/>
            </a:avLst>
          </a:prstGeom>
          <a:solidFill>
            <a:srgbClr val="FFFFFF">
              <a:alpha val="70000"/>
            </a:srgbClr>
          </a:solidFill>
          <a:ln/>
        </p:spPr>
      </p:sp>
      <p:sp>
        <p:nvSpPr>
          <p:cNvPr id="17" name="Text 14"/>
          <p:cNvSpPr/>
          <p:nvPr/>
        </p:nvSpPr>
        <p:spPr>
          <a:xfrm>
            <a:off x="960120" y="470916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Hotels</a:t>
            </a:r>
            <a:endParaRPr lang="en-US" sz="1400" dirty="0"/>
          </a:p>
        </p:txBody>
      </p:sp>
      <p:sp>
        <p:nvSpPr>
          <p:cNvPr id="18" name="Shape 15"/>
          <p:cNvSpPr/>
          <p:nvPr/>
        </p:nvSpPr>
        <p:spPr>
          <a:xfrm>
            <a:off x="4023360" y="4800600"/>
            <a:ext cx="2194560" cy="640080"/>
          </a:xfrm>
          <a:prstGeom prst="roundRect">
            <a:avLst>
              <a:gd name="adj" fmla="val 7143"/>
            </a:avLst>
          </a:prstGeom>
          <a:solidFill>
            <a:srgbClr val="B20E38"/>
          </a:solidFill>
          <a:ln/>
        </p:spPr>
      </p:sp>
      <p:sp>
        <p:nvSpPr>
          <p:cNvPr id="19" name="Text 16"/>
          <p:cNvSpPr/>
          <p:nvPr/>
        </p:nvSpPr>
        <p:spPr>
          <a:xfrm>
            <a:off x="4023360" y="4800600"/>
            <a:ext cx="2194560" cy="640080"/>
          </a:xfrm>
          <a:prstGeom prst="rect">
            <a:avLst/>
          </a:prstGeom>
          <a:noFill/>
          <a:ln/>
        </p:spPr>
        <p:txBody>
          <a:bodyPr wrap="square" lIns="0" tIns="0" rIns="0" bIns="0" rtlCol="0" anchor="ctr"/>
          <a:lstStyle/>
          <a:p>
            <a:pPr marL="0" indent="0" algn="ctr">
              <a:buNone/>
            </a:pPr>
            <a:endParaRPr lang="en-US" sz="1250" dirty="0"/>
          </a:p>
        </p:txBody>
      </p:sp>
      <p:sp>
        <p:nvSpPr>
          <p:cNvPr id="20" name="Text 17"/>
          <p:cNvSpPr/>
          <p:nvPr/>
        </p:nvSpPr>
        <p:spPr>
          <a:xfrm>
            <a:off x="6400800" y="4709160"/>
            <a:ext cx="4846320" cy="822960"/>
          </a:xfrm>
          <a:prstGeom prst="rect">
            <a:avLst/>
          </a:prstGeom>
          <a:noFill/>
          <a:ln/>
        </p:spPr>
        <p:txBody>
          <a:bodyPr wrap="square" lIns="0" tIns="0" rIns="0" bIns="0" rtlCol="0" anchor="ctr"/>
          <a:lstStyle/>
          <a:p>
            <a:pPr marL="0" indent="0">
              <a:lnSpc>
                <a:spcPct val="120000"/>
              </a:lnSpc>
              <a:buNone/>
            </a:pPr>
            <a:endParaRPr lang="en-US" sz="1300" dirty="0"/>
          </a:p>
        </p:txBody>
      </p:sp>
      <p:sp>
        <p:nvSpPr>
          <p:cNvPr id="21" name="Text 1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10 / 15</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Applying It</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Mapping ITC's Own Businesses</a:t>
            </a:r>
            <a:endParaRPr lang="en-US" sz="3400" dirty="0"/>
          </a:p>
        </p:txBody>
      </p:sp>
      <p:sp>
        <p:nvSpPr>
          <p:cNvPr id="6" name="Shape 3"/>
          <p:cNvSpPr/>
          <p:nvPr/>
        </p:nvSpPr>
        <p:spPr>
          <a:xfrm>
            <a:off x="731520" y="2103120"/>
            <a:ext cx="10698480" cy="1097280"/>
          </a:xfrm>
          <a:prstGeom prst="roundRect">
            <a:avLst>
              <a:gd name="adj" fmla="val 6667"/>
            </a:avLst>
          </a:prstGeom>
          <a:solidFill>
            <a:srgbClr val="FFFFFF">
              <a:alpha val="70000"/>
            </a:srgbClr>
          </a:solidFill>
          <a:ln/>
        </p:spPr>
      </p:sp>
      <p:sp>
        <p:nvSpPr>
          <p:cNvPr id="7" name="Text 4"/>
          <p:cNvSpPr/>
          <p:nvPr/>
        </p:nvSpPr>
        <p:spPr>
          <a:xfrm>
            <a:off x="960120" y="224028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Cigarettes</a:t>
            </a:r>
            <a:endParaRPr lang="en-US" sz="1400" dirty="0"/>
          </a:p>
        </p:txBody>
      </p:sp>
      <p:sp>
        <p:nvSpPr>
          <p:cNvPr id="8" name="Shape 5"/>
          <p:cNvSpPr/>
          <p:nvPr/>
        </p:nvSpPr>
        <p:spPr>
          <a:xfrm>
            <a:off x="4023360" y="2331720"/>
            <a:ext cx="2194560" cy="640080"/>
          </a:xfrm>
          <a:prstGeom prst="roundRect">
            <a:avLst>
              <a:gd name="adj" fmla="val 7143"/>
            </a:avLst>
          </a:prstGeom>
          <a:solidFill>
            <a:srgbClr val="B20E38"/>
          </a:solidFill>
          <a:ln/>
        </p:spPr>
      </p:sp>
      <p:sp>
        <p:nvSpPr>
          <p:cNvPr id="9" name="Text 6"/>
          <p:cNvSpPr/>
          <p:nvPr/>
        </p:nvSpPr>
        <p:spPr>
          <a:xfrm>
            <a:off x="4023360" y="2331720"/>
            <a:ext cx="21945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Cash Cow</a:t>
            </a:r>
            <a:endParaRPr lang="en-US" sz="1250" dirty="0"/>
          </a:p>
        </p:txBody>
      </p:sp>
      <p:sp>
        <p:nvSpPr>
          <p:cNvPr id="10" name="Text 7"/>
          <p:cNvSpPr/>
          <p:nvPr/>
        </p:nvSpPr>
        <p:spPr>
          <a:xfrm>
            <a:off x="6400800" y="224028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Mature market, still ITC's dominant share, funds everything else</a:t>
            </a:r>
            <a:endParaRPr lang="en-US" sz="1300" dirty="0"/>
          </a:p>
        </p:txBody>
      </p:sp>
      <p:sp>
        <p:nvSpPr>
          <p:cNvPr id="11" name="Shape 8"/>
          <p:cNvSpPr/>
          <p:nvPr/>
        </p:nvSpPr>
        <p:spPr>
          <a:xfrm>
            <a:off x="731520" y="3337560"/>
            <a:ext cx="10698480" cy="1097280"/>
          </a:xfrm>
          <a:prstGeom prst="roundRect">
            <a:avLst>
              <a:gd name="adj" fmla="val 6667"/>
            </a:avLst>
          </a:prstGeom>
          <a:solidFill>
            <a:srgbClr val="FFFFFF">
              <a:alpha val="70000"/>
            </a:srgbClr>
          </a:solidFill>
          <a:ln/>
        </p:spPr>
      </p:sp>
      <p:sp>
        <p:nvSpPr>
          <p:cNvPr id="12" name="Text 9"/>
          <p:cNvSpPr/>
          <p:nvPr/>
        </p:nvSpPr>
        <p:spPr>
          <a:xfrm>
            <a:off x="960120" y="347472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FMCG (foods, personal care)</a:t>
            </a:r>
            <a:endParaRPr lang="en-US" sz="1400" dirty="0"/>
          </a:p>
        </p:txBody>
      </p:sp>
      <p:sp>
        <p:nvSpPr>
          <p:cNvPr id="13" name="Shape 10"/>
          <p:cNvSpPr/>
          <p:nvPr/>
        </p:nvSpPr>
        <p:spPr>
          <a:xfrm>
            <a:off x="4023360" y="3566160"/>
            <a:ext cx="2194560" cy="640080"/>
          </a:xfrm>
          <a:prstGeom prst="roundRect">
            <a:avLst>
              <a:gd name="adj" fmla="val 7143"/>
            </a:avLst>
          </a:prstGeom>
          <a:solidFill>
            <a:srgbClr val="B20E38"/>
          </a:solidFill>
          <a:ln/>
        </p:spPr>
      </p:sp>
      <p:sp>
        <p:nvSpPr>
          <p:cNvPr id="14" name="Text 11"/>
          <p:cNvSpPr/>
          <p:nvPr/>
        </p:nvSpPr>
        <p:spPr>
          <a:xfrm>
            <a:off x="4023360" y="3566160"/>
            <a:ext cx="21945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Question Mark → Star</a:t>
            </a:r>
            <a:endParaRPr lang="en-US" sz="1250" dirty="0"/>
          </a:p>
        </p:txBody>
      </p:sp>
      <p:sp>
        <p:nvSpPr>
          <p:cNvPr id="15" name="Text 12"/>
          <p:cNvSpPr/>
          <p:nvPr/>
        </p:nvSpPr>
        <p:spPr>
          <a:xfrm>
            <a:off x="6400800" y="347472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Growing fast; years of investment before turning genuinely profitable</a:t>
            </a:r>
            <a:endParaRPr lang="en-US" sz="1300" dirty="0"/>
          </a:p>
        </p:txBody>
      </p:sp>
      <p:sp>
        <p:nvSpPr>
          <p:cNvPr id="16" name="Shape 13"/>
          <p:cNvSpPr/>
          <p:nvPr/>
        </p:nvSpPr>
        <p:spPr>
          <a:xfrm>
            <a:off x="731520" y="4572000"/>
            <a:ext cx="10698480" cy="1097280"/>
          </a:xfrm>
          <a:prstGeom prst="roundRect">
            <a:avLst>
              <a:gd name="adj" fmla="val 6667"/>
            </a:avLst>
          </a:prstGeom>
          <a:solidFill>
            <a:srgbClr val="FFFFFF">
              <a:alpha val="70000"/>
            </a:srgbClr>
          </a:solidFill>
          <a:ln/>
        </p:spPr>
      </p:sp>
      <p:sp>
        <p:nvSpPr>
          <p:cNvPr id="17" name="Text 14"/>
          <p:cNvSpPr/>
          <p:nvPr/>
        </p:nvSpPr>
        <p:spPr>
          <a:xfrm>
            <a:off x="960120" y="4709160"/>
            <a:ext cx="2926080" cy="822960"/>
          </a:xfrm>
          <a:prstGeom prst="rect">
            <a:avLst/>
          </a:prstGeom>
          <a:noFill/>
          <a:ln/>
        </p:spPr>
        <p:txBody>
          <a:bodyPr wrap="square" lIns="0" tIns="0" rIns="0" bIns="0" rtlCol="0" anchor="ctr"/>
          <a:lstStyle/>
          <a:p>
            <a:pPr marL="0" indent="0">
              <a:lnSpc>
                <a:spcPct val="120000"/>
              </a:lnSpc>
              <a:buNone/>
            </a:pPr>
            <a:r>
              <a:rPr lang="en-US" sz="1400" b="1" dirty="0">
                <a:solidFill>
                  <a:srgbClr val="B20E38"/>
                </a:solidFill>
                <a:latin typeface="Montserrat SemiBold" pitchFamily="34" charset="0"/>
                <a:ea typeface="Montserrat SemiBold" pitchFamily="34" charset="-122"/>
                <a:cs typeface="Montserrat SemiBold" pitchFamily="34" charset="-120"/>
              </a:rPr>
              <a:t>Hotels</a:t>
            </a:r>
            <a:endParaRPr lang="en-US" sz="1400" dirty="0"/>
          </a:p>
        </p:txBody>
      </p:sp>
      <p:sp>
        <p:nvSpPr>
          <p:cNvPr id="18" name="Shape 15"/>
          <p:cNvSpPr/>
          <p:nvPr/>
        </p:nvSpPr>
        <p:spPr>
          <a:xfrm>
            <a:off x="4023360" y="4800600"/>
            <a:ext cx="2194560" cy="640080"/>
          </a:xfrm>
          <a:prstGeom prst="roundRect">
            <a:avLst>
              <a:gd name="adj" fmla="val 7143"/>
            </a:avLst>
          </a:prstGeom>
          <a:solidFill>
            <a:srgbClr val="B20E38"/>
          </a:solidFill>
          <a:ln/>
        </p:spPr>
      </p:sp>
      <p:sp>
        <p:nvSpPr>
          <p:cNvPr id="19" name="Text 16"/>
          <p:cNvSpPr/>
          <p:nvPr/>
        </p:nvSpPr>
        <p:spPr>
          <a:xfrm>
            <a:off x="4023360" y="4800600"/>
            <a:ext cx="2194560" cy="640080"/>
          </a:xfrm>
          <a:prstGeom prst="rect">
            <a:avLst/>
          </a:prstGeom>
          <a:noFill/>
          <a:ln/>
        </p:spPr>
        <p:txBody>
          <a:bodyPr wrap="square" lIns="0" tIns="0" rIns="0" bIns="0" rtlCol="0" anchor="ctr"/>
          <a:lstStyle/>
          <a:p>
            <a:pPr marL="0" indent="0" algn="ctr">
              <a:buNone/>
            </a:pPr>
            <a:r>
              <a:rPr lang="en-US" sz="1250" b="1" dirty="0">
                <a:solidFill>
                  <a:srgbClr val="FFFFFF"/>
                </a:solidFill>
                <a:latin typeface="Montserrat SemiBold" pitchFamily="34" charset="0"/>
                <a:ea typeface="Montserrat SemiBold" pitchFamily="34" charset="-122"/>
                <a:cs typeface="Montserrat SemiBold" pitchFamily="34" charset="-120"/>
              </a:rPr>
              <a:t>Question Mark</a:t>
            </a:r>
            <a:endParaRPr lang="en-US" sz="1250" dirty="0"/>
          </a:p>
        </p:txBody>
      </p:sp>
      <p:sp>
        <p:nvSpPr>
          <p:cNvPr id="20" name="Text 17"/>
          <p:cNvSpPr/>
          <p:nvPr/>
        </p:nvSpPr>
        <p:spPr>
          <a:xfrm>
            <a:off x="6400800" y="4709160"/>
            <a:ext cx="4846320" cy="822960"/>
          </a:xfrm>
          <a:prstGeom prst="rect">
            <a:avLst/>
          </a:prstGeom>
          <a:noFill/>
          <a:ln/>
        </p:spPr>
        <p:txBody>
          <a:bodyPr wrap="square" lIns="0" tIns="0" rIns="0" bIns="0" rtlCol="0" anchor="ctr"/>
          <a:lstStyle/>
          <a:p>
            <a:pPr marL="0" indent="0">
              <a:lnSpc>
                <a:spcPct val="120000"/>
              </a:lnSpc>
              <a:buNone/>
            </a:pPr>
            <a:r>
              <a:rPr lang="en-US" sz="1300" dirty="0">
                <a:solidFill>
                  <a:srgbClr val="1A1A1A"/>
                </a:solidFill>
                <a:latin typeface="Montserrat" pitchFamily="34" charset="0"/>
                <a:ea typeface="Montserrat" pitchFamily="34" charset="-122"/>
                <a:cs typeface="Montserrat" pitchFamily="34" charset="-120"/>
              </a:rPr>
              <a:t>Cyclical, capital-heavy, real but uneven growth</a:t>
            </a:r>
            <a:endParaRPr lang="en-US" sz="1300" dirty="0"/>
          </a:p>
        </p:txBody>
      </p:sp>
      <p:sp>
        <p:nvSpPr>
          <p:cNvPr id="21" name="Text 18"/>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10 / 15</a:t>
            </a:r>
            <a:endParaRPr lang="en-US" sz="1600" dirty="0"/>
          </a:p>
        </p:txBody>
      </p:sp>
    </p:spTree>
    <p:extLst>
      <p:ext uri="{BB962C8B-B14F-4D97-AF65-F5344CB8AC3E}">
        <p14:creationId xmlns:p14="http://schemas.microsoft.com/office/powerpoint/2010/main" val="488460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From the Art of War</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“The Treasury Runs Dry Near Home”</a:t>
            </a:r>
            <a:endParaRPr lang="en-US" sz="3400" dirty="0"/>
          </a:p>
        </p:txBody>
      </p:sp>
      <p:sp>
        <p:nvSpPr>
          <p:cNvPr id="6" name="Shape 3"/>
          <p:cNvSpPr/>
          <p:nvPr/>
        </p:nvSpPr>
        <p:spPr>
          <a:xfrm>
            <a:off x="731520" y="2194560"/>
            <a:ext cx="10698480" cy="3840480"/>
          </a:xfrm>
          <a:prstGeom prst="roundRect">
            <a:avLst>
              <a:gd name="adj" fmla="val 1905"/>
            </a:avLst>
          </a:prstGeom>
          <a:solidFill>
            <a:srgbClr val="FFFFFF">
              <a:alpha val="70000"/>
            </a:srgbClr>
          </a:solidFill>
          <a:ln/>
        </p:spPr>
      </p:sp>
      <p:sp>
        <p:nvSpPr>
          <p:cNvPr id="7" name="Text 4"/>
          <p:cNvSpPr/>
          <p:nvPr/>
        </p:nvSpPr>
        <p:spPr>
          <a:xfrm>
            <a:off x="1005840" y="2514600"/>
            <a:ext cx="10149840" cy="1280160"/>
          </a:xfrm>
          <a:prstGeom prst="rect">
            <a:avLst/>
          </a:prstGeom>
          <a:noFill/>
          <a:ln/>
        </p:spPr>
        <p:txBody>
          <a:bodyPr wrap="square" lIns="0" tIns="0" rIns="0" bIns="0" rtlCol="0" anchor="ctr"/>
          <a:lstStyle/>
          <a:p>
            <a:pPr marL="0" indent="0">
              <a:lnSpc>
                <a:spcPct val="135000"/>
              </a:lnSpc>
              <a:buNone/>
            </a:pPr>
            <a:r>
              <a:rPr lang="en-US" sz="1650" i="1" dirty="0">
                <a:solidFill>
                  <a:srgbClr val="2A2A2A"/>
                </a:solidFill>
                <a:latin typeface="Montserrat" pitchFamily="34" charset="0"/>
                <a:ea typeface="Montserrat" pitchFamily="34" charset="-122"/>
                <a:cs typeface="Montserrat" pitchFamily="34" charset="-120"/>
              </a:rPr>
              <a:t>Sun Tzu warned that a state's treasury is drained not by the battle itself, but by supporting an army far from home for too long, transport, upkeep, and delay all bleed resources quietly.</a:t>
            </a:r>
            <a:endParaRPr lang="en-US" sz="1650" dirty="0"/>
          </a:p>
        </p:txBody>
      </p:sp>
      <p:sp>
        <p:nvSpPr>
          <p:cNvPr id="8" name="Shape 5"/>
          <p:cNvSpPr/>
          <p:nvPr/>
        </p:nvSpPr>
        <p:spPr>
          <a:xfrm>
            <a:off x="1005840" y="3931920"/>
            <a:ext cx="10149840" cy="1737360"/>
          </a:xfrm>
          <a:prstGeom prst="roundRect">
            <a:avLst>
              <a:gd name="adj" fmla="val 4211"/>
            </a:avLst>
          </a:prstGeom>
          <a:solidFill>
            <a:srgbClr val="B20E38"/>
          </a:solidFill>
          <a:ln/>
        </p:spPr>
      </p:sp>
      <p:sp>
        <p:nvSpPr>
          <p:cNvPr id="9" name="Text 6"/>
          <p:cNvSpPr/>
          <p:nvPr/>
        </p:nvSpPr>
        <p:spPr>
          <a:xfrm>
            <a:off x="1280160" y="3931920"/>
            <a:ext cx="9601200" cy="1737360"/>
          </a:xfrm>
          <a:prstGeom prst="rect">
            <a:avLst/>
          </a:prstGeom>
          <a:noFill/>
          <a:ln/>
        </p:spPr>
        <p:txBody>
          <a:bodyPr wrap="square" lIns="0" tIns="0" rIns="0" bIns="0" rtlCol="0" anchor="ctr"/>
          <a:lstStyle/>
          <a:p>
            <a:pPr marL="0" indent="0">
              <a:lnSpc>
                <a:spcPct val="130000"/>
              </a:lnSpc>
              <a:buNone/>
            </a:pPr>
            <a:r>
              <a:rPr lang="en-US" sz="1600" b="1" i="1" dirty="0">
                <a:solidFill>
                  <a:srgbClr val="FFFFFF"/>
                </a:solidFill>
                <a:latin typeface="Montserrat" pitchFamily="34" charset="0"/>
                <a:ea typeface="Montserrat" pitchFamily="34" charset="-122"/>
                <a:cs typeface="Montserrat" pitchFamily="34" charset="-120"/>
              </a:rPr>
              <a:t>A Question Mark business is exactly this: a campaign far from your home ground, that can quietly drain the Cash Cow funding it if you don't set a real limit on patience.</a:t>
            </a:r>
            <a:endParaRPr lang="en-US" sz="16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11 / 15</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Activity · Pairs · 10 Minutes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Place Your Own Company</a:t>
            </a:r>
            <a:endParaRPr lang="en-US" sz="3400" dirty="0"/>
          </a:p>
        </p:txBody>
      </p:sp>
      <p:sp>
        <p:nvSpPr>
          <p:cNvPr id="6" name="Shape 3"/>
          <p:cNvSpPr/>
          <p:nvPr/>
        </p:nvSpPr>
        <p:spPr>
          <a:xfrm>
            <a:off x="731520" y="2103120"/>
            <a:ext cx="10698480" cy="3931920"/>
          </a:xfrm>
          <a:prstGeom prst="roundRect">
            <a:avLst>
              <a:gd name="adj" fmla="val 1860"/>
            </a:avLst>
          </a:prstGeom>
          <a:solidFill>
            <a:srgbClr val="FFFFFF">
              <a:alpha val="70000"/>
            </a:srgbClr>
          </a:solidFill>
          <a:ln/>
        </p:spPr>
      </p:sp>
      <p:sp>
        <p:nvSpPr>
          <p:cNvPr id="7" name="Shape 4"/>
          <p:cNvSpPr/>
          <p:nvPr/>
        </p:nvSpPr>
        <p:spPr>
          <a:xfrm>
            <a:off x="1005840" y="2441448"/>
            <a:ext cx="384048" cy="384048"/>
          </a:xfrm>
          <a:prstGeom prst="ellipse">
            <a:avLst/>
          </a:prstGeom>
          <a:solidFill>
            <a:srgbClr val="B20E38"/>
          </a:solidFill>
          <a:ln/>
        </p:spPr>
      </p:sp>
      <p:sp>
        <p:nvSpPr>
          <p:cNvPr id="8" name="Text 5"/>
          <p:cNvSpPr/>
          <p:nvPr/>
        </p:nvSpPr>
        <p:spPr>
          <a:xfrm>
            <a:off x="1005840" y="2441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1</a:t>
            </a:r>
            <a:endParaRPr lang="en-US" sz="1500" dirty="0"/>
          </a:p>
        </p:txBody>
      </p:sp>
      <p:sp>
        <p:nvSpPr>
          <p:cNvPr id="9" name="Text 6"/>
          <p:cNvSpPr/>
          <p:nvPr/>
        </p:nvSpPr>
        <p:spPr>
          <a:xfrm>
            <a:off x="1554480" y="242316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Take the same company you discussed for the Ansoff Matrix.</a:t>
            </a:r>
            <a:endParaRPr lang="en-US" sz="1550" dirty="0"/>
          </a:p>
        </p:txBody>
      </p:sp>
      <p:sp>
        <p:nvSpPr>
          <p:cNvPr id="10" name="Shape 7"/>
          <p:cNvSpPr/>
          <p:nvPr/>
        </p:nvSpPr>
        <p:spPr>
          <a:xfrm>
            <a:off x="1005840" y="3401568"/>
            <a:ext cx="384048" cy="384048"/>
          </a:xfrm>
          <a:prstGeom prst="ellipse">
            <a:avLst/>
          </a:prstGeom>
          <a:solidFill>
            <a:srgbClr val="B20E38"/>
          </a:solidFill>
          <a:ln/>
        </p:spPr>
      </p:sp>
      <p:sp>
        <p:nvSpPr>
          <p:cNvPr id="11" name="Text 8"/>
          <p:cNvSpPr/>
          <p:nvPr/>
        </p:nvSpPr>
        <p:spPr>
          <a:xfrm>
            <a:off x="1005840" y="34015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2</a:t>
            </a:r>
            <a:endParaRPr lang="en-US" sz="1500" dirty="0"/>
          </a:p>
        </p:txBody>
      </p:sp>
      <p:sp>
        <p:nvSpPr>
          <p:cNvPr id="12" name="Text 9"/>
          <p:cNvSpPr/>
          <p:nvPr/>
        </p:nvSpPr>
        <p:spPr>
          <a:xfrm>
            <a:off x="1554480" y="338328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If it has more than one real business line, place each one into a BCG quadrant, Star, Question Mark, Cash Cow, or Dog.</a:t>
            </a:r>
            <a:endParaRPr lang="en-US" sz="1550" dirty="0"/>
          </a:p>
        </p:txBody>
      </p:sp>
      <p:sp>
        <p:nvSpPr>
          <p:cNvPr id="13" name="Shape 10"/>
          <p:cNvSpPr/>
          <p:nvPr/>
        </p:nvSpPr>
        <p:spPr>
          <a:xfrm>
            <a:off x="1005840" y="4361688"/>
            <a:ext cx="384048" cy="384048"/>
          </a:xfrm>
          <a:prstGeom prst="ellipse">
            <a:avLst/>
          </a:prstGeom>
          <a:solidFill>
            <a:srgbClr val="B20E38"/>
          </a:solidFill>
          <a:ln/>
        </p:spPr>
      </p:sp>
      <p:sp>
        <p:nvSpPr>
          <p:cNvPr id="14" name="Text 11"/>
          <p:cNvSpPr/>
          <p:nvPr/>
        </p:nvSpPr>
        <p:spPr>
          <a:xfrm>
            <a:off x="1005840" y="4361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3</a:t>
            </a:r>
            <a:endParaRPr lang="en-US" sz="1500" dirty="0"/>
          </a:p>
        </p:txBody>
      </p:sp>
      <p:sp>
        <p:nvSpPr>
          <p:cNvPr id="15" name="Text 12"/>
          <p:cNvSpPr/>
          <p:nvPr/>
        </p:nvSpPr>
        <p:spPr>
          <a:xfrm>
            <a:off x="1554480" y="434340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If it only has one business, decide which single quadrant it sits in today, and where you think it's heading.</a:t>
            </a:r>
            <a:endParaRPr lang="en-US" sz="1550" dirty="0"/>
          </a:p>
        </p:txBody>
      </p:sp>
      <p:sp>
        <p:nvSpPr>
          <p:cNvPr id="16" name="Text 13"/>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12 / 15</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127" y="0"/>
            <a:ext cx="12188952" cy="6858000"/>
          </a:xfrm>
          <a:prstGeom prst="rect">
            <a:avLst/>
          </a:prstGeom>
        </p:spPr>
      </p:pic>
      <p:sp>
        <p:nvSpPr>
          <p:cNvPr id="5" name="Text 2"/>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15 / 15</a:t>
            </a:r>
            <a:endParaRPr lang="en-US" sz="1600" dirty="0"/>
          </a:p>
        </p:txBody>
      </p:sp>
      <p:sp>
        <p:nvSpPr>
          <p:cNvPr id="6" name="AutoShape 2">
            <a:extLst>
              <a:ext uri="{FF2B5EF4-FFF2-40B4-BE49-F238E27FC236}">
                <a16:creationId xmlns:a16="http://schemas.microsoft.com/office/drawing/2014/main" id="{E1F07301-B608-4E54-BF7E-40A4EAE287B1}"/>
              </a:ext>
            </a:extLst>
          </p:cNvPr>
          <p:cNvSpPr>
            <a:spLocks noChangeAspect="1" noChangeArrowheads="1"/>
          </p:cNvSpPr>
          <p:nvPr/>
        </p:nvSpPr>
        <p:spPr bwMode="auto">
          <a:xfrm>
            <a:off x="5942013"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4">
            <a:extLst>
              <a:ext uri="{FF2B5EF4-FFF2-40B4-BE49-F238E27FC236}">
                <a16:creationId xmlns:a16="http://schemas.microsoft.com/office/drawing/2014/main" id="{F56851A0-64BE-4682-B24D-946B673847E1}"/>
              </a:ext>
            </a:extLst>
          </p:cNvPr>
          <p:cNvSpPr>
            <a:spLocks noChangeAspect="1" noChangeArrowheads="1"/>
          </p:cNvSpPr>
          <p:nvPr/>
        </p:nvSpPr>
        <p:spPr bwMode="auto">
          <a:xfrm>
            <a:off x="6094413"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a:extLst>
              <a:ext uri="{FF2B5EF4-FFF2-40B4-BE49-F238E27FC236}">
                <a16:creationId xmlns:a16="http://schemas.microsoft.com/office/drawing/2014/main" id="{9BA933C3-40E3-422C-8A05-09D06277C987}"/>
              </a:ext>
            </a:extLst>
          </p:cNvPr>
          <p:cNvSpPr>
            <a:spLocks noChangeAspect="1" noChangeArrowheads="1"/>
          </p:cNvSpPr>
          <p:nvPr/>
        </p:nvSpPr>
        <p:spPr bwMode="auto">
          <a:xfrm>
            <a:off x="6246813"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9" name="Picture 8">
            <a:extLst>
              <a:ext uri="{FF2B5EF4-FFF2-40B4-BE49-F238E27FC236}">
                <a16:creationId xmlns:a16="http://schemas.microsoft.com/office/drawing/2014/main" id="{2358F534-A666-4488-AF9B-0D71795ACB4B}"/>
              </a:ext>
            </a:extLst>
          </p:cNvPr>
          <p:cNvPicPr>
            <a:picLocks noChangeAspect="1"/>
          </p:cNvPicPr>
          <p:nvPr/>
        </p:nvPicPr>
        <p:blipFill>
          <a:blip r:embed="rId4"/>
          <a:stretch>
            <a:fillRect/>
          </a:stretch>
        </p:blipFill>
        <p:spPr>
          <a:xfrm>
            <a:off x="3478876" y="777240"/>
            <a:ext cx="5573684" cy="5573684"/>
          </a:xfrm>
          <a:prstGeom prst="rect">
            <a:avLst/>
          </a:prstGeom>
        </p:spPr>
      </p:pic>
    </p:spTree>
    <p:extLst>
      <p:ext uri="{BB962C8B-B14F-4D97-AF65-F5344CB8AC3E}">
        <p14:creationId xmlns:p14="http://schemas.microsoft.com/office/powerpoint/2010/main" val="16472488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Tata Group</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11 / 15</a:t>
            </a:r>
            <a:endParaRPr lang="en-US" sz="1600" dirty="0"/>
          </a:p>
        </p:txBody>
      </p:sp>
      <p:graphicFrame>
        <p:nvGraphicFramePr>
          <p:cNvPr id="11" name="Table 10">
            <a:extLst>
              <a:ext uri="{FF2B5EF4-FFF2-40B4-BE49-F238E27FC236}">
                <a16:creationId xmlns:a16="http://schemas.microsoft.com/office/drawing/2014/main" id="{4E282CC1-AAFB-4D18-893C-343508AE4821}"/>
              </a:ext>
            </a:extLst>
          </p:cNvPr>
          <p:cNvGraphicFramePr>
            <a:graphicFrameLocks noGrp="1"/>
          </p:cNvGraphicFramePr>
          <p:nvPr>
            <p:extLst>
              <p:ext uri="{D42A27DB-BD31-4B8C-83A1-F6EECF244321}">
                <p14:modId xmlns:p14="http://schemas.microsoft.com/office/powerpoint/2010/main" val="1103499454"/>
              </p:ext>
            </p:extLst>
          </p:nvPr>
        </p:nvGraphicFramePr>
        <p:xfrm>
          <a:off x="831273" y="887671"/>
          <a:ext cx="9647526" cy="5592100"/>
        </p:xfrm>
        <a:graphic>
          <a:graphicData uri="http://schemas.openxmlformats.org/drawingml/2006/table">
            <a:tbl>
              <a:tblPr/>
              <a:tblGrid>
                <a:gridCol w="3215842">
                  <a:extLst>
                    <a:ext uri="{9D8B030D-6E8A-4147-A177-3AD203B41FA5}">
                      <a16:colId xmlns:a16="http://schemas.microsoft.com/office/drawing/2014/main" val="729647747"/>
                    </a:ext>
                  </a:extLst>
                </a:gridCol>
                <a:gridCol w="3215842">
                  <a:extLst>
                    <a:ext uri="{9D8B030D-6E8A-4147-A177-3AD203B41FA5}">
                      <a16:colId xmlns:a16="http://schemas.microsoft.com/office/drawing/2014/main" val="4134210786"/>
                    </a:ext>
                  </a:extLst>
                </a:gridCol>
                <a:gridCol w="3215842">
                  <a:extLst>
                    <a:ext uri="{9D8B030D-6E8A-4147-A177-3AD203B41FA5}">
                      <a16:colId xmlns:a16="http://schemas.microsoft.com/office/drawing/2014/main" val="3526666027"/>
                    </a:ext>
                  </a:extLst>
                </a:gridCol>
              </a:tblGrid>
              <a:tr h="353991">
                <a:tc>
                  <a:txBody>
                    <a:bodyPr/>
                    <a:lstStyle/>
                    <a:p>
                      <a:r>
                        <a:rPr lang="en-IN" sz="2000"/>
                        <a:t>BCG Category</a:t>
                      </a:r>
                    </a:p>
                  </a:txBody>
                  <a:tcPr marL="82101" marR="82101" marT="41050" marB="41050" anchor="ctr">
                    <a:lnL>
                      <a:noFill/>
                    </a:lnL>
                    <a:lnR>
                      <a:noFill/>
                    </a:lnR>
                    <a:lnT>
                      <a:noFill/>
                    </a:lnT>
                    <a:lnB>
                      <a:noFill/>
                    </a:lnB>
                  </a:tcPr>
                </a:tc>
                <a:tc>
                  <a:txBody>
                    <a:bodyPr/>
                    <a:lstStyle/>
                    <a:p>
                      <a:r>
                        <a:rPr lang="en-IN" sz="2000"/>
                        <a:t>Tata Business/Company</a:t>
                      </a:r>
                    </a:p>
                  </a:txBody>
                  <a:tcPr marL="82101" marR="82101" marT="41050" marB="41050" anchor="ctr">
                    <a:lnL>
                      <a:noFill/>
                    </a:lnL>
                    <a:lnR>
                      <a:noFill/>
                    </a:lnR>
                    <a:lnT>
                      <a:noFill/>
                    </a:lnT>
                    <a:lnB>
                      <a:noFill/>
                    </a:lnB>
                  </a:tcPr>
                </a:tc>
                <a:tc>
                  <a:txBody>
                    <a:bodyPr/>
                    <a:lstStyle/>
                    <a:p>
                      <a:r>
                        <a:rPr lang="en-IN" sz="2000"/>
                        <a:t>Why?</a:t>
                      </a:r>
                    </a:p>
                  </a:txBody>
                  <a:tcPr marL="82101" marR="82101" marT="41050" marB="41050" anchor="ctr">
                    <a:lnL>
                      <a:noFill/>
                    </a:lnL>
                    <a:lnR>
                      <a:noFill/>
                    </a:lnR>
                    <a:lnT>
                      <a:noFill/>
                    </a:lnT>
                    <a:lnB>
                      <a:noFill/>
                    </a:lnB>
                  </a:tcPr>
                </a:tc>
                <a:extLst>
                  <a:ext uri="{0D108BD9-81ED-4DB2-BD59-A6C34878D82A}">
                    <a16:rowId xmlns:a16="http://schemas.microsoft.com/office/drawing/2014/main" val="2643460473"/>
                  </a:ext>
                </a:extLst>
              </a:tr>
              <a:tr h="1150471">
                <a:tc>
                  <a:txBody>
                    <a:bodyPr/>
                    <a:lstStyle/>
                    <a:p>
                      <a:r>
                        <a:rPr lang="en-IN" sz="2000"/>
                        <a:t>⭐ </a:t>
                      </a:r>
                      <a:r>
                        <a:rPr lang="en-IN" sz="2000" b="1"/>
                        <a:t>Star</a:t>
                      </a:r>
                      <a:endParaRPr lang="en-IN" sz="2000"/>
                    </a:p>
                  </a:txBody>
                  <a:tcPr marL="82101" marR="82101" marT="41050" marB="41050" anchor="ctr">
                    <a:lnL>
                      <a:noFill/>
                    </a:lnL>
                    <a:lnR>
                      <a:noFill/>
                    </a:lnR>
                    <a:lnT>
                      <a:noFill/>
                    </a:lnT>
                    <a:lnB>
                      <a:noFill/>
                    </a:lnB>
                  </a:tcPr>
                </a:tc>
                <a:tc>
                  <a:txBody>
                    <a:bodyPr/>
                    <a:lstStyle/>
                    <a:p>
                      <a:r>
                        <a:rPr lang="en-IN" sz="2000" b="1"/>
                        <a:t>Tata Motors – EV business</a:t>
                      </a:r>
                      <a:endParaRPr lang="en-IN" sz="2000"/>
                    </a:p>
                  </a:txBody>
                  <a:tcPr marL="82101" marR="82101" marT="41050" marB="41050" anchor="ctr">
                    <a:lnL>
                      <a:noFill/>
                    </a:lnL>
                    <a:lnR>
                      <a:noFill/>
                    </a:lnR>
                    <a:lnT>
                      <a:noFill/>
                    </a:lnT>
                    <a:lnB>
                      <a:noFill/>
                    </a:lnB>
                  </a:tcPr>
                </a:tc>
                <a:tc>
                  <a:txBody>
                    <a:bodyPr/>
                    <a:lstStyle/>
                    <a:p>
                      <a:r>
                        <a:rPr lang="en-US" sz="2000" dirty="0"/>
                        <a:t>High market growth in electric vehicles + Tata has a strong and growing position in India's EV market</a:t>
                      </a:r>
                    </a:p>
                  </a:txBody>
                  <a:tcPr marL="82101" marR="82101" marT="41050" marB="41050" anchor="ctr">
                    <a:lnL>
                      <a:noFill/>
                    </a:lnL>
                    <a:lnR>
                      <a:noFill/>
                    </a:lnR>
                    <a:lnT>
                      <a:noFill/>
                    </a:lnT>
                    <a:lnB>
                      <a:noFill/>
                    </a:lnB>
                  </a:tcPr>
                </a:tc>
                <a:extLst>
                  <a:ext uri="{0D108BD9-81ED-4DB2-BD59-A6C34878D82A}">
                    <a16:rowId xmlns:a16="http://schemas.microsoft.com/office/drawing/2014/main" val="260678184"/>
                  </a:ext>
                </a:extLst>
              </a:tr>
              <a:tr h="884978">
                <a:tc>
                  <a:txBody>
                    <a:bodyPr/>
                    <a:lstStyle/>
                    <a:p>
                      <a:r>
                        <a:rPr lang="en-IN" sz="2000" dirty="0"/>
                        <a:t>🐄 </a:t>
                      </a:r>
                      <a:r>
                        <a:rPr lang="en-IN" sz="2000" b="1" dirty="0"/>
                        <a:t>Cash Cow</a:t>
                      </a:r>
                      <a:endParaRPr lang="en-IN" sz="2000" dirty="0"/>
                    </a:p>
                  </a:txBody>
                  <a:tcPr marL="82101" marR="82101" marT="41050" marB="41050" anchor="ctr">
                    <a:lnL>
                      <a:noFill/>
                    </a:lnL>
                    <a:lnR>
                      <a:noFill/>
                    </a:lnR>
                    <a:lnT>
                      <a:noFill/>
                    </a:lnT>
                    <a:lnB>
                      <a:noFill/>
                    </a:lnB>
                  </a:tcPr>
                </a:tc>
                <a:tc>
                  <a:txBody>
                    <a:bodyPr/>
                    <a:lstStyle/>
                    <a:p>
                      <a:r>
                        <a:rPr lang="en-IN" sz="2000" b="1" dirty="0"/>
                        <a:t>Tata Consumer Products – Tea</a:t>
                      </a:r>
                      <a:endParaRPr lang="en-IN" sz="2000" dirty="0"/>
                    </a:p>
                  </a:txBody>
                  <a:tcPr marL="82101" marR="82101" marT="41050" marB="41050" anchor="ctr">
                    <a:lnL>
                      <a:noFill/>
                    </a:lnL>
                    <a:lnR>
                      <a:noFill/>
                    </a:lnR>
                    <a:lnT>
                      <a:noFill/>
                    </a:lnT>
                    <a:lnB>
                      <a:noFill/>
                    </a:lnB>
                  </a:tcPr>
                </a:tc>
                <a:tc>
                  <a:txBody>
                    <a:bodyPr/>
                    <a:lstStyle/>
                    <a:p>
                      <a:r>
                        <a:rPr lang="en-US" sz="2000"/>
                        <a:t>Mature tea market + strong brands such as Tata Tea generate steady cash flows</a:t>
                      </a:r>
                    </a:p>
                  </a:txBody>
                  <a:tcPr marL="82101" marR="82101" marT="41050" marB="41050" anchor="ctr">
                    <a:lnL>
                      <a:noFill/>
                    </a:lnL>
                    <a:lnR>
                      <a:noFill/>
                    </a:lnR>
                    <a:lnT>
                      <a:noFill/>
                    </a:lnT>
                    <a:lnB>
                      <a:noFill/>
                    </a:lnB>
                  </a:tcPr>
                </a:tc>
                <a:extLst>
                  <a:ext uri="{0D108BD9-81ED-4DB2-BD59-A6C34878D82A}">
                    <a16:rowId xmlns:a16="http://schemas.microsoft.com/office/drawing/2014/main" val="2292789533"/>
                  </a:ext>
                </a:extLst>
              </a:tr>
              <a:tr h="1150471">
                <a:tc>
                  <a:txBody>
                    <a:bodyPr/>
                    <a:lstStyle/>
                    <a:p>
                      <a:r>
                        <a:rPr lang="en-IN" sz="2000" dirty="0"/>
                        <a:t>❓ </a:t>
                      </a:r>
                      <a:r>
                        <a:rPr lang="en-IN" sz="2000" b="1" dirty="0"/>
                        <a:t>Question Mark</a:t>
                      </a:r>
                      <a:endParaRPr lang="en-IN" sz="2000" dirty="0"/>
                    </a:p>
                  </a:txBody>
                  <a:tcPr marL="82101" marR="82101" marT="41050" marB="41050" anchor="ctr">
                    <a:lnL>
                      <a:noFill/>
                    </a:lnL>
                    <a:lnR>
                      <a:noFill/>
                    </a:lnR>
                    <a:lnT>
                      <a:noFill/>
                    </a:lnT>
                    <a:lnB>
                      <a:noFill/>
                    </a:lnB>
                  </a:tcPr>
                </a:tc>
                <a:tc>
                  <a:txBody>
                    <a:bodyPr/>
                    <a:lstStyle/>
                    <a:p>
                      <a:r>
                        <a:rPr lang="en-IN" sz="2000" b="1" dirty="0"/>
                        <a:t>Tata Digital / Tata Neu</a:t>
                      </a:r>
                      <a:endParaRPr lang="en-IN" sz="2000" dirty="0"/>
                    </a:p>
                  </a:txBody>
                  <a:tcPr marL="82101" marR="82101" marT="41050" marB="41050" anchor="ctr">
                    <a:lnL>
                      <a:noFill/>
                    </a:lnL>
                    <a:lnR>
                      <a:noFill/>
                    </a:lnR>
                    <a:lnT>
                      <a:noFill/>
                    </a:lnT>
                    <a:lnB>
                      <a:noFill/>
                    </a:lnB>
                  </a:tcPr>
                </a:tc>
                <a:tc>
                  <a:txBody>
                    <a:bodyPr/>
                    <a:lstStyle/>
                    <a:p>
                      <a:r>
                        <a:rPr lang="en-US" sz="2000"/>
                        <a:t>Digital commerce is a high-growth market, but Tata Neu faces strong competition from established players</a:t>
                      </a:r>
                    </a:p>
                  </a:txBody>
                  <a:tcPr marL="82101" marR="82101" marT="41050" marB="41050" anchor="ctr">
                    <a:lnL>
                      <a:noFill/>
                    </a:lnL>
                    <a:lnR>
                      <a:noFill/>
                    </a:lnR>
                    <a:lnT>
                      <a:noFill/>
                    </a:lnT>
                    <a:lnB>
                      <a:noFill/>
                    </a:lnB>
                  </a:tcPr>
                </a:tc>
                <a:extLst>
                  <a:ext uri="{0D108BD9-81ED-4DB2-BD59-A6C34878D82A}">
                    <a16:rowId xmlns:a16="http://schemas.microsoft.com/office/drawing/2014/main" val="4246204696"/>
                  </a:ext>
                </a:extLst>
              </a:tr>
              <a:tr h="1150471">
                <a:tc>
                  <a:txBody>
                    <a:bodyPr/>
                    <a:lstStyle/>
                    <a:p>
                      <a:r>
                        <a:rPr lang="en-IN" sz="2000"/>
                        <a:t>🐕 </a:t>
                      </a:r>
                      <a:r>
                        <a:rPr lang="en-IN" sz="2000" b="1"/>
                        <a:t>Dog</a:t>
                      </a:r>
                      <a:endParaRPr lang="en-IN" sz="2000"/>
                    </a:p>
                  </a:txBody>
                  <a:tcPr marL="82101" marR="82101" marT="41050" marB="41050" anchor="ctr">
                    <a:lnL>
                      <a:noFill/>
                    </a:lnL>
                    <a:lnR>
                      <a:noFill/>
                    </a:lnR>
                    <a:lnT>
                      <a:noFill/>
                    </a:lnT>
                    <a:lnB>
                      <a:noFill/>
                    </a:lnB>
                  </a:tcPr>
                </a:tc>
                <a:tc>
                  <a:txBody>
                    <a:bodyPr/>
                    <a:lstStyle/>
                    <a:p>
                      <a:r>
                        <a:rPr lang="en-IN" sz="2000" b="1"/>
                        <a:t>Tata Teleservices (consumer mobile business)</a:t>
                      </a:r>
                      <a:endParaRPr lang="en-IN" sz="2000"/>
                    </a:p>
                  </a:txBody>
                  <a:tcPr marL="82101" marR="82101" marT="41050" marB="41050" anchor="ctr">
                    <a:lnL>
                      <a:noFill/>
                    </a:lnL>
                    <a:lnR>
                      <a:noFill/>
                    </a:lnR>
                    <a:lnT>
                      <a:noFill/>
                    </a:lnT>
                    <a:lnB>
                      <a:noFill/>
                    </a:lnB>
                  </a:tcPr>
                </a:tc>
                <a:tc>
                  <a:txBody>
                    <a:bodyPr/>
                    <a:lstStyle/>
                    <a:p>
                      <a:r>
                        <a:rPr lang="en-US" sz="2000" dirty="0"/>
                        <a:t>Operates in a highly competitive/mature telecom environment and has historically had a relatively weak position</a:t>
                      </a:r>
                    </a:p>
                  </a:txBody>
                  <a:tcPr marL="82101" marR="82101" marT="41050" marB="41050" anchor="ctr">
                    <a:lnL>
                      <a:noFill/>
                    </a:lnL>
                    <a:lnR>
                      <a:noFill/>
                    </a:lnR>
                    <a:lnT>
                      <a:noFill/>
                    </a:lnT>
                    <a:lnB>
                      <a:noFill/>
                    </a:lnB>
                  </a:tcPr>
                </a:tc>
                <a:extLst>
                  <a:ext uri="{0D108BD9-81ED-4DB2-BD59-A6C34878D82A}">
                    <a16:rowId xmlns:a16="http://schemas.microsoft.com/office/drawing/2014/main" val="1153855605"/>
                  </a:ext>
                </a:extLst>
              </a:tr>
            </a:tbl>
          </a:graphicData>
        </a:graphic>
      </p:graphicFrame>
    </p:spTree>
    <p:extLst>
      <p:ext uri="{BB962C8B-B14F-4D97-AF65-F5344CB8AC3E}">
        <p14:creationId xmlns:p14="http://schemas.microsoft.com/office/powerpoint/2010/main" val="498415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Takeaways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3400" dirty="0"/>
          </a:p>
        </p:txBody>
      </p:sp>
      <p:sp>
        <p:nvSpPr>
          <p:cNvPr id="6" name="Shape 3"/>
          <p:cNvSpPr/>
          <p:nvPr/>
        </p:nvSpPr>
        <p:spPr>
          <a:xfrm>
            <a:off x="731520" y="2194560"/>
            <a:ext cx="10698480" cy="914400"/>
          </a:xfrm>
          <a:prstGeom prst="roundRect">
            <a:avLst>
              <a:gd name="adj" fmla="val 8000"/>
            </a:avLst>
          </a:prstGeom>
          <a:solidFill>
            <a:srgbClr val="FFFFFF">
              <a:alpha val="70000"/>
            </a:srgbClr>
          </a:solidFill>
          <a:ln/>
        </p:spPr>
      </p:sp>
      <p:sp>
        <p:nvSpPr>
          <p:cNvPr id="7" name="Shape 4"/>
          <p:cNvSpPr/>
          <p:nvPr/>
        </p:nvSpPr>
        <p:spPr>
          <a:xfrm>
            <a:off x="731520" y="2194560"/>
            <a:ext cx="91440" cy="914400"/>
          </a:xfrm>
          <a:prstGeom prst="rect">
            <a:avLst/>
          </a:prstGeom>
          <a:solidFill>
            <a:srgbClr val="B20E38"/>
          </a:solidFill>
          <a:ln/>
        </p:spPr>
      </p:sp>
      <p:sp>
        <p:nvSpPr>
          <p:cNvPr id="8" name="Text 5"/>
          <p:cNvSpPr/>
          <p:nvPr/>
        </p:nvSpPr>
        <p:spPr>
          <a:xfrm>
            <a:off x="1051560" y="219456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Related diversification shares a real synergy, customer base, distribution, or input; unrelated diversification shares only capital</a:t>
            </a:r>
            <a:endParaRPr lang="en-US" sz="1400" dirty="0"/>
          </a:p>
        </p:txBody>
      </p:sp>
      <p:sp>
        <p:nvSpPr>
          <p:cNvPr id="9" name="Shape 6"/>
          <p:cNvSpPr/>
          <p:nvPr/>
        </p:nvSpPr>
        <p:spPr>
          <a:xfrm>
            <a:off x="731520" y="3246120"/>
            <a:ext cx="10698480" cy="914400"/>
          </a:xfrm>
          <a:prstGeom prst="roundRect">
            <a:avLst>
              <a:gd name="adj" fmla="val 8000"/>
            </a:avLst>
          </a:prstGeom>
          <a:solidFill>
            <a:srgbClr val="FFFFFF">
              <a:alpha val="70000"/>
            </a:srgbClr>
          </a:solidFill>
          <a:ln/>
        </p:spPr>
      </p:sp>
      <p:sp>
        <p:nvSpPr>
          <p:cNvPr id="10" name="Shape 7"/>
          <p:cNvSpPr/>
          <p:nvPr/>
        </p:nvSpPr>
        <p:spPr>
          <a:xfrm>
            <a:off x="731520" y="3246120"/>
            <a:ext cx="91440" cy="914400"/>
          </a:xfrm>
          <a:prstGeom prst="rect">
            <a:avLst/>
          </a:prstGeom>
          <a:solidFill>
            <a:srgbClr val="B20E38"/>
          </a:solidFill>
          <a:ln/>
        </p:spPr>
      </p:sp>
      <p:sp>
        <p:nvSpPr>
          <p:cNvPr id="11" name="Text 8"/>
          <p:cNvSpPr/>
          <p:nvPr/>
        </p:nvSpPr>
        <p:spPr>
          <a:xfrm>
            <a:off x="1051560" y="324612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ITC's journey shows both: hotels and paperboards were related moves, FMCG succeeded on distribution and financial synergy, not product overlap</a:t>
            </a:r>
            <a:endParaRPr lang="en-US" sz="1400" dirty="0"/>
          </a:p>
        </p:txBody>
      </p:sp>
      <p:sp>
        <p:nvSpPr>
          <p:cNvPr id="12" name="Shape 9"/>
          <p:cNvSpPr/>
          <p:nvPr/>
        </p:nvSpPr>
        <p:spPr>
          <a:xfrm>
            <a:off x="731520" y="4297680"/>
            <a:ext cx="10698480" cy="914400"/>
          </a:xfrm>
          <a:prstGeom prst="roundRect">
            <a:avLst>
              <a:gd name="adj" fmla="val 8000"/>
            </a:avLst>
          </a:prstGeom>
          <a:solidFill>
            <a:srgbClr val="FFFFFF">
              <a:alpha val="70000"/>
            </a:srgbClr>
          </a:solidFill>
          <a:ln/>
        </p:spPr>
      </p:sp>
      <p:sp>
        <p:nvSpPr>
          <p:cNvPr id="13" name="Shape 10"/>
          <p:cNvSpPr/>
          <p:nvPr/>
        </p:nvSpPr>
        <p:spPr>
          <a:xfrm>
            <a:off x="731520" y="4297680"/>
            <a:ext cx="91440" cy="914400"/>
          </a:xfrm>
          <a:prstGeom prst="rect">
            <a:avLst/>
          </a:prstGeom>
          <a:solidFill>
            <a:srgbClr val="B20E38"/>
          </a:solidFill>
          <a:ln/>
        </p:spPr>
      </p:sp>
      <p:sp>
        <p:nvSpPr>
          <p:cNvPr id="14" name="Text 11"/>
          <p:cNvSpPr/>
          <p:nvPr/>
        </p:nvSpPr>
        <p:spPr>
          <a:xfrm>
            <a:off x="1051560" y="429768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Diversification usually fails from a lack of real synergy, underestimating the new business, or running out of patience</a:t>
            </a:r>
            <a:endParaRPr lang="en-US" sz="1400" dirty="0"/>
          </a:p>
        </p:txBody>
      </p:sp>
      <p:sp>
        <p:nvSpPr>
          <p:cNvPr id="15" name="Shape 12"/>
          <p:cNvSpPr/>
          <p:nvPr/>
        </p:nvSpPr>
        <p:spPr>
          <a:xfrm>
            <a:off x="731520" y="5349240"/>
            <a:ext cx="10698480" cy="914400"/>
          </a:xfrm>
          <a:prstGeom prst="roundRect">
            <a:avLst>
              <a:gd name="adj" fmla="val 8000"/>
            </a:avLst>
          </a:prstGeom>
          <a:solidFill>
            <a:srgbClr val="FFFFFF">
              <a:alpha val="70000"/>
            </a:srgbClr>
          </a:solidFill>
          <a:ln/>
        </p:spPr>
      </p:sp>
      <p:sp>
        <p:nvSpPr>
          <p:cNvPr id="16" name="Shape 13"/>
          <p:cNvSpPr/>
          <p:nvPr/>
        </p:nvSpPr>
        <p:spPr>
          <a:xfrm>
            <a:off x="731520" y="5349240"/>
            <a:ext cx="91440" cy="914400"/>
          </a:xfrm>
          <a:prstGeom prst="rect">
            <a:avLst/>
          </a:prstGeom>
          <a:solidFill>
            <a:srgbClr val="B20E38"/>
          </a:solidFill>
          <a:ln/>
        </p:spPr>
      </p:sp>
      <p:sp>
        <p:nvSpPr>
          <p:cNvPr id="17" name="Text 14"/>
          <p:cNvSpPr/>
          <p:nvPr/>
        </p:nvSpPr>
        <p:spPr>
          <a:xfrm>
            <a:off x="1051560" y="534924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The BCG Matrix, Stars, Question Marks, Cash Cows, Dogs, is the next tool for managing everything a diversified company now owns</a:t>
            </a:r>
            <a:endParaRPr lang="en-US" sz="1400" dirty="0"/>
          </a:p>
        </p:txBody>
      </p:sp>
      <p:sp>
        <p:nvSpPr>
          <p:cNvPr id="18" name="Text 15"/>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13 / 15</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502920" y="320040"/>
            <a:ext cx="9144000" cy="457200"/>
          </a:xfrm>
          <a:prstGeom prst="rect">
            <a:avLst/>
          </a:prstGeom>
          <a:noFill/>
          <a:ln/>
        </p:spPr>
        <p:txBody>
          <a:bodyPr wrap="square" lIns="0" tIns="0" rIns="0" bIns="0" rtlCol="0" anchor="ctr"/>
          <a:lstStyle/>
          <a:p>
            <a:pPr marL="0" indent="0" algn="l">
              <a:buNone/>
            </a:pPr>
            <a:r>
              <a:rPr lang="en-US" sz="2000" b="1" dirty="0">
                <a:solidFill>
                  <a:srgbClr val="1A1A1A"/>
                </a:solidFill>
                <a:latin typeface="Montserrat" pitchFamily="34" charset="0"/>
                <a:ea typeface="Montserrat" pitchFamily="34" charset="-122"/>
                <a:cs typeface="Montserrat" pitchFamily="34" charset="-120"/>
              </a:rPr>
              <a:t>References &amp; Next Class</a:t>
            </a:r>
            <a:endParaRPr lang="en-US" sz="2000" dirty="0"/>
          </a:p>
        </p:txBody>
      </p:sp>
      <p:sp>
        <p:nvSpPr>
          <p:cNvPr id="4" name="Text 1"/>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500" b="1" dirty="0">
                <a:solidFill>
                  <a:srgbClr val="2A2A2A"/>
                </a:solidFill>
                <a:latin typeface="Arial" pitchFamily="34" charset="0"/>
                <a:ea typeface="Arial" pitchFamily="34" charset="-122"/>
                <a:cs typeface="Arial" pitchFamily="34" charset="-120"/>
              </a:rPr>
              <a:t>“</a:t>
            </a:r>
            <a:r>
              <a:rPr lang="en-US" sz="1500" b="1" dirty="0">
                <a:solidFill>
                  <a:srgbClr val="2A2A2A"/>
                </a:solidFill>
                <a:latin typeface="Montserrat" pitchFamily="34" charset="0"/>
                <a:ea typeface="Montserrat" pitchFamily="34" charset="-122"/>
                <a:cs typeface="Montserrat" pitchFamily="34" charset="-120"/>
              </a:rPr>
              <a:t>India that is Bharat</a:t>
            </a:r>
            <a:r>
              <a:rPr lang="en-US" sz="1500" b="1" dirty="0">
                <a:solidFill>
                  <a:srgbClr val="2A2A2A"/>
                </a:solidFill>
                <a:latin typeface="Arial" pitchFamily="34" charset="0"/>
                <a:ea typeface="Arial" pitchFamily="34" charset="-122"/>
                <a:cs typeface="Arial" pitchFamily="34" charset="-120"/>
              </a:rPr>
              <a:t>”</a:t>
            </a:r>
            <a:endParaRPr lang="en-US" sz="1500" dirty="0"/>
          </a:p>
        </p:txBody>
      </p:sp>
      <p:sp>
        <p:nvSpPr>
          <p:cNvPr id="5" name="Text 2"/>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400" b="1" dirty="0">
                <a:solidFill>
                  <a:srgbClr val="B20E38"/>
                </a:solidFill>
                <a:latin typeface="Montserrat SemiBold" pitchFamily="34" charset="0"/>
                <a:ea typeface="Montserrat SemiBold" pitchFamily="34" charset="-122"/>
                <a:cs typeface="Montserrat SemiBold" pitchFamily="34" charset="-120"/>
              </a:rPr>
              <a:t>Sources &amp; What's Coming Up</a:t>
            </a:r>
            <a:endParaRPr lang="en-US" sz="3400" dirty="0"/>
          </a:p>
        </p:txBody>
      </p:sp>
      <p:sp>
        <p:nvSpPr>
          <p:cNvPr id="6" name="Shape 3"/>
          <p:cNvSpPr/>
          <p:nvPr/>
        </p:nvSpPr>
        <p:spPr>
          <a:xfrm>
            <a:off x="731520" y="2103120"/>
            <a:ext cx="10698480" cy="2011680"/>
          </a:xfrm>
          <a:prstGeom prst="roundRect">
            <a:avLst>
              <a:gd name="adj" fmla="val 3636"/>
            </a:avLst>
          </a:prstGeom>
          <a:solidFill>
            <a:srgbClr val="FFFFFF">
              <a:alpha val="70000"/>
            </a:srgbClr>
          </a:solidFill>
          <a:ln/>
        </p:spPr>
      </p:sp>
      <p:sp>
        <p:nvSpPr>
          <p:cNvPr id="7" name="Text 4"/>
          <p:cNvSpPr/>
          <p:nvPr/>
        </p:nvSpPr>
        <p:spPr>
          <a:xfrm>
            <a:off x="1005840" y="2377440"/>
            <a:ext cx="10149840" cy="1371600"/>
          </a:xfrm>
          <a:prstGeom prst="rect">
            <a:avLst/>
          </a:prstGeom>
          <a:noFill/>
          <a:ln/>
        </p:spPr>
        <p:txBody>
          <a:bodyPr wrap="square" lIns="0" tIns="0" rIns="0" bIns="0" rtlCol="0" anchor="ctr"/>
          <a:lstStyle/>
          <a:p>
            <a:pPr marL="0" indent="0">
              <a:lnSpc>
                <a:spcPct val="135000"/>
              </a:lnSpc>
              <a:buNone/>
            </a:pPr>
            <a:r>
              <a:rPr lang="en-US" dirty="0">
                <a:solidFill>
                  <a:srgbClr val="1A1A1A"/>
                </a:solidFill>
                <a:latin typeface="Montserrat" pitchFamily="34" charset="0"/>
                <a:ea typeface="Montserrat" pitchFamily="34" charset="-122"/>
                <a:cs typeface="Montserrat" pitchFamily="34" charset="-120"/>
              </a:rPr>
              <a:t>Course pack, Unit 2, Diversification &amp; Portfolio Planning; Henderson, B. — “The Product Portfolio,” BCG, 1970; Sun Tzu, The Art of War, Chapter II; public accounts of ITC's business history.</a:t>
            </a:r>
            <a:endParaRPr lang="en-US" dirty="0"/>
          </a:p>
        </p:txBody>
      </p:sp>
      <p:sp>
        <p:nvSpPr>
          <p:cNvPr id="9" name="Text 6"/>
          <p:cNvSpPr/>
          <p:nvPr/>
        </p:nvSpPr>
        <p:spPr>
          <a:xfrm>
            <a:off x="1005840" y="4297680"/>
            <a:ext cx="10149840" cy="1828800"/>
          </a:xfrm>
          <a:prstGeom prst="rect">
            <a:avLst/>
          </a:prstGeom>
          <a:noFill/>
          <a:ln/>
        </p:spPr>
        <p:txBody>
          <a:bodyPr wrap="square" lIns="0" tIns="0" rIns="0" bIns="0" rtlCol="0" anchor="ctr"/>
          <a:lstStyle/>
          <a:p>
            <a:pPr marL="0" indent="0" algn="ctr">
              <a:lnSpc>
                <a:spcPct val="130000"/>
              </a:lnSpc>
              <a:buNone/>
            </a:pPr>
            <a:endParaRPr lang="en-US" sz="1700" dirty="0"/>
          </a:p>
        </p:txBody>
      </p:sp>
      <p:sp>
        <p:nvSpPr>
          <p:cNvPr id="10" name="Text 7"/>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14 / 15</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sc_assets/content_bg.png"/>
          <p:cNvPicPr>
            <a:picLocks noChangeAspect="1"/>
          </p:cNvPicPr>
          <p:nvPr/>
        </p:nvPicPr>
        <p:blipFill>
          <a:blip r:embed="rId3"/>
          <a:stretch>
            <a:fillRect/>
          </a:stretch>
        </p:blipFill>
        <p:spPr>
          <a:xfrm>
            <a:off x="0" y="0"/>
            <a:ext cx="12188952" cy="6858000"/>
          </a:xfrm>
          <a:prstGeom prst="rect">
            <a:avLst/>
          </a:prstGeom>
        </p:spPr>
      </p:pic>
      <p:sp>
        <p:nvSpPr>
          <p:cNvPr id="3" name="Text 0"/>
          <p:cNvSpPr/>
          <p:nvPr/>
        </p:nvSpPr>
        <p:spPr>
          <a:xfrm>
            <a:off x="731520" y="2743200"/>
            <a:ext cx="10698480" cy="822960"/>
          </a:xfrm>
          <a:prstGeom prst="rect">
            <a:avLst/>
          </a:prstGeom>
          <a:noFill/>
          <a:ln/>
        </p:spPr>
        <p:txBody>
          <a:bodyPr wrap="square" lIns="0" tIns="0" rIns="0" bIns="0" rtlCol="0" anchor="ctr"/>
          <a:lstStyle/>
          <a:p>
            <a:pPr marL="0" indent="0" algn="ctr">
              <a:buNone/>
            </a:pPr>
            <a:r>
              <a:rPr lang="en-US" sz="2700" b="1" dirty="0">
                <a:solidFill>
                  <a:srgbClr val="B20E38"/>
                </a:solidFill>
                <a:latin typeface="Montserrat SemiBold" pitchFamily="34" charset="0"/>
                <a:ea typeface="Montserrat SemiBold" pitchFamily="34" charset="-122"/>
                <a:cs typeface="Montserrat SemiBold" pitchFamily="34" charset="-120"/>
              </a:rPr>
              <a:t>A diversified company is a portfolio, not a single bet.</a:t>
            </a:r>
            <a:endParaRPr lang="en-US" sz="2700" dirty="0"/>
          </a:p>
        </p:txBody>
      </p:sp>
      <p:sp>
        <p:nvSpPr>
          <p:cNvPr id="4" name="Text 1"/>
          <p:cNvSpPr/>
          <p:nvPr/>
        </p:nvSpPr>
        <p:spPr>
          <a:xfrm>
            <a:off x="731520" y="3520440"/>
            <a:ext cx="10698480" cy="548640"/>
          </a:xfrm>
          <a:prstGeom prst="rect">
            <a:avLst/>
          </a:prstGeom>
          <a:noFill/>
          <a:ln/>
        </p:spPr>
        <p:txBody>
          <a:bodyPr wrap="square" lIns="0" tIns="0" rIns="0" bIns="0" rtlCol="0" anchor="ctr"/>
          <a:lstStyle/>
          <a:p>
            <a:pPr marL="0" indent="0" algn="ctr">
              <a:buNone/>
            </a:pPr>
            <a:r>
              <a:rPr lang="en-US" sz="2200" i="1" dirty="0">
                <a:solidFill>
                  <a:srgbClr val="2A2A2A"/>
                </a:solidFill>
                <a:latin typeface="Montserrat" pitchFamily="34" charset="0"/>
                <a:ea typeface="Montserrat" pitchFamily="34" charset="-122"/>
                <a:cs typeface="Montserrat" pitchFamily="34" charset="-120"/>
              </a:rPr>
              <a:t>See you next week!</a:t>
            </a:r>
            <a:endParaRPr lang="en-US" sz="2200" dirty="0"/>
          </a:p>
        </p:txBody>
      </p:sp>
      <p:sp>
        <p:nvSpPr>
          <p:cNvPr id="5" name="Text 2"/>
          <p:cNvSpPr/>
          <p:nvPr/>
        </p:nvSpPr>
        <p:spPr>
          <a:xfrm>
            <a:off x="9052560" y="320040"/>
            <a:ext cx="2651760" cy="457200"/>
          </a:xfrm>
          <a:prstGeom prst="rect">
            <a:avLst/>
          </a:prstGeom>
          <a:noFill/>
          <a:ln/>
        </p:spPr>
        <p:txBody>
          <a:bodyPr wrap="square" lIns="0" tIns="0" rIns="0" bIns="0" rtlCol="0" anchor="ctr"/>
          <a:lstStyle/>
          <a:p>
            <a:pPr marL="0" indent="0" algn="r">
              <a:buNone/>
            </a:pPr>
            <a:r>
              <a:rPr lang="en-US" sz="1600" b="1" dirty="0">
                <a:solidFill>
                  <a:srgbClr val="8A6A55"/>
                </a:solidFill>
                <a:latin typeface="Montserrat" pitchFamily="34" charset="0"/>
                <a:ea typeface="Montserrat" pitchFamily="34" charset="-122"/>
                <a:cs typeface="Montserrat" pitchFamily="34" charset="-120"/>
              </a:rPr>
              <a:t>15 / 15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801</TotalTime>
  <Words>1269</Words>
  <Application>Microsoft Office PowerPoint</Application>
  <PresentationFormat>Custom</PresentationFormat>
  <Paragraphs>185</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Montserrat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Shridhar samant</cp:lastModifiedBy>
  <cp:revision>3</cp:revision>
  <dcterms:created xsi:type="dcterms:W3CDTF">2026-08-31T11:41:36Z</dcterms:created>
  <dcterms:modified xsi:type="dcterms:W3CDTF">2026-09-19T07:50:16Z</dcterms:modified>
</cp:coreProperties>
</file>