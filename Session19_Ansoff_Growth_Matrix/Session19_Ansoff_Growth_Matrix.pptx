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3" r:id="rId5"/>
    <p:sldId id="274" r:id="rId6"/>
    <p:sldId id="259" r:id="rId7"/>
    <p:sldId id="275" r:id="rId8"/>
    <p:sldId id="260" r:id="rId9"/>
    <p:sldId id="276" r:id="rId10"/>
    <p:sldId id="261" r:id="rId11"/>
    <p:sldId id="277" r:id="rId12"/>
    <p:sldId id="262" r:id="rId13"/>
    <p:sldId id="278" r:id="rId14"/>
    <p:sldId id="280" r:id="rId15"/>
    <p:sldId id="279" r:id="rId16"/>
    <p:sldId id="263" r:id="rId17"/>
    <p:sldId id="264" r:id="rId18"/>
    <p:sldId id="265" r:id="rId19"/>
    <p:sldId id="267" r:id="rId20"/>
    <p:sldId id="268" r:id="rId21"/>
    <p:sldId id="269" r:id="rId22"/>
    <p:sldId id="270" r:id="rId23"/>
    <p:sldId id="271" r:id="rId24"/>
    <p:sldId id="272" r:id="rId25"/>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0" d="100"/>
          <a:sy n="70" d="100"/>
        </p:scale>
        <p:origin x="842" y="2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733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71615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76966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29415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82620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15988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00420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15541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19002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731520" y="2377440"/>
            <a:ext cx="10698480" cy="914400"/>
          </a:xfrm>
          <a:prstGeom prst="rect">
            <a:avLst/>
          </a:prstGeom>
          <a:noFill/>
          <a:ln/>
        </p:spPr>
        <p:txBody>
          <a:bodyPr wrap="square" lIns="0" tIns="0" rIns="0" bIns="0" rtlCol="0" anchor="ctr"/>
          <a:lstStyle/>
          <a:p>
            <a:pPr marL="0" indent="0" algn="ctr">
              <a:buNone/>
            </a:pPr>
            <a:r>
              <a:rPr lang="en-US" sz="3800" b="1" dirty="0">
                <a:solidFill>
                  <a:srgbClr val="1A1A1A"/>
                </a:solidFill>
                <a:latin typeface="Montserrat SemiBold" pitchFamily="34" charset="0"/>
                <a:ea typeface="Montserrat SemiBold" pitchFamily="34" charset="-122"/>
                <a:cs typeface="Montserrat SemiBold" pitchFamily="34" charset="-120"/>
              </a:rPr>
              <a:t>Strategies for Business Growth</a:t>
            </a:r>
            <a:endParaRPr lang="en-US" sz="3800" dirty="0"/>
          </a:p>
        </p:txBody>
      </p:sp>
      <p:sp>
        <p:nvSpPr>
          <p:cNvPr id="4" name="Text 1"/>
          <p:cNvSpPr/>
          <p:nvPr/>
        </p:nvSpPr>
        <p:spPr>
          <a:xfrm>
            <a:off x="731520" y="3200400"/>
            <a:ext cx="10698480" cy="548640"/>
          </a:xfrm>
          <a:prstGeom prst="rect">
            <a:avLst/>
          </a:prstGeom>
          <a:noFill/>
          <a:ln/>
        </p:spPr>
        <p:txBody>
          <a:bodyPr wrap="square" lIns="0" tIns="0" rIns="0" bIns="0" rtlCol="0" anchor="ctr"/>
          <a:lstStyle/>
          <a:p>
            <a:pPr marL="0" indent="0" algn="ctr">
              <a:buNone/>
            </a:pPr>
            <a:r>
              <a:rPr lang="en-US" sz="2200" b="1" dirty="0">
                <a:solidFill>
                  <a:srgbClr val="B20E38"/>
                </a:solidFill>
                <a:latin typeface="Montserrat SemiBold" pitchFamily="34" charset="0"/>
                <a:ea typeface="Montserrat SemiBold" pitchFamily="34" charset="-122"/>
                <a:cs typeface="Montserrat SemiBold" pitchFamily="34" charset="-120"/>
              </a:rPr>
              <a:t>Week 5 · Session 19</a:t>
            </a:r>
            <a:endParaRPr lang="en-US" sz="2200" dirty="0"/>
          </a:p>
        </p:txBody>
      </p:sp>
      <p:sp>
        <p:nvSpPr>
          <p:cNvPr id="5" name="Text 2"/>
          <p:cNvSpPr/>
          <p:nvPr/>
        </p:nvSpPr>
        <p:spPr>
          <a:xfrm>
            <a:off x="731520" y="3794760"/>
            <a:ext cx="10698480" cy="548640"/>
          </a:xfrm>
          <a:prstGeom prst="rect">
            <a:avLst/>
          </a:prstGeom>
          <a:noFill/>
          <a:ln/>
        </p:spPr>
        <p:txBody>
          <a:bodyPr wrap="square" lIns="0" tIns="0" rIns="0" bIns="0" rtlCol="0" anchor="ctr"/>
          <a:lstStyle/>
          <a:p>
            <a:pPr marL="0" indent="0" algn="ctr">
              <a:buNone/>
            </a:pPr>
            <a:r>
              <a:rPr lang="en-US" sz="2000" i="1" dirty="0">
                <a:solidFill>
                  <a:srgbClr val="2A2A2A"/>
                </a:solidFill>
                <a:latin typeface="Montserrat" pitchFamily="34" charset="0"/>
                <a:ea typeface="Montserrat" pitchFamily="34" charset="-122"/>
                <a:cs typeface="Montserrat" pitchFamily="34" charset="-120"/>
              </a:rPr>
              <a:t>Growth Strategies: The Ansoff Matrix</a:t>
            </a:r>
            <a:endParaRPr lang="en-US" sz="2000" dirty="0"/>
          </a:p>
        </p:txBody>
      </p:sp>
      <p:sp>
        <p:nvSpPr>
          <p:cNvPr id="6" name="Text 3"/>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 / 17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Bridge</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The Question This Whole Course Is Named For</a:t>
            </a:r>
            <a:endParaRPr lang="en-US" sz="3400" dirty="0"/>
          </a:p>
        </p:txBody>
      </p:sp>
      <p:sp>
        <p:nvSpPr>
          <p:cNvPr id="6" name="Shape 3"/>
          <p:cNvSpPr/>
          <p:nvPr/>
        </p:nvSpPr>
        <p:spPr>
          <a:xfrm>
            <a:off x="731520" y="2103120"/>
            <a:ext cx="10698480" cy="3931920"/>
          </a:xfrm>
          <a:prstGeom prst="roundRect">
            <a:avLst>
              <a:gd name="adj" fmla="val 1860"/>
            </a:avLst>
          </a:prstGeom>
          <a:solidFill>
            <a:srgbClr val="FFFFFF">
              <a:alpha val="70000"/>
            </a:srgbClr>
          </a:solidFill>
          <a:ln/>
        </p:spPr>
      </p:sp>
      <p:sp>
        <p:nvSpPr>
          <p:cNvPr id="7" name="Text 4"/>
          <p:cNvSpPr/>
          <p:nvPr/>
        </p:nvSpPr>
        <p:spPr>
          <a:xfrm>
            <a:off x="1005840" y="2423160"/>
            <a:ext cx="10149840" cy="1097280"/>
          </a:xfrm>
          <a:prstGeom prst="rect">
            <a:avLst/>
          </a:prstGeom>
          <a:noFill/>
          <a:ln/>
        </p:spPr>
        <p:txBody>
          <a:bodyPr wrap="square" lIns="0" tIns="0" rIns="0" bIns="0" rtlCol="0" anchor="ctr"/>
          <a:lstStyle/>
          <a:p>
            <a:pPr marL="0" indent="0">
              <a:lnSpc>
                <a:spcPct val="135000"/>
              </a:lnSpc>
              <a:buNone/>
            </a:pPr>
            <a:r>
              <a:rPr lang="en-US" sz="1700" dirty="0">
                <a:solidFill>
                  <a:srgbClr val="1A1A1A"/>
                </a:solidFill>
                <a:latin typeface="Montserrat" pitchFamily="34" charset="0"/>
                <a:ea typeface="Montserrat" pitchFamily="34" charset="-122"/>
                <a:cs typeface="Montserrat" pitchFamily="34" charset="-120"/>
              </a:rPr>
              <a:t>Last session, we established that growth is a real choice, not a default. Today, if you've made that choice, you get a </a:t>
            </a:r>
            <a:r>
              <a:rPr lang="en-US" sz="1700" b="1" dirty="0">
                <a:solidFill>
                  <a:srgbClr val="1A1A1A"/>
                </a:solidFill>
                <a:latin typeface="Montserrat" pitchFamily="34" charset="0"/>
                <a:ea typeface="Montserrat" pitchFamily="34" charset="-122"/>
                <a:cs typeface="Montserrat" pitchFamily="34" charset="-120"/>
              </a:rPr>
              <a:t>precise tool for deciding exactly how to grow.</a:t>
            </a:r>
            <a:endParaRPr lang="en-US" sz="1700" b="1" dirty="0"/>
          </a:p>
        </p:txBody>
      </p:sp>
      <p:sp>
        <p:nvSpPr>
          <p:cNvPr id="8" name="Shape 5"/>
          <p:cNvSpPr/>
          <p:nvPr/>
        </p:nvSpPr>
        <p:spPr>
          <a:xfrm>
            <a:off x="1005840" y="3657600"/>
            <a:ext cx="10149840" cy="2011680"/>
          </a:xfrm>
          <a:prstGeom prst="roundRect">
            <a:avLst>
              <a:gd name="adj" fmla="val 3636"/>
            </a:avLst>
          </a:prstGeom>
          <a:solidFill>
            <a:srgbClr val="B20E38"/>
          </a:solidFill>
          <a:ln/>
        </p:spPr>
      </p:sp>
      <p:sp>
        <p:nvSpPr>
          <p:cNvPr id="9" name="Text 6"/>
          <p:cNvSpPr/>
          <p:nvPr/>
        </p:nvSpPr>
        <p:spPr>
          <a:xfrm>
            <a:off x="1280160" y="3657600"/>
            <a:ext cx="9601200" cy="2011680"/>
          </a:xfrm>
          <a:prstGeom prst="rect">
            <a:avLst/>
          </a:prstGeom>
          <a:noFill/>
          <a:ln/>
        </p:spPr>
        <p:txBody>
          <a:bodyPr wrap="square" lIns="0" tIns="0" rIns="0" bIns="0" rtlCol="0" anchor="ctr"/>
          <a:lstStyle/>
          <a:p>
            <a:pPr marL="0" indent="0">
              <a:lnSpc>
                <a:spcPct val="130000"/>
              </a:lnSpc>
              <a:buNone/>
            </a:pPr>
            <a:r>
              <a:rPr lang="en-US" sz="1600" b="1" i="1" dirty="0">
                <a:solidFill>
                  <a:srgbClr val="FFFFFF"/>
                </a:solidFill>
                <a:latin typeface="Montserrat" pitchFamily="34" charset="0"/>
                <a:ea typeface="Montserrat" pitchFamily="34" charset="-122"/>
                <a:cs typeface="Montserrat" pitchFamily="34" charset="-120"/>
              </a:rPr>
              <a:t>Igor Ansoff published this matrix in a 1957 Harvard Business Review article. It is nearly 70 years old and is still the first framework any manager reaches for when asked “how do we grow?”</a:t>
            </a:r>
            <a:endParaRPr lang="en-US" sz="16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2 / 17</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4773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Two Questions, Four Answers</a:t>
            </a:r>
            <a:endParaRPr lang="en-US" sz="3400" dirty="0"/>
          </a:p>
        </p:txBody>
      </p:sp>
      <p:sp>
        <p:nvSpPr>
          <p:cNvPr id="19" name="Text 16"/>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17</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Two Questions, Four Answers</a:t>
            </a:r>
            <a:endParaRPr lang="en-US" sz="3400" dirty="0"/>
          </a:p>
        </p:txBody>
      </p:sp>
      <p:sp>
        <p:nvSpPr>
          <p:cNvPr id="6" name="Text 3"/>
          <p:cNvSpPr/>
          <p:nvPr/>
        </p:nvSpPr>
        <p:spPr>
          <a:xfrm>
            <a:off x="731520" y="1965960"/>
            <a:ext cx="10698480" cy="64008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Are we selling an existing or a new product? To an existing or a new market? Two yes/no questions produce four growth strategies.</a:t>
            </a:r>
            <a:endParaRPr lang="en-US" sz="1600" dirty="0"/>
          </a:p>
        </p:txBody>
      </p:sp>
      <p:sp>
        <p:nvSpPr>
          <p:cNvPr id="7" name="Shape 4"/>
          <p:cNvSpPr/>
          <p:nvPr/>
        </p:nvSpPr>
        <p:spPr>
          <a:xfrm>
            <a:off x="731520" y="2743200"/>
            <a:ext cx="5120640" cy="1645920"/>
          </a:xfrm>
          <a:prstGeom prst="roundRect">
            <a:avLst>
              <a:gd name="adj" fmla="val 4444"/>
            </a:avLst>
          </a:prstGeom>
          <a:solidFill>
            <a:srgbClr val="FFFFFF">
              <a:alpha val="70000"/>
            </a:srgbClr>
          </a:solidFill>
          <a:ln/>
        </p:spPr>
      </p:sp>
      <p:sp>
        <p:nvSpPr>
          <p:cNvPr id="8" name="Text 5"/>
          <p:cNvSpPr/>
          <p:nvPr/>
        </p:nvSpPr>
        <p:spPr>
          <a:xfrm>
            <a:off x="960120" y="292608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Market Penetration</a:t>
            </a:r>
            <a:endParaRPr lang="en-US" sz="1700" dirty="0"/>
          </a:p>
        </p:txBody>
      </p:sp>
      <p:sp>
        <p:nvSpPr>
          <p:cNvPr id="9" name="Text 6"/>
          <p:cNvSpPr/>
          <p:nvPr/>
        </p:nvSpPr>
        <p:spPr>
          <a:xfrm>
            <a:off x="960120" y="3429000"/>
            <a:ext cx="4663440" cy="822960"/>
          </a:xfrm>
          <a:prstGeom prst="rect">
            <a:avLst/>
          </a:prstGeom>
          <a:noFill/>
          <a:ln/>
        </p:spPr>
        <p:txBody>
          <a:bodyPr wrap="square" lIns="0" tIns="0" rIns="0" bIns="0" rtlCol="0" anchor="ctr"/>
          <a:lstStyle/>
          <a:p>
            <a:pPr marL="0" indent="0">
              <a:lnSpc>
                <a:spcPct val="120000"/>
              </a:lnSpc>
              <a:buNone/>
            </a:pPr>
            <a:endParaRPr lang="en-US" sz="1400" dirty="0"/>
          </a:p>
        </p:txBody>
      </p:sp>
      <p:sp>
        <p:nvSpPr>
          <p:cNvPr id="10" name="Shape 7"/>
          <p:cNvSpPr/>
          <p:nvPr/>
        </p:nvSpPr>
        <p:spPr>
          <a:xfrm>
            <a:off x="6309360" y="2743200"/>
            <a:ext cx="5120640" cy="1645920"/>
          </a:xfrm>
          <a:prstGeom prst="roundRect">
            <a:avLst>
              <a:gd name="adj" fmla="val 4444"/>
            </a:avLst>
          </a:prstGeom>
          <a:solidFill>
            <a:srgbClr val="FFFFFF">
              <a:alpha val="70000"/>
            </a:srgbClr>
          </a:solidFill>
          <a:ln/>
        </p:spPr>
      </p:sp>
      <p:sp>
        <p:nvSpPr>
          <p:cNvPr id="11" name="Text 8"/>
          <p:cNvSpPr/>
          <p:nvPr/>
        </p:nvSpPr>
        <p:spPr>
          <a:xfrm>
            <a:off x="6537960" y="292608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Product Development</a:t>
            </a:r>
            <a:endParaRPr lang="en-US" sz="1700" dirty="0"/>
          </a:p>
        </p:txBody>
      </p:sp>
      <p:sp>
        <p:nvSpPr>
          <p:cNvPr id="12" name="Text 9"/>
          <p:cNvSpPr/>
          <p:nvPr/>
        </p:nvSpPr>
        <p:spPr>
          <a:xfrm>
            <a:off x="6537960" y="3429000"/>
            <a:ext cx="4663440" cy="822960"/>
          </a:xfrm>
          <a:prstGeom prst="rect">
            <a:avLst/>
          </a:prstGeom>
          <a:noFill/>
          <a:ln/>
        </p:spPr>
        <p:txBody>
          <a:bodyPr wrap="square" lIns="0" tIns="0" rIns="0" bIns="0" rtlCol="0" anchor="ctr"/>
          <a:lstStyle/>
          <a:p>
            <a:pPr marL="0" indent="0">
              <a:lnSpc>
                <a:spcPct val="120000"/>
              </a:lnSpc>
              <a:buNone/>
            </a:pPr>
            <a:endParaRPr lang="en-US" sz="1400" dirty="0"/>
          </a:p>
        </p:txBody>
      </p:sp>
      <p:sp>
        <p:nvSpPr>
          <p:cNvPr id="13" name="Shape 10"/>
          <p:cNvSpPr/>
          <p:nvPr/>
        </p:nvSpPr>
        <p:spPr>
          <a:xfrm>
            <a:off x="731520" y="4526280"/>
            <a:ext cx="5120640" cy="1645920"/>
          </a:xfrm>
          <a:prstGeom prst="roundRect">
            <a:avLst>
              <a:gd name="adj" fmla="val 4444"/>
            </a:avLst>
          </a:prstGeom>
          <a:solidFill>
            <a:srgbClr val="FFFFFF">
              <a:alpha val="70000"/>
            </a:srgbClr>
          </a:solidFill>
          <a:ln/>
        </p:spPr>
      </p:sp>
      <p:sp>
        <p:nvSpPr>
          <p:cNvPr id="14" name="Text 11"/>
          <p:cNvSpPr/>
          <p:nvPr/>
        </p:nvSpPr>
        <p:spPr>
          <a:xfrm>
            <a:off x="960120" y="470916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Market Development</a:t>
            </a:r>
            <a:endParaRPr lang="en-US" sz="1700" dirty="0"/>
          </a:p>
        </p:txBody>
      </p:sp>
      <p:sp>
        <p:nvSpPr>
          <p:cNvPr id="15" name="Text 12"/>
          <p:cNvSpPr/>
          <p:nvPr/>
        </p:nvSpPr>
        <p:spPr>
          <a:xfrm>
            <a:off x="960120" y="5212080"/>
            <a:ext cx="4663440" cy="822960"/>
          </a:xfrm>
          <a:prstGeom prst="rect">
            <a:avLst/>
          </a:prstGeom>
          <a:noFill/>
          <a:ln/>
        </p:spPr>
        <p:txBody>
          <a:bodyPr wrap="square" lIns="0" tIns="0" rIns="0" bIns="0" rtlCol="0" anchor="ctr"/>
          <a:lstStyle/>
          <a:p>
            <a:pPr marL="0" indent="0">
              <a:lnSpc>
                <a:spcPct val="120000"/>
              </a:lnSpc>
              <a:buNone/>
            </a:pPr>
            <a:endParaRPr lang="en-US" sz="1400" dirty="0"/>
          </a:p>
        </p:txBody>
      </p:sp>
      <p:sp>
        <p:nvSpPr>
          <p:cNvPr id="16" name="Shape 13"/>
          <p:cNvSpPr/>
          <p:nvPr/>
        </p:nvSpPr>
        <p:spPr>
          <a:xfrm>
            <a:off x="6309360" y="4526280"/>
            <a:ext cx="5120640" cy="1645920"/>
          </a:xfrm>
          <a:prstGeom prst="roundRect">
            <a:avLst>
              <a:gd name="adj" fmla="val 4444"/>
            </a:avLst>
          </a:prstGeom>
          <a:solidFill>
            <a:srgbClr val="B20E38"/>
          </a:solidFill>
          <a:ln/>
        </p:spPr>
      </p:sp>
      <p:sp>
        <p:nvSpPr>
          <p:cNvPr id="17" name="Text 14"/>
          <p:cNvSpPr/>
          <p:nvPr/>
        </p:nvSpPr>
        <p:spPr>
          <a:xfrm>
            <a:off x="6537960" y="4709160"/>
            <a:ext cx="4663440" cy="457200"/>
          </a:xfrm>
          <a:prstGeom prst="rect">
            <a:avLst/>
          </a:prstGeom>
          <a:noFill/>
          <a:ln/>
        </p:spPr>
        <p:txBody>
          <a:bodyPr wrap="square" lIns="0" tIns="0" rIns="0" bIns="0" rtlCol="0" anchor="ctr"/>
          <a:lstStyle/>
          <a:p>
            <a:pPr marL="0" indent="0">
              <a:buNone/>
            </a:pPr>
            <a:r>
              <a:rPr lang="en-US" sz="1700" b="1" dirty="0">
                <a:solidFill>
                  <a:srgbClr val="FFFFFF"/>
                </a:solidFill>
                <a:latin typeface="Montserrat SemiBold" pitchFamily="34" charset="0"/>
                <a:ea typeface="Montserrat SemiBold" pitchFamily="34" charset="-122"/>
                <a:cs typeface="Montserrat SemiBold" pitchFamily="34" charset="-120"/>
              </a:rPr>
              <a:t>Diversification</a:t>
            </a:r>
            <a:endParaRPr lang="en-US" sz="1700" dirty="0"/>
          </a:p>
        </p:txBody>
      </p:sp>
      <p:sp>
        <p:nvSpPr>
          <p:cNvPr id="18" name="Text 15"/>
          <p:cNvSpPr/>
          <p:nvPr/>
        </p:nvSpPr>
        <p:spPr>
          <a:xfrm>
            <a:off x="6537960" y="5212080"/>
            <a:ext cx="4663440" cy="822960"/>
          </a:xfrm>
          <a:prstGeom prst="rect">
            <a:avLst/>
          </a:prstGeom>
          <a:noFill/>
          <a:ln/>
        </p:spPr>
        <p:txBody>
          <a:bodyPr wrap="square" lIns="0" tIns="0" rIns="0" bIns="0" rtlCol="0" anchor="ctr"/>
          <a:lstStyle/>
          <a:p>
            <a:pPr marL="0" indent="0">
              <a:lnSpc>
                <a:spcPct val="120000"/>
              </a:lnSpc>
              <a:buNone/>
            </a:pPr>
            <a:endParaRPr lang="en-US" sz="1400" dirty="0"/>
          </a:p>
        </p:txBody>
      </p:sp>
      <p:sp>
        <p:nvSpPr>
          <p:cNvPr id="19" name="Text 16"/>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17</a:t>
            </a:r>
            <a:endParaRPr lang="en-US" sz="1600" dirty="0"/>
          </a:p>
        </p:txBody>
      </p:sp>
    </p:spTree>
    <p:extLst>
      <p:ext uri="{BB962C8B-B14F-4D97-AF65-F5344CB8AC3E}">
        <p14:creationId xmlns:p14="http://schemas.microsoft.com/office/powerpoint/2010/main" val="992950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Two Questions, Four Answers</a:t>
            </a:r>
            <a:endParaRPr lang="en-US" sz="3400" dirty="0"/>
          </a:p>
        </p:txBody>
      </p:sp>
      <p:sp>
        <p:nvSpPr>
          <p:cNvPr id="6" name="Text 3"/>
          <p:cNvSpPr/>
          <p:nvPr/>
        </p:nvSpPr>
        <p:spPr>
          <a:xfrm>
            <a:off x="731520" y="1965960"/>
            <a:ext cx="10698480" cy="64008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Are we selling an existing or a new product? To an existing or a new market? Two yes/no questions produce four growth strategies.</a:t>
            </a:r>
            <a:endParaRPr lang="en-US" sz="1600" dirty="0"/>
          </a:p>
        </p:txBody>
      </p:sp>
      <p:sp>
        <p:nvSpPr>
          <p:cNvPr id="7" name="Shape 4"/>
          <p:cNvSpPr/>
          <p:nvPr/>
        </p:nvSpPr>
        <p:spPr>
          <a:xfrm>
            <a:off x="731520" y="2743200"/>
            <a:ext cx="5120640" cy="1645920"/>
          </a:xfrm>
          <a:prstGeom prst="roundRect">
            <a:avLst>
              <a:gd name="adj" fmla="val 4444"/>
            </a:avLst>
          </a:prstGeom>
          <a:solidFill>
            <a:srgbClr val="FFFFFF">
              <a:alpha val="70000"/>
            </a:srgbClr>
          </a:solidFill>
          <a:ln/>
        </p:spPr>
      </p:sp>
      <p:sp>
        <p:nvSpPr>
          <p:cNvPr id="8" name="Text 5"/>
          <p:cNvSpPr/>
          <p:nvPr/>
        </p:nvSpPr>
        <p:spPr>
          <a:xfrm>
            <a:off x="960120" y="292608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Market Penetration</a:t>
            </a:r>
            <a:endParaRPr lang="en-US" sz="1700" dirty="0"/>
          </a:p>
        </p:txBody>
      </p:sp>
      <p:sp>
        <p:nvSpPr>
          <p:cNvPr id="9" name="Text 6"/>
          <p:cNvSpPr/>
          <p:nvPr/>
        </p:nvSpPr>
        <p:spPr>
          <a:xfrm>
            <a:off x="960120" y="3429000"/>
            <a:ext cx="4663440" cy="82296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Existing product, existing market</a:t>
            </a:r>
            <a:endParaRPr lang="en-US" sz="1400" dirty="0"/>
          </a:p>
        </p:txBody>
      </p:sp>
      <p:sp>
        <p:nvSpPr>
          <p:cNvPr id="10" name="Shape 7"/>
          <p:cNvSpPr/>
          <p:nvPr/>
        </p:nvSpPr>
        <p:spPr>
          <a:xfrm>
            <a:off x="6309360" y="2743200"/>
            <a:ext cx="5120640" cy="1645920"/>
          </a:xfrm>
          <a:prstGeom prst="roundRect">
            <a:avLst>
              <a:gd name="adj" fmla="val 4444"/>
            </a:avLst>
          </a:prstGeom>
          <a:solidFill>
            <a:srgbClr val="FFFFFF">
              <a:alpha val="70000"/>
            </a:srgbClr>
          </a:solidFill>
          <a:ln/>
        </p:spPr>
      </p:sp>
      <p:sp>
        <p:nvSpPr>
          <p:cNvPr id="11" name="Text 8"/>
          <p:cNvSpPr/>
          <p:nvPr/>
        </p:nvSpPr>
        <p:spPr>
          <a:xfrm>
            <a:off x="6537960" y="292608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Product Development</a:t>
            </a:r>
            <a:endParaRPr lang="en-US" sz="1700" dirty="0"/>
          </a:p>
        </p:txBody>
      </p:sp>
      <p:sp>
        <p:nvSpPr>
          <p:cNvPr id="12" name="Text 9"/>
          <p:cNvSpPr/>
          <p:nvPr/>
        </p:nvSpPr>
        <p:spPr>
          <a:xfrm>
            <a:off x="6537960" y="3429000"/>
            <a:ext cx="4663440" cy="82296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New product, existing market</a:t>
            </a:r>
            <a:endParaRPr lang="en-US" sz="1400" dirty="0"/>
          </a:p>
        </p:txBody>
      </p:sp>
      <p:sp>
        <p:nvSpPr>
          <p:cNvPr id="13" name="Shape 10"/>
          <p:cNvSpPr/>
          <p:nvPr/>
        </p:nvSpPr>
        <p:spPr>
          <a:xfrm>
            <a:off x="731520" y="4526280"/>
            <a:ext cx="5120640" cy="1645920"/>
          </a:xfrm>
          <a:prstGeom prst="roundRect">
            <a:avLst>
              <a:gd name="adj" fmla="val 4444"/>
            </a:avLst>
          </a:prstGeom>
          <a:solidFill>
            <a:srgbClr val="FFFFFF">
              <a:alpha val="70000"/>
            </a:srgbClr>
          </a:solidFill>
          <a:ln/>
        </p:spPr>
      </p:sp>
      <p:sp>
        <p:nvSpPr>
          <p:cNvPr id="14" name="Text 11"/>
          <p:cNvSpPr/>
          <p:nvPr/>
        </p:nvSpPr>
        <p:spPr>
          <a:xfrm>
            <a:off x="960120" y="470916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Market Development</a:t>
            </a:r>
            <a:endParaRPr lang="en-US" sz="1700" dirty="0"/>
          </a:p>
        </p:txBody>
      </p:sp>
      <p:sp>
        <p:nvSpPr>
          <p:cNvPr id="15" name="Text 12"/>
          <p:cNvSpPr/>
          <p:nvPr/>
        </p:nvSpPr>
        <p:spPr>
          <a:xfrm>
            <a:off x="960120" y="5212080"/>
            <a:ext cx="4663440" cy="82296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Existing product, new market</a:t>
            </a:r>
            <a:endParaRPr lang="en-US" sz="1400" dirty="0"/>
          </a:p>
        </p:txBody>
      </p:sp>
      <p:sp>
        <p:nvSpPr>
          <p:cNvPr id="16" name="Shape 13"/>
          <p:cNvSpPr/>
          <p:nvPr/>
        </p:nvSpPr>
        <p:spPr>
          <a:xfrm>
            <a:off x="6309360" y="4526280"/>
            <a:ext cx="5120640" cy="1645920"/>
          </a:xfrm>
          <a:prstGeom prst="roundRect">
            <a:avLst>
              <a:gd name="adj" fmla="val 4444"/>
            </a:avLst>
          </a:prstGeom>
          <a:solidFill>
            <a:srgbClr val="B20E38"/>
          </a:solidFill>
          <a:ln/>
        </p:spPr>
      </p:sp>
      <p:sp>
        <p:nvSpPr>
          <p:cNvPr id="17" name="Text 14"/>
          <p:cNvSpPr/>
          <p:nvPr/>
        </p:nvSpPr>
        <p:spPr>
          <a:xfrm>
            <a:off x="6537960" y="4709160"/>
            <a:ext cx="4663440" cy="457200"/>
          </a:xfrm>
          <a:prstGeom prst="rect">
            <a:avLst/>
          </a:prstGeom>
          <a:noFill/>
          <a:ln/>
        </p:spPr>
        <p:txBody>
          <a:bodyPr wrap="square" lIns="0" tIns="0" rIns="0" bIns="0" rtlCol="0" anchor="ctr"/>
          <a:lstStyle/>
          <a:p>
            <a:pPr marL="0" indent="0">
              <a:buNone/>
            </a:pPr>
            <a:r>
              <a:rPr lang="en-US" sz="1700" b="1" dirty="0">
                <a:solidFill>
                  <a:srgbClr val="FFFFFF"/>
                </a:solidFill>
                <a:latin typeface="Montserrat SemiBold" pitchFamily="34" charset="0"/>
                <a:ea typeface="Montserrat SemiBold" pitchFamily="34" charset="-122"/>
                <a:cs typeface="Montserrat SemiBold" pitchFamily="34" charset="-120"/>
              </a:rPr>
              <a:t>Diversification</a:t>
            </a:r>
            <a:endParaRPr lang="en-US" sz="1700" dirty="0"/>
          </a:p>
        </p:txBody>
      </p:sp>
      <p:sp>
        <p:nvSpPr>
          <p:cNvPr id="18" name="Text 15"/>
          <p:cNvSpPr/>
          <p:nvPr/>
        </p:nvSpPr>
        <p:spPr>
          <a:xfrm>
            <a:off x="6537960" y="5212080"/>
            <a:ext cx="4663440" cy="822960"/>
          </a:xfrm>
          <a:prstGeom prst="rect">
            <a:avLst/>
          </a:prstGeom>
          <a:noFill/>
          <a:ln/>
        </p:spPr>
        <p:txBody>
          <a:bodyPr wrap="square" lIns="0" tIns="0" rIns="0" bIns="0" rtlCol="0" anchor="ctr"/>
          <a:lstStyle/>
          <a:p>
            <a:pPr marL="0" indent="0">
              <a:lnSpc>
                <a:spcPct val="120000"/>
              </a:lnSpc>
              <a:buNone/>
            </a:pPr>
            <a:r>
              <a:rPr lang="en-US" sz="1400" dirty="0">
                <a:solidFill>
                  <a:srgbClr val="FFEDD2"/>
                </a:solidFill>
                <a:latin typeface="Montserrat" pitchFamily="34" charset="0"/>
                <a:ea typeface="Montserrat" pitchFamily="34" charset="-122"/>
                <a:cs typeface="Montserrat" pitchFamily="34" charset="-120"/>
              </a:rPr>
              <a:t>New product, new market</a:t>
            </a:r>
            <a:endParaRPr lang="en-US" sz="1400" dirty="0"/>
          </a:p>
        </p:txBody>
      </p:sp>
      <p:sp>
        <p:nvSpPr>
          <p:cNvPr id="19" name="Text 16"/>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17</a:t>
            </a:r>
            <a:endParaRPr lang="en-US" sz="1600" dirty="0"/>
          </a:p>
        </p:txBody>
      </p:sp>
    </p:spTree>
    <p:extLst>
      <p:ext uri="{BB962C8B-B14F-4D97-AF65-F5344CB8AC3E}">
        <p14:creationId xmlns:p14="http://schemas.microsoft.com/office/powerpoint/2010/main" val="4124608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26277" y="-27636"/>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1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Market Penetration: Sell More, Here</a:t>
            </a:r>
            <a:endParaRPr lang="en-US" sz="34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4 / 17</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1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Market Penetration: Sell More, Here</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86000"/>
            <a:ext cx="10149840" cy="91440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The safest growth strategy. Same product, same market, just capture more of it, through better pricing, more usage, or taking share from rivals.</a:t>
            </a:r>
            <a:endParaRPr lang="en-US" sz="1600" dirty="0"/>
          </a:p>
        </p:txBody>
      </p:sp>
      <p:sp>
        <p:nvSpPr>
          <p:cNvPr id="8" name="Text 5"/>
          <p:cNvSpPr/>
          <p:nvPr/>
        </p:nvSpPr>
        <p:spPr>
          <a:xfrm>
            <a:off x="1005840" y="329184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Colgate, ongoing</a:t>
            </a:r>
            <a:endParaRPr lang="en-US" sz="1600" dirty="0"/>
          </a:p>
        </p:txBody>
      </p:sp>
      <p:sp>
        <p:nvSpPr>
          <p:cNvPr id="9" name="Text 6"/>
          <p:cNvSpPr/>
          <p:nvPr/>
        </p:nvSpPr>
        <p:spPr>
          <a:xfrm>
            <a:off x="1005840" y="3657600"/>
            <a:ext cx="10149840" cy="91440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Decades of campaigns encouraging Indians to brush twice a day rather than once. Same toothpaste, same customers, just more frequent use, a textbook penetration play.</a:t>
            </a:r>
            <a:endParaRPr lang="en-US" sz="1500" dirty="0"/>
          </a:p>
        </p:txBody>
      </p:sp>
      <p:sp>
        <p:nvSpPr>
          <p:cNvPr id="10" name="Text 7"/>
          <p:cNvSpPr/>
          <p:nvPr/>
        </p:nvSpPr>
        <p:spPr>
          <a:xfrm>
            <a:off x="1005840" y="4754880"/>
            <a:ext cx="10149840" cy="914400"/>
          </a:xfrm>
          <a:prstGeom prst="rect">
            <a:avLst/>
          </a:prstGeom>
          <a:noFill/>
          <a:ln/>
        </p:spPr>
        <p:txBody>
          <a:bodyPr wrap="square" lIns="0" tIns="0" rIns="0" bIns="0" rtlCol="0" anchor="ctr"/>
          <a:lstStyle/>
          <a:p>
            <a:pPr marL="0" indent="0">
              <a:lnSpc>
                <a:spcPct val="130000"/>
              </a:lnSpc>
              <a:buNone/>
            </a:pPr>
            <a:r>
              <a:rPr lang="en-US" sz="1500" i="1" dirty="0">
                <a:solidFill>
                  <a:srgbClr val="8A6A55"/>
                </a:solidFill>
                <a:latin typeface="Montserrat" pitchFamily="34" charset="0"/>
                <a:ea typeface="Montserrat" pitchFamily="34" charset="-122"/>
                <a:cs typeface="Montserrat" pitchFamily="34" charset="-120"/>
              </a:rPr>
              <a:t>For </a:t>
            </a:r>
            <a:r>
              <a:rPr lang="en-US" sz="1500" i="1" dirty="0" err="1">
                <a:solidFill>
                  <a:srgbClr val="8A6A55"/>
                </a:solidFill>
                <a:latin typeface="Montserrat" pitchFamily="34" charset="0"/>
                <a:ea typeface="Montserrat" pitchFamily="34" charset="-122"/>
                <a:cs typeface="Montserrat" pitchFamily="34" charset="-120"/>
              </a:rPr>
              <a:t>Boncho’s</a:t>
            </a:r>
            <a:r>
              <a:rPr lang="en-US" sz="1500" i="1" dirty="0">
                <a:solidFill>
                  <a:srgbClr val="8A6A55"/>
                </a:solidFill>
                <a:latin typeface="Montserrat" pitchFamily="34" charset="0"/>
                <a:ea typeface="Montserrat" pitchFamily="34" charset="-122"/>
                <a:cs typeface="Montserrat" pitchFamily="34" charset="-120"/>
              </a:rPr>
              <a:t> </a:t>
            </a:r>
            <a:r>
              <a:rPr lang="en-US" sz="1500" i="1" dirty="0" err="1">
                <a:solidFill>
                  <a:srgbClr val="8A6A55"/>
                </a:solidFill>
                <a:latin typeface="Montserrat" pitchFamily="34" charset="0"/>
                <a:ea typeface="Montserrat" pitchFamily="34" charset="-122"/>
                <a:cs typeface="Montserrat" pitchFamily="34" charset="-120"/>
              </a:rPr>
              <a:t>Momos</a:t>
            </a:r>
            <a:r>
              <a:rPr lang="en-US" sz="1500" i="1" dirty="0">
                <a:solidFill>
                  <a:srgbClr val="8A6A55"/>
                </a:solidFill>
                <a:latin typeface="Montserrat" pitchFamily="34" charset="0"/>
                <a:ea typeface="Montserrat" pitchFamily="34" charset="-122"/>
                <a:cs typeface="Montserrat" pitchFamily="34" charset="-120"/>
              </a:rPr>
              <a:t>: a loyalty stamp card so regulars buy more often, without changing the menu or opening anywhere new.</a:t>
            </a:r>
            <a:endParaRPr lang="en-US" sz="15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4 / 17</a:t>
            </a:r>
            <a:endParaRPr lang="en-US" sz="1600" dirty="0"/>
          </a:p>
        </p:txBody>
      </p:sp>
    </p:spTree>
    <p:extLst>
      <p:ext uri="{BB962C8B-B14F-4D97-AF65-F5344CB8AC3E}">
        <p14:creationId xmlns:p14="http://schemas.microsoft.com/office/powerpoint/2010/main" val="1110083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2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Market Development: Same Product, New Customers</a:t>
            </a:r>
            <a:endParaRPr lang="en-US" sz="34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5 / 17</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2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Market Development: Same Product, New Customers</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86000"/>
            <a:ext cx="10149840" cy="91440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Take a product that already works and carry it to a market that hasn't seen it, a new city, a new state, a new country, or a new customer segment entirely.</a:t>
            </a:r>
            <a:endParaRPr lang="en-US" sz="1600" dirty="0"/>
          </a:p>
        </p:txBody>
      </p:sp>
      <p:sp>
        <p:nvSpPr>
          <p:cNvPr id="8" name="Text 5"/>
          <p:cNvSpPr/>
          <p:nvPr/>
        </p:nvSpPr>
        <p:spPr>
          <a:xfrm>
            <a:off x="1005840" y="329184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Haldiram's, 1990s onward</a:t>
            </a:r>
            <a:endParaRPr lang="en-US" sz="1600" dirty="0"/>
          </a:p>
        </p:txBody>
      </p:sp>
      <p:sp>
        <p:nvSpPr>
          <p:cNvPr id="9" name="Text 6"/>
          <p:cNvSpPr/>
          <p:nvPr/>
        </p:nvSpPr>
        <p:spPr>
          <a:xfrm>
            <a:off x="1005840" y="3657600"/>
            <a:ext cx="10149840" cy="91440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A Bikaner sweets shop that carried the same bhujia and namkeen recipes first across North India, then nationally, then to Indian diaspora communities abroad, without changing the core product.</a:t>
            </a:r>
            <a:endParaRPr lang="en-US" sz="1500" dirty="0"/>
          </a:p>
        </p:txBody>
      </p:sp>
      <p:sp>
        <p:nvSpPr>
          <p:cNvPr id="10" name="Text 7"/>
          <p:cNvSpPr/>
          <p:nvPr/>
        </p:nvSpPr>
        <p:spPr>
          <a:xfrm>
            <a:off x="1005840" y="4754880"/>
            <a:ext cx="10149840" cy="914400"/>
          </a:xfrm>
          <a:prstGeom prst="rect">
            <a:avLst/>
          </a:prstGeom>
          <a:noFill/>
          <a:ln/>
        </p:spPr>
        <p:txBody>
          <a:bodyPr wrap="square" lIns="0" tIns="0" rIns="0" bIns="0" rtlCol="0" anchor="ctr"/>
          <a:lstStyle/>
          <a:p>
            <a:pPr marL="0" indent="0">
              <a:lnSpc>
                <a:spcPct val="130000"/>
              </a:lnSpc>
              <a:buNone/>
            </a:pPr>
            <a:r>
              <a:rPr lang="en-US" sz="1500" i="1" dirty="0">
                <a:solidFill>
                  <a:srgbClr val="8A6A55"/>
                </a:solidFill>
                <a:latin typeface="Montserrat" pitchFamily="34" charset="0"/>
                <a:ea typeface="Montserrat" pitchFamily="34" charset="-122"/>
                <a:cs typeface="Montserrat" pitchFamily="34" charset="-120"/>
              </a:rPr>
              <a:t>For Priya's Momos: opening a second stall in a college campus across town, same menu, new customer base.</a:t>
            </a:r>
            <a:endParaRPr lang="en-US" sz="15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5 / 17</a:t>
            </a:r>
            <a:endParaRPr lang="en-US" sz="1600" dirty="0"/>
          </a:p>
        </p:txBody>
      </p:sp>
    </p:spTree>
    <p:extLst>
      <p:ext uri="{BB962C8B-B14F-4D97-AF65-F5344CB8AC3E}">
        <p14:creationId xmlns:p14="http://schemas.microsoft.com/office/powerpoint/2010/main" val="102706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13716"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3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Product Development: New Product, Same Customers</a:t>
            </a:r>
            <a:endParaRPr lang="en-US" sz="34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6 / 17</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3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Product Development: New Product, Same Customers</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86000"/>
            <a:ext cx="10149840" cy="91440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Your existing customers already trust you. Give them a reason to spend more, with a genuinely new product built for the same relationship.</a:t>
            </a:r>
            <a:endParaRPr lang="en-US" sz="1600" dirty="0"/>
          </a:p>
        </p:txBody>
      </p:sp>
      <p:sp>
        <p:nvSpPr>
          <p:cNvPr id="8" name="Text 5"/>
          <p:cNvSpPr/>
          <p:nvPr/>
        </p:nvSpPr>
        <p:spPr>
          <a:xfrm>
            <a:off x="1005840" y="329184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Maggi, ongoing</a:t>
            </a:r>
            <a:endParaRPr lang="en-US" sz="1600" dirty="0"/>
          </a:p>
        </p:txBody>
      </p:sp>
      <p:sp>
        <p:nvSpPr>
          <p:cNvPr id="9" name="Text 6"/>
          <p:cNvSpPr/>
          <p:nvPr/>
        </p:nvSpPr>
        <p:spPr>
          <a:xfrm>
            <a:off x="1005840" y="3657600"/>
            <a:ext cx="10149840" cy="91440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From one 2-minute noodle recipe to oats noodles, masala variants, and sauces, sold to the same households that already trusted the original brand.</a:t>
            </a:r>
            <a:endParaRPr lang="en-US" sz="1500" dirty="0"/>
          </a:p>
        </p:txBody>
      </p:sp>
      <p:sp>
        <p:nvSpPr>
          <p:cNvPr id="10" name="Text 7"/>
          <p:cNvSpPr/>
          <p:nvPr/>
        </p:nvSpPr>
        <p:spPr>
          <a:xfrm>
            <a:off x="1005840" y="4754880"/>
            <a:ext cx="10149840" cy="914400"/>
          </a:xfrm>
          <a:prstGeom prst="rect">
            <a:avLst/>
          </a:prstGeom>
          <a:noFill/>
          <a:ln/>
        </p:spPr>
        <p:txBody>
          <a:bodyPr wrap="square" lIns="0" tIns="0" rIns="0" bIns="0" rtlCol="0" anchor="ctr"/>
          <a:lstStyle/>
          <a:p>
            <a:pPr marL="0" indent="0">
              <a:lnSpc>
                <a:spcPct val="130000"/>
              </a:lnSpc>
              <a:buNone/>
            </a:pPr>
            <a:r>
              <a:rPr lang="en-US" sz="1500" i="1" dirty="0">
                <a:solidFill>
                  <a:srgbClr val="8A6A55"/>
                </a:solidFill>
                <a:latin typeface="Montserrat" pitchFamily="34" charset="0"/>
                <a:ea typeface="Montserrat" pitchFamily="34" charset="-122"/>
                <a:cs typeface="Montserrat" pitchFamily="34" charset="-120"/>
              </a:rPr>
              <a:t>For </a:t>
            </a:r>
            <a:r>
              <a:rPr lang="en-US" sz="1500" i="1" dirty="0" err="1">
                <a:solidFill>
                  <a:srgbClr val="8A6A55"/>
                </a:solidFill>
                <a:latin typeface="Montserrat" pitchFamily="34" charset="0"/>
                <a:ea typeface="Montserrat" pitchFamily="34" charset="-122"/>
                <a:cs typeface="Montserrat" pitchFamily="34" charset="-120"/>
              </a:rPr>
              <a:t>Boncho’s</a:t>
            </a:r>
            <a:r>
              <a:rPr lang="en-US" sz="1500" i="1" dirty="0">
                <a:solidFill>
                  <a:srgbClr val="8A6A55"/>
                </a:solidFill>
                <a:latin typeface="Montserrat" pitchFamily="34" charset="0"/>
                <a:ea typeface="Montserrat" pitchFamily="34" charset="-122"/>
                <a:cs typeface="Montserrat" pitchFamily="34" charset="-120"/>
              </a:rPr>
              <a:t> Momos: adding a frozen, take-home pack of momos for customers who already love the fresh ones.</a:t>
            </a:r>
            <a:endParaRPr lang="en-US" sz="15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6 / 17</a:t>
            </a:r>
            <a:endParaRPr lang="en-US" sz="1600" dirty="0"/>
          </a:p>
        </p:txBody>
      </p:sp>
    </p:spTree>
    <p:extLst>
      <p:ext uri="{BB962C8B-B14F-4D97-AF65-F5344CB8AC3E}">
        <p14:creationId xmlns:p14="http://schemas.microsoft.com/office/powerpoint/2010/main" val="3054475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4 of 4</a:t>
            </a:r>
            <a:endParaRPr lang="en-US" sz="20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Diversification: New Product, New Market</a:t>
            </a:r>
            <a:endParaRPr lang="en-US" sz="34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7 / 17</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Quadrant 4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Diversification: New Product, New Market</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86000"/>
            <a:ext cx="10149840" cy="91440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The riskiest quadrant, and the only one where you have neither an existing product nor an existing customer base to fall back on. Next session goes deep on this one alone.</a:t>
            </a:r>
            <a:endParaRPr lang="en-US" sz="1600" dirty="0"/>
          </a:p>
        </p:txBody>
      </p:sp>
      <p:sp>
        <p:nvSpPr>
          <p:cNvPr id="8" name="Text 5"/>
          <p:cNvSpPr/>
          <p:nvPr/>
        </p:nvSpPr>
        <p:spPr>
          <a:xfrm>
            <a:off x="1005840" y="329184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ITC, 1970s onward</a:t>
            </a:r>
            <a:endParaRPr lang="en-US" sz="1600" dirty="0"/>
          </a:p>
        </p:txBody>
      </p:sp>
      <p:sp>
        <p:nvSpPr>
          <p:cNvPr id="9" name="Text 6"/>
          <p:cNvSpPr/>
          <p:nvPr/>
        </p:nvSpPr>
        <p:spPr>
          <a:xfrm>
            <a:off x="1005840" y="3657600"/>
            <a:ext cx="10149840" cy="91440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A cigarette company that is today also India's hotels business, one of its largest packaged foods companies, and a major paperboard manufacturer. A new product, a new customer, almost every time.</a:t>
            </a:r>
            <a:endParaRPr lang="en-US" sz="1500" dirty="0"/>
          </a:p>
        </p:txBody>
      </p:sp>
      <p:sp>
        <p:nvSpPr>
          <p:cNvPr id="10" name="Text 7"/>
          <p:cNvSpPr/>
          <p:nvPr/>
        </p:nvSpPr>
        <p:spPr>
          <a:xfrm>
            <a:off x="1005840" y="4754880"/>
            <a:ext cx="10149840" cy="914400"/>
          </a:xfrm>
          <a:prstGeom prst="rect">
            <a:avLst/>
          </a:prstGeom>
          <a:noFill/>
          <a:ln/>
        </p:spPr>
        <p:txBody>
          <a:bodyPr wrap="square" lIns="0" tIns="0" rIns="0" bIns="0" rtlCol="0" anchor="ctr"/>
          <a:lstStyle/>
          <a:p>
            <a:pPr marL="0" indent="0">
              <a:lnSpc>
                <a:spcPct val="130000"/>
              </a:lnSpc>
              <a:buNone/>
            </a:pPr>
            <a:r>
              <a:rPr lang="en-US" sz="1500" i="1" dirty="0">
                <a:solidFill>
                  <a:srgbClr val="8A6A55"/>
                </a:solidFill>
                <a:latin typeface="Montserrat" pitchFamily="34" charset="0"/>
                <a:ea typeface="Montserrat" pitchFamily="34" charset="-122"/>
                <a:cs typeface="Montserrat" pitchFamily="34" charset="-120"/>
              </a:rPr>
              <a:t>For </a:t>
            </a:r>
            <a:r>
              <a:rPr lang="en-US" sz="1500" i="1" dirty="0" err="1">
                <a:solidFill>
                  <a:srgbClr val="8A6A55"/>
                </a:solidFill>
                <a:latin typeface="Montserrat" pitchFamily="34" charset="0"/>
                <a:ea typeface="Montserrat" pitchFamily="34" charset="-122"/>
                <a:cs typeface="Montserrat" pitchFamily="34" charset="-120"/>
              </a:rPr>
              <a:t>Boncho’s</a:t>
            </a:r>
            <a:r>
              <a:rPr lang="en-US" sz="1500" i="1" dirty="0">
                <a:solidFill>
                  <a:srgbClr val="8A6A55"/>
                </a:solidFill>
                <a:latin typeface="Montserrat" pitchFamily="34" charset="0"/>
                <a:ea typeface="Montserrat" pitchFamily="34" charset="-122"/>
                <a:cs typeface="Montserrat" pitchFamily="34" charset="-120"/>
              </a:rPr>
              <a:t> Momos: opening a completely unrelated business, say, a laundry service, with nothing shared but the founder.</a:t>
            </a:r>
            <a:endParaRPr lang="en-US" sz="15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7 / 17</a:t>
            </a:r>
            <a:endParaRPr lang="en-US" sz="1600" dirty="0"/>
          </a:p>
        </p:txBody>
      </p:sp>
    </p:spTree>
    <p:extLst>
      <p:ext uri="{BB962C8B-B14F-4D97-AF65-F5344CB8AC3E}">
        <p14:creationId xmlns:p14="http://schemas.microsoft.com/office/powerpoint/2010/main" val="1451450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13716" y="-103497"/>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Ansoff Matrix</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19" name="Text 16"/>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17</a:t>
            </a:r>
            <a:endParaRPr lang="en-US" sz="1600" dirty="0"/>
          </a:p>
        </p:txBody>
      </p:sp>
      <p:pic>
        <p:nvPicPr>
          <p:cNvPr id="1028" name="Picture 4" descr="Using The Ansoff Matrix to Develop Marketing Strategy">
            <a:extLst>
              <a:ext uri="{FF2B5EF4-FFF2-40B4-BE49-F238E27FC236}">
                <a16:creationId xmlns:a16="http://schemas.microsoft.com/office/drawing/2014/main" id="{3A3002C9-69FA-4543-8E5B-61E2A9F95F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0634" y="905356"/>
            <a:ext cx="5230167" cy="5230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226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13716" y="-80387"/>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Rise in Risk</a:t>
            </a:r>
            <a:endParaRPr lang="en-US" sz="340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8 / 17</a:t>
            </a:r>
            <a:endParaRPr lang="en-US" sz="1600" dirty="0"/>
          </a:p>
        </p:txBody>
      </p:sp>
    </p:spTree>
    <p:extLst>
      <p:ext uri="{BB962C8B-B14F-4D97-AF65-F5344CB8AC3E}">
        <p14:creationId xmlns:p14="http://schemas.microsoft.com/office/powerpoint/2010/main" val="2000372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Risk Rises as You Move Away From What You Know</a:t>
            </a:r>
            <a:endParaRPr lang="en-US" sz="3400" dirty="0"/>
          </a:p>
        </p:txBody>
      </p:sp>
      <p:sp>
        <p:nvSpPr>
          <p:cNvPr id="6" name="Shape 3"/>
          <p:cNvSpPr/>
          <p:nvPr/>
        </p:nvSpPr>
        <p:spPr>
          <a:xfrm>
            <a:off x="731520" y="2743200"/>
            <a:ext cx="2514600" cy="1645920"/>
          </a:xfrm>
          <a:prstGeom prst="roundRect">
            <a:avLst>
              <a:gd name="adj" fmla="val 3333"/>
            </a:avLst>
          </a:prstGeom>
          <a:solidFill>
            <a:srgbClr val="FFFFFF"/>
          </a:solidFill>
          <a:ln/>
        </p:spPr>
      </p:sp>
      <p:sp>
        <p:nvSpPr>
          <p:cNvPr id="7" name="Text 4"/>
          <p:cNvSpPr/>
          <p:nvPr/>
        </p:nvSpPr>
        <p:spPr>
          <a:xfrm>
            <a:off x="822960" y="2743200"/>
            <a:ext cx="2331720" cy="1645920"/>
          </a:xfrm>
          <a:prstGeom prst="rect">
            <a:avLst/>
          </a:prstGeom>
          <a:noFill/>
          <a:ln/>
        </p:spPr>
        <p:txBody>
          <a:bodyPr wrap="square" lIns="0" tIns="0" rIns="0" bIns="0" rtlCol="0" anchor="ctr"/>
          <a:lstStyle/>
          <a:p>
            <a:pPr marL="0" indent="0" algn="ctr">
              <a:lnSpc>
                <a:spcPct val="120000"/>
              </a:lnSpc>
              <a:buNone/>
            </a:pPr>
            <a:r>
              <a:rPr lang="en-US" sz="1300" b="1" dirty="0">
                <a:solidFill>
                  <a:srgbClr val="B20E38"/>
                </a:solidFill>
                <a:latin typeface="Montserrat SemiBold" pitchFamily="34" charset="0"/>
                <a:ea typeface="Montserrat SemiBold" pitchFamily="34" charset="-122"/>
                <a:cs typeface="Montserrat SemiBold" pitchFamily="34" charset="-120"/>
              </a:rPr>
              <a:t>Market Penetration</a:t>
            </a:r>
            <a:endParaRPr lang="en-US" sz="1300" dirty="0"/>
          </a:p>
          <a:p>
            <a:pPr marL="0" indent="0" algn="ctr">
              <a:lnSpc>
                <a:spcPct val="120000"/>
              </a:lnSpc>
              <a:buNone/>
            </a:pPr>
            <a:r>
              <a:rPr lang="en-US" sz="1300" b="1" dirty="0">
                <a:solidFill>
                  <a:srgbClr val="B20E38"/>
                </a:solidFill>
                <a:latin typeface="Montserrat SemiBold" pitchFamily="34" charset="0"/>
                <a:ea typeface="Montserrat SemiBold" pitchFamily="34" charset="-122"/>
                <a:cs typeface="Montserrat SemiBold" pitchFamily="34" charset="-120"/>
              </a:rPr>
              <a:t>(lowest risk)</a:t>
            </a:r>
            <a:endParaRPr lang="en-US" sz="1300" dirty="0"/>
          </a:p>
        </p:txBody>
      </p:sp>
      <p:sp>
        <p:nvSpPr>
          <p:cNvPr id="8" name="Text 5"/>
          <p:cNvSpPr/>
          <p:nvPr/>
        </p:nvSpPr>
        <p:spPr>
          <a:xfrm>
            <a:off x="3246120" y="3291840"/>
            <a:ext cx="274320" cy="548640"/>
          </a:xfrm>
          <a:prstGeom prst="rect">
            <a:avLst/>
          </a:prstGeom>
          <a:noFill/>
          <a:ln/>
        </p:spPr>
        <p:txBody>
          <a:bodyPr wrap="square" lIns="0" tIns="0" rIns="0" bIns="0" rtlCol="0" anchor="ctr"/>
          <a:lstStyle/>
          <a:p>
            <a:pPr marL="0" indent="0" algn="ctr">
              <a:buNone/>
            </a:pPr>
            <a:r>
              <a:rPr lang="en-US" sz="2000" b="1" dirty="0">
                <a:solidFill>
                  <a:srgbClr val="B20E38"/>
                </a:solidFill>
              </a:rPr>
              <a:t>→</a:t>
            </a:r>
            <a:endParaRPr lang="en-US" sz="2000" dirty="0"/>
          </a:p>
        </p:txBody>
      </p:sp>
      <p:sp>
        <p:nvSpPr>
          <p:cNvPr id="9" name="Shape 6"/>
          <p:cNvSpPr/>
          <p:nvPr/>
        </p:nvSpPr>
        <p:spPr>
          <a:xfrm>
            <a:off x="3429000" y="2743200"/>
            <a:ext cx="2514600" cy="1645920"/>
          </a:xfrm>
          <a:prstGeom prst="roundRect">
            <a:avLst>
              <a:gd name="adj" fmla="val 3333"/>
            </a:avLst>
          </a:prstGeom>
          <a:solidFill>
            <a:srgbClr val="FFFFFF"/>
          </a:solidFill>
          <a:ln/>
        </p:spPr>
      </p:sp>
      <p:sp>
        <p:nvSpPr>
          <p:cNvPr id="10" name="Text 7"/>
          <p:cNvSpPr/>
          <p:nvPr/>
        </p:nvSpPr>
        <p:spPr>
          <a:xfrm>
            <a:off x="3520440" y="2743200"/>
            <a:ext cx="2331720" cy="1645920"/>
          </a:xfrm>
          <a:prstGeom prst="rect">
            <a:avLst/>
          </a:prstGeom>
          <a:noFill/>
          <a:ln/>
        </p:spPr>
        <p:txBody>
          <a:bodyPr wrap="square" lIns="0" tIns="0" rIns="0" bIns="0" rtlCol="0" anchor="ctr"/>
          <a:lstStyle/>
          <a:p>
            <a:pPr marL="0" indent="0" algn="ctr">
              <a:lnSpc>
                <a:spcPct val="120000"/>
              </a:lnSpc>
              <a:buNone/>
            </a:pPr>
            <a:r>
              <a:rPr lang="en-US" sz="1300" b="1" dirty="0">
                <a:solidFill>
                  <a:srgbClr val="B20E38"/>
                </a:solidFill>
                <a:latin typeface="Montserrat SemiBold" pitchFamily="34" charset="0"/>
                <a:ea typeface="Montserrat SemiBold" pitchFamily="34" charset="-122"/>
                <a:cs typeface="Montserrat SemiBold" pitchFamily="34" charset="-120"/>
              </a:rPr>
              <a:t>Market Development</a:t>
            </a:r>
            <a:endParaRPr lang="en-US" sz="1300" dirty="0"/>
          </a:p>
        </p:txBody>
      </p:sp>
      <p:sp>
        <p:nvSpPr>
          <p:cNvPr id="11" name="Text 8"/>
          <p:cNvSpPr/>
          <p:nvPr/>
        </p:nvSpPr>
        <p:spPr>
          <a:xfrm>
            <a:off x="5943600" y="3291840"/>
            <a:ext cx="274320" cy="548640"/>
          </a:xfrm>
          <a:prstGeom prst="rect">
            <a:avLst/>
          </a:prstGeom>
          <a:noFill/>
          <a:ln/>
        </p:spPr>
        <p:txBody>
          <a:bodyPr wrap="square" lIns="0" tIns="0" rIns="0" bIns="0" rtlCol="0" anchor="ctr"/>
          <a:lstStyle/>
          <a:p>
            <a:pPr marL="0" indent="0" algn="ctr">
              <a:buNone/>
            </a:pPr>
            <a:r>
              <a:rPr lang="en-US" sz="2000" b="1" dirty="0">
                <a:solidFill>
                  <a:srgbClr val="B20E38"/>
                </a:solidFill>
              </a:rPr>
              <a:t>→</a:t>
            </a:r>
            <a:endParaRPr lang="en-US" sz="2000" dirty="0"/>
          </a:p>
        </p:txBody>
      </p:sp>
      <p:sp>
        <p:nvSpPr>
          <p:cNvPr id="12" name="Shape 9"/>
          <p:cNvSpPr/>
          <p:nvPr/>
        </p:nvSpPr>
        <p:spPr>
          <a:xfrm>
            <a:off x="6126480" y="2743200"/>
            <a:ext cx="2514600" cy="1645920"/>
          </a:xfrm>
          <a:prstGeom prst="roundRect">
            <a:avLst>
              <a:gd name="adj" fmla="val 3333"/>
            </a:avLst>
          </a:prstGeom>
          <a:solidFill>
            <a:srgbClr val="FFFFFF"/>
          </a:solidFill>
          <a:ln/>
        </p:spPr>
      </p:sp>
      <p:sp>
        <p:nvSpPr>
          <p:cNvPr id="13" name="Text 10"/>
          <p:cNvSpPr/>
          <p:nvPr/>
        </p:nvSpPr>
        <p:spPr>
          <a:xfrm>
            <a:off x="6217920" y="2743200"/>
            <a:ext cx="2331720" cy="1645920"/>
          </a:xfrm>
          <a:prstGeom prst="rect">
            <a:avLst/>
          </a:prstGeom>
          <a:noFill/>
          <a:ln/>
        </p:spPr>
        <p:txBody>
          <a:bodyPr wrap="square" lIns="0" tIns="0" rIns="0" bIns="0" rtlCol="0" anchor="ctr"/>
          <a:lstStyle/>
          <a:p>
            <a:pPr marL="0" indent="0" algn="ctr">
              <a:lnSpc>
                <a:spcPct val="120000"/>
              </a:lnSpc>
              <a:buNone/>
            </a:pPr>
            <a:r>
              <a:rPr lang="en-US" sz="1300" b="1" dirty="0">
                <a:solidFill>
                  <a:srgbClr val="B20E38"/>
                </a:solidFill>
                <a:latin typeface="Montserrat SemiBold" pitchFamily="34" charset="0"/>
                <a:ea typeface="Montserrat SemiBold" pitchFamily="34" charset="-122"/>
                <a:cs typeface="Montserrat SemiBold" pitchFamily="34" charset="-120"/>
              </a:rPr>
              <a:t>Product Development</a:t>
            </a:r>
            <a:endParaRPr lang="en-US" sz="1300" dirty="0"/>
          </a:p>
        </p:txBody>
      </p:sp>
      <p:sp>
        <p:nvSpPr>
          <p:cNvPr id="14" name="Text 11"/>
          <p:cNvSpPr/>
          <p:nvPr/>
        </p:nvSpPr>
        <p:spPr>
          <a:xfrm>
            <a:off x="8641080" y="3291840"/>
            <a:ext cx="274320" cy="548640"/>
          </a:xfrm>
          <a:prstGeom prst="rect">
            <a:avLst/>
          </a:prstGeom>
          <a:noFill/>
          <a:ln/>
        </p:spPr>
        <p:txBody>
          <a:bodyPr wrap="square" lIns="0" tIns="0" rIns="0" bIns="0" rtlCol="0" anchor="ctr"/>
          <a:lstStyle/>
          <a:p>
            <a:pPr marL="0" indent="0" algn="ctr">
              <a:buNone/>
            </a:pPr>
            <a:r>
              <a:rPr lang="en-US" sz="2000" b="1" dirty="0">
                <a:solidFill>
                  <a:srgbClr val="B20E38"/>
                </a:solidFill>
              </a:rPr>
              <a:t>→</a:t>
            </a:r>
            <a:endParaRPr lang="en-US" sz="2000" dirty="0"/>
          </a:p>
        </p:txBody>
      </p:sp>
      <p:sp>
        <p:nvSpPr>
          <p:cNvPr id="15" name="Shape 12"/>
          <p:cNvSpPr/>
          <p:nvPr/>
        </p:nvSpPr>
        <p:spPr>
          <a:xfrm>
            <a:off x="8823960" y="2743200"/>
            <a:ext cx="2514600" cy="1645920"/>
          </a:xfrm>
          <a:prstGeom prst="roundRect">
            <a:avLst>
              <a:gd name="adj" fmla="val 3333"/>
            </a:avLst>
          </a:prstGeom>
          <a:solidFill>
            <a:srgbClr val="B20E38"/>
          </a:solidFill>
          <a:ln/>
        </p:spPr>
      </p:sp>
      <p:sp>
        <p:nvSpPr>
          <p:cNvPr id="16" name="Text 13"/>
          <p:cNvSpPr/>
          <p:nvPr/>
        </p:nvSpPr>
        <p:spPr>
          <a:xfrm>
            <a:off x="8915400" y="2743200"/>
            <a:ext cx="2331720" cy="1645920"/>
          </a:xfrm>
          <a:prstGeom prst="rect">
            <a:avLst/>
          </a:prstGeom>
          <a:noFill/>
          <a:ln/>
        </p:spPr>
        <p:txBody>
          <a:bodyPr wrap="square" lIns="0" tIns="0" rIns="0" bIns="0" rtlCol="0" anchor="ctr"/>
          <a:lstStyle/>
          <a:p>
            <a:pPr marL="0" indent="0" algn="ctr">
              <a:lnSpc>
                <a:spcPct val="120000"/>
              </a:lnSpc>
              <a:buNone/>
            </a:pPr>
            <a:r>
              <a:rPr lang="en-US" sz="1300" b="1" dirty="0">
                <a:solidFill>
                  <a:srgbClr val="FFFFFF"/>
                </a:solidFill>
                <a:latin typeface="Montserrat SemiBold" pitchFamily="34" charset="0"/>
                <a:ea typeface="Montserrat SemiBold" pitchFamily="34" charset="-122"/>
                <a:cs typeface="Montserrat SemiBold" pitchFamily="34" charset="-120"/>
              </a:rPr>
              <a:t>Diversification</a:t>
            </a:r>
            <a:endParaRPr lang="en-US" sz="1300" dirty="0"/>
          </a:p>
          <a:p>
            <a:pPr marL="0" indent="0" algn="ctr">
              <a:lnSpc>
                <a:spcPct val="120000"/>
              </a:lnSpc>
              <a:buNone/>
            </a:pPr>
            <a:r>
              <a:rPr lang="en-US" sz="1300" b="1" dirty="0">
                <a:solidFill>
                  <a:srgbClr val="FFFFFF"/>
                </a:solidFill>
                <a:latin typeface="Montserrat SemiBold" pitchFamily="34" charset="0"/>
                <a:ea typeface="Montserrat SemiBold" pitchFamily="34" charset="-122"/>
                <a:cs typeface="Montserrat SemiBold" pitchFamily="34" charset="-120"/>
              </a:rPr>
              <a:t>(highest risk)</a:t>
            </a:r>
            <a:endParaRPr lang="en-US" sz="1300" dirty="0"/>
          </a:p>
        </p:txBody>
      </p:sp>
      <p:sp>
        <p:nvSpPr>
          <p:cNvPr id="17" name="Text 14"/>
          <p:cNvSpPr/>
          <p:nvPr/>
        </p:nvSpPr>
        <p:spPr>
          <a:xfrm>
            <a:off x="731520" y="4937760"/>
            <a:ext cx="10698480" cy="548640"/>
          </a:xfrm>
          <a:prstGeom prst="rect">
            <a:avLst/>
          </a:prstGeom>
          <a:noFill/>
          <a:ln/>
        </p:spPr>
        <p:txBody>
          <a:bodyPr wrap="square" lIns="0" tIns="0" rIns="0" bIns="0" rtlCol="0" anchor="ctr"/>
          <a:lstStyle/>
          <a:p>
            <a:pPr marL="0" indent="0" algn="ctr">
              <a:lnSpc>
                <a:spcPct val="120000"/>
              </a:lnSpc>
              <a:buNone/>
            </a:pPr>
            <a:r>
              <a:rPr lang="en-US" sz="1450" i="1" dirty="0">
                <a:solidFill>
                  <a:srgbClr val="8A6A55"/>
                </a:solidFill>
                <a:latin typeface="Montserrat" pitchFamily="34" charset="0"/>
                <a:ea typeface="Montserrat" pitchFamily="34" charset="-122"/>
                <a:cs typeface="Montserrat" pitchFamily="34" charset="-120"/>
              </a:rPr>
              <a:t>Neither product nor market is a known quantity in diversification, which is exactly why it deserves its own full session.</a:t>
            </a:r>
            <a:endParaRPr lang="en-US" sz="145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8 / 17</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From the Art of War</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“Know the Ground on Which You Fight”</a:t>
            </a:r>
            <a:endParaRPr lang="en-US" sz="3400" dirty="0"/>
          </a:p>
        </p:txBody>
      </p:sp>
      <p:sp>
        <p:nvSpPr>
          <p:cNvPr id="6" name="Shape 3"/>
          <p:cNvSpPr/>
          <p:nvPr/>
        </p:nvSpPr>
        <p:spPr>
          <a:xfrm>
            <a:off x="731520" y="2194560"/>
            <a:ext cx="10698480" cy="3840480"/>
          </a:xfrm>
          <a:prstGeom prst="roundRect">
            <a:avLst>
              <a:gd name="adj" fmla="val 1905"/>
            </a:avLst>
          </a:prstGeom>
          <a:solidFill>
            <a:srgbClr val="FFFFFF">
              <a:alpha val="70000"/>
            </a:srgbClr>
          </a:solidFill>
          <a:ln/>
        </p:spPr>
      </p:sp>
      <p:sp>
        <p:nvSpPr>
          <p:cNvPr id="7" name="Text 4"/>
          <p:cNvSpPr/>
          <p:nvPr/>
        </p:nvSpPr>
        <p:spPr>
          <a:xfrm>
            <a:off x="1005840" y="2514600"/>
            <a:ext cx="10149840" cy="1280160"/>
          </a:xfrm>
          <a:prstGeom prst="rect">
            <a:avLst/>
          </a:prstGeom>
          <a:noFill/>
          <a:ln/>
        </p:spPr>
        <p:txBody>
          <a:bodyPr wrap="square" lIns="0" tIns="0" rIns="0" bIns="0" rtlCol="0" anchor="ctr"/>
          <a:lstStyle/>
          <a:p>
            <a:pPr marL="0" indent="0">
              <a:lnSpc>
                <a:spcPct val="135000"/>
              </a:lnSpc>
              <a:buNone/>
            </a:pPr>
            <a:r>
              <a:rPr lang="en-US" sz="1600" i="1" dirty="0">
                <a:solidFill>
                  <a:srgbClr val="2A2A2A"/>
                </a:solidFill>
                <a:latin typeface="Montserrat" pitchFamily="34" charset="0"/>
                <a:ea typeface="Montserrat" pitchFamily="34" charset="-122"/>
                <a:cs typeface="Montserrat" pitchFamily="34" charset="-120"/>
              </a:rPr>
              <a:t>Sun Tzu, Chapter X, on terrain: a skilled general studies the ground before committing forces, because the same army can win easily on familiar terrain and be destroyed on unfamiliar terrain.</a:t>
            </a:r>
            <a:endParaRPr lang="en-US" sz="1600" dirty="0"/>
          </a:p>
        </p:txBody>
      </p:sp>
      <p:sp>
        <p:nvSpPr>
          <p:cNvPr id="8" name="Shape 5"/>
          <p:cNvSpPr/>
          <p:nvPr/>
        </p:nvSpPr>
        <p:spPr>
          <a:xfrm>
            <a:off x="1005840" y="3931920"/>
            <a:ext cx="10149840" cy="1737360"/>
          </a:xfrm>
          <a:prstGeom prst="roundRect">
            <a:avLst>
              <a:gd name="adj" fmla="val 4211"/>
            </a:avLst>
          </a:prstGeom>
          <a:solidFill>
            <a:srgbClr val="B20E38"/>
          </a:solidFill>
          <a:ln/>
        </p:spPr>
      </p:sp>
      <p:sp>
        <p:nvSpPr>
          <p:cNvPr id="9" name="Text 6"/>
          <p:cNvSpPr/>
          <p:nvPr/>
        </p:nvSpPr>
        <p:spPr>
          <a:xfrm>
            <a:off x="1280160" y="3931920"/>
            <a:ext cx="9601200" cy="1737360"/>
          </a:xfrm>
          <a:prstGeom prst="rect">
            <a:avLst/>
          </a:prstGeom>
          <a:noFill/>
          <a:ln/>
        </p:spPr>
        <p:txBody>
          <a:bodyPr wrap="square" lIns="0" tIns="0" rIns="0" bIns="0" rtlCol="0" anchor="ctr"/>
          <a:lstStyle/>
          <a:p>
            <a:pPr marL="0" indent="0">
              <a:lnSpc>
                <a:spcPct val="130000"/>
              </a:lnSpc>
              <a:buNone/>
            </a:pPr>
            <a:r>
              <a:rPr lang="en-US" sz="1550" b="1" i="1" dirty="0">
                <a:solidFill>
                  <a:srgbClr val="FFFFFF"/>
                </a:solidFill>
                <a:latin typeface="Montserrat" pitchFamily="34" charset="0"/>
                <a:ea typeface="Montserrat" pitchFamily="34" charset="-122"/>
                <a:cs typeface="Montserrat" pitchFamily="34" charset="-120"/>
              </a:rPr>
              <a:t>Market Penetration is fighting on home ground. Diversification is marching into terrain you've never seen. The Ansoff Matrix is, at heart, a map of how familiar your battlefield is.</a:t>
            </a:r>
            <a:endParaRPr lang="en-US" sz="155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9 / 17</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Activity · Groups of 4–5 · 12 Minutes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Map Your Own Company</a:t>
            </a:r>
            <a:endParaRPr lang="en-US" sz="3400" dirty="0"/>
          </a:p>
        </p:txBody>
      </p:sp>
      <p:sp>
        <p:nvSpPr>
          <p:cNvPr id="6" name="Shape 3"/>
          <p:cNvSpPr/>
          <p:nvPr/>
        </p:nvSpPr>
        <p:spPr>
          <a:xfrm>
            <a:off x="731520" y="2103120"/>
            <a:ext cx="10698480" cy="3931920"/>
          </a:xfrm>
          <a:prstGeom prst="roundRect">
            <a:avLst>
              <a:gd name="adj" fmla="val 1860"/>
            </a:avLst>
          </a:prstGeom>
          <a:solidFill>
            <a:srgbClr val="FFFFFF">
              <a:alpha val="70000"/>
            </a:srgbClr>
          </a:solidFill>
          <a:ln/>
        </p:spPr>
      </p:sp>
      <p:sp>
        <p:nvSpPr>
          <p:cNvPr id="7" name="Shape 4"/>
          <p:cNvSpPr/>
          <p:nvPr/>
        </p:nvSpPr>
        <p:spPr>
          <a:xfrm>
            <a:off x="1005840" y="2441448"/>
            <a:ext cx="384048" cy="384048"/>
          </a:xfrm>
          <a:prstGeom prst="ellipse">
            <a:avLst/>
          </a:prstGeom>
          <a:solidFill>
            <a:srgbClr val="B20E38"/>
          </a:solidFill>
          <a:ln/>
        </p:spPr>
      </p:sp>
      <p:sp>
        <p:nvSpPr>
          <p:cNvPr id="8" name="Text 5"/>
          <p:cNvSpPr/>
          <p:nvPr/>
        </p:nvSpPr>
        <p:spPr>
          <a:xfrm>
            <a:off x="1005840" y="2441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1</a:t>
            </a:r>
            <a:endParaRPr lang="en-US" sz="1500" dirty="0"/>
          </a:p>
        </p:txBody>
      </p:sp>
      <p:sp>
        <p:nvSpPr>
          <p:cNvPr id="9" name="Text 6"/>
          <p:cNvSpPr/>
          <p:nvPr/>
        </p:nvSpPr>
        <p:spPr>
          <a:xfrm>
            <a:off x="1554480" y="2423160"/>
            <a:ext cx="9509760" cy="77724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Montserrat" pitchFamily="34" charset="0"/>
                <a:ea typeface="Montserrat" pitchFamily="34" charset="-122"/>
                <a:cs typeface="Montserrat" pitchFamily="34" charset="-120"/>
              </a:rPr>
              <a:t>In your group, pick one real Indian company everyone knows well.</a:t>
            </a:r>
            <a:endParaRPr lang="en-US" sz="1600" dirty="0"/>
          </a:p>
        </p:txBody>
      </p:sp>
      <p:sp>
        <p:nvSpPr>
          <p:cNvPr id="10" name="Shape 7"/>
          <p:cNvSpPr/>
          <p:nvPr/>
        </p:nvSpPr>
        <p:spPr>
          <a:xfrm>
            <a:off x="1005840" y="3355848"/>
            <a:ext cx="384048" cy="384048"/>
          </a:xfrm>
          <a:prstGeom prst="ellipse">
            <a:avLst/>
          </a:prstGeom>
          <a:solidFill>
            <a:srgbClr val="B20E38"/>
          </a:solidFill>
          <a:ln/>
        </p:spPr>
      </p:sp>
      <p:sp>
        <p:nvSpPr>
          <p:cNvPr id="11" name="Text 8"/>
          <p:cNvSpPr/>
          <p:nvPr/>
        </p:nvSpPr>
        <p:spPr>
          <a:xfrm>
            <a:off x="1005840" y="33558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2</a:t>
            </a:r>
            <a:endParaRPr lang="en-US" sz="1500" dirty="0"/>
          </a:p>
        </p:txBody>
      </p:sp>
      <p:sp>
        <p:nvSpPr>
          <p:cNvPr id="12" name="Text 9"/>
          <p:cNvSpPr/>
          <p:nvPr/>
        </p:nvSpPr>
        <p:spPr>
          <a:xfrm>
            <a:off x="1554480" y="3337560"/>
            <a:ext cx="9509760" cy="77724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Montserrat" pitchFamily="34" charset="0"/>
                <a:ea typeface="Montserrat" pitchFamily="34" charset="-122"/>
                <a:cs typeface="Montserrat" pitchFamily="34" charset="-120"/>
              </a:rPr>
              <a:t>For each of the four quadrants, name one real or plausible move that company could make.</a:t>
            </a:r>
            <a:endParaRPr lang="en-US" sz="1600" dirty="0"/>
          </a:p>
        </p:txBody>
      </p:sp>
      <p:sp>
        <p:nvSpPr>
          <p:cNvPr id="13" name="Shape 10"/>
          <p:cNvSpPr/>
          <p:nvPr/>
        </p:nvSpPr>
        <p:spPr>
          <a:xfrm>
            <a:off x="1005840" y="4270248"/>
            <a:ext cx="384048" cy="384048"/>
          </a:xfrm>
          <a:prstGeom prst="ellipse">
            <a:avLst/>
          </a:prstGeom>
          <a:solidFill>
            <a:srgbClr val="B20E38"/>
          </a:solidFill>
          <a:ln/>
        </p:spPr>
      </p:sp>
      <p:sp>
        <p:nvSpPr>
          <p:cNvPr id="14" name="Text 11"/>
          <p:cNvSpPr/>
          <p:nvPr/>
        </p:nvSpPr>
        <p:spPr>
          <a:xfrm>
            <a:off x="1005840" y="4270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3</a:t>
            </a:r>
            <a:endParaRPr lang="en-US" sz="1500" dirty="0"/>
          </a:p>
        </p:txBody>
      </p:sp>
      <p:sp>
        <p:nvSpPr>
          <p:cNvPr id="15" name="Text 12"/>
          <p:cNvSpPr/>
          <p:nvPr/>
        </p:nvSpPr>
        <p:spPr>
          <a:xfrm>
            <a:off x="1554480" y="4251960"/>
            <a:ext cx="9509760" cy="77724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Montserrat" pitchFamily="34" charset="0"/>
                <a:ea typeface="Montserrat" pitchFamily="34" charset="-122"/>
                <a:cs typeface="Montserrat" pitchFamily="34" charset="-120"/>
              </a:rPr>
              <a:t>Circle the one move you think is the smartest bet for that company right now, and be ready to defend it in one sentence.</a:t>
            </a:r>
            <a:endParaRPr lang="en-US" sz="1600" dirty="0"/>
          </a:p>
        </p:txBody>
      </p:sp>
      <p:sp>
        <p:nvSpPr>
          <p:cNvPr id="16" name="Text 13"/>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10 / 17</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Debrief</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What Did We Notice?</a:t>
            </a:r>
            <a:endParaRPr lang="en-US" sz="3400" dirty="0"/>
          </a:p>
        </p:txBody>
      </p:sp>
      <p:sp>
        <p:nvSpPr>
          <p:cNvPr id="6" name="Shape 3"/>
          <p:cNvSpPr/>
          <p:nvPr/>
        </p:nvSpPr>
        <p:spPr>
          <a:xfrm>
            <a:off x="731520" y="2194560"/>
            <a:ext cx="10698480" cy="3840480"/>
          </a:xfrm>
          <a:prstGeom prst="roundRect">
            <a:avLst>
              <a:gd name="adj" fmla="val 1905"/>
            </a:avLst>
          </a:prstGeom>
          <a:solidFill>
            <a:srgbClr val="FFFFFF">
              <a:alpha val="70000"/>
            </a:srgbClr>
          </a:solidFill>
          <a:ln/>
        </p:spPr>
      </p:sp>
      <p:sp>
        <p:nvSpPr>
          <p:cNvPr id="7" name="Shape 4"/>
          <p:cNvSpPr/>
          <p:nvPr/>
        </p:nvSpPr>
        <p:spPr>
          <a:xfrm>
            <a:off x="1005840" y="2532888"/>
            <a:ext cx="365760" cy="365760"/>
          </a:xfrm>
          <a:prstGeom prst="ellipse">
            <a:avLst/>
          </a:prstGeom>
          <a:solidFill>
            <a:srgbClr val="B20E38"/>
          </a:solidFill>
          <a:ln/>
        </p:spPr>
      </p:sp>
      <p:sp>
        <p:nvSpPr>
          <p:cNvPr id="8" name="Text 5"/>
          <p:cNvSpPr/>
          <p:nvPr/>
        </p:nvSpPr>
        <p:spPr>
          <a:xfrm>
            <a:off x="1005840" y="25328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SemiBold" pitchFamily="34" charset="0"/>
                <a:ea typeface="Montserrat SemiBold" pitchFamily="34" charset="-122"/>
                <a:cs typeface="Montserrat SemiBold" pitchFamily="34" charset="-120"/>
              </a:rPr>
              <a:t>1</a:t>
            </a:r>
            <a:endParaRPr lang="en-US" sz="1400" dirty="0"/>
          </a:p>
        </p:txBody>
      </p:sp>
      <p:sp>
        <p:nvSpPr>
          <p:cNvPr id="9" name="Text 6"/>
          <p:cNvSpPr/>
          <p:nvPr/>
        </p:nvSpPr>
        <p:spPr>
          <a:xfrm>
            <a:off x="1508760" y="2514600"/>
            <a:ext cx="9692640" cy="77724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Which quadrant did most groups pick as the smartest bet, and why?</a:t>
            </a:r>
            <a:endParaRPr lang="en-US" sz="1550" dirty="0"/>
          </a:p>
        </p:txBody>
      </p:sp>
      <p:sp>
        <p:nvSpPr>
          <p:cNvPr id="10" name="Shape 7"/>
          <p:cNvSpPr/>
          <p:nvPr/>
        </p:nvSpPr>
        <p:spPr>
          <a:xfrm>
            <a:off x="1005840" y="3447288"/>
            <a:ext cx="365760" cy="365760"/>
          </a:xfrm>
          <a:prstGeom prst="ellipse">
            <a:avLst/>
          </a:prstGeom>
          <a:solidFill>
            <a:srgbClr val="B20E38"/>
          </a:solidFill>
          <a:ln/>
        </p:spPr>
      </p:sp>
      <p:sp>
        <p:nvSpPr>
          <p:cNvPr id="11" name="Text 8"/>
          <p:cNvSpPr/>
          <p:nvPr/>
        </p:nvSpPr>
        <p:spPr>
          <a:xfrm>
            <a:off x="1005840" y="34472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SemiBold" pitchFamily="34" charset="0"/>
                <a:ea typeface="Montserrat SemiBold" pitchFamily="34" charset="-122"/>
                <a:cs typeface="Montserrat SemiBold" pitchFamily="34" charset="-120"/>
              </a:rPr>
              <a:t>2</a:t>
            </a:r>
            <a:endParaRPr lang="en-US" sz="1400" dirty="0"/>
          </a:p>
        </p:txBody>
      </p:sp>
      <p:sp>
        <p:nvSpPr>
          <p:cNvPr id="12" name="Text 9"/>
          <p:cNvSpPr/>
          <p:nvPr/>
        </p:nvSpPr>
        <p:spPr>
          <a:xfrm>
            <a:off x="1508760" y="3429000"/>
            <a:ext cx="9692640" cy="77724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Did any group pick Diversification? What made it feel worth the risk?</a:t>
            </a:r>
            <a:endParaRPr lang="en-US" sz="1550" dirty="0"/>
          </a:p>
        </p:txBody>
      </p:sp>
      <p:sp>
        <p:nvSpPr>
          <p:cNvPr id="13" name="Shape 10"/>
          <p:cNvSpPr/>
          <p:nvPr/>
        </p:nvSpPr>
        <p:spPr>
          <a:xfrm>
            <a:off x="1005840" y="4361688"/>
            <a:ext cx="365760" cy="365760"/>
          </a:xfrm>
          <a:prstGeom prst="ellipse">
            <a:avLst/>
          </a:prstGeom>
          <a:solidFill>
            <a:srgbClr val="B20E38"/>
          </a:solidFill>
          <a:ln/>
        </p:spPr>
      </p:sp>
      <p:sp>
        <p:nvSpPr>
          <p:cNvPr id="14" name="Text 11"/>
          <p:cNvSpPr/>
          <p:nvPr/>
        </p:nvSpPr>
        <p:spPr>
          <a:xfrm>
            <a:off x="1005840" y="43616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SemiBold" pitchFamily="34" charset="0"/>
                <a:ea typeface="Montserrat SemiBold" pitchFamily="34" charset="-122"/>
                <a:cs typeface="Montserrat SemiBold" pitchFamily="34" charset="-120"/>
              </a:rPr>
              <a:t>3</a:t>
            </a:r>
            <a:endParaRPr lang="en-US" sz="1400" dirty="0"/>
          </a:p>
        </p:txBody>
      </p:sp>
      <p:sp>
        <p:nvSpPr>
          <p:cNvPr id="15" name="Text 12"/>
          <p:cNvSpPr/>
          <p:nvPr/>
        </p:nvSpPr>
        <p:spPr>
          <a:xfrm>
            <a:off x="1508760" y="4343400"/>
            <a:ext cx="9692640" cy="77724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For the companies discussed, which quadrant have they actually already tried, that you know of?</a:t>
            </a:r>
            <a:endParaRPr lang="en-US" sz="1550" dirty="0"/>
          </a:p>
        </p:txBody>
      </p:sp>
      <p:sp>
        <p:nvSpPr>
          <p:cNvPr id="16" name="Text 13"/>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12 / 17</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 Common Mistake</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Chasing Diversification Too Soon</a:t>
            </a:r>
            <a:endParaRPr lang="en-US" sz="3400" dirty="0"/>
          </a:p>
        </p:txBody>
      </p:sp>
      <p:sp>
        <p:nvSpPr>
          <p:cNvPr id="6" name="Shape 3"/>
          <p:cNvSpPr/>
          <p:nvPr/>
        </p:nvSpPr>
        <p:spPr>
          <a:xfrm>
            <a:off x="731520" y="2286000"/>
            <a:ext cx="10698480" cy="3291840"/>
          </a:xfrm>
          <a:prstGeom prst="roundRect">
            <a:avLst>
              <a:gd name="adj" fmla="val 2778"/>
            </a:avLst>
          </a:prstGeom>
          <a:solidFill>
            <a:srgbClr val="B20E38"/>
          </a:solidFill>
          <a:ln/>
        </p:spPr>
      </p:sp>
      <p:sp>
        <p:nvSpPr>
          <p:cNvPr id="7" name="Text 4"/>
          <p:cNvSpPr/>
          <p:nvPr/>
        </p:nvSpPr>
        <p:spPr>
          <a:xfrm>
            <a:off x="1051560" y="2286000"/>
            <a:ext cx="10058400" cy="3291840"/>
          </a:xfrm>
          <a:prstGeom prst="rect">
            <a:avLst/>
          </a:prstGeom>
          <a:noFill/>
          <a:ln/>
        </p:spPr>
        <p:txBody>
          <a:bodyPr wrap="square" lIns="0" tIns="0" rIns="0" bIns="0" rtlCol="0" anchor="ctr"/>
          <a:lstStyle/>
          <a:p>
            <a:pPr marL="0" indent="0" algn="ctr">
              <a:lnSpc>
                <a:spcPct val="140000"/>
              </a:lnSpc>
              <a:buNone/>
            </a:pPr>
            <a:r>
              <a:rPr lang="en-US" sz="1700" b="1" i="1" dirty="0">
                <a:solidFill>
                  <a:srgbClr val="FFFFFF"/>
                </a:solidFill>
                <a:latin typeface="Montserrat" pitchFamily="34" charset="0"/>
                <a:ea typeface="Montserrat" pitchFamily="34" charset="-122"/>
                <a:cs typeface="Montserrat" pitchFamily="34" charset="-120"/>
              </a:rPr>
              <a:t>Diversification looks exciting on a slide. In practice, most companies that skip Market Penetration and Development, and jump straight to a brand-new product in a brand-new market, are trying to escape a problem in their core business rather than genuinely pursuing an opportunity. Fix or understand the core first.</a:t>
            </a:r>
            <a:endParaRPr lang="en-US" sz="1700" dirty="0"/>
          </a:p>
        </p:txBody>
      </p:sp>
      <p:sp>
        <p:nvSpPr>
          <p:cNvPr id="8" name="Text 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13 / 17</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Coming Next Session</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Going Deep on Diversification</a:t>
            </a:r>
            <a:endParaRPr lang="en-US" sz="3400" dirty="0"/>
          </a:p>
        </p:txBody>
      </p:sp>
      <p:sp>
        <p:nvSpPr>
          <p:cNvPr id="6" name="Shape 3"/>
          <p:cNvSpPr/>
          <p:nvPr/>
        </p:nvSpPr>
        <p:spPr>
          <a:xfrm>
            <a:off x="731520" y="2194560"/>
            <a:ext cx="10698480" cy="3840480"/>
          </a:xfrm>
          <a:prstGeom prst="roundRect">
            <a:avLst>
              <a:gd name="adj" fmla="val 1905"/>
            </a:avLst>
          </a:prstGeom>
          <a:solidFill>
            <a:srgbClr val="FFFFFF">
              <a:alpha val="70000"/>
            </a:srgbClr>
          </a:solidFill>
          <a:ln/>
        </p:spPr>
      </p:sp>
      <p:sp>
        <p:nvSpPr>
          <p:cNvPr id="7" name="Text 4"/>
          <p:cNvSpPr/>
          <p:nvPr/>
        </p:nvSpPr>
        <p:spPr>
          <a:xfrm>
            <a:off x="1005840" y="2514600"/>
            <a:ext cx="10149840" cy="1371600"/>
          </a:xfrm>
          <a:prstGeom prst="rect">
            <a:avLst/>
          </a:prstGeom>
          <a:noFill/>
          <a:ln/>
        </p:spPr>
        <p:txBody>
          <a:bodyPr wrap="square" lIns="0" tIns="0" rIns="0" bIns="0" rtlCol="0" anchor="ctr"/>
          <a:lstStyle/>
          <a:p>
            <a:pPr marL="0" indent="0">
              <a:lnSpc>
                <a:spcPct val="140000"/>
              </a:lnSpc>
              <a:buNone/>
            </a:pPr>
            <a:r>
              <a:rPr lang="en-US" sz="1700" dirty="0">
                <a:solidFill>
                  <a:srgbClr val="1A1A1A"/>
                </a:solidFill>
                <a:latin typeface="Montserrat" pitchFamily="34" charset="0"/>
                <a:ea typeface="Montserrat" pitchFamily="34" charset="-122"/>
                <a:cs typeface="Montserrat" pitchFamily="34" charset="-120"/>
              </a:rPr>
              <a:t>If diversification really is the right move, the next question is how. Related diversification, staying close to what you know, or unrelated diversification, going somewhere with no shared thread at all?</a:t>
            </a:r>
            <a:endParaRPr lang="en-US" sz="1700" dirty="0"/>
          </a:p>
        </p:txBody>
      </p:sp>
      <p:sp>
        <p:nvSpPr>
          <p:cNvPr id="8" name="Text 5"/>
          <p:cNvSpPr/>
          <p:nvPr/>
        </p:nvSpPr>
        <p:spPr>
          <a:xfrm>
            <a:off x="1005840" y="4023360"/>
            <a:ext cx="10149840" cy="1371600"/>
          </a:xfrm>
          <a:prstGeom prst="rect">
            <a:avLst/>
          </a:prstGeom>
          <a:noFill/>
          <a:ln/>
        </p:spPr>
        <p:txBody>
          <a:bodyPr wrap="square" lIns="0" tIns="0" rIns="0" bIns="0" rtlCol="0" anchor="ctr"/>
          <a:lstStyle/>
          <a:p>
            <a:pPr marL="0" indent="0">
              <a:lnSpc>
                <a:spcPct val="135000"/>
              </a:lnSpc>
              <a:buNone/>
            </a:pPr>
            <a:r>
              <a:rPr lang="en-US" sz="1600" i="1" dirty="0">
                <a:solidFill>
                  <a:srgbClr val="2A2A2A"/>
                </a:solidFill>
                <a:latin typeface="Montserrat" pitchFamily="34" charset="0"/>
                <a:ea typeface="Montserrat" pitchFamily="34" charset="-122"/>
                <a:cs typeface="Montserrat" pitchFamily="34" charset="-120"/>
              </a:rPr>
              <a:t>We'll use ITC's full journey, cigarettes to hotels to FMCG, as the running case, and get our first look at the BCG Matrix for managing a diversified portfolio.</a:t>
            </a:r>
            <a:endParaRPr lang="en-US" sz="1600" dirty="0"/>
          </a:p>
        </p:txBody>
      </p:sp>
      <p:sp>
        <p:nvSpPr>
          <p:cNvPr id="9" name="Text 6"/>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14 / 17</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Takeaways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Key Takeaways from Today</a:t>
            </a:r>
            <a:endParaRPr lang="en-US" sz="3400" dirty="0"/>
          </a:p>
        </p:txBody>
      </p:sp>
      <p:sp>
        <p:nvSpPr>
          <p:cNvPr id="6" name="Shape 3"/>
          <p:cNvSpPr/>
          <p:nvPr/>
        </p:nvSpPr>
        <p:spPr>
          <a:xfrm>
            <a:off x="731520" y="2194560"/>
            <a:ext cx="10698480" cy="914400"/>
          </a:xfrm>
          <a:prstGeom prst="roundRect">
            <a:avLst>
              <a:gd name="adj" fmla="val 8000"/>
            </a:avLst>
          </a:prstGeom>
          <a:solidFill>
            <a:srgbClr val="FFFFFF">
              <a:alpha val="70000"/>
            </a:srgbClr>
          </a:solidFill>
          <a:ln/>
        </p:spPr>
      </p:sp>
      <p:sp>
        <p:nvSpPr>
          <p:cNvPr id="7" name="Shape 4"/>
          <p:cNvSpPr/>
          <p:nvPr/>
        </p:nvSpPr>
        <p:spPr>
          <a:xfrm>
            <a:off x="731520" y="2194560"/>
            <a:ext cx="91440" cy="914400"/>
          </a:xfrm>
          <a:prstGeom prst="rect">
            <a:avLst/>
          </a:prstGeom>
          <a:solidFill>
            <a:srgbClr val="B20E38"/>
          </a:solidFill>
          <a:ln/>
        </p:spPr>
      </p:sp>
      <p:sp>
        <p:nvSpPr>
          <p:cNvPr id="8" name="Text 5"/>
          <p:cNvSpPr/>
          <p:nvPr/>
        </p:nvSpPr>
        <p:spPr>
          <a:xfrm>
            <a:off x="1051560" y="219456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The Ansoff Matrix answers “how do we grow” with four options: Penetration, Development (market or product), and Diversification</a:t>
            </a:r>
            <a:endParaRPr lang="en-US" sz="1450" dirty="0"/>
          </a:p>
        </p:txBody>
      </p:sp>
      <p:sp>
        <p:nvSpPr>
          <p:cNvPr id="9" name="Shape 6"/>
          <p:cNvSpPr/>
          <p:nvPr/>
        </p:nvSpPr>
        <p:spPr>
          <a:xfrm>
            <a:off x="731520" y="3246120"/>
            <a:ext cx="10698480" cy="914400"/>
          </a:xfrm>
          <a:prstGeom prst="roundRect">
            <a:avLst>
              <a:gd name="adj" fmla="val 8000"/>
            </a:avLst>
          </a:prstGeom>
          <a:solidFill>
            <a:srgbClr val="FFFFFF">
              <a:alpha val="70000"/>
            </a:srgbClr>
          </a:solidFill>
          <a:ln/>
        </p:spPr>
      </p:sp>
      <p:sp>
        <p:nvSpPr>
          <p:cNvPr id="10" name="Shape 7"/>
          <p:cNvSpPr/>
          <p:nvPr/>
        </p:nvSpPr>
        <p:spPr>
          <a:xfrm>
            <a:off x="731520" y="3246120"/>
            <a:ext cx="91440" cy="914400"/>
          </a:xfrm>
          <a:prstGeom prst="rect">
            <a:avLst/>
          </a:prstGeom>
          <a:solidFill>
            <a:srgbClr val="B20E38"/>
          </a:solidFill>
          <a:ln/>
        </p:spPr>
      </p:sp>
      <p:sp>
        <p:nvSpPr>
          <p:cNvPr id="11" name="Text 8"/>
          <p:cNvSpPr/>
          <p:nvPr/>
        </p:nvSpPr>
        <p:spPr>
          <a:xfrm>
            <a:off x="1051560" y="324612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Risk rises the further you move from your existing product and existing market</a:t>
            </a:r>
            <a:endParaRPr lang="en-US" sz="1450" dirty="0"/>
          </a:p>
        </p:txBody>
      </p:sp>
      <p:sp>
        <p:nvSpPr>
          <p:cNvPr id="12" name="Shape 9"/>
          <p:cNvSpPr/>
          <p:nvPr/>
        </p:nvSpPr>
        <p:spPr>
          <a:xfrm>
            <a:off x="731520" y="4297680"/>
            <a:ext cx="10698480" cy="914400"/>
          </a:xfrm>
          <a:prstGeom prst="roundRect">
            <a:avLst>
              <a:gd name="adj" fmla="val 8000"/>
            </a:avLst>
          </a:prstGeom>
          <a:solidFill>
            <a:srgbClr val="FFFFFF">
              <a:alpha val="70000"/>
            </a:srgbClr>
          </a:solidFill>
          <a:ln/>
        </p:spPr>
      </p:sp>
      <p:sp>
        <p:nvSpPr>
          <p:cNvPr id="13" name="Shape 10"/>
          <p:cNvSpPr/>
          <p:nvPr/>
        </p:nvSpPr>
        <p:spPr>
          <a:xfrm>
            <a:off x="731520" y="4297680"/>
            <a:ext cx="91440" cy="914400"/>
          </a:xfrm>
          <a:prstGeom prst="rect">
            <a:avLst/>
          </a:prstGeom>
          <a:solidFill>
            <a:srgbClr val="B20E38"/>
          </a:solidFill>
          <a:ln/>
        </p:spPr>
      </p:sp>
      <p:sp>
        <p:nvSpPr>
          <p:cNvPr id="14" name="Text 11"/>
          <p:cNvSpPr/>
          <p:nvPr/>
        </p:nvSpPr>
        <p:spPr>
          <a:xfrm>
            <a:off x="1051560" y="429768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Market Penetration is the safest and usually the first move worth trying</a:t>
            </a:r>
            <a:endParaRPr lang="en-US" sz="1450" dirty="0"/>
          </a:p>
        </p:txBody>
      </p:sp>
      <p:sp>
        <p:nvSpPr>
          <p:cNvPr id="15" name="Shape 12"/>
          <p:cNvSpPr/>
          <p:nvPr/>
        </p:nvSpPr>
        <p:spPr>
          <a:xfrm>
            <a:off x="731520" y="5349240"/>
            <a:ext cx="10698480" cy="914400"/>
          </a:xfrm>
          <a:prstGeom prst="roundRect">
            <a:avLst>
              <a:gd name="adj" fmla="val 8000"/>
            </a:avLst>
          </a:prstGeom>
          <a:solidFill>
            <a:srgbClr val="FFFFFF">
              <a:alpha val="70000"/>
            </a:srgbClr>
          </a:solidFill>
          <a:ln/>
        </p:spPr>
      </p:sp>
      <p:sp>
        <p:nvSpPr>
          <p:cNvPr id="16" name="Shape 13"/>
          <p:cNvSpPr/>
          <p:nvPr/>
        </p:nvSpPr>
        <p:spPr>
          <a:xfrm>
            <a:off x="731520" y="5349240"/>
            <a:ext cx="91440" cy="914400"/>
          </a:xfrm>
          <a:prstGeom prst="rect">
            <a:avLst/>
          </a:prstGeom>
          <a:solidFill>
            <a:srgbClr val="B20E38"/>
          </a:solidFill>
          <a:ln/>
        </p:spPr>
      </p:sp>
      <p:sp>
        <p:nvSpPr>
          <p:cNvPr id="17" name="Text 14"/>
          <p:cNvSpPr/>
          <p:nvPr/>
        </p:nvSpPr>
        <p:spPr>
          <a:xfrm>
            <a:off x="1051560" y="534924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Diversification is powerful but should follow real strategic logic, not be a way to avoid fixing a struggling core business</a:t>
            </a:r>
            <a:endParaRPr lang="en-US" sz="145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15 / 17</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References &amp; Next Class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Sources &amp; What's Coming Up</a:t>
            </a:r>
            <a:endParaRPr lang="en-US" sz="3400" dirty="0"/>
          </a:p>
        </p:txBody>
      </p:sp>
      <p:sp>
        <p:nvSpPr>
          <p:cNvPr id="6" name="Shape 3"/>
          <p:cNvSpPr/>
          <p:nvPr/>
        </p:nvSpPr>
        <p:spPr>
          <a:xfrm>
            <a:off x="731520" y="2103120"/>
            <a:ext cx="10698480" cy="2011680"/>
          </a:xfrm>
          <a:prstGeom prst="roundRect">
            <a:avLst>
              <a:gd name="adj" fmla="val 3636"/>
            </a:avLst>
          </a:prstGeom>
          <a:solidFill>
            <a:srgbClr val="FFFFFF">
              <a:alpha val="70000"/>
            </a:srgbClr>
          </a:solidFill>
          <a:ln/>
        </p:spPr>
      </p:sp>
      <p:sp>
        <p:nvSpPr>
          <p:cNvPr id="7" name="Text 4"/>
          <p:cNvSpPr/>
          <p:nvPr/>
        </p:nvSpPr>
        <p:spPr>
          <a:xfrm>
            <a:off x="1005840" y="2377440"/>
            <a:ext cx="10149840" cy="1371600"/>
          </a:xfrm>
          <a:prstGeom prst="rect">
            <a:avLst/>
          </a:prstGeom>
          <a:noFill/>
          <a:ln/>
        </p:spPr>
        <p:txBody>
          <a:bodyPr wrap="square" lIns="0" tIns="0" rIns="0" bIns="0" rtlCol="0" anchor="ctr"/>
          <a:lstStyle/>
          <a:p>
            <a:pPr marL="0" indent="0">
              <a:lnSpc>
                <a:spcPct val="135000"/>
              </a:lnSpc>
              <a:buNone/>
            </a:pPr>
            <a:r>
              <a:rPr lang="en-US" sz="1350" dirty="0">
                <a:solidFill>
                  <a:srgbClr val="1A1A1A"/>
                </a:solidFill>
                <a:latin typeface="Montserrat" pitchFamily="34" charset="0"/>
                <a:ea typeface="Montserrat" pitchFamily="34" charset="-122"/>
                <a:cs typeface="Montserrat" pitchFamily="34" charset="-120"/>
              </a:rPr>
              <a:t>Ansoff, H.I. — “Strategies for Diversification,” Harvard Business Review, 1957; Sun Tzu, The Art of War, Chapter X; public accounts of Haldiram's, Maggi, and ITC's business history.</a:t>
            </a:r>
            <a:endParaRPr lang="en-US" sz="1350" dirty="0"/>
          </a:p>
        </p:txBody>
      </p:sp>
      <p:sp>
        <p:nvSpPr>
          <p:cNvPr id="8" name="Shape 5"/>
          <p:cNvSpPr/>
          <p:nvPr/>
        </p:nvSpPr>
        <p:spPr>
          <a:xfrm>
            <a:off x="731520" y="4297680"/>
            <a:ext cx="10698480" cy="1828800"/>
          </a:xfrm>
          <a:prstGeom prst="roundRect">
            <a:avLst>
              <a:gd name="adj" fmla="val 4000"/>
            </a:avLst>
          </a:prstGeom>
          <a:solidFill>
            <a:srgbClr val="B20E38"/>
          </a:solidFill>
          <a:ln/>
        </p:spPr>
      </p:sp>
      <p:sp>
        <p:nvSpPr>
          <p:cNvPr id="9" name="Text 6"/>
          <p:cNvSpPr/>
          <p:nvPr/>
        </p:nvSpPr>
        <p:spPr>
          <a:xfrm>
            <a:off x="1005840" y="4297680"/>
            <a:ext cx="10149840" cy="1828800"/>
          </a:xfrm>
          <a:prstGeom prst="rect">
            <a:avLst/>
          </a:prstGeom>
          <a:noFill/>
          <a:ln/>
        </p:spPr>
        <p:txBody>
          <a:bodyPr wrap="square" lIns="0" tIns="0" rIns="0" bIns="0" rtlCol="0" anchor="ctr"/>
          <a:lstStyle/>
          <a:p>
            <a:pPr marL="0" indent="0" algn="ctr">
              <a:lnSpc>
                <a:spcPct val="130000"/>
              </a:lnSpc>
              <a:buNone/>
            </a:pPr>
            <a:r>
              <a:rPr lang="en-US" sz="1700" b="1" i="1" dirty="0">
                <a:solidFill>
                  <a:srgbClr val="FFFFFF"/>
                </a:solidFill>
                <a:latin typeface="Montserrat" pitchFamily="34" charset="0"/>
                <a:ea typeface="Montserrat" pitchFamily="34" charset="-122"/>
                <a:cs typeface="Montserrat" pitchFamily="34" charset="-120"/>
              </a:rPr>
              <a:t>Next: Session 20 — Diversification &amp; Introduction to Portfolio Planning.</a:t>
            </a:r>
            <a:endParaRPr lang="en-US" sz="17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16 / 17</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731520" y="2834640"/>
            <a:ext cx="10698480" cy="822960"/>
          </a:xfrm>
          <a:prstGeom prst="rect">
            <a:avLst/>
          </a:prstGeom>
          <a:noFill/>
          <a:ln/>
        </p:spPr>
        <p:txBody>
          <a:bodyPr wrap="square" lIns="0" tIns="0" rIns="0" bIns="0" rtlCol="0" anchor="ctr"/>
          <a:lstStyle/>
          <a:p>
            <a:pPr marL="0" indent="0" algn="ctr">
              <a:buNone/>
            </a:pPr>
            <a:r>
              <a:rPr lang="en-US" sz="2800" b="1" dirty="0">
                <a:solidFill>
                  <a:srgbClr val="B20E38"/>
                </a:solidFill>
                <a:latin typeface="Montserrat SemiBold" pitchFamily="34" charset="0"/>
                <a:ea typeface="Montserrat SemiBold" pitchFamily="34" charset="-122"/>
                <a:cs typeface="Montserrat SemiBold" pitchFamily="34" charset="-120"/>
              </a:rPr>
              <a:t>How you grow matters as much as whether you grow.</a:t>
            </a:r>
            <a:endParaRPr lang="en-US" sz="2800" dirty="0"/>
          </a:p>
        </p:txBody>
      </p:sp>
      <p:sp>
        <p:nvSpPr>
          <p:cNvPr id="4" name="Text 1"/>
          <p:cNvSpPr/>
          <p:nvPr/>
        </p:nvSpPr>
        <p:spPr>
          <a:xfrm>
            <a:off x="731520" y="3611880"/>
            <a:ext cx="10698480" cy="548640"/>
          </a:xfrm>
          <a:prstGeom prst="rect">
            <a:avLst/>
          </a:prstGeom>
          <a:noFill/>
          <a:ln/>
        </p:spPr>
        <p:txBody>
          <a:bodyPr wrap="square" lIns="0" tIns="0" rIns="0" bIns="0" rtlCol="0" anchor="ctr"/>
          <a:lstStyle/>
          <a:p>
            <a:pPr marL="0" indent="0" algn="ctr">
              <a:buNone/>
            </a:pPr>
            <a:r>
              <a:rPr lang="en-US" sz="2200" i="1" dirty="0">
                <a:solidFill>
                  <a:srgbClr val="2A2A2A"/>
                </a:solidFill>
                <a:latin typeface="Montserrat" pitchFamily="34" charset="0"/>
                <a:ea typeface="Montserrat" pitchFamily="34" charset="-122"/>
                <a:cs typeface="Montserrat" pitchFamily="34" charset="-120"/>
              </a:rPr>
              <a:t>See you next class!</a:t>
            </a:r>
            <a:endParaRPr lang="en-US" sz="2200" dirty="0"/>
          </a:p>
        </p:txBody>
      </p:sp>
      <p:sp>
        <p:nvSpPr>
          <p:cNvPr id="5" name="Text 2"/>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17 / 17</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730</TotalTime>
  <Words>1433</Words>
  <Application>Microsoft Office PowerPoint</Application>
  <PresentationFormat>Custom</PresentationFormat>
  <Paragraphs>181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Montserrat</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Shridhar samant</cp:lastModifiedBy>
  <cp:revision>2</cp:revision>
  <dcterms:created xsi:type="dcterms:W3CDTF">2026-08-31T11:40:07Z</dcterms:created>
  <dcterms:modified xsi:type="dcterms:W3CDTF">2026-09-08T06:25:43Z</dcterms:modified>
</cp:coreProperties>
</file>