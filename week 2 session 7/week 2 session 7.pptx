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9" r:id="rId2"/>
    <p:sldId id="271" r:id="rId3"/>
    <p:sldId id="261" r:id="rId4"/>
    <p:sldId id="272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0gWmuU7qRYzgkrJXG3VjI167X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448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1370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Last Session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Last Session, in 60 Seconds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57200" y="1371600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77240" y="137160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Good strategy involves real trade-offs  deliberately choosing what NOT to do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235915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57200" y="2359152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77240" y="2359152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Strategy must fit both the outside environment and your own capabilities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33467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57200" y="3346704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77240" y="3346704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Execution matters as much as the plan itself  often more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"/>
              <a:buNone/>
            </a:pPr>
            <a:r>
              <a:rPr lang="en-US" sz="1300" b="1" i="1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Today: the actual process strategy follows, from idea to result.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4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206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07" y="5486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CORE CONCEPT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Strategic Management Model: Four Stages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CORE CONCEPT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Strategic Management Model: Four Stages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657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0835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0835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754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754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Look outward and inward before deciding anything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4231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1409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1409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5328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5328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Design the actual strategy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4805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1983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1983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902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Implementation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902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Put the strategy into 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5379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255764" y="1463040"/>
            <a:ext cx="512064" cy="512064"/>
          </a:xfrm>
          <a:prstGeom prst="ellipse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255764" y="1463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 SemiBold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647688" y="210312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647688" y="2606040"/>
            <a:ext cx="172821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Check if it's working, and adjust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Montserrat"/>
              <a:buNone/>
            </a:pPr>
            <a:r>
              <a:rPr lang="en-US" sz="1100" b="0" i="1" u="none" strike="noStrike" cap="none">
                <a:solidFill>
                  <a:srgbClr val="6B6B6B"/>
                </a:solidFill>
                <a:latin typeface="Montserrat"/>
                <a:ea typeface="Montserrat"/>
                <a:cs typeface="Montserrat"/>
                <a:sym typeface="Montserrat"/>
              </a:rPr>
              <a:t>It's a cycle, not a straight line — evaluation often sends you back to scanning again.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65760" y="4726725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 dirty="0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Framework based on: A. Nag, Strategic Management: Analysis, Implementation and Control, Ch. 1.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6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8375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5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A STORY TO START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</a:t>
            </a:r>
            <a:r>
              <a:rPr lang="en-US" sz="2500" b="1" i="0" u="none" strike="noStrike" cap="none" dirty="0" err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Actually Decided to Add Delivery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114300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90196"/>
            </a:srgbClr>
          </a:solidFill>
          <a:ln>
            <a:noFill/>
          </a:ln>
          <a:effectLst>
            <a:outerShdw blurRad="762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She noticed something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1520" y="164592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Rainy days meant fewer customers walking to her cart, but her friends kept asking if she delivered.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She thought it through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31520" y="269748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Could  afford a delivery bag and a bit of extra staff time? Would nearby hostels actually order enough to be worth it?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She tried it, then watched closely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She started with just two hostels, tracked orders weekly, and only expanded once it was clearly working.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1520" y="4478383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Montserrat"/>
              <a:buNone/>
            </a:pPr>
            <a:r>
              <a:rPr lang="en-US" sz="1150" b="0" i="1" u="none" strike="noStrike" cap="none">
                <a:solidFill>
                  <a:srgbClr val="6B6B6B"/>
                </a:solidFill>
                <a:latin typeface="Montserrat"/>
                <a:ea typeface="Montserrat"/>
                <a:cs typeface="Montserrat"/>
                <a:sym typeface="Montserrat"/>
              </a:rPr>
              <a:t>Without knowing it, Priya just walked through all four stages of the strategic management model.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“Priya's Momos” is a fictional business created for classroom illustration only.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5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7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1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Looking outward and inward before making any big decision.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Outward: what are customers, competitors, and the broader market doing? Inward: what can we actually afford, staff, and support well?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Noticing rainy-day drop-offs and repeated delivery requests — that's scanning in action.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7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8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2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Formulation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Designing the actual response  turning what you learned into a real choice.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31520" y="19659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This is where you weigh options, consider trade-offs, and commit to one direction over the alternatives.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31520" y="2697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 dirty="0" err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Deciding to test delivery with just two nearby hostels first, instead of the whole neighbourhood at once.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8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9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3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Strategy Implementation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Putting the plan into action where most of the real work actually happens.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This is where the policies, programs, procedures and budgets we learned last week come to life the tools that make a strategy actually run day to day.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 dirty="0" err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Boncho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Buying a delivery bag, telling regulars, and actually running orders for two weeks.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5760" y="463963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 dirty="0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9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STAGE 4 OF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 &amp; Control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Checking whether it's actually working and being willing to change course.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Without this stage, a business keeps doing something long after it's stopped working. This stage often sends you straight back to scanning again.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</a:t>
            </a:r>
            <a:r>
              <a:rPr lang="en-US" sz="135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Broncho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1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Tracking weekly delivery orders — and only expanding to more hostels once the numbers clearly justified it.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10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1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LOOKING AHEAD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Introducing the Three Levels of Strategic Management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65760" y="128016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502920" y="1508760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450"/>
              <a:buFont typeface="Montserrat SemiBold"/>
              <a:buNone/>
            </a:pPr>
            <a:r>
              <a:rPr lang="en-US" sz="14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Corporate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02920" y="2194560"/>
            <a:ext cx="240487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Which businesses should we even be in?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182112" y="128016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3319272" y="1508760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450"/>
              <a:buFont typeface="Montserrat SemiBold"/>
              <a:buNone/>
            </a:pPr>
            <a:r>
              <a:rPr lang="en-US" sz="14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SBU / Business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319272" y="2194560"/>
            <a:ext cx="240487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How do we win within one specific business?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998464" y="128016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FFFFF">
              <a:alpha val="87843"/>
            </a:srgbClr>
          </a:solidFill>
          <a:ln>
            <a:noFill/>
          </a:ln>
          <a:effectLst>
            <a:outerShdw blurRad="635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135624" y="1508760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450"/>
              <a:buFont typeface="Montserrat SemiBold"/>
              <a:buNone/>
            </a:pPr>
            <a:r>
              <a:rPr lang="en-US" sz="145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Functional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135624" y="2194560"/>
            <a:ext cx="240487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How does each department support that win?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50"/>
              <a:buFont typeface="Montserrat"/>
              <a:buNone/>
            </a:pPr>
            <a:r>
              <a:rPr lang="en-US" sz="1150" b="0" i="1" u="none" strike="noStrike" cap="none">
                <a:solidFill>
                  <a:srgbClr val="6B6B6B"/>
                </a:solidFill>
                <a:latin typeface="Montserrat"/>
                <a:ea typeface="Montserrat"/>
                <a:cs typeface="Montserrat"/>
                <a:sym typeface="Montserrat"/>
              </a:rPr>
              <a:t>We'll dig into each of these deeply next session.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Framework based on: A. Nag, Strategic Management: Analysis, Implementation and Control, Ch. 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11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2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BACK TO PRIYA'S MOMOS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Her Delivery Decision, All Four Stages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57200" y="1280160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57200" y="1280160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2606040" y="1280160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2788920" y="1280160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Noticed rain drop-offs and delivery requests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57200" y="2121408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457200" y="2121408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2606040" y="2121408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2788920" y="2121408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Chose to test with 2 hostels, not the whole area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57200" y="2962656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57200" y="2962656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Implementation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606040" y="2962656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2788920" y="2962656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Bought a delivery bag, ran it for 2 weeks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57200" y="3803904"/>
            <a:ext cx="2103120" cy="713232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57200" y="3803904"/>
            <a:ext cx="2103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 SemiBold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2606040" y="3803904"/>
            <a:ext cx="6080760" cy="71323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2788920" y="3803904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Tracked orders, then expanded once it worked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b="0" i="1" u="none" strike="noStrike" cap="none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“Priya's Momos” is a fictional business created for classroom illustration only.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12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3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Takeaways from Today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777240" y="137160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The strategic management model has four stages: scan, formulate, implement, evaluate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57200" y="222199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457200" y="2221992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777240" y="2221992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It's a cycle, not a straight line — evaluation often restarts the process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57200" y="307238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57200" y="3072384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777240" y="3072384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Even Priya's small delivery decision followed all four stages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57200" y="39227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457200" y="3922776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777240" y="3922776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Strategy exists at three levels: corporate, SBU, and functional — our focus next session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13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4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REFLECT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One-Minute Self-Check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B20E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1280160" y="1371600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Can I name all four stages of the strategic management model, in order?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640080" y="2496312"/>
            <a:ext cx="457200" cy="45720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B20E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1280160" y="2331720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Can I explain why evaluation often leads back to scanning?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640080" y="3456432"/>
            <a:ext cx="457200" cy="45720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B20E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1280160" y="3291840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Can I think of a small decision I've made recently that followed this same cycle?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14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5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 i="0" u="none" strike="noStrike" cap="none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REFERENCES &amp; NEXT SESSION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Sources &amp; What's Coming Up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Required Reading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457200" y="1481328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Char char="•"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A. Nag — Strategic Management: Analysis, Implementation and Control, Ch. 1</a:t>
            </a:r>
            <a:b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457200" y="2240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Further Resources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57200" y="253288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Wheelen, T.L. &amp; Hunger, J.D. — Strategic Management and Business Policy</a:t>
            </a:r>
            <a:b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1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Kazmi, A. — Business Policy and Strategic Management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4709160" y="1188720"/>
            <a:ext cx="397764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4937760" y="135331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400"/>
              <a:buFont typeface="Montserrat SemiBold"/>
              <a:buNone/>
            </a:pPr>
            <a:r>
              <a:rPr lang="en-US" sz="1400" b="1" i="0" u="none" strike="noStrike" cap="none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Coming Up — Session 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937760" y="169164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ontserrat SemiBold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Corporate, SBU &amp; Functional Strategy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4937760" y="228600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Montserrat"/>
              <a:buNone/>
            </a:pPr>
            <a:r>
              <a:rPr lang="en-US" sz="1200" b="0" i="1" u="none" strike="noStrike" cap="none">
                <a:solidFill>
                  <a:srgbClr val="2A2A2A"/>
                </a:solidFill>
                <a:latin typeface="Montserrat"/>
                <a:ea typeface="Montserrat"/>
                <a:cs typeface="Montserrat"/>
                <a:sym typeface="Montserrat"/>
              </a:rPr>
              <a:t>A close look at the three levels, using one giant Indian conglomerate.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4937760" y="35661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No prep needed — just come curious.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 b="0" i="0" u="none" strike="noStrike" cap="none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15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Microsoft Office PowerPoint</Application>
  <PresentationFormat>On-screen Show (16:9)</PresentationFormat>
  <Paragraphs>132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Montserrat SemiBold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Shridhar samant</cp:lastModifiedBy>
  <cp:revision>1</cp:revision>
  <dcterms:created xsi:type="dcterms:W3CDTF">2026-07-31T08:52:12Z</dcterms:created>
  <dcterms:modified xsi:type="dcterms:W3CDTF">2026-08-19T04:31:33Z</dcterms:modified>
</cp:coreProperties>
</file>