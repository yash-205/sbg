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3" r:id="rId3"/>
    <p:sldId id="257" r:id="rId4"/>
    <p:sldId id="258" r:id="rId5"/>
    <p:sldId id="272"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545" y="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623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6471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90838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731520" y="2377440"/>
            <a:ext cx="10698480" cy="914400"/>
          </a:xfrm>
          <a:prstGeom prst="rect">
            <a:avLst/>
          </a:prstGeom>
          <a:noFill/>
          <a:ln/>
        </p:spPr>
        <p:txBody>
          <a:bodyPr wrap="square" lIns="0" tIns="0" rIns="0" bIns="0" rtlCol="0" anchor="ctr"/>
          <a:lstStyle/>
          <a:p>
            <a:pPr marL="0" indent="0" algn="ctr">
              <a:buNone/>
            </a:pPr>
            <a:r>
              <a:rPr lang="en-US" sz="3800" b="1" dirty="0">
                <a:solidFill>
                  <a:srgbClr val="1A1A1A"/>
                </a:solidFill>
                <a:latin typeface="Montserrat SemiBold" pitchFamily="34" charset="0"/>
                <a:ea typeface="Montserrat SemiBold" pitchFamily="34" charset="-122"/>
                <a:cs typeface="Montserrat SemiBold" pitchFamily="34" charset="-120"/>
              </a:rPr>
              <a:t>Strategies for Business Growth</a:t>
            </a:r>
            <a:endParaRPr lang="en-US" sz="3800" dirty="0"/>
          </a:p>
        </p:txBody>
      </p:sp>
      <p:sp>
        <p:nvSpPr>
          <p:cNvPr id="4" name="Text 1"/>
          <p:cNvSpPr/>
          <p:nvPr/>
        </p:nvSpPr>
        <p:spPr>
          <a:xfrm>
            <a:off x="731520" y="3200400"/>
            <a:ext cx="10698480" cy="548640"/>
          </a:xfrm>
          <a:prstGeom prst="rect">
            <a:avLst/>
          </a:prstGeom>
          <a:noFill/>
          <a:ln/>
        </p:spPr>
        <p:txBody>
          <a:bodyPr wrap="square" lIns="0" tIns="0" rIns="0" bIns="0" rtlCol="0" anchor="ctr"/>
          <a:lstStyle/>
          <a:p>
            <a:pPr marL="0" indent="0" algn="ctr">
              <a:buNone/>
            </a:pPr>
            <a:r>
              <a:rPr lang="en-US" sz="2200" b="1" dirty="0">
                <a:solidFill>
                  <a:srgbClr val="B20E38"/>
                </a:solidFill>
                <a:latin typeface="Montserrat SemiBold" pitchFamily="34" charset="0"/>
                <a:ea typeface="Montserrat SemiBold" pitchFamily="34" charset="-122"/>
                <a:cs typeface="Montserrat SemiBold" pitchFamily="34" charset="-120"/>
              </a:rPr>
              <a:t>Week 5 · Session 18</a:t>
            </a:r>
            <a:endParaRPr lang="en-US" sz="2200" dirty="0"/>
          </a:p>
        </p:txBody>
      </p:sp>
      <p:sp>
        <p:nvSpPr>
          <p:cNvPr id="5" name="Text 2"/>
          <p:cNvSpPr/>
          <p:nvPr/>
        </p:nvSpPr>
        <p:spPr>
          <a:xfrm>
            <a:off x="731520" y="3794760"/>
            <a:ext cx="10698480" cy="548640"/>
          </a:xfrm>
          <a:prstGeom prst="rect">
            <a:avLst/>
          </a:prstGeom>
          <a:noFill/>
          <a:ln/>
        </p:spPr>
        <p:txBody>
          <a:bodyPr wrap="square" lIns="0" tIns="0" rIns="0" bIns="0" rtlCol="0" anchor="ctr"/>
          <a:lstStyle/>
          <a:p>
            <a:pPr marL="0" indent="0" algn="ctr">
              <a:buNone/>
            </a:pPr>
            <a:r>
              <a:rPr lang="en-US" sz="2000" i="1" dirty="0">
                <a:solidFill>
                  <a:srgbClr val="2A2A2A"/>
                </a:solidFill>
                <a:latin typeface="Montserrat" pitchFamily="34" charset="0"/>
                <a:ea typeface="Montserrat" pitchFamily="34" charset="-122"/>
                <a:cs typeface="Montserrat" pitchFamily="34" charset="-120"/>
              </a:rPr>
              <a:t>Corporate Strategy Alternatives</a:t>
            </a:r>
            <a:endParaRPr lang="en-US" sz="2000" dirty="0"/>
          </a:p>
        </p:txBody>
      </p:sp>
      <p:sp>
        <p:nvSpPr>
          <p:cNvPr id="6" name="Text 3"/>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 / 16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assets/content_bg.png"/>
          <p:cNvPicPr>
            <a:picLocks noChangeAspect="1"/>
          </p:cNvPicPr>
          <p:nvPr/>
        </p:nvPicPr>
        <p:blipFill>
          <a:blip r:embed="rId3"/>
          <a:stretch>
            <a:fillRect/>
          </a:stretch>
        </p:blipFill>
        <p:spPr>
          <a:xfrm>
            <a:off x="-1" y="893"/>
            <a:ext cx="12188825" cy="6856214"/>
          </a:xfrm>
          <a:prstGeom prst="rect">
            <a:avLst/>
          </a:prstGeom>
        </p:spPr>
      </p:pic>
      <p:sp>
        <p:nvSpPr>
          <p:cNvPr id="3" name="Text 0"/>
          <p:cNvSpPr/>
          <p:nvPr/>
        </p:nvSpPr>
        <p:spPr>
          <a:xfrm>
            <a:off x="487553" y="74026"/>
            <a:ext cx="11213719" cy="292532"/>
          </a:xfrm>
          <a:prstGeom prst="rect">
            <a:avLst/>
          </a:prstGeom>
          <a:noFill/>
          <a:ln/>
        </p:spPr>
        <p:txBody>
          <a:bodyPr wrap="square" lIns="0" tIns="0" rIns="0" bIns="0" rtlCol="0" anchor="ctr"/>
          <a:lstStyle/>
          <a:p>
            <a:r>
              <a:rPr lang="en-US" sz="1400" b="1" kern="0" spc="267" dirty="0">
                <a:solidFill>
                  <a:srgbClr val="8C1030"/>
                </a:solidFill>
                <a:latin typeface="Montserrat" pitchFamily="34" charset="0"/>
                <a:ea typeface="Montserrat" pitchFamily="34" charset="-122"/>
                <a:cs typeface="Montserrat" pitchFamily="34" charset="-120"/>
              </a:rPr>
              <a:t>ASSESSMENT REMINDER</a:t>
            </a:r>
            <a:endParaRPr lang="en-US" sz="1400" dirty="0"/>
          </a:p>
        </p:txBody>
      </p:sp>
      <p:sp>
        <p:nvSpPr>
          <p:cNvPr id="4" name="Text 1"/>
          <p:cNvSpPr/>
          <p:nvPr/>
        </p:nvSpPr>
        <p:spPr>
          <a:xfrm>
            <a:off x="487553" y="342180"/>
            <a:ext cx="11213719" cy="792274"/>
          </a:xfrm>
          <a:prstGeom prst="rect">
            <a:avLst/>
          </a:prstGeom>
          <a:noFill/>
          <a:ln/>
        </p:spPr>
        <p:txBody>
          <a:bodyPr wrap="square" lIns="0" tIns="0" rIns="0" bIns="0" rtlCol="0" anchor="ctr"/>
          <a:lstStyle/>
          <a:p>
            <a:r>
              <a:rPr lang="en-US" sz="3333" b="1" dirty="0">
                <a:solidFill>
                  <a:srgbClr val="B20E38"/>
                </a:solidFill>
                <a:latin typeface="Montserrat SemiBold" pitchFamily="34" charset="0"/>
                <a:ea typeface="Montserrat SemiBold" pitchFamily="34" charset="-122"/>
                <a:cs typeface="Montserrat SemiBold" pitchFamily="34" charset="-120"/>
              </a:rPr>
              <a:t>Assessment 3 Is Due this Monday</a:t>
            </a:r>
            <a:endParaRPr lang="en-US" sz="3333" dirty="0"/>
          </a:p>
        </p:txBody>
      </p:sp>
      <p:sp>
        <p:nvSpPr>
          <p:cNvPr id="5" name="Shape 2"/>
          <p:cNvSpPr/>
          <p:nvPr/>
        </p:nvSpPr>
        <p:spPr>
          <a:xfrm>
            <a:off x="609441" y="1707329"/>
            <a:ext cx="10969943" cy="3534759"/>
          </a:xfrm>
          <a:prstGeom prst="roundRect">
            <a:avLst>
              <a:gd name="adj" fmla="val 3448"/>
            </a:avLst>
          </a:prstGeom>
          <a:solidFill>
            <a:srgbClr val="FFFFFF">
              <a:alpha val="90000"/>
            </a:srgbClr>
          </a:solidFill>
          <a:ln/>
        </p:spPr>
        <p:txBody>
          <a:bodyPr/>
          <a:lstStyle/>
          <a:p>
            <a:endParaRPr lang="en-US" sz="2399"/>
          </a:p>
        </p:txBody>
      </p:sp>
      <p:sp>
        <p:nvSpPr>
          <p:cNvPr id="6" name="Text 3"/>
          <p:cNvSpPr/>
          <p:nvPr/>
        </p:nvSpPr>
        <p:spPr>
          <a:xfrm>
            <a:off x="975106" y="1792650"/>
            <a:ext cx="10238613" cy="646008"/>
          </a:xfrm>
          <a:prstGeom prst="rect">
            <a:avLst/>
          </a:prstGeom>
          <a:noFill/>
          <a:ln/>
        </p:spPr>
        <p:txBody>
          <a:bodyPr wrap="square" lIns="0" tIns="0" rIns="0" bIns="0" rtlCol="0" anchor="ctr"/>
          <a:lstStyle/>
          <a:p>
            <a:r>
              <a:rPr lang="en-US" sz="2133" b="1" dirty="0">
                <a:solidFill>
                  <a:srgbClr val="B20E38"/>
                </a:solidFill>
                <a:latin typeface="Montserrat SemiBold" pitchFamily="34" charset="0"/>
                <a:ea typeface="Montserrat SemiBold" pitchFamily="34" charset="-122"/>
                <a:cs typeface="Montserrat SemiBold" pitchFamily="34" charset="-120"/>
              </a:rPr>
              <a:t>Using Porter 5 forces (from previous assessment), create a SWOT &amp; VRIO</a:t>
            </a:r>
            <a:endParaRPr lang="en-US" sz="2133" dirty="0"/>
          </a:p>
        </p:txBody>
      </p:sp>
      <p:sp>
        <p:nvSpPr>
          <p:cNvPr id="7" name="Text 4"/>
          <p:cNvSpPr/>
          <p:nvPr/>
        </p:nvSpPr>
        <p:spPr>
          <a:xfrm>
            <a:off x="975106" y="2935353"/>
            <a:ext cx="10238613" cy="1036050"/>
          </a:xfrm>
          <a:prstGeom prst="rect">
            <a:avLst/>
          </a:prstGeom>
          <a:noFill/>
          <a:ln/>
        </p:spPr>
        <p:txBody>
          <a:bodyPr wrap="square" lIns="0" tIns="0" rIns="0" bIns="0" rtlCol="0" anchor="ctr"/>
          <a:lstStyle/>
          <a:p>
            <a:pPr>
              <a:lnSpc>
                <a:spcPct val="100000"/>
              </a:lnSpc>
            </a:pPr>
            <a:r>
              <a:rPr lang="en-US" sz="1733" dirty="0">
                <a:solidFill>
                  <a:srgbClr val="1A1A1A"/>
                </a:solidFill>
                <a:latin typeface="Montserrat" pitchFamily="34" charset="0"/>
              </a:rPr>
              <a:t>Please complete this before the end of this week. Make sure all three methods are clearly separated into distinct sections, with a proper explanation of how each method leads to the next. Use the same company that you used for Porter’s Five Forces analysis throughout all three methods.</a:t>
            </a:r>
          </a:p>
          <a:p>
            <a:pPr>
              <a:lnSpc>
                <a:spcPct val="150000"/>
              </a:lnSpc>
            </a:pPr>
            <a:endParaRPr lang="en-US" sz="1733" dirty="0">
              <a:solidFill>
                <a:srgbClr val="1A1A1A"/>
              </a:solidFill>
              <a:latin typeface="Montserrat" pitchFamily="34" charset="0"/>
            </a:endParaRPr>
          </a:p>
          <a:p>
            <a:pPr>
              <a:lnSpc>
                <a:spcPct val="125000"/>
              </a:lnSpc>
            </a:pPr>
            <a:endParaRPr lang="en-US" sz="1733" dirty="0"/>
          </a:p>
        </p:txBody>
      </p:sp>
      <p:sp>
        <p:nvSpPr>
          <p:cNvPr id="8" name="Text 5"/>
          <p:cNvSpPr/>
          <p:nvPr/>
        </p:nvSpPr>
        <p:spPr>
          <a:xfrm>
            <a:off x="975106" y="4193849"/>
            <a:ext cx="10238613" cy="731330"/>
          </a:xfrm>
          <a:prstGeom prst="rect">
            <a:avLst/>
          </a:prstGeom>
          <a:noFill/>
          <a:ln/>
        </p:spPr>
        <p:txBody>
          <a:bodyPr wrap="square" lIns="0" tIns="0" rIns="0" bIns="0" rtlCol="0" anchor="ctr"/>
          <a:lstStyle/>
          <a:p>
            <a:pPr>
              <a:lnSpc>
                <a:spcPct val="150000"/>
              </a:lnSpc>
            </a:pPr>
            <a:r>
              <a:rPr lang="en-US" sz="1666" i="1" dirty="0">
                <a:solidFill>
                  <a:srgbClr val="2A2A2A"/>
                </a:solidFill>
                <a:latin typeface="Montserrat" pitchFamily="34" charset="0"/>
              </a:rPr>
              <a:t>Marks will largely depend on the quality of your analysis and how well you justify your insights. AI usage will be checked.</a:t>
            </a:r>
          </a:p>
          <a:p>
            <a:r>
              <a:rPr lang="en-US" sz="1666" i="1" dirty="0">
                <a:solidFill>
                  <a:srgbClr val="2A2A2A"/>
                </a:solidFill>
                <a:latin typeface="Montserrat" pitchFamily="34" charset="0"/>
                <a:ea typeface="Montserrat" pitchFamily="34" charset="-122"/>
                <a:cs typeface="Montserrat" pitchFamily="34" charset="-120"/>
              </a:rPr>
              <a:t> </a:t>
            </a:r>
            <a:endParaRPr lang="en-US" sz="1666" dirty="0"/>
          </a:p>
        </p:txBody>
      </p:sp>
    </p:spTree>
    <p:extLst>
      <p:ext uri="{BB962C8B-B14F-4D97-AF65-F5344CB8AC3E}">
        <p14:creationId xmlns:p14="http://schemas.microsoft.com/office/powerpoint/2010/main" val="741323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Welcome to Unit 2</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endParaRPr lang="en-US" sz="3400" dirty="0"/>
          </a:p>
        </p:txBody>
      </p:sp>
      <p:sp>
        <p:nvSpPr>
          <p:cNvPr id="6" name="Shape 3"/>
          <p:cNvSpPr/>
          <p:nvPr/>
        </p:nvSpPr>
        <p:spPr>
          <a:xfrm>
            <a:off x="731520" y="2103120"/>
            <a:ext cx="10698480" cy="3931920"/>
          </a:xfrm>
          <a:prstGeom prst="roundRect">
            <a:avLst>
              <a:gd name="adj" fmla="val 1860"/>
            </a:avLst>
          </a:prstGeom>
          <a:solidFill>
            <a:srgbClr val="FFFFFF">
              <a:alpha val="70000"/>
            </a:srgbClr>
          </a:solidFill>
          <a:ln/>
        </p:spPr>
      </p:sp>
      <p:sp>
        <p:nvSpPr>
          <p:cNvPr id="7" name="Text 4"/>
          <p:cNvSpPr/>
          <p:nvPr/>
        </p:nvSpPr>
        <p:spPr>
          <a:xfrm>
            <a:off x="1005840" y="2423160"/>
            <a:ext cx="10149840" cy="1005840"/>
          </a:xfrm>
          <a:prstGeom prst="rect">
            <a:avLst/>
          </a:prstGeom>
          <a:noFill/>
          <a:ln/>
        </p:spPr>
        <p:txBody>
          <a:bodyPr wrap="square" lIns="0" tIns="0" rIns="0" bIns="0" rtlCol="0" anchor="ctr"/>
          <a:lstStyle/>
          <a:p>
            <a:pPr marL="0" indent="0">
              <a:lnSpc>
                <a:spcPct val="135000"/>
              </a:lnSpc>
              <a:buNone/>
            </a:pPr>
            <a:r>
              <a:rPr lang="en-US" sz="1700" dirty="0">
                <a:solidFill>
                  <a:srgbClr val="1A1A1A"/>
                </a:solidFill>
                <a:latin typeface="Montserrat" pitchFamily="34" charset="0"/>
                <a:ea typeface="Montserrat" pitchFamily="34" charset="-122"/>
                <a:cs typeface="Montserrat" pitchFamily="34" charset="-120"/>
              </a:rPr>
              <a:t>Unit 1 taught you how to read the world outside a company and the resources inside it. Unit 2 asks: given all of that, what should the company actually DO?</a:t>
            </a:r>
            <a:endParaRPr lang="en-US" sz="1700" dirty="0"/>
          </a:p>
        </p:txBody>
      </p:sp>
      <p:sp>
        <p:nvSpPr>
          <p:cNvPr id="8" name="Shape 5"/>
          <p:cNvSpPr/>
          <p:nvPr/>
        </p:nvSpPr>
        <p:spPr>
          <a:xfrm>
            <a:off x="1005840" y="3566160"/>
            <a:ext cx="10149840" cy="2103120"/>
          </a:xfrm>
          <a:prstGeom prst="roundRect">
            <a:avLst>
              <a:gd name="adj" fmla="val 3478"/>
            </a:avLst>
          </a:prstGeom>
          <a:solidFill>
            <a:srgbClr val="B20E38"/>
          </a:solidFill>
          <a:ln/>
        </p:spPr>
      </p:sp>
      <p:sp>
        <p:nvSpPr>
          <p:cNvPr id="9" name="Text 6"/>
          <p:cNvSpPr/>
          <p:nvPr/>
        </p:nvSpPr>
        <p:spPr>
          <a:xfrm>
            <a:off x="1280160" y="3566160"/>
            <a:ext cx="9601200" cy="2103120"/>
          </a:xfrm>
          <a:prstGeom prst="rect">
            <a:avLst/>
          </a:prstGeom>
          <a:noFill/>
          <a:ln/>
        </p:spPr>
        <p:txBody>
          <a:bodyPr wrap="square" lIns="0" tIns="0" rIns="0" bIns="0" rtlCol="0" anchor="ctr"/>
          <a:lstStyle/>
          <a:p>
            <a:pPr marL="0" indent="0">
              <a:lnSpc>
                <a:spcPct val="130000"/>
              </a:lnSpc>
              <a:buNone/>
            </a:pPr>
            <a:r>
              <a:rPr lang="en-US" sz="1600" b="1" i="1" dirty="0">
                <a:solidFill>
                  <a:srgbClr val="FFFFFF"/>
                </a:solidFill>
                <a:latin typeface="Montserrat" pitchFamily="34" charset="0"/>
                <a:ea typeface="Montserrat" pitchFamily="34" charset="-122"/>
                <a:cs typeface="Montserrat" pitchFamily="34" charset="-120"/>
              </a:rPr>
              <a:t>The first honest lesson of Unit 2 is that growth is only one of four real options. Sometimes the smartest move is to shrink, hold steady, or do both at once in different parts of the business.</a:t>
            </a:r>
            <a:endParaRPr lang="en-US" sz="160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2 / 16</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The Four Grand Strategy Alternatives</a:t>
            </a:r>
            <a:endParaRPr lang="en-US" sz="3400" dirty="0"/>
          </a:p>
        </p:txBody>
      </p:sp>
      <p:sp>
        <p:nvSpPr>
          <p:cNvPr id="6" name="Shape 3"/>
          <p:cNvSpPr/>
          <p:nvPr/>
        </p:nvSpPr>
        <p:spPr>
          <a:xfrm>
            <a:off x="731520" y="2286000"/>
            <a:ext cx="2514600" cy="3108960"/>
          </a:xfrm>
          <a:prstGeom prst="roundRect">
            <a:avLst>
              <a:gd name="adj" fmla="val 2909"/>
            </a:avLst>
          </a:prstGeom>
          <a:solidFill>
            <a:srgbClr val="FFFFFF">
              <a:alpha val="70000"/>
            </a:srgbClr>
          </a:solidFill>
          <a:ln/>
        </p:spPr>
      </p:sp>
      <p:sp>
        <p:nvSpPr>
          <p:cNvPr id="7" name="Text 4"/>
          <p:cNvSpPr/>
          <p:nvPr/>
        </p:nvSpPr>
        <p:spPr>
          <a:xfrm>
            <a:off x="868680" y="2468880"/>
            <a:ext cx="2240280" cy="640080"/>
          </a:xfrm>
          <a:prstGeom prst="rect">
            <a:avLst/>
          </a:prstGeom>
          <a:noFill/>
          <a:ln/>
        </p:spPr>
        <p:txBody>
          <a:bodyPr wrap="square" lIns="0" tIns="0" rIns="0" bIns="0" rtlCol="0" anchor="ctr"/>
          <a:lstStyle/>
          <a:p>
            <a:pPr marL="0" indent="0" algn="ctr">
              <a:buNone/>
            </a:pPr>
            <a:r>
              <a:rPr lang="en-US" sz="1600" b="1" dirty="0">
                <a:solidFill>
                  <a:srgbClr val="B20E38"/>
                </a:solidFill>
                <a:latin typeface="Montserrat SemiBold" pitchFamily="34" charset="0"/>
                <a:ea typeface="Montserrat SemiBold" pitchFamily="34" charset="-122"/>
                <a:cs typeface="Montserrat SemiBold" pitchFamily="34" charset="-120"/>
              </a:rPr>
              <a:t>Stability</a:t>
            </a:r>
            <a:endParaRPr lang="en-US" sz="1600" dirty="0"/>
          </a:p>
        </p:txBody>
      </p:sp>
      <p:sp>
        <p:nvSpPr>
          <p:cNvPr id="8" name="Text 5"/>
          <p:cNvSpPr/>
          <p:nvPr/>
        </p:nvSpPr>
        <p:spPr>
          <a:xfrm>
            <a:off x="868680" y="3200400"/>
            <a:ext cx="2240280" cy="2011680"/>
          </a:xfrm>
          <a:prstGeom prst="rect">
            <a:avLst/>
          </a:prstGeom>
          <a:noFill/>
          <a:ln/>
        </p:spPr>
        <p:txBody>
          <a:bodyPr wrap="square" lIns="0" tIns="0" rIns="0" bIns="0" rtlCol="0" anchor="ctr"/>
          <a:lstStyle/>
          <a:p>
            <a:pPr marL="0" indent="0" algn="ctr">
              <a:lnSpc>
                <a:spcPct val="130000"/>
              </a:lnSpc>
              <a:buNone/>
            </a:pPr>
            <a:endParaRPr lang="en-US" sz="1350" dirty="0"/>
          </a:p>
        </p:txBody>
      </p:sp>
      <p:sp>
        <p:nvSpPr>
          <p:cNvPr id="9" name="Shape 6"/>
          <p:cNvSpPr/>
          <p:nvPr/>
        </p:nvSpPr>
        <p:spPr>
          <a:xfrm>
            <a:off x="3429000" y="2286000"/>
            <a:ext cx="2514600" cy="3108960"/>
          </a:xfrm>
          <a:prstGeom prst="roundRect">
            <a:avLst>
              <a:gd name="adj" fmla="val 2909"/>
            </a:avLst>
          </a:prstGeom>
          <a:solidFill>
            <a:srgbClr val="FFFFFF">
              <a:alpha val="70000"/>
            </a:srgbClr>
          </a:solidFill>
          <a:ln/>
        </p:spPr>
        <p:txBody>
          <a:bodyPr/>
          <a:lstStyle/>
          <a:p>
            <a:endParaRPr lang="en-IN" dirty="0"/>
          </a:p>
        </p:txBody>
      </p:sp>
      <p:sp>
        <p:nvSpPr>
          <p:cNvPr id="10" name="Text 7"/>
          <p:cNvSpPr/>
          <p:nvPr/>
        </p:nvSpPr>
        <p:spPr>
          <a:xfrm>
            <a:off x="3566160" y="2468880"/>
            <a:ext cx="2240280" cy="640080"/>
          </a:xfrm>
          <a:prstGeom prst="rect">
            <a:avLst/>
          </a:prstGeom>
          <a:noFill/>
          <a:ln/>
        </p:spPr>
        <p:txBody>
          <a:bodyPr wrap="square" lIns="0" tIns="0" rIns="0" bIns="0" rtlCol="0" anchor="ctr"/>
          <a:lstStyle/>
          <a:p>
            <a:pPr marL="0" indent="0" algn="ctr">
              <a:buNone/>
            </a:pPr>
            <a:r>
              <a:rPr lang="en-US" sz="1600" b="1" dirty="0">
                <a:solidFill>
                  <a:srgbClr val="B20E38"/>
                </a:solidFill>
                <a:latin typeface="Montserrat SemiBold" pitchFamily="34" charset="0"/>
                <a:ea typeface="Montserrat SemiBold" pitchFamily="34" charset="-122"/>
                <a:cs typeface="Montserrat SemiBold" pitchFamily="34" charset="-120"/>
              </a:rPr>
              <a:t>Growth</a:t>
            </a:r>
            <a:endParaRPr lang="en-US" sz="1600" dirty="0"/>
          </a:p>
        </p:txBody>
      </p:sp>
      <p:sp>
        <p:nvSpPr>
          <p:cNvPr id="11" name="Text 8"/>
          <p:cNvSpPr/>
          <p:nvPr/>
        </p:nvSpPr>
        <p:spPr>
          <a:xfrm>
            <a:off x="3566160" y="3200400"/>
            <a:ext cx="2240280" cy="2011680"/>
          </a:xfrm>
          <a:prstGeom prst="rect">
            <a:avLst/>
          </a:prstGeom>
          <a:noFill/>
          <a:ln/>
        </p:spPr>
        <p:txBody>
          <a:bodyPr wrap="square" lIns="0" tIns="0" rIns="0" bIns="0" rtlCol="0" anchor="ctr"/>
          <a:lstStyle/>
          <a:p>
            <a:pPr marL="0" indent="0" algn="ctr">
              <a:lnSpc>
                <a:spcPct val="130000"/>
              </a:lnSpc>
              <a:buNone/>
            </a:pPr>
            <a:endParaRPr lang="en-US" sz="1350" dirty="0"/>
          </a:p>
        </p:txBody>
      </p:sp>
      <p:sp>
        <p:nvSpPr>
          <p:cNvPr id="12" name="Shape 9"/>
          <p:cNvSpPr/>
          <p:nvPr/>
        </p:nvSpPr>
        <p:spPr>
          <a:xfrm>
            <a:off x="6126480" y="2286000"/>
            <a:ext cx="2514600" cy="3108960"/>
          </a:xfrm>
          <a:prstGeom prst="roundRect">
            <a:avLst>
              <a:gd name="adj" fmla="val 2909"/>
            </a:avLst>
          </a:prstGeom>
          <a:solidFill>
            <a:srgbClr val="FFFFFF">
              <a:alpha val="70000"/>
            </a:srgbClr>
          </a:solidFill>
          <a:ln/>
        </p:spPr>
      </p:sp>
      <p:sp>
        <p:nvSpPr>
          <p:cNvPr id="13" name="Text 10"/>
          <p:cNvSpPr/>
          <p:nvPr/>
        </p:nvSpPr>
        <p:spPr>
          <a:xfrm>
            <a:off x="6263640" y="2468880"/>
            <a:ext cx="2240280" cy="640080"/>
          </a:xfrm>
          <a:prstGeom prst="rect">
            <a:avLst/>
          </a:prstGeom>
          <a:noFill/>
          <a:ln/>
        </p:spPr>
        <p:txBody>
          <a:bodyPr wrap="square" lIns="0" tIns="0" rIns="0" bIns="0" rtlCol="0" anchor="ctr"/>
          <a:lstStyle/>
          <a:p>
            <a:pPr marL="0" indent="0" algn="ctr">
              <a:buNone/>
            </a:pPr>
            <a:r>
              <a:rPr lang="en-US" sz="1600" b="1" dirty="0">
                <a:solidFill>
                  <a:srgbClr val="B20E38"/>
                </a:solidFill>
                <a:latin typeface="Montserrat SemiBold" pitchFamily="34" charset="0"/>
                <a:ea typeface="Montserrat SemiBold" pitchFamily="34" charset="-122"/>
                <a:cs typeface="Montserrat SemiBold" pitchFamily="34" charset="-120"/>
              </a:rPr>
              <a:t>Retrenchment</a:t>
            </a:r>
            <a:endParaRPr lang="en-US" sz="1600" dirty="0"/>
          </a:p>
        </p:txBody>
      </p:sp>
      <p:sp>
        <p:nvSpPr>
          <p:cNvPr id="14" name="Text 11"/>
          <p:cNvSpPr/>
          <p:nvPr/>
        </p:nvSpPr>
        <p:spPr>
          <a:xfrm>
            <a:off x="6263640" y="3200400"/>
            <a:ext cx="2240280" cy="2011680"/>
          </a:xfrm>
          <a:prstGeom prst="rect">
            <a:avLst/>
          </a:prstGeom>
          <a:noFill/>
          <a:ln/>
        </p:spPr>
        <p:txBody>
          <a:bodyPr wrap="square" lIns="0" tIns="0" rIns="0" bIns="0" rtlCol="0" anchor="ctr"/>
          <a:lstStyle/>
          <a:p>
            <a:pPr marL="0" indent="0" algn="ctr">
              <a:lnSpc>
                <a:spcPct val="130000"/>
              </a:lnSpc>
              <a:buNone/>
            </a:pPr>
            <a:endParaRPr lang="en-US" sz="1350" dirty="0"/>
          </a:p>
        </p:txBody>
      </p:sp>
      <p:sp>
        <p:nvSpPr>
          <p:cNvPr id="15" name="Shape 12"/>
          <p:cNvSpPr/>
          <p:nvPr/>
        </p:nvSpPr>
        <p:spPr>
          <a:xfrm>
            <a:off x="8823960" y="2286000"/>
            <a:ext cx="2514600" cy="3108960"/>
          </a:xfrm>
          <a:prstGeom prst="roundRect">
            <a:avLst>
              <a:gd name="adj" fmla="val 2909"/>
            </a:avLst>
          </a:prstGeom>
          <a:solidFill>
            <a:srgbClr val="FFFFFF">
              <a:alpha val="70000"/>
            </a:srgbClr>
          </a:solidFill>
          <a:ln/>
        </p:spPr>
      </p:sp>
      <p:sp>
        <p:nvSpPr>
          <p:cNvPr id="16" name="Text 13"/>
          <p:cNvSpPr/>
          <p:nvPr/>
        </p:nvSpPr>
        <p:spPr>
          <a:xfrm>
            <a:off x="8961120" y="2468880"/>
            <a:ext cx="2240280" cy="640080"/>
          </a:xfrm>
          <a:prstGeom prst="rect">
            <a:avLst/>
          </a:prstGeom>
          <a:noFill/>
          <a:ln/>
        </p:spPr>
        <p:txBody>
          <a:bodyPr wrap="square" lIns="0" tIns="0" rIns="0" bIns="0" rtlCol="0" anchor="ctr"/>
          <a:lstStyle/>
          <a:p>
            <a:pPr marL="0" indent="0" algn="ctr">
              <a:buNone/>
            </a:pPr>
            <a:r>
              <a:rPr lang="en-US" sz="1600" b="1" dirty="0">
                <a:solidFill>
                  <a:srgbClr val="B20E38"/>
                </a:solidFill>
                <a:latin typeface="Montserrat SemiBold" pitchFamily="34" charset="0"/>
                <a:ea typeface="Montserrat SemiBold" pitchFamily="34" charset="-122"/>
                <a:cs typeface="Montserrat SemiBold" pitchFamily="34" charset="-120"/>
              </a:rPr>
              <a:t>Combination</a:t>
            </a:r>
            <a:endParaRPr lang="en-US" sz="1600" dirty="0"/>
          </a:p>
        </p:txBody>
      </p:sp>
      <p:sp>
        <p:nvSpPr>
          <p:cNvPr id="17" name="Text 14"/>
          <p:cNvSpPr/>
          <p:nvPr/>
        </p:nvSpPr>
        <p:spPr>
          <a:xfrm>
            <a:off x="8961120" y="3200400"/>
            <a:ext cx="2240280" cy="2011680"/>
          </a:xfrm>
          <a:prstGeom prst="rect">
            <a:avLst/>
          </a:prstGeom>
          <a:noFill/>
          <a:ln/>
        </p:spPr>
        <p:txBody>
          <a:bodyPr wrap="square" lIns="0" tIns="0" rIns="0" bIns="0" rtlCol="0" anchor="ctr"/>
          <a:lstStyle/>
          <a:p>
            <a:pPr marL="0" indent="0" algn="ctr">
              <a:lnSpc>
                <a:spcPct val="130000"/>
              </a:lnSpc>
              <a:buNone/>
            </a:pPr>
            <a:endParaRPr lang="en-US" sz="1350" dirty="0"/>
          </a:p>
        </p:txBody>
      </p:sp>
      <p:sp>
        <p:nvSpPr>
          <p:cNvPr id="18" name="Text 1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3 / 16</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The Four Grand Strategy Alternatives</a:t>
            </a:r>
            <a:endParaRPr lang="en-US" sz="3400" dirty="0"/>
          </a:p>
        </p:txBody>
      </p:sp>
      <p:sp>
        <p:nvSpPr>
          <p:cNvPr id="6" name="Shape 3"/>
          <p:cNvSpPr/>
          <p:nvPr/>
        </p:nvSpPr>
        <p:spPr>
          <a:xfrm>
            <a:off x="731520" y="2286000"/>
            <a:ext cx="2514600" cy="3108960"/>
          </a:xfrm>
          <a:prstGeom prst="roundRect">
            <a:avLst>
              <a:gd name="adj" fmla="val 2909"/>
            </a:avLst>
          </a:prstGeom>
          <a:solidFill>
            <a:srgbClr val="FFFFFF">
              <a:alpha val="70000"/>
            </a:srgbClr>
          </a:solidFill>
          <a:ln/>
        </p:spPr>
      </p:sp>
      <p:sp>
        <p:nvSpPr>
          <p:cNvPr id="7" name="Text 4"/>
          <p:cNvSpPr/>
          <p:nvPr/>
        </p:nvSpPr>
        <p:spPr>
          <a:xfrm>
            <a:off x="868680" y="2468880"/>
            <a:ext cx="2240280" cy="640080"/>
          </a:xfrm>
          <a:prstGeom prst="rect">
            <a:avLst/>
          </a:prstGeom>
          <a:noFill/>
          <a:ln/>
        </p:spPr>
        <p:txBody>
          <a:bodyPr wrap="square" lIns="0" tIns="0" rIns="0" bIns="0" rtlCol="0" anchor="ctr"/>
          <a:lstStyle/>
          <a:p>
            <a:pPr marL="0" indent="0" algn="ctr">
              <a:buNone/>
            </a:pPr>
            <a:r>
              <a:rPr lang="en-US" sz="1600" b="1" dirty="0">
                <a:solidFill>
                  <a:srgbClr val="B20E38"/>
                </a:solidFill>
                <a:latin typeface="Montserrat SemiBold" pitchFamily="34" charset="0"/>
                <a:ea typeface="Montserrat SemiBold" pitchFamily="34" charset="-122"/>
                <a:cs typeface="Montserrat SemiBold" pitchFamily="34" charset="-120"/>
              </a:rPr>
              <a:t>Stability</a:t>
            </a:r>
            <a:endParaRPr lang="en-US" sz="1600" dirty="0"/>
          </a:p>
        </p:txBody>
      </p:sp>
      <p:sp>
        <p:nvSpPr>
          <p:cNvPr id="8" name="Text 5"/>
          <p:cNvSpPr/>
          <p:nvPr/>
        </p:nvSpPr>
        <p:spPr>
          <a:xfrm>
            <a:off x="868680" y="3200400"/>
            <a:ext cx="2240280" cy="2011680"/>
          </a:xfrm>
          <a:prstGeom prst="rect">
            <a:avLst/>
          </a:prstGeom>
          <a:noFill/>
          <a:ln/>
        </p:spPr>
        <p:txBody>
          <a:bodyPr wrap="square" lIns="0" tIns="0" rIns="0" bIns="0" rtlCol="0" anchor="ctr"/>
          <a:lstStyle/>
          <a:p>
            <a:pPr marL="0" indent="0" algn="ctr">
              <a:lnSpc>
                <a:spcPct val="130000"/>
              </a:lnSpc>
              <a:buNone/>
            </a:pPr>
            <a:r>
              <a:rPr lang="en-US" sz="1350" dirty="0">
                <a:solidFill>
                  <a:srgbClr val="1A1A1A"/>
                </a:solidFill>
                <a:latin typeface="Montserrat" pitchFamily="34" charset="0"/>
                <a:ea typeface="Montserrat" pitchFamily="34" charset="-122"/>
                <a:cs typeface="Montserrat" pitchFamily="34" charset="-120"/>
              </a:rPr>
              <a:t>Keep doing what's working</a:t>
            </a:r>
            <a:endParaRPr lang="en-US" sz="1350" dirty="0"/>
          </a:p>
        </p:txBody>
      </p:sp>
      <p:sp>
        <p:nvSpPr>
          <p:cNvPr id="9" name="Shape 6"/>
          <p:cNvSpPr/>
          <p:nvPr/>
        </p:nvSpPr>
        <p:spPr>
          <a:xfrm>
            <a:off x="3429000" y="2286000"/>
            <a:ext cx="2514600" cy="3108960"/>
          </a:xfrm>
          <a:prstGeom prst="roundRect">
            <a:avLst>
              <a:gd name="adj" fmla="val 2909"/>
            </a:avLst>
          </a:prstGeom>
          <a:solidFill>
            <a:srgbClr val="FFFFFF">
              <a:alpha val="70000"/>
            </a:srgbClr>
          </a:solidFill>
          <a:ln/>
        </p:spPr>
      </p:sp>
      <p:sp>
        <p:nvSpPr>
          <p:cNvPr id="10" name="Text 7"/>
          <p:cNvSpPr/>
          <p:nvPr/>
        </p:nvSpPr>
        <p:spPr>
          <a:xfrm>
            <a:off x="3566160" y="2468880"/>
            <a:ext cx="2240280" cy="640080"/>
          </a:xfrm>
          <a:prstGeom prst="rect">
            <a:avLst/>
          </a:prstGeom>
          <a:noFill/>
          <a:ln/>
        </p:spPr>
        <p:txBody>
          <a:bodyPr wrap="square" lIns="0" tIns="0" rIns="0" bIns="0" rtlCol="0" anchor="ctr"/>
          <a:lstStyle/>
          <a:p>
            <a:pPr marL="0" indent="0" algn="ctr">
              <a:buNone/>
            </a:pPr>
            <a:r>
              <a:rPr lang="en-US" sz="1600" b="1" dirty="0">
                <a:solidFill>
                  <a:srgbClr val="B20E38"/>
                </a:solidFill>
                <a:latin typeface="Montserrat SemiBold" pitchFamily="34" charset="0"/>
                <a:ea typeface="Montserrat SemiBold" pitchFamily="34" charset="-122"/>
                <a:cs typeface="Montserrat SemiBold" pitchFamily="34" charset="-120"/>
              </a:rPr>
              <a:t>Growth</a:t>
            </a:r>
            <a:endParaRPr lang="en-US" sz="1600" dirty="0"/>
          </a:p>
        </p:txBody>
      </p:sp>
      <p:sp>
        <p:nvSpPr>
          <p:cNvPr id="11" name="Text 8"/>
          <p:cNvSpPr/>
          <p:nvPr/>
        </p:nvSpPr>
        <p:spPr>
          <a:xfrm>
            <a:off x="3566160" y="3200400"/>
            <a:ext cx="2240280" cy="2011680"/>
          </a:xfrm>
          <a:prstGeom prst="rect">
            <a:avLst/>
          </a:prstGeom>
          <a:noFill/>
          <a:ln/>
        </p:spPr>
        <p:txBody>
          <a:bodyPr wrap="square" lIns="0" tIns="0" rIns="0" bIns="0" rtlCol="0" anchor="ctr"/>
          <a:lstStyle/>
          <a:p>
            <a:pPr marL="0" indent="0" algn="ctr">
              <a:lnSpc>
                <a:spcPct val="130000"/>
              </a:lnSpc>
              <a:buNone/>
            </a:pPr>
            <a:r>
              <a:rPr lang="en-US" sz="1350" dirty="0">
                <a:solidFill>
                  <a:srgbClr val="1A1A1A"/>
                </a:solidFill>
                <a:latin typeface="Montserrat" pitchFamily="34" charset="0"/>
                <a:ea typeface="Montserrat" pitchFamily="34" charset="-122"/>
                <a:cs typeface="Montserrat" pitchFamily="34" charset="-120"/>
              </a:rPr>
              <a:t>Expand scale or scope</a:t>
            </a:r>
            <a:endParaRPr lang="en-US" sz="1350" dirty="0"/>
          </a:p>
        </p:txBody>
      </p:sp>
      <p:sp>
        <p:nvSpPr>
          <p:cNvPr id="12" name="Shape 9"/>
          <p:cNvSpPr/>
          <p:nvPr/>
        </p:nvSpPr>
        <p:spPr>
          <a:xfrm>
            <a:off x="6126480" y="2286000"/>
            <a:ext cx="2514600" cy="3108960"/>
          </a:xfrm>
          <a:prstGeom prst="roundRect">
            <a:avLst>
              <a:gd name="adj" fmla="val 2909"/>
            </a:avLst>
          </a:prstGeom>
          <a:solidFill>
            <a:srgbClr val="FFFFFF">
              <a:alpha val="70000"/>
            </a:srgbClr>
          </a:solidFill>
          <a:ln/>
        </p:spPr>
      </p:sp>
      <p:sp>
        <p:nvSpPr>
          <p:cNvPr id="13" name="Text 10"/>
          <p:cNvSpPr/>
          <p:nvPr/>
        </p:nvSpPr>
        <p:spPr>
          <a:xfrm>
            <a:off x="6263640" y="2468880"/>
            <a:ext cx="2240280" cy="640080"/>
          </a:xfrm>
          <a:prstGeom prst="rect">
            <a:avLst/>
          </a:prstGeom>
          <a:noFill/>
          <a:ln/>
        </p:spPr>
        <p:txBody>
          <a:bodyPr wrap="square" lIns="0" tIns="0" rIns="0" bIns="0" rtlCol="0" anchor="ctr"/>
          <a:lstStyle/>
          <a:p>
            <a:pPr marL="0" indent="0" algn="ctr">
              <a:buNone/>
            </a:pPr>
            <a:r>
              <a:rPr lang="en-US" sz="1600" b="1" dirty="0">
                <a:solidFill>
                  <a:srgbClr val="B20E38"/>
                </a:solidFill>
                <a:latin typeface="Montserrat SemiBold" pitchFamily="34" charset="0"/>
                <a:ea typeface="Montserrat SemiBold" pitchFamily="34" charset="-122"/>
                <a:cs typeface="Montserrat SemiBold" pitchFamily="34" charset="-120"/>
              </a:rPr>
              <a:t>Retrenchment</a:t>
            </a:r>
            <a:endParaRPr lang="en-US" sz="1600" dirty="0"/>
          </a:p>
        </p:txBody>
      </p:sp>
      <p:sp>
        <p:nvSpPr>
          <p:cNvPr id="14" name="Text 11"/>
          <p:cNvSpPr/>
          <p:nvPr/>
        </p:nvSpPr>
        <p:spPr>
          <a:xfrm>
            <a:off x="6263640" y="3200400"/>
            <a:ext cx="2240280" cy="2011680"/>
          </a:xfrm>
          <a:prstGeom prst="rect">
            <a:avLst/>
          </a:prstGeom>
          <a:noFill/>
          <a:ln/>
        </p:spPr>
        <p:txBody>
          <a:bodyPr wrap="square" lIns="0" tIns="0" rIns="0" bIns="0" rtlCol="0" anchor="ctr"/>
          <a:lstStyle/>
          <a:p>
            <a:pPr marL="0" indent="0" algn="ctr">
              <a:lnSpc>
                <a:spcPct val="130000"/>
              </a:lnSpc>
              <a:buNone/>
            </a:pPr>
            <a:r>
              <a:rPr lang="en-US" sz="1350" dirty="0">
                <a:solidFill>
                  <a:srgbClr val="1A1A1A"/>
                </a:solidFill>
                <a:latin typeface="Montserrat" pitchFamily="34" charset="0"/>
                <a:ea typeface="Montserrat" pitchFamily="34" charset="-122"/>
                <a:cs typeface="Montserrat" pitchFamily="34" charset="-120"/>
              </a:rPr>
              <a:t>Shrink, exit, or turn around</a:t>
            </a:r>
            <a:endParaRPr lang="en-US" sz="1350" dirty="0"/>
          </a:p>
        </p:txBody>
      </p:sp>
      <p:sp>
        <p:nvSpPr>
          <p:cNvPr id="15" name="Shape 12"/>
          <p:cNvSpPr/>
          <p:nvPr/>
        </p:nvSpPr>
        <p:spPr>
          <a:xfrm>
            <a:off x="8823960" y="2286000"/>
            <a:ext cx="2514600" cy="3108960"/>
          </a:xfrm>
          <a:prstGeom prst="roundRect">
            <a:avLst>
              <a:gd name="adj" fmla="val 2909"/>
            </a:avLst>
          </a:prstGeom>
          <a:solidFill>
            <a:srgbClr val="FFFFFF">
              <a:alpha val="70000"/>
            </a:srgbClr>
          </a:solidFill>
          <a:ln/>
        </p:spPr>
      </p:sp>
      <p:sp>
        <p:nvSpPr>
          <p:cNvPr id="16" name="Text 13"/>
          <p:cNvSpPr/>
          <p:nvPr/>
        </p:nvSpPr>
        <p:spPr>
          <a:xfrm>
            <a:off x="8961120" y="2468880"/>
            <a:ext cx="2240280" cy="640080"/>
          </a:xfrm>
          <a:prstGeom prst="rect">
            <a:avLst/>
          </a:prstGeom>
          <a:noFill/>
          <a:ln/>
        </p:spPr>
        <p:txBody>
          <a:bodyPr wrap="square" lIns="0" tIns="0" rIns="0" bIns="0" rtlCol="0" anchor="ctr"/>
          <a:lstStyle/>
          <a:p>
            <a:pPr marL="0" indent="0" algn="ctr">
              <a:buNone/>
            </a:pPr>
            <a:r>
              <a:rPr lang="en-US" sz="1600" b="1" dirty="0">
                <a:solidFill>
                  <a:srgbClr val="B20E38"/>
                </a:solidFill>
                <a:latin typeface="Montserrat SemiBold" pitchFamily="34" charset="0"/>
                <a:ea typeface="Montserrat SemiBold" pitchFamily="34" charset="-122"/>
                <a:cs typeface="Montserrat SemiBold" pitchFamily="34" charset="-120"/>
              </a:rPr>
              <a:t>Combination</a:t>
            </a:r>
            <a:endParaRPr lang="en-US" sz="1600" dirty="0"/>
          </a:p>
        </p:txBody>
      </p:sp>
      <p:sp>
        <p:nvSpPr>
          <p:cNvPr id="17" name="Text 14"/>
          <p:cNvSpPr/>
          <p:nvPr/>
        </p:nvSpPr>
        <p:spPr>
          <a:xfrm>
            <a:off x="8961120" y="3200400"/>
            <a:ext cx="2240280" cy="2011680"/>
          </a:xfrm>
          <a:prstGeom prst="rect">
            <a:avLst/>
          </a:prstGeom>
          <a:noFill/>
          <a:ln/>
        </p:spPr>
        <p:txBody>
          <a:bodyPr wrap="square" lIns="0" tIns="0" rIns="0" bIns="0" rtlCol="0" anchor="ctr"/>
          <a:lstStyle/>
          <a:p>
            <a:pPr marL="0" indent="0" algn="ctr">
              <a:lnSpc>
                <a:spcPct val="130000"/>
              </a:lnSpc>
              <a:buNone/>
            </a:pPr>
            <a:r>
              <a:rPr lang="en-US" sz="1350" dirty="0">
                <a:solidFill>
                  <a:srgbClr val="1A1A1A"/>
                </a:solidFill>
                <a:latin typeface="Montserrat" pitchFamily="34" charset="0"/>
                <a:ea typeface="Montserrat" pitchFamily="34" charset="-122"/>
                <a:cs typeface="Montserrat" pitchFamily="34" charset="-120"/>
              </a:rPr>
              <a:t>Different moves in different units, at once</a:t>
            </a:r>
            <a:endParaRPr lang="en-US" sz="1350" dirty="0"/>
          </a:p>
        </p:txBody>
      </p:sp>
      <p:sp>
        <p:nvSpPr>
          <p:cNvPr id="18" name="Text 1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3 / 16</a:t>
            </a:r>
            <a:endParaRPr lang="en-US" sz="1600" dirty="0"/>
          </a:p>
        </p:txBody>
      </p:sp>
    </p:spTree>
    <p:extLst>
      <p:ext uri="{BB962C8B-B14F-4D97-AF65-F5344CB8AC3E}">
        <p14:creationId xmlns:p14="http://schemas.microsoft.com/office/powerpoint/2010/main" val="2985296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Alternative 1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Stability: The Underrated Choice</a:t>
            </a:r>
            <a:endParaRPr lang="en-US" sz="3400" dirty="0"/>
          </a:p>
        </p:txBody>
      </p:sp>
      <p:sp>
        <p:nvSpPr>
          <p:cNvPr id="6" name="Shape 3"/>
          <p:cNvSpPr/>
          <p:nvPr/>
        </p:nvSpPr>
        <p:spPr>
          <a:xfrm>
            <a:off x="731520" y="2103120"/>
            <a:ext cx="10698480" cy="3931920"/>
          </a:xfrm>
          <a:prstGeom prst="roundRect">
            <a:avLst>
              <a:gd name="adj" fmla="val 1860"/>
            </a:avLst>
          </a:prstGeom>
          <a:solidFill>
            <a:srgbClr val="FFFFFF">
              <a:alpha val="70000"/>
            </a:srgbClr>
          </a:solidFill>
          <a:ln/>
        </p:spPr>
      </p:sp>
      <p:sp>
        <p:nvSpPr>
          <p:cNvPr id="7" name="Text 4"/>
          <p:cNvSpPr/>
          <p:nvPr/>
        </p:nvSpPr>
        <p:spPr>
          <a:xfrm>
            <a:off x="1005840" y="2423160"/>
            <a:ext cx="10149840" cy="914400"/>
          </a:xfrm>
          <a:prstGeom prst="rect">
            <a:avLst/>
          </a:prstGeom>
          <a:noFill/>
          <a:ln/>
        </p:spPr>
        <p:txBody>
          <a:bodyPr wrap="square" lIns="0" tIns="0" rIns="0" bIns="0" rtlCol="0" anchor="ctr"/>
          <a:lstStyle/>
          <a:p>
            <a:pPr marL="0" indent="0">
              <a:lnSpc>
                <a:spcPct val="135000"/>
              </a:lnSpc>
              <a:buNone/>
            </a:pPr>
            <a:r>
              <a:rPr lang="en-US" sz="1650" dirty="0">
                <a:solidFill>
                  <a:srgbClr val="1A1A1A"/>
                </a:solidFill>
                <a:latin typeface="Montserrat" pitchFamily="34" charset="0"/>
                <a:ea typeface="Montserrat" pitchFamily="34" charset="-122"/>
                <a:cs typeface="Montserrat" pitchFamily="34" charset="-120"/>
              </a:rPr>
              <a:t>Stability means continuing on the same path, same products, same markets, same scale, deliberately. It is not the same as doing nothing.</a:t>
            </a:r>
            <a:endParaRPr lang="en-US" sz="1650" dirty="0"/>
          </a:p>
        </p:txBody>
      </p:sp>
      <p:sp>
        <p:nvSpPr>
          <p:cNvPr id="8" name="Text 5"/>
          <p:cNvSpPr/>
          <p:nvPr/>
        </p:nvSpPr>
        <p:spPr>
          <a:xfrm>
            <a:off x="1005840" y="3337560"/>
            <a:ext cx="10149840" cy="914400"/>
          </a:xfrm>
          <a:prstGeom prst="rect">
            <a:avLst/>
          </a:prstGeom>
          <a:noFill/>
          <a:ln/>
        </p:spPr>
        <p:txBody>
          <a:bodyPr wrap="square" lIns="0" tIns="0" rIns="0" bIns="0" rtlCol="0" anchor="ctr"/>
          <a:lstStyle/>
          <a:p>
            <a:pPr marL="0" indent="0">
              <a:lnSpc>
                <a:spcPct val="135000"/>
              </a:lnSpc>
              <a:buNone/>
            </a:pPr>
            <a:r>
              <a:rPr lang="en-US" sz="1650" dirty="0">
                <a:solidFill>
                  <a:srgbClr val="1A1A1A"/>
                </a:solidFill>
                <a:latin typeface="Montserrat" pitchFamily="34" charset="0"/>
                <a:ea typeface="Montserrat" pitchFamily="34" charset="-122"/>
                <a:cs typeface="Montserrat" pitchFamily="34" charset="-120"/>
              </a:rPr>
              <a:t>Chosen when the environment is stable, the current strategy is genuinely working, or when rapid growth would strain resources, quality, or culture past their limits.</a:t>
            </a:r>
            <a:endParaRPr lang="en-US" sz="1650" dirty="0"/>
          </a:p>
        </p:txBody>
      </p:sp>
      <p:sp>
        <p:nvSpPr>
          <p:cNvPr id="9" name="Shape 6"/>
          <p:cNvSpPr/>
          <p:nvPr/>
        </p:nvSpPr>
        <p:spPr>
          <a:xfrm>
            <a:off x="1005840" y="4343400"/>
            <a:ext cx="10149840" cy="1371600"/>
          </a:xfrm>
          <a:prstGeom prst="roundRect">
            <a:avLst>
              <a:gd name="adj" fmla="val 5333"/>
            </a:avLst>
          </a:prstGeom>
          <a:solidFill>
            <a:srgbClr val="B20E38"/>
          </a:solidFill>
          <a:ln/>
        </p:spPr>
      </p:sp>
      <p:sp>
        <p:nvSpPr>
          <p:cNvPr id="10" name="Text 7"/>
          <p:cNvSpPr/>
          <p:nvPr/>
        </p:nvSpPr>
        <p:spPr>
          <a:xfrm>
            <a:off x="1280160" y="4343400"/>
            <a:ext cx="9601200" cy="1371600"/>
          </a:xfrm>
          <a:prstGeom prst="rect">
            <a:avLst/>
          </a:prstGeom>
          <a:noFill/>
          <a:ln/>
        </p:spPr>
        <p:txBody>
          <a:bodyPr wrap="square" lIns="0" tIns="0" rIns="0" bIns="0" rtlCol="0" anchor="ctr"/>
          <a:lstStyle/>
          <a:p>
            <a:pPr marL="0" indent="0">
              <a:lnSpc>
                <a:spcPct val="130000"/>
              </a:lnSpc>
              <a:buNone/>
            </a:pPr>
            <a:r>
              <a:rPr lang="en-US" sz="1500" b="1" i="1" dirty="0">
                <a:solidFill>
                  <a:srgbClr val="FFFFFF"/>
                </a:solidFill>
                <a:latin typeface="Montserrat" pitchFamily="34" charset="0"/>
                <a:ea typeface="Montserrat" pitchFamily="34" charset="-122"/>
                <a:cs typeface="Montserrat" pitchFamily="34" charset="-120"/>
              </a:rPr>
              <a:t>Many family-run Indian sweets and namkeen brands hold a single city or region deliberately for decades, protecting quality and margins over chasing national scale.</a:t>
            </a:r>
            <a:endParaRPr lang="en-US" sz="1500" dirty="0"/>
          </a:p>
        </p:txBody>
      </p:sp>
      <p:sp>
        <p:nvSpPr>
          <p:cNvPr id="11" name="Text 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4 / 16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Alternative 2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Growth: Expanding Scale or Scope</a:t>
            </a:r>
            <a:endParaRPr lang="en-US" sz="3400" dirty="0"/>
          </a:p>
        </p:txBody>
      </p:sp>
      <p:sp>
        <p:nvSpPr>
          <p:cNvPr id="6" name="Shape 3"/>
          <p:cNvSpPr/>
          <p:nvPr/>
        </p:nvSpPr>
        <p:spPr>
          <a:xfrm>
            <a:off x="731520" y="2103120"/>
            <a:ext cx="10698480" cy="3931920"/>
          </a:xfrm>
          <a:prstGeom prst="roundRect">
            <a:avLst>
              <a:gd name="adj" fmla="val 1860"/>
            </a:avLst>
          </a:prstGeom>
          <a:solidFill>
            <a:srgbClr val="FFFFFF">
              <a:alpha val="70000"/>
            </a:srgbClr>
          </a:solidFill>
          <a:ln/>
        </p:spPr>
      </p:sp>
      <p:sp>
        <p:nvSpPr>
          <p:cNvPr id="7" name="Text 4"/>
          <p:cNvSpPr/>
          <p:nvPr/>
        </p:nvSpPr>
        <p:spPr>
          <a:xfrm>
            <a:off x="1005840" y="2423160"/>
            <a:ext cx="10149840" cy="1005840"/>
          </a:xfrm>
          <a:prstGeom prst="rect">
            <a:avLst/>
          </a:prstGeom>
          <a:noFill/>
          <a:ln/>
        </p:spPr>
        <p:txBody>
          <a:bodyPr wrap="square" lIns="0" tIns="0" rIns="0" bIns="0" rtlCol="0" anchor="ctr"/>
          <a:lstStyle/>
          <a:p>
            <a:pPr marL="0" indent="0">
              <a:lnSpc>
                <a:spcPct val="135000"/>
              </a:lnSpc>
              <a:buNone/>
            </a:pPr>
            <a:r>
              <a:rPr lang="en-US" sz="1650" dirty="0">
                <a:solidFill>
                  <a:srgbClr val="1A1A1A"/>
                </a:solidFill>
                <a:latin typeface="Montserrat" pitchFamily="34" charset="0"/>
                <a:ea typeface="Montserrat" pitchFamily="34" charset="-122"/>
                <a:cs typeface="Montserrat" pitchFamily="34" charset="-120"/>
              </a:rPr>
              <a:t>Growth means increasing sales, market share, assets, or the number of markets served. </a:t>
            </a:r>
            <a:endParaRPr lang="en-US" sz="1650" dirty="0"/>
          </a:p>
        </p:txBody>
      </p:sp>
      <p:sp>
        <p:nvSpPr>
          <p:cNvPr id="8" name="Shape 5"/>
          <p:cNvSpPr/>
          <p:nvPr/>
        </p:nvSpPr>
        <p:spPr>
          <a:xfrm>
            <a:off x="1005840" y="3566160"/>
            <a:ext cx="10149840" cy="2103120"/>
          </a:xfrm>
          <a:prstGeom prst="roundRect">
            <a:avLst>
              <a:gd name="adj" fmla="val 3478"/>
            </a:avLst>
          </a:prstGeom>
          <a:solidFill>
            <a:srgbClr val="B20E38"/>
          </a:solidFill>
          <a:ln/>
        </p:spPr>
      </p:sp>
      <p:sp>
        <p:nvSpPr>
          <p:cNvPr id="9" name="Text 6"/>
          <p:cNvSpPr/>
          <p:nvPr/>
        </p:nvSpPr>
        <p:spPr>
          <a:xfrm>
            <a:off x="1280160" y="3566160"/>
            <a:ext cx="9601200" cy="2103120"/>
          </a:xfrm>
          <a:prstGeom prst="rect">
            <a:avLst/>
          </a:prstGeom>
          <a:noFill/>
          <a:ln/>
        </p:spPr>
        <p:txBody>
          <a:bodyPr wrap="square" lIns="0" tIns="0" rIns="0" bIns="0" rtlCol="0" anchor="ctr"/>
          <a:lstStyle/>
          <a:p>
            <a:pPr marL="0" indent="0">
              <a:lnSpc>
                <a:spcPct val="130000"/>
              </a:lnSpc>
              <a:buNone/>
            </a:pPr>
            <a:r>
              <a:rPr lang="en-US" sz="1550" b="1" i="1" dirty="0">
                <a:solidFill>
                  <a:srgbClr val="FFFFFF"/>
                </a:solidFill>
                <a:latin typeface="Montserrat" pitchFamily="34" charset="0"/>
                <a:ea typeface="Montserrat" pitchFamily="34" charset="-122"/>
                <a:cs typeface="Montserrat" pitchFamily="34" charset="-120"/>
              </a:rPr>
              <a:t>Reliance Jio's 2016 launch: a deliberate, aggressive growth bet, built on the belief that Indian data consumption was about to explode. It was right, and it reshaped an entire industry.</a:t>
            </a:r>
            <a:endParaRPr lang="en-US" sz="155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5 / 16</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Alternative 3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Retrenchment: When Shrinking Is the Strategy</a:t>
            </a:r>
            <a:endParaRPr lang="en-US" sz="3400" dirty="0"/>
          </a:p>
        </p:txBody>
      </p:sp>
      <p:sp>
        <p:nvSpPr>
          <p:cNvPr id="6" name="Shape 3"/>
          <p:cNvSpPr/>
          <p:nvPr/>
        </p:nvSpPr>
        <p:spPr>
          <a:xfrm>
            <a:off x="731520" y="2011680"/>
            <a:ext cx="10698480" cy="4114800"/>
          </a:xfrm>
          <a:prstGeom prst="roundRect">
            <a:avLst>
              <a:gd name="adj" fmla="val 1778"/>
            </a:avLst>
          </a:prstGeom>
          <a:solidFill>
            <a:srgbClr val="FFFFFF">
              <a:alpha val="70000"/>
            </a:srgbClr>
          </a:solidFill>
          <a:ln/>
        </p:spPr>
      </p:sp>
      <p:sp>
        <p:nvSpPr>
          <p:cNvPr id="7" name="Text 4"/>
          <p:cNvSpPr/>
          <p:nvPr/>
        </p:nvSpPr>
        <p:spPr>
          <a:xfrm>
            <a:off x="1005840" y="2286000"/>
            <a:ext cx="10149840" cy="91440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Retrenchment means reducing scale, exiting a business, or restructuring debt, chosen when a business is losing money, losing relevance, or losing the ability to compete.</a:t>
            </a:r>
            <a:endParaRPr lang="en-US" sz="1600" dirty="0"/>
          </a:p>
        </p:txBody>
      </p:sp>
      <p:sp>
        <p:nvSpPr>
          <p:cNvPr id="8" name="Text 5"/>
          <p:cNvSpPr/>
          <p:nvPr/>
        </p:nvSpPr>
        <p:spPr>
          <a:xfrm>
            <a:off x="1005840" y="3291840"/>
            <a:ext cx="10149840" cy="365760"/>
          </a:xfrm>
          <a:prstGeom prst="rect">
            <a:avLst/>
          </a:prstGeom>
          <a:noFill/>
          <a:ln/>
        </p:spPr>
        <p:txBody>
          <a:bodyPr wrap="square" lIns="0" tIns="0" rIns="0" bIns="0" rtlCol="0" anchor="ctr"/>
          <a:lstStyle/>
          <a:p>
            <a:pPr marL="0" indent="0">
              <a:buNone/>
            </a:pPr>
            <a:r>
              <a:rPr lang="en-US" sz="1600" b="1" dirty="0">
                <a:solidFill>
                  <a:srgbClr val="B20E38"/>
                </a:solidFill>
                <a:latin typeface="Montserrat SemiBold" pitchFamily="34" charset="0"/>
                <a:ea typeface="Montserrat SemiBold" pitchFamily="34" charset="-122"/>
                <a:cs typeface="Montserrat SemiBold" pitchFamily="34" charset="-120"/>
              </a:rPr>
              <a:t>Jet Airways, 2019</a:t>
            </a:r>
            <a:endParaRPr lang="en-US" sz="1600" dirty="0"/>
          </a:p>
        </p:txBody>
      </p:sp>
      <p:sp>
        <p:nvSpPr>
          <p:cNvPr id="9" name="Text 6"/>
          <p:cNvSpPr/>
          <p:nvPr/>
        </p:nvSpPr>
        <p:spPr>
          <a:xfrm>
            <a:off x="1005840" y="3657600"/>
            <a:ext cx="10149840" cy="2194560"/>
          </a:xfrm>
          <a:prstGeom prst="rect">
            <a:avLst/>
          </a:prstGeom>
          <a:noFill/>
          <a:ln/>
        </p:spPr>
        <p:txBody>
          <a:bodyPr wrap="square" lIns="0" tIns="0" rIns="0" bIns="0" rtlCol="0" anchor="ctr"/>
          <a:lstStyle/>
          <a:p>
            <a:pPr marL="0" indent="0">
              <a:lnSpc>
                <a:spcPct val="135000"/>
              </a:lnSpc>
              <a:buNone/>
            </a:pPr>
            <a:r>
              <a:rPr lang="en-US" sz="1500" dirty="0">
                <a:solidFill>
                  <a:srgbClr val="1A1A1A"/>
                </a:solidFill>
                <a:latin typeface="Montserrat" pitchFamily="34" charset="0"/>
                <a:ea typeface="Montserrat" pitchFamily="34" charset="-122"/>
                <a:cs typeface="Montserrat" pitchFamily="34" charset="-120"/>
              </a:rPr>
              <a:t>Once India's leading full-service airline, Jet Airways grounded its entire fleet in April 2019 under debt it could no longer service. The retrenchment signal, cutting routes and staff, had come far too late to save the business. The lesson isn't that retrenchment is shameful, it's that delaying it usually makes it worse.</a:t>
            </a:r>
            <a:endParaRPr lang="en-US" sz="150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6 / 16</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From the Art of War</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“If Equally Matched, We Can Offer Battle”</a:t>
            </a:r>
            <a:endParaRPr lang="en-US" sz="3400" dirty="0"/>
          </a:p>
        </p:txBody>
      </p:sp>
      <p:sp>
        <p:nvSpPr>
          <p:cNvPr id="6" name="Shape 3"/>
          <p:cNvSpPr/>
          <p:nvPr/>
        </p:nvSpPr>
        <p:spPr>
          <a:xfrm>
            <a:off x="731520" y="2194560"/>
            <a:ext cx="10698480" cy="3840480"/>
          </a:xfrm>
          <a:prstGeom prst="roundRect">
            <a:avLst>
              <a:gd name="adj" fmla="val 1905"/>
            </a:avLst>
          </a:prstGeom>
          <a:solidFill>
            <a:srgbClr val="FFFFFF">
              <a:alpha val="70000"/>
            </a:srgbClr>
          </a:solidFill>
          <a:ln/>
        </p:spPr>
      </p:sp>
      <p:sp>
        <p:nvSpPr>
          <p:cNvPr id="7" name="Text 4"/>
          <p:cNvSpPr/>
          <p:nvPr/>
        </p:nvSpPr>
        <p:spPr>
          <a:xfrm>
            <a:off x="1005840" y="2514600"/>
            <a:ext cx="10149840" cy="1371600"/>
          </a:xfrm>
          <a:prstGeom prst="rect">
            <a:avLst/>
          </a:prstGeom>
          <a:noFill/>
          <a:ln/>
        </p:spPr>
        <p:txBody>
          <a:bodyPr wrap="square" lIns="0" tIns="0" rIns="0" bIns="0" rtlCol="0" anchor="ctr"/>
          <a:lstStyle/>
          <a:p>
            <a:pPr marL="0" indent="0">
              <a:lnSpc>
                <a:spcPct val="140000"/>
              </a:lnSpc>
              <a:buNone/>
            </a:pPr>
            <a:r>
              <a:rPr lang="en-US" sz="1700" i="1" dirty="0">
                <a:solidFill>
                  <a:srgbClr val="2A2A2A"/>
                </a:solidFill>
                <a:latin typeface="Montserrat" pitchFamily="34" charset="0"/>
                <a:ea typeface="Montserrat" pitchFamily="34" charset="-122"/>
                <a:cs typeface="Montserrat" pitchFamily="34" charset="-120"/>
              </a:rPr>
              <a:t>Sun Tzu, Chapter III: “if we are ignorant both of the enemy and of ourselves, we are certain to be in peril... if we know neither, we are sure to be defeated in every battle.”</a:t>
            </a:r>
            <a:endParaRPr lang="en-US" sz="1700" dirty="0"/>
          </a:p>
        </p:txBody>
      </p:sp>
      <p:sp>
        <p:nvSpPr>
          <p:cNvPr id="8" name="Shape 5"/>
          <p:cNvSpPr/>
          <p:nvPr/>
        </p:nvSpPr>
        <p:spPr>
          <a:xfrm>
            <a:off x="1005840" y="3977640"/>
            <a:ext cx="10149840" cy="1737360"/>
          </a:xfrm>
          <a:prstGeom prst="roundRect">
            <a:avLst>
              <a:gd name="adj" fmla="val 4211"/>
            </a:avLst>
          </a:prstGeom>
          <a:solidFill>
            <a:srgbClr val="B20E38"/>
          </a:solidFill>
          <a:ln/>
        </p:spPr>
      </p:sp>
      <p:sp>
        <p:nvSpPr>
          <p:cNvPr id="9" name="Text 6"/>
          <p:cNvSpPr/>
          <p:nvPr/>
        </p:nvSpPr>
        <p:spPr>
          <a:xfrm>
            <a:off x="1280160" y="3977640"/>
            <a:ext cx="9601200" cy="1737360"/>
          </a:xfrm>
          <a:prstGeom prst="rect">
            <a:avLst/>
          </a:prstGeom>
          <a:noFill/>
          <a:ln/>
        </p:spPr>
        <p:txBody>
          <a:bodyPr wrap="square" lIns="0" tIns="0" rIns="0" bIns="0" rtlCol="0" anchor="ctr"/>
          <a:lstStyle/>
          <a:p>
            <a:pPr marL="0" indent="0">
              <a:lnSpc>
                <a:spcPct val="130000"/>
              </a:lnSpc>
              <a:buNone/>
            </a:pPr>
            <a:r>
              <a:rPr lang="en-US" sz="1600" b="1" i="1" dirty="0">
                <a:solidFill>
                  <a:srgbClr val="FFFFFF"/>
                </a:solidFill>
                <a:latin typeface="Montserrat" pitchFamily="34" charset="0"/>
                <a:ea typeface="Montserrat" pitchFamily="34" charset="-122"/>
                <a:cs typeface="Montserrat" pitchFamily="34" charset="-120"/>
              </a:rPr>
              <a:t>Choosing between growth, stability, and retrenchment is exactly this kind of self-knowledge. Jet Airways kept fighting a battle its own finances could no longer support.</a:t>
            </a:r>
            <a:endParaRPr lang="en-US" sz="160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7 / 16</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Alternative 4 of 4</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Combination: All at Once, in Different Places</a:t>
            </a:r>
            <a:endParaRPr lang="en-US" sz="3400" dirty="0"/>
          </a:p>
        </p:txBody>
      </p:sp>
      <p:sp>
        <p:nvSpPr>
          <p:cNvPr id="6" name="Shape 3"/>
          <p:cNvSpPr/>
          <p:nvPr/>
        </p:nvSpPr>
        <p:spPr>
          <a:xfrm>
            <a:off x="731520" y="2011680"/>
            <a:ext cx="10698480" cy="4114800"/>
          </a:xfrm>
          <a:prstGeom prst="roundRect">
            <a:avLst>
              <a:gd name="adj" fmla="val 1778"/>
            </a:avLst>
          </a:prstGeom>
          <a:solidFill>
            <a:srgbClr val="FFFFFF">
              <a:alpha val="70000"/>
            </a:srgbClr>
          </a:solidFill>
          <a:ln/>
        </p:spPr>
      </p:sp>
      <p:sp>
        <p:nvSpPr>
          <p:cNvPr id="7" name="Text 4"/>
          <p:cNvSpPr/>
          <p:nvPr/>
        </p:nvSpPr>
        <p:spPr>
          <a:xfrm>
            <a:off x="1005840" y="2286000"/>
            <a:ext cx="10149840" cy="91440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Large, diversified companies rarely pick just one alternative. Different business units can pursue growth, stability, or retrenchment simultaneously, under one corporate umbrella.</a:t>
            </a:r>
            <a:endParaRPr lang="en-US" sz="1600" dirty="0"/>
          </a:p>
        </p:txBody>
      </p:sp>
      <p:sp>
        <p:nvSpPr>
          <p:cNvPr id="8" name="Text 5"/>
          <p:cNvSpPr/>
          <p:nvPr/>
        </p:nvSpPr>
        <p:spPr>
          <a:xfrm>
            <a:off x="1005840" y="3291840"/>
            <a:ext cx="10149840" cy="365760"/>
          </a:xfrm>
          <a:prstGeom prst="rect">
            <a:avLst/>
          </a:prstGeom>
          <a:noFill/>
          <a:ln/>
        </p:spPr>
        <p:txBody>
          <a:bodyPr wrap="square" lIns="0" tIns="0" rIns="0" bIns="0" rtlCol="0" anchor="ctr"/>
          <a:lstStyle/>
          <a:p>
            <a:pPr marL="0" indent="0">
              <a:buNone/>
            </a:pPr>
            <a:r>
              <a:rPr lang="en-US" sz="1600" b="1" dirty="0">
                <a:solidFill>
                  <a:srgbClr val="B20E38"/>
                </a:solidFill>
                <a:latin typeface="Montserrat SemiBold" pitchFamily="34" charset="0"/>
                <a:ea typeface="Montserrat SemiBold" pitchFamily="34" charset="-122"/>
                <a:cs typeface="Montserrat SemiBold" pitchFamily="34" charset="-120"/>
              </a:rPr>
              <a:t>Tata Group, 2020s</a:t>
            </a:r>
            <a:endParaRPr lang="en-US" sz="1600" dirty="0"/>
          </a:p>
        </p:txBody>
      </p:sp>
      <p:sp>
        <p:nvSpPr>
          <p:cNvPr id="9" name="Text 6"/>
          <p:cNvSpPr/>
          <p:nvPr/>
        </p:nvSpPr>
        <p:spPr>
          <a:xfrm>
            <a:off x="1005840" y="3657600"/>
            <a:ext cx="10149840" cy="2103120"/>
          </a:xfrm>
          <a:prstGeom prst="rect">
            <a:avLst/>
          </a:prstGeom>
          <a:noFill/>
          <a:ln/>
        </p:spPr>
        <p:txBody>
          <a:bodyPr wrap="square" lIns="0" tIns="0" rIns="0" bIns="0" rtlCol="0" anchor="ctr"/>
          <a:lstStyle/>
          <a:p>
            <a:pPr marL="0" indent="0">
              <a:lnSpc>
                <a:spcPct val="135000"/>
              </a:lnSpc>
              <a:buNone/>
            </a:pPr>
            <a:r>
              <a:rPr lang="en-US" sz="1500" dirty="0">
                <a:solidFill>
                  <a:srgbClr val="1A1A1A"/>
                </a:solidFill>
                <a:latin typeface="Montserrat" pitchFamily="34" charset="0"/>
                <a:ea typeface="Montserrat" pitchFamily="34" charset="-122"/>
                <a:cs typeface="Montserrat" pitchFamily="34" charset="-120"/>
              </a:rPr>
              <a:t>While aggressively growing Tata Digital and Air India's turnaround, the Group has also quietly divested or restructured older, underperforming units elsewhere in its portfolio. Growth and retrenchment, running side by side, in the same company.</a:t>
            </a:r>
            <a:endParaRPr lang="en-US" sz="150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8 / 16</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Discussion · 2 Minutes</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000" b="1" dirty="0">
                <a:solidFill>
                  <a:srgbClr val="B20E38"/>
                </a:solidFill>
                <a:latin typeface="Montserrat SemiBold" pitchFamily="34" charset="0"/>
                <a:ea typeface="Montserrat SemiBold" pitchFamily="34" charset="-122"/>
                <a:cs typeface="Montserrat SemiBold" pitchFamily="34" charset="-120"/>
              </a:rPr>
              <a:t>Which Alternative for </a:t>
            </a:r>
            <a:r>
              <a:rPr lang="en-US" sz="3000" b="1" dirty="0" err="1">
                <a:solidFill>
                  <a:srgbClr val="B20E38"/>
                </a:solidFill>
                <a:latin typeface="Montserrat SemiBold" pitchFamily="34" charset="0"/>
                <a:ea typeface="Montserrat SemiBold" pitchFamily="34" charset="-122"/>
                <a:cs typeface="Montserrat SemiBold" pitchFamily="34" charset="-120"/>
              </a:rPr>
              <a:t>Boncho's</a:t>
            </a:r>
            <a:r>
              <a:rPr lang="en-US" sz="3000" b="1" dirty="0">
                <a:solidFill>
                  <a:srgbClr val="B20E38"/>
                </a:solidFill>
                <a:latin typeface="Montserrat SemiBold" pitchFamily="34" charset="0"/>
                <a:ea typeface="Montserrat SemiBold" pitchFamily="34" charset="-122"/>
                <a:cs typeface="Montserrat SemiBold" pitchFamily="34" charset="-120"/>
              </a:rPr>
              <a:t> Momos?</a:t>
            </a:r>
            <a:endParaRPr lang="en-US" sz="3000" dirty="0"/>
          </a:p>
        </p:txBody>
      </p:sp>
      <p:sp>
        <p:nvSpPr>
          <p:cNvPr id="6" name="Shape 3"/>
          <p:cNvSpPr/>
          <p:nvPr/>
        </p:nvSpPr>
        <p:spPr>
          <a:xfrm>
            <a:off x="731520" y="2286000"/>
            <a:ext cx="10698480" cy="3291840"/>
          </a:xfrm>
          <a:prstGeom prst="roundRect">
            <a:avLst>
              <a:gd name="adj" fmla="val 2222"/>
            </a:avLst>
          </a:prstGeom>
          <a:solidFill>
            <a:srgbClr val="FFFFFF">
              <a:alpha val="70000"/>
            </a:srgbClr>
          </a:solidFill>
          <a:ln/>
        </p:spPr>
      </p:sp>
      <p:sp>
        <p:nvSpPr>
          <p:cNvPr id="7" name="Text 4"/>
          <p:cNvSpPr/>
          <p:nvPr/>
        </p:nvSpPr>
        <p:spPr>
          <a:xfrm>
            <a:off x="1005840" y="2560320"/>
            <a:ext cx="10149840" cy="822960"/>
          </a:xfrm>
          <a:prstGeom prst="rect">
            <a:avLst/>
          </a:prstGeom>
          <a:noFill/>
          <a:ln/>
        </p:spPr>
        <p:txBody>
          <a:bodyPr wrap="square" lIns="0" tIns="0" rIns="0" bIns="0" rtlCol="0" anchor="ctr"/>
          <a:lstStyle/>
          <a:p>
            <a:pPr marL="0" indent="0">
              <a:lnSpc>
                <a:spcPct val="130000"/>
              </a:lnSpc>
              <a:buNone/>
            </a:pPr>
            <a:r>
              <a:rPr lang="en-US" sz="1900" b="1" dirty="0">
                <a:solidFill>
                  <a:srgbClr val="B20E38"/>
                </a:solidFill>
                <a:latin typeface="Montserrat SemiBold" pitchFamily="34" charset="0"/>
                <a:ea typeface="Montserrat SemiBold" pitchFamily="34" charset="-122"/>
                <a:cs typeface="Montserrat SemiBold" pitchFamily="34" charset="-120"/>
              </a:rPr>
              <a:t>A cloud kitchen just opened two streets away, undercutting </a:t>
            </a:r>
            <a:r>
              <a:rPr lang="en-US" sz="1900" b="1" dirty="0" err="1">
                <a:solidFill>
                  <a:srgbClr val="B20E38"/>
                </a:solidFill>
                <a:latin typeface="Montserrat SemiBold" pitchFamily="34" charset="0"/>
                <a:ea typeface="Montserrat SemiBold" pitchFamily="34" charset="-122"/>
                <a:cs typeface="Montserrat SemiBold" pitchFamily="34" charset="-120"/>
              </a:rPr>
              <a:t>Boncho's</a:t>
            </a:r>
            <a:r>
              <a:rPr lang="en-US" sz="1900" b="1" dirty="0">
                <a:solidFill>
                  <a:srgbClr val="B20E38"/>
                </a:solidFill>
                <a:latin typeface="Montserrat SemiBold" pitchFamily="34" charset="0"/>
                <a:ea typeface="Montserrat SemiBold" pitchFamily="34" charset="-122"/>
                <a:cs typeface="Montserrat SemiBold" pitchFamily="34" charset="-120"/>
              </a:rPr>
              <a:t> prices by 15%.</a:t>
            </a:r>
            <a:endParaRPr lang="en-US" sz="1900" dirty="0"/>
          </a:p>
        </p:txBody>
      </p:sp>
      <p:sp>
        <p:nvSpPr>
          <p:cNvPr id="8" name="Text 5"/>
          <p:cNvSpPr/>
          <p:nvPr/>
        </p:nvSpPr>
        <p:spPr>
          <a:xfrm>
            <a:off x="1005840" y="3566160"/>
            <a:ext cx="10149840" cy="1645920"/>
          </a:xfrm>
          <a:prstGeom prst="rect">
            <a:avLst/>
          </a:prstGeom>
          <a:noFill/>
          <a:ln/>
        </p:spPr>
        <p:txBody>
          <a:bodyPr wrap="square" lIns="0" tIns="0" rIns="0" bIns="0" rtlCol="0" anchor="ctr"/>
          <a:lstStyle/>
          <a:p>
            <a:pPr marL="0" indent="0">
              <a:lnSpc>
                <a:spcPct val="135000"/>
              </a:lnSpc>
              <a:buNone/>
            </a:pPr>
            <a:r>
              <a:rPr lang="en-US" sz="1600" dirty="0">
                <a:solidFill>
                  <a:srgbClr val="1A1A1A"/>
                </a:solidFill>
                <a:latin typeface="Montserrat" pitchFamily="34" charset="0"/>
                <a:ea typeface="Montserrat" pitchFamily="34" charset="-122"/>
                <a:cs typeface="Montserrat" pitchFamily="34" charset="-120"/>
              </a:rPr>
              <a:t>Would you recommend Stability, Growth, Retrenchment, or Combination, and why? There is no single correct answer, defend your reasoning.</a:t>
            </a:r>
            <a:endParaRPr lang="en-US" sz="1600" dirty="0"/>
          </a:p>
        </p:txBody>
      </p:sp>
      <p:sp>
        <p:nvSpPr>
          <p:cNvPr id="9" name="Text 6"/>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9 / 16</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What Actually Drives the Choice?</a:t>
            </a:r>
            <a:endParaRPr lang="en-US" sz="3400" dirty="0"/>
          </a:p>
        </p:txBody>
      </p:sp>
      <p:sp>
        <p:nvSpPr>
          <p:cNvPr id="6" name="Shape 3"/>
          <p:cNvSpPr/>
          <p:nvPr/>
        </p:nvSpPr>
        <p:spPr>
          <a:xfrm>
            <a:off x="731520" y="2194560"/>
            <a:ext cx="10698480" cy="868680"/>
          </a:xfrm>
          <a:prstGeom prst="roundRect">
            <a:avLst>
              <a:gd name="adj" fmla="val 8421"/>
            </a:avLst>
          </a:prstGeom>
          <a:solidFill>
            <a:srgbClr val="FFFFFF">
              <a:alpha val="70000"/>
            </a:srgbClr>
          </a:solidFill>
          <a:ln/>
        </p:spPr>
      </p:sp>
      <p:sp>
        <p:nvSpPr>
          <p:cNvPr id="7" name="Shape 4"/>
          <p:cNvSpPr/>
          <p:nvPr/>
        </p:nvSpPr>
        <p:spPr>
          <a:xfrm>
            <a:off x="914400" y="2377440"/>
            <a:ext cx="457200" cy="457200"/>
          </a:xfrm>
          <a:prstGeom prst="ellipse">
            <a:avLst/>
          </a:prstGeom>
          <a:solidFill>
            <a:srgbClr val="B20E38"/>
          </a:solidFill>
          <a:ln/>
        </p:spPr>
      </p:sp>
      <p:sp>
        <p:nvSpPr>
          <p:cNvPr id="8" name="Text 5"/>
          <p:cNvSpPr/>
          <p:nvPr/>
        </p:nvSpPr>
        <p:spPr>
          <a:xfrm>
            <a:off x="914400" y="237744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1</a:t>
            </a:r>
            <a:endParaRPr lang="en-US" sz="1700" dirty="0"/>
          </a:p>
        </p:txBody>
      </p:sp>
      <p:sp>
        <p:nvSpPr>
          <p:cNvPr id="9" name="Text 6"/>
          <p:cNvSpPr/>
          <p:nvPr/>
        </p:nvSpPr>
        <p:spPr>
          <a:xfrm>
            <a:off x="1600200" y="2194560"/>
            <a:ext cx="9509760" cy="868680"/>
          </a:xfrm>
          <a:prstGeom prst="rect">
            <a:avLst/>
          </a:prstGeom>
          <a:noFill/>
          <a:ln/>
        </p:spPr>
        <p:txBody>
          <a:bodyPr wrap="square" lIns="0" tIns="0" rIns="0" bIns="0" rtlCol="0" anchor="ctr"/>
          <a:lstStyle/>
          <a:p>
            <a:pPr marL="0" indent="0">
              <a:buNone/>
            </a:pPr>
            <a:r>
              <a:rPr lang="en-US" sz="1550" dirty="0">
                <a:solidFill>
                  <a:srgbClr val="1A1A1A"/>
                </a:solidFill>
                <a:latin typeface="Montserrat" pitchFamily="34" charset="0"/>
                <a:ea typeface="Montserrat" pitchFamily="34" charset="-122"/>
                <a:cs typeface="Montserrat" pitchFamily="34" charset="-120"/>
              </a:rPr>
              <a:t>Industry attractiveness, is this category worth being in at all?</a:t>
            </a:r>
            <a:endParaRPr lang="en-US" sz="1550" dirty="0"/>
          </a:p>
        </p:txBody>
      </p:sp>
      <p:sp>
        <p:nvSpPr>
          <p:cNvPr id="10" name="Shape 7"/>
          <p:cNvSpPr/>
          <p:nvPr/>
        </p:nvSpPr>
        <p:spPr>
          <a:xfrm>
            <a:off x="731520" y="3182112"/>
            <a:ext cx="10698480" cy="868680"/>
          </a:xfrm>
          <a:prstGeom prst="roundRect">
            <a:avLst>
              <a:gd name="adj" fmla="val 8421"/>
            </a:avLst>
          </a:prstGeom>
          <a:solidFill>
            <a:srgbClr val="FFFFFF">
              <a:alpha val="70000"/>
            </a:srgbClr>
          </a:solidFill>
          <a:ln/>
        </p:spPr>
      </p:sp>
      <p:sp>
        <p:nvSpPr>
          <p:cNvPr id="11" name="Shape 8"/>
          <p:cNvSpPr/>
          <p:nvPr/>
        </p:nvSpPr>
        <p:spPr>
          <a:xfrm>
            <a:off x="914400" y="3364992"/>
            <a:ext cx="457200" cy="457200"/>
          </a:xfrm>
          <a:prstGeom prst="ellipse">
            <a:avLst/>
          </a:prstGeom>
          <a:solidFill>
            <a:srgbClr val="B20E38"/>
          </a:solidFill>
          <a:ln/>
        </p:spPr>
      </p:sp>
      <p:sp>
        <p:nvSpPr>
          <p:cNvPr id="12" name="Text 9"/>
          <p:cNvSpPr/>
          <p:nvPr/>
        </p:nvSpPr>
        <p:spPr>
          <a:xfrm>
            <a:off x="914400" y="3364992"/>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2</a:t>
            </a:r>
            <a:endParaRPr lang="en-US" sz="1700" dirty="0"/>
          </a:p>
        </p:txBody>
      </p:sp>
      <p:sp>
        <p:nvSpPr>
          <p:cNvPr id="13" name="Text 10"/>
          <p:cNvSpPr/>
          <p:nvPr/>
        </p:nvSpPr>
        <p:spPr>
          <a:xfrm>
            <a:off x="1600200" y="3182112"/>
            <a:ext cx="9509760" cy="868680"/>
          </a:xfrm>
          <a:prstGeom prst="rect">
            <a:avLst/>
          </a:prstGeom>
          <a:noFill/>
          <a:ln/>
        </p:spPr>
        <p:txBody>
          <a:bodyPr wrap="square" lIns="0" tIns="0" rIns="0" bIns="0" rtlCol="0" anchor="ctr"/>
          <a:lstStyle/>
          <a:p>
            <a:pPr marL="0" indent="0">
              <a:buNone/>
            </a:pPr>
            <a:r>
              <a:rPr lang="en-US" sz="1550" dirty="0">
                <a:solidFill>
                  <a:srgbClr val="1A1A1A"/>
                </a:solidFill>
                <a:latin typeface="Montserrat" pitchFamily="34" charset="0"/>
                <a:ea typeface="Montserrat" pitchFamily="34" charset="-122"/>
                <a:cs typeface="Montserrat" pitchFamily="34" charset="-120"/>
              </a:rPr>
              <a:t>Competitive position, are we strong or weak relative to rivals here?</a:t>
            </a:r>
            <a:endParaRPr lang="en-US" sz="1550" dirty="0"/>
          </a:p>
        </p:txBody>
      </p:sp>
      <p:sp>
        <p:nvSpPr>
          <p:cNvPr id="14" name="Shape 11"/>
          <p:cNvSpPr/>
          <p:nvPr/>
        </p:nvSpPr>
        <p:spPr>
          <a:xfrm>
            <a:off x="731520" y="4169664"/>
            <a:ext cx="10698480" cy="868680"/>
          </a:xfrm>
          <a:prstGeom prst="roundRect">
            <a:avLst>
              <a:gd name="adj" fmla="val 8421"/>
            </a:avLst>
          </a:prstGeom>
          <a:solidFill>
            <a:srgbClr val="FFFFFF">
              <a:alpha val="70000"/>
            </a:srgbClr>
          </a:solidFill>
          <a:ln/>
        </p:spPr>
      </p:sp>
      <p:sp>
        <p:nvSpPr>
          <p:cNvPr id="15" name="Shape 12"/>
          <p:cNvSpPr/>
          <p:nvPr/>
        </p:nvSpPr>
        <p:spPr>
          <a:xfrm>
            <a:off x="914400" y="4352544"/>
            <a:ext cx="457200" cy="457200"/>
          </a:xfrm>
          <a:prstGeom prst="ellipse">
            <a:avLst/>
          </a:prstGeom>
          <a:solidFill>
            <a:srgbClr val="B20E38"/>
          </a:solidFill>
          <a:ln/>
        </p:spPr>
      </p:sp>
      <p:sp>
        <p:nvSpPr>
          <p:cNvPr id="16" name="Text 13"/>
          <p:cNvSpPr/>
          <p:nvPr/>
        </p:nvSpPr>
        <p:spPr>
          <a:xfrm>
            <a:off x="914400" y="435254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3</a:t>
            </a:r>
            <a:endParaRPr lang="en-US" sz="1700" dirty="0"/>
          </a:p>
        </p:txBody>
      </p:sp>
      <p:sp>
        <p:nvSpPr>
          <p:cNvPr id="17" name="Text 14"/>
          <p:cNvSpPr/>
          <p:nvPr/>
        </p:nvSpPr>
        <p:spPr>
          <a:xfrm>
            <a:off x="1600200" y="4169664"/>
            <a:ext cx="9509760" cy="868680"/>
          </a:xfrm>
          <a:prstGeom prst="rect">
            <a:avLst/>
          </a:prstGeom>
          <a:noFill/>
          <a:ln/>
        </p:spPr>
        <p:txBody>
          <a:bodyPr wrap="square" lIns="0" tIns="0" rIns="0" bIns="0" rtlCol="0" anchor="ctr"/>
          <a:lstStyle/>
          <a:p>
            <a:pPr marL="0" indent="0">
              <a:buNone/>
            </a:pPr>
            <a:r>
              <a:rPr lang="en-US" sz="1550" dirty="0">
                <a:solidFill>
                  <a:srgbClr val="1A1A1A"/>
                </a:solidFill>
                <a:latin typeface="Montserrat" pitchFamily="34" charset="0"/>
                <a:ea typeface="Montserrat" pitchFamily="34" charset="-122"/>
                <a:cs typeface="Montserrat" pitchFamily="34" charset="-120"/>
              </a:rPr>
              <a:t>Resource availability, can we actually fund the option we prefer?</a:t>
            </a:r>
            <a:endParaRPr lang="en-US" sz="1550" dirty="0"/>
          </a:p>
        </p:txBody>
      </p:sp>
      <p:sp>
        <p:nvSpPr>
          <p:cNvPr id="18" name="Shape 15"/>
          <p:cNvSpPr/>
          <p:nvPr/>
        </p:nvSpPr>
        <p:spPr>
          <a:xfrm>
            <a:off x="731520" y="5157216"/>
            <a:ext cx="10698480" cy="868680"/>
          </a:xfrm>
          <a:prstGeom prst="roundRect">
            <a:avLst>
              <a:gd name="adj" fmla="val 8421"/>
            </a:avLst>
          </a:prstGeom>
          <a:solidFill>
            <a:srgbClr val="FFFFFF">
              <a:alpha val="70000"/>
            </a:srgbClr>
          </a:solidFill>
          <a:ln/>
        </p:spPr>
      </p:sp>
      <p:sp>
        <p:nvSpPr>
          <p:cNvPr id="19" name="Shape 16"/>
          <p:cNvSpPr/>
          <p:nvPr/>
        </p:nvSpPr>
        <p:spPr>
          <a:xfrm>
            <a:off x="914400" y="5340096"/>
            <a:ext cx="457200" cy="457200"/>
          </a:xfrm>
          <a:prstGeom prst="ellipse">
            <a:avLst/>
          </a:prstGeom>
          <a:solidFill>
            <a:srgbClr val="B20E38"/>
          </a:solidFill>
          <a:ln/>
        </p:spPr>
      </p:sp>
      <p:sp>
        <p:nvSpPr>
          <p:cNvPr id="20" name="Text 17"/>
          <p:cNvSpPr/>
          <p:nvPr/>
        </p:nvSpPr>
        <p:spPr>
          <a:xfrm>
            <a:off x="914400" y="5340096"/>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4</a:t>
            </a:r>
            <a:endParaRPr lang="en-US" sz="1700" dirty="0"/>
          </a:p>
        </p:txBody>
      </p:sp>
      <p:sp>
        <p:nvSpPr>
          <p:cNvPr id="21" name="Text 18"/>
          <p:cNvSpPr/>
          <p:nvPr/>
        </p:nvSpPr>
        <p:spPr>
          <a:xfrm>
            <a:off x="1600200" y="5157216"/>
            <a:ext cx="9509760" cy="868680"/>
          </a:xfrm>
          <a:prstGeom prst="rect">
            <a:avLst/>
          </a:prstGeom>
          <a:noFill/>
          <a:ln/>
        </p:spPr>
        <p:txBody>
          <a:bodyPr wrap="square" lIns="0" tIns="0" rIns="0" bIns="0" rtlCol="0" anchor="ctr"/>
          <a:lstStyle/>
          <a:p>
            <a:pPr marL="0" indent="0">
              <a:buNone/>
            </a:pPr>
            <a:r>
              <a:rPr lang="en-US" sz="1550" dirty="0">
                <a:solidFill>
                  <a:srgbClr val="1A1A1A"/>
                </a:solidFill>
                <a:latin typeface="Montserrat" pitchFamily="34" charset="0"/>
                <a:ea typeface="Montserrat" pitchFamily="34" charset="-122"/>
                <a:cs typeface="Montserrat" pitchFamily="34" charset="-120"/>
              </a:rPr>
              <a:t>Risk appetite, of the leadership and the board</a:t>
            </a:r>
            <a:endParaRPr lang="en-US" sz="1550" dirty="0"/>
          </a:p>
        </p:txBody>
      </p:sp>
      <p:sp>
        <p:nvSpPr>
          <p:cNvPr id="22" name="Text 19"/>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10 / 16</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Connecting Back</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Unit 1 Was the Input to This Decision</a:t>
            </a:r>
            <a:endParaRPr lang="en-US" sz="3400" dirty="0"/>
          </a:p>
        </p:txBody>
      </p:sp>
      <p:sp>
        <p:nvSpPr>
          <p:cNvPr id="6" name="Shape 3"/>
          <p:cNvSpPr/>
          <p:nvPr/>
        </p:nvSpPr>
        <p:spPr>
          <a:xfrm>
            <a:off x="731520" y="2103120"/>
            <a:ext cx="10698480" cy="4114800"/>
          </a:xfrm>
          <a:prstGeom prst="roundRect">
            <a:avLst>
              <a:gd name="adj" fmla="val 1778"/>
            </a:avLst>
          </a:prstGeom>
          <a:solidFill>
            <a:srgbClr val="FFFFFF">
              <a:alpha val="70000"/>
            </a:srgbClr>
          </a:solidFill>
          <a:ln/>
        </p:spPr>
      </p:sp>
      <p:sp>
        <p:nvSpPr>
          <p:cNvPr id="7" name="Text 4"/>
          <p:cNvSpPr/>
          <p:nvPr/>
        </p:nvSpPr>
        <p:spPr>
          <a:xfrm>
            <a:off x="1005840" y="2377440"/>
            <a:ext cx="5120640" cy="77724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Five Forces says the industry is brutal</a:t>
            </a:r>
            <a:endParaRPr lang="en-US" sz="1400" dirty="0"/>
          </a:p>
        </p:txBody>
      </p:sp>
      <p:sp>
        <p:nvSpPr>
          <p:cNvPr id="8" name="Text 5"/>
          <p:cNvSpPr/>
          <p:nvPr/>
        </p:nvSpPr>
        <p:spPr>
          <a:xfrm>
            <a:off x="6309360" y="2377440"/>
            <a:ext cx="4937760" cy="777240"/>
          </a:xfrm>
          <a:prstGeom prst="rect">
            <a:avLst/>
          </a:prstGeom>
          <a:noFill/>
          <a:ln/>
        </p:spPr>
        <p:txBody>
          <a:bodyPr wrap="square" lIns="0" tIns="0" rIns="0" bIns="0" rtlCol="0" anchor="ctr"/>
          <a:lstStyle/>
          <a:p>
            <a:pPr marL="0" indent="0">
              <a:lnSpc>
                <a:spcPct val="120000"/>
              </a:lnSpc>
              <a:buNone/>
            </a:pPr>
            <a:r>
              <a:rPr lang="en-US" sz="1400" b="1" dirty="0">
                <a:solidFill>
                  <a:srgbClr val="B20E38"/>
                </a:solidFill>
                <a:latin typeface="Montserrat SemiBold" pitchFamily="34" charset="0"/>
                <a:ea typeface="Montserrat SemiBold" pitchFamily="34" charset="-122"/>
                <a:cs typeface="Montserrat SemiBold" pitchFamily="34" charset="-120"/>
              </a:rPr>
              <a:t>→  Lean toward Stability or Retrenchment</a:t>
            </a:r>
            <a:endParaRPr lang="en-US" sz="1400" dirty="0"/>
          </a:p>
        </p:txBody>
      </p:sp>
      <p:sp>
        <p:nvSpPr>
          <p:cNvPr id="9" name="Text 6"/>
          <p:cNvSpPr/>
          <p:nvPr/>
        </p:nvSpPr>
        <p:spPr>
          <a:xfrm>
            <a:off x="1005840" y="3246120"/>
            <a:ext cx="5120640" cy="77724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SWOT shows a rare, strong Strength</a:t>
            </a:r>
            <a:endParaRPr lang="en-US" sz="1400" dirty="0"/>
          </a:p>
        </p:txBody>
      </p:sp>
      <p:sp>
        <p:nvSpPr>
          <p:cNvPr id="10" name="Text 7"/>
          <p:cNvSpPr/>
          <p:nvPr/>
        </p:nvSpPr>
        <p:spPr>
          <a:xfrm>
            <a:off x="6309360" y="3246120"/>
            <a:ext cx="4937760" cy="777240"/>
          </a:xfrm>
          <a:prstGeom prst="rect">
            <a:avLst/>
          </a:prstGeom>
          <a:noFill/>
          <a:ln/>
        </p:spPr>
        <p:txBody>
          <a:bodyPr wrap="square" lIns="0" tIns="0" rIns="0" bIns="0" rtlCol="0" anchor="ctr"/>
          <a:lstStyle/>
          <a:p>
            <a:pPr marL="0" indent="0">
              <a:lnSpc>
                <a:spcPct val="120000"/>
              </a:lnSpc>
              <a:buNone/>
            </a:pPr>
            <a:r>
              <a:rPr lang="en-US" sz="1400" b="1" dirty="0">
                <a:solidFill>
                  <a:srgbClr val="B20E38"/>
                </a:solidFill>
                <a:latin typeface="Montserrat SemiBold" pitchFamily="34" charset="0"/>
                <a:ea typeface="Montserrat SemiBold" pitchFamily="34" charset="-122"/>
                <a:cs typeface="Montserrat SemiBold" pitchFamily="34" charset="-120"/>
              </a:rPr>
              <a:t>→  Lean toward Growth</a:t>
            </a:r>
            <a:endParaRPr lang="en-US" sz="1400" dirty="0"/>
          </a:p>
        </p:txBody>
      </p:sp>
      <p:sp>
        <p:nvSpPr>
          <p:cNvPr id="11" name="Text 8"/>
          <p:cNvSpPr/>
          <p:nvPr/>
        </p:nvSpPr>
        <p:spPr>
          <a:xfrm>
            <a:off x="1005840" y="4114800"/>
            <a:ext cx="5120640" cy="77724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Resources are thin, cash is tight</a:t>
            </a:r>
            <a:endParaRPr lang="en-US" sz="1400" dirty="0"/>
          </a:p>
        </p:txBody>
      </p:sp>
      <p:sp>
        <p:nvSpPr>
          <p:cNvPr id="12" name="Text 9"/>
          <p:cNvSpPr/>
          <p:nvPr/>
        </p:nvSpPr>
        <p:spPr>
          <a:xfrm>
            <a:off x="6309360" y="4114800"/>
            <a:ext cx="4937760" cy="777240"/>
          </a:xfrm>
          <a:prstGeom prst="rect">
            <a:avLst/>
          </a:prstGeom>
          <a:noFill/>
          <a:ln/>
        </p:spPr>
        <p:txBody>
          <a:bodyPr wrap="square" lIns="0" tIns="0" rIns="0" bIns="0" rtlCol="0" anchor="ctr"/>
          <a:lstStyle/>
          <a:p>
            <a:pPr marL="0" indent="0">
              <a:lnSpc>
                <a:spcPct val="120000"/>
              </a:lnSpc>
              <a:buNone/>
            </a:pPr>
            <a:r>
              <a:rPr lang="en-US" sz="1400" b="1" dirty="0">
                <a:solidFill>
                  <a:srgbClr val="B20E38"/>
                </a:solidFill>
                <a:latin typeface="Montserrat SemiBold" pitchFamily="34" charset="0"/>
                <a:ea typeface="Montserrat SemiBold" pitchFamily="34" charset="-122"/>
                <a:cs typeface="Montserrat SemiBold" pitchFamily="34" charset="-120"/>
              </a:rPr>
              <a:t>→  Growth may not be fundable, however attractive it looks</a:t>
            </a:r>
            <a:endParaRPr lang="en-US" sz="1400" dirty="0"/>
          </a:p>
        </p:txBody>
      </p:sp>
      <p:sp>
        <p:nvSpPr>
          <p:cNvPr id="13" name="Text 10"/>
          <p:cNvSpPr/>
          <p:nvPr/>
        </p:nvSpPr>
        <p:spPr>
          <a:xfrm>
            <a:off x="1005840" y="4983480"/>
            <a:ext cx="5120640" cy="77724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Distinctive Competence is fading</a:t>
            </a:r>
            <a:endParaRPr lang="en-US" sz="1400" dirty="0"/>
          </a:p>
        </p:txBody>
      </p:sp>
      <p:sp>
        <p:nvSpPr>
          <p:cNvPr id="14" name="Text 11"/>
          <p:cNvSpPr/>
          <p:nvPr/>
        </p:nvSpPr>
        <p:spPr>
          <a:xfrm>
            <a:off x="6309360" y="4983480"/>
            <a:ext cx="4937760" cy="777240"/>
          </a:xfrm>
          <a:prstGeom prst="rect">
            <a:avLst/>
          </a:prstGeom>
          <a:noFill/>
          <a:ln/>
        </p:spPr>
        <p:txBody>
          <a:bodyPr wrap="square" lIns="0" tIns="0" rIns="0" bIns="0" rtlCol="0" anchor="ctr"/>
          <a:lstStyle/>
          <a:p>
            <a:pPr marL="0" indent="0">
              <a:lnSpc>
                <a:spcPct val="120000"/>
              </a:lnSpc>
              <a:buNone/>
            </a:pPr>
            <a:r>
              <a:rPr lang="en-US" sz="1400" b="1" dirty="0">
                <a:solidFill>
                  <a:srgbClr val="B20E38"/>
                </a:solidFill>
                <a:latin typeface="Montserrat SemiBold" pitchFamily="34" charset="0"/>
                <a:ea typeface="Montserrat SemiBold" pitchFamily="34" charset="-122"/>
                <a:cs typeface="Montserrat SemiBold" pitchFamily="34" charset="-120"/>
              </a:rPr>
              <a:t>→  Retrenchment may be healthier than fighting on</a:t>
            </a:r>
            <a:endParaRPr lang="en-US" sz="1400" dirty="0"/>
          </a:p>
        </p:txBody>
      </p:sp>
      <p:sp>
        <p:nvSpPr>
          <p:cNvPr id="15" name="Text 12"/>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11 / 16</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 Common Mistake</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Growth Is Not Always the Right Answer</a:t>
            </a:r>
            <a:endParaRPr lang="en-US" sz="3400" dirty="0"/>
          </a:p>
        </p:txBody>
      </p:sp>
      <p:sp>
        <p:nvSpPr>
          <p:cNvPr id="6" name="Shape 3"/>
          <p:cNvSpPr/>
          <p:nvPr/>
        </p:nvSpPr>
        <p:spPr>
          <a:xfrm>
            <a:off x="731520" y="2286000"/>
            <a:ext cx="10698480" cy="3291840"/>
          </a:xfrm>
          <a:prstGeom prst="roundRect">
            <a:avLst>
              <a:gd name="adj" fmla="val 2778"/>
            </a:avLst>
          </a:prstGeom>
          <a:solidFill>
            <a:srgbClr val="B20E38"/>
          </a:solidFill>
          <a:ln/>
        </p:spPr>
      </p:sp>
      <p:sp>
        <p:nvSpPr>
          <p:cNvPr id="7" name="Text 4"/>
          <p:cNvSpPr/>
          <p:nvPr/>
        </p:nvSpPr>
        <p:spPr>
          <a:xfrm>
            <a:off x="1051560" y="2286000"/>
            <a:ext cx="10058400" cy="3291840"/>
          </a:xfrm>
          <a:prstGeom prst="rect">
            <a:avLst/>
          </a:prstGeom>
          <a:noFill/>
          <a:ln/>
        </p:spPr>
        <p:txBody>
          <a:bodyPr wrap="square" lIns="0" tIns="0" rIns="0" bIns="0" rtlCol="0" anchor="ctr"/>
          <a:lstStyle/>
          <a:p>
            <a:pPr marL="0" indent="0" algn="ctr">
              <a:lnSpc>
                <a:spcPct val="140000"/>
              </a:lnSpc>
              <a:buNone/>
            </a:pPr>
            <a:r>
              <a:rPr lang="en-US" sz="1900" b="1" i="1" dirty="0">
                <a:solidFill>
                  <a:srgbClr val="FFFFFF"/>
                </a:solidFill>
                <a:latin typeface="Montserrat" pitchFamily="34" charset="0"/>
                <a:ea typeface="Montserrat" pitchFamily="34" charset="-122"/>
                <a:cs typeface="Montserrat" pitchFamily="34" charset="-120"/>
              </a:rPr>
              <a:t>Many founders and managers treat growth as the default, and everything else as failure. But a business that grows into a weak position, more revenue, worse margins, thinner resources, hasn't actually gotten stronger. It's just bigger and more fragile.</a:t>
            </a:r>
            <a:endParaRPr lang="en-US" sz="1900" dirty="0"/>
          </a:p>
        </p:txBody>
      </p:sp>
      <p:sp>
        <p:nvSpPr>
          <p:cNvPr id="8" name="Text 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12 / 16</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Coming Next Session</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If Growth Is the Right Call, Then What?</a:t>
            </a:r>
            <a:endParaRPr lang="en-US" sz="3400" dirty="0"/>
          </a:p>
        </p:txBody>
      </p:sp>
      <p:sp>
        <p:nvSpPr>
          <p:cNvPr id="6" name="Shape 3"/>
          <p:cNvSpPr/>
          <p:nvPr/>
        </p:nvSpPr>
        <p:spPr>
          <a:xfrm>
            <a:off x="731520" y="2194560"/>
            <a:ext cx="10698480" cy="3840480"/>
          </a:xfrm>
          <a:prstGeom prst="roundRect">
            <a:avLst>
              <a:gd name="adj" fmla="val 1905"/>
            </a:avLst>
          </a:prstGeom>
          <a:solidFill>
            <a:srgbClr val="FFFFFF">
              <a:alpha val="70000"/>
            </a:srgbClr>
          </a:solidFill>
          <a:ln/>
        </p:spPr>
      </p:sp>
      <p:sp>
        <p:nvSpPr>
          <p:cNvPr id="7" name="Text 4"/>
          <p:cNvSpPr/>
          <p:nvPr/>
        </p:nvSpPr>
        <p:spPr>
          <a:xfrm>
            <a:off x="1005840" y="2514600"/>
            <a:ext cx="10149840" cy="640080"/>
          </a:xfrm>
          <a:prstGeom prst="rect">
            <a:avLst/>
          </a:prstGeom>
          <a:noFill/>
          <a:ln/>
        </p:spPr>
        <p:txBody>
          <a:bodyPr wrap="square" lIns="0" tIns="0" rIns="0" bIns="0" rtlCol="0" anchor="ctr"/>
          <a:lstStyle/>
          <a:p>
            <a:pPr marL="0" indent="0">
              <a:lnSpc>
                <a:spcPct val="130000"/>
              </a:lnSpc>
              <a:buNone/>
            </a:pPr>
            <a:r>
              <a:rPr lang="en-US" sz="1800" b="1" dirty="0">
                <a:solidFill>
                  <a:srgbClr val="B20E38"/>
                </a:solidFill>
                <a:latin typeface="Montserrat SemiBold" pitchFamily="34" charset="0"/>
                <a:ea typeface="Montserrat SemiBold" pitchFamily="34" charset="-122"/>
                <a:cs typeface="Montserrat SemiBold" pitchFamily="34" charset="-120"/>
              </a:rPr>
              <a:t>Suppose the analysis genuinely points to Growth. That still leaves a real question: grow how?</a:t>
            </a:r>
            <a:endParaRPr lang="en-US" sz="1800" dirty="0"/>
          </a:p>
        </p:txBody>
      </p:sp>
      <p:sp>
        <p:nvSpPr>
          <p:cNvPr id="8" name="Text 5"/>
          <p:cNvSpPr/>
          <p:nvPr/>
        </p:nvSpPr>
        <p:spPr>
          <a:xfrm>
            <a:off x="1005840" y="3246120"/>
            <a:ext cx="10149840" cy="2286000"/>
          </a:xfrm>
          <a:prstGeom prst="rect">
            <a:avLst/>
          </a:prstGeom>
          <a:noFill/>
          <a:ln/>
        </p:spPr>
        <p:txBody>
          <a:bodyPr wrap="square" lIns="0" tIns="0" rIns="0" bIns="0" rtlCol="0" anchor="ctr"/>
          <a:lstStyle/>
          <a:p>
            <a:pPr marL="0" indent="0">
              <a:lnSpc>
                <a:spcPct val="140000"/>
              </a:lnSpc>
              <a:buNone/>
            </a:pPr>
            <a:r>
              <a:rPr lang="en-US" sz="1600" dirty="0">
                <a:solidFill>
                  <a:srgbClr val="1A1A1A"/>
                </a:solidFill>
                <a:latin typeface="Montserrat" pitchFamily="34" charset="0"/>
                <a:ea typeface="Montserrat" pitchFamily="34" charset="-122"/>
                <a:cs typeface="Montserrat" pitchFamily="34" charset="-120"/>
              </a:rPr>
              <a:t>Sell more of the same product to the same customers? Take the same product to new customers? Build a new product for existing customers? Or go somewhere entirely new? Next session gives you a precise tool for this exact decision, the Ansoff Matrix.</a:t>
            </a:r>
            <a:endParaRPr lang="en-US" sz="1600" dirty="0"/>
          </a:p>
        </p:txBody>
      </p:sp>
      <p:sp>
        <p:nvSpPr>
          <p:cNvPr id="9" name="Text 6"/>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13 / 16</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Takeaways</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Key Takeaways from Today</a:t>
            </a:r>
            <a:endParaRPr lang="en-US" sz="3400" dirty="0"/>
          </a:p>
        </p:txBody>
      </p:sp>
      <p:sp>
        <p:nvSpPr>
          <p:cNvPr id="6" name="Shape 3"/>
          <p:cNvSpPr/>
          <p:nvPr/>
        </p:nvSpPr>
        <p:spPr>
          <a:xfrm>
            <a:off x="731520" y="2194560"/>
            <a:ext cx="10698480" cy="914400"/>
          </a:xfrm>
          <a:prstGeom prst="roundRect">
            <a:avLst>
              <a:gd name="adj" fmla="val 8000"/>
            </a:avLst>
          </a:prstGeom>
          <a:solidFill>
            <a:srgbClr val="FFFFFF">
              <a:alpha val="70000"/>
            </a:srgbClr>
          </a:solidFill>
          <a:ln/>
        </p:spPr>
      </p:sp>
      <p:sp>
        <p:nvSpPr>
          <p:cNvPr id="7" name="Shape 4"/>
          <p:cNvSpPr/>
          <p:nvPr/>
        </p:nvSpPr>
        <p:spPr>
          <a:xfrm>
            <a:off x="731520" y="2194560"/>
            <a:ext cx="91440" cy="914400"/>
          </a:xfrm>
          <a:prstGeom prst="rect">
            <a:avLst/>
          </a:prstGeom>
          <a:solidFill>
            <a:srgbClr val="B20E38"/>
          </a:solidFill>
          <a:ln/>
        </p:spPr>
      </p:sp>
      <p:sp>
        <p:nvSpPr>
          <p:cNvPr id="8" name="Text 5"/>
          <p:cNvSpPr/>
          <p:nvPr/>
        </p:nvSpPr>
        <p:spPr>
          <a:xfrm>
            <a:off x="1051560" y="2194560"/>
            <a:ext cx="10241280" cy="914400"/>
          </a:xfrm>
          <a:prstGeom prst="rect">
            <a:avLst/>
          </a:prstGeom>
          <a:noFill/>
          <a:ln/>
        </p:spPr>
        <p:txBody>
          <a:bodyPr wrap="square" lIns="0" tIns="0" rIns="0" bIns="0" rtlCol="0" anchor="ctr"/>
          <a:lstStyle/>
          <a:p>
            <a:pPr marL="0" indent="0">
              <a:lnSpc>
                <a:spcPct val="120000"/>
              </a:lnSpc>
              <a:buNone/>
            </a:pPr>
            <a:r>
              <a:rPr lang="en-US" sz="1450" dirty="0">
                <a:solidFill>
                  <a:srgbClr val="1A1A1A"/>
                </a:solidFill>
                <a:latin typeface="Montserrat" pitchFamily="34" charset="0"/>
                <a:ea typeface="Montserrat" pitchFamily="34" charset="-122"/>
                <a:cs typeface="Montserrat" pitchFamily="34" charset="-120"/>
              </a:rPr>
              <a:t>There are four grand strategy alternatives: Stability, Growth, Retrenchment, and Combination, not just growth</a:t>
            </a:r>
            <a:endParaRPr lang="en-US" sz="1450" dirty="0"/>
          </a:p>
        </p:txBody>
      </p:sp>
      <p:sp>
        <p:nvSpPr>
          <p:cNvPr id="9" name="Shape 6"/>
          <p:cNvSpPr/>
          <p:nvPr/>
        </p:nvSpPr>
        <p:spPr>
          <a:xfrm>
            <a:off x="731520" y="3246120"/>
            <a:ext cx="10698480" cy="914400"/>
          </a:xfrm>
          <a:prstGeom prst="roundRect">
            <a:avLst>
              <a:gd name="adj" fmla="val 8000"/>
            </a:avLst>
          </a:prstGeom>
          <a:solidFill>
            <a:srgbClr val="FFFFFF">
              <a:alpha val="70000"/>
            </a:srgbClr>
          </a:solidFill>
          <a:ln/>
        </p:spPr>
      </p:sp>
      <p:sp>
        <p:nvSpPr>
          <p:cNvPr id="10" name="Shape 7"/>
          <p:cNvSpPr/>
          <p:nvPr/>
        </p:nvSpPr>
        <p:spPr>
          <a:xfrm>
            <a:off x="731520" y="3246120"/>
            <a:ext cx="91440" cy="914400"/>
          </a:xfrm>
          <a:prstGeom prst="rect">
            <a:avLst/>
          </a:prstGeom>
          <a:solidFill>
            <a:srgbClr val="B20E38"/>
          </a:solidFill>
          <a:ln/>
        </p:spPr>
      </p:sp>
      <p:sp>
        <p:nvSpPr>
          <p:cNvPr id="11" name="Text 8"/>
          <p:cNvSpPr/>
          <p:nvPr/>
        </p:nvSpPr>
        <p:spPr>
          <a:xfrm>
            <a:off x="1051560" y="3246120"/>
            <a:ext cx="10241280" cy="914400"/>
          </a:xfrm>
          <a:prstGeom prst="rect">
            <a:avLst/>
          </a:prstGeom>
          <a:noFill/>
          <a:ln/>
        </p:spPr>
        <p:txBody>
          <a:bodyPr wrap="square" lIns="0" tIns="0" rIns="0" bIns="0" rtlCol="0" anchor="ctr"/>
          <a:lstStyle/>
          <a:p>
            <a:pPr marL="0" indent="0">
              <a:lnSpc>
                <a:spcPct val="120000"/>
              </a:lnSpc>
              <a:buNone/>
            </a:pPr>
            <a:r>
              <a:rPr lang="en-US" sz="1450" dirty="0">
                <a:solidFill>
                  <a:srgbClr val="1A1A1A"/>
                </a:solidFill>
                <a:latin typeface="Montserrat" pitchFamily="34" charset="0"/>
                <a:ea typeface="Montserrat" pitchFamily="34" charset="-122"/>
                <a:cs typeface="Montserrat" pitchFamily="34" charset="-120"/>
              </a:rPr>
              <a:t>Retrenchment chosen early is a strategy; retrenchment forced late, like Jet Airways, is a collapse</a:t>
            </a:r>
            <a:endParaRPr lang="en-US" sz="1450" dirty="0"/>
          </a:p>
        </p:txBody>
      </p:sp>
      <p:sp>
        <p:nvSpPr>
          <p:cNvPr id="12" name="Shape 9"/>
          <p:cNvSpPr/>
          <p:nvPr/>
        </p:nvSpPr>
        <p:spPr>
          <a:xfrm>
            <a:off x="731520" y="4297680"/>
            <a:ext cx="10698480" cy="914400"/>
          </a:xfrm>
          <a:prstGeom prst="roundRect">
            <a:avLst>
              <a:gd name="adj" fmla="val 8000"/>
            </a:avLst>
          </a:prstGeom>
          <a:solidFill>
            <a:srgbClr val="FFFFFF">
              <a:alpha val="70000"/>
            </a:srgbClr>
          </a:solidFill>
          <a:ln/>
        </p:spPr>
      </p:sp>
      <p:sp>
        <p:nvSpPr>
          <p:cNvPr id="13" name="Shape 10"/>
          <p:cNvSpPr/>
          <p:nvPr/>
        </p:nvSpPr>
        <p:spPr>
          <a:xfrm>
            <a:off x="731520" y="4297680"/>
            <a:ext cx="91440" cy="914400"/>
          </a:xfrm>
          <a:prstGeom prst="rect">
            <a:avLst/>
          </a:prstGeom>
          <a:solidFill>
            <a:srgbClr val="B20E38"/>
          </a:solidFill>
          <a:ln/>
        </p:spPr>
      </p:sp>
      <p:sp>
        <p:nvSpPr>
          <p:cNvPr id="14" name="Text 11"/>
          <p:cNvSpPr/>
          <p:nvPr/>
        </p:nvSpPr>
        <p:spPr>
          <a:xfrm>
            <a:off x="1051560" y="4297680"/>
            <a:ext cx="10241280" cy="914400"/>
          </a:xfrm>
          <a:prstGeom prst="rect">
            <a:avLst/>
          </a:prstGeom>
          <a:noFill/>
          <a:ln/>
        </p:spPr>
        <p:txBody>
          <a:bodyPr wrap="square" lIns="0" tIns="0" rIns="0" bIns="0" rtlCol="0" anchor="ctr"/>
          <a:lstStyle/>
          <a:p>
            <a:pPr marL="0" indent="0">
              <a:lnSpc>
                <a:spcPct val="120000"/>
              </a:lnSpc>
              <a:buNone/>
            </a:pPr>
            <a:r>
              <a:rPr lang="en-US" sz="1450" dirty="0">
                <a:solidFill>
                  <a:srgbClr val="1A1A1A"/>
                </a:solidFill>
                <a:latin typeface="Montserrat" pitchFamily="34" charset="0"/>
                <a:ea typeface="Montserrat" pitchFamily="34" charset="-122"/>
                <a:cs typeface="Montserrat" pitchFamily="34" charset="-120"/>
              </a:rPr>
              <a:t>Large diversified companies routinely combine different alternatives across different business units</a:t>
            </a:r>
            <a:endParaRPr lang="en-US" sz="1450" dirty="0"/>
          </a:p>
        </p:txBody>
      </p:sp>
      <p:sp>
        <p:nvSpPr>
          <p:cNvPr id="15" name="Shape 12"/>
          <p:cNvSpPr/>
          <p:nvPr/>
        </p:nvSpPr>
        <p:spPr>
          <a:xfrm>
            <a:off x="731520" y="5349240"/>
            <a:ext cx="10698480" cy="914400"/>
          </a:xfrm>
          <a:prstGeom prst="roundRect">
            <a:avLst>
              <a:gd name="adj" fmla="val 8000"/>
            </a:avLst>
          </a:prstGeom>
          <a:solidFill>
            <a:srgbClr val="FFFFFF">
              <a:alpha val="70000"/>
            </a:srgbClr>
          </a:solidFill>
          <a:ln/>
        </p:spPr>
      </p:sp>
      <p:sp>
        <p:nvSpPr>
          <p:cNvPr id="16" name="Shape 13"/>
          <p:cNvSpPr/>
          <p:nvPr/>
        </p:nvSpPr>
        <p:spPr>
          <a:xfrm>
            <a:off x="731520" y="5349240"/>
            <a:ext cx="91440" cy="914400"/>
          </a:xfrm>
          <a:prstGeom prst="rect">
            <a:avLst/>
          </a:prstGeom>
          <a:solidFill>
            <a:srgbClr val="B20E38"/>
          </a:solidFill>
          <a:ln/>
        </p:spPr>
      </p:sp>
      <p:sp>
        <p:nvSpPr>
          <p:cNvPr id="17" name="Text 14"/>
          <p:cNvSpPr/>
          <p:nvPr/>
        </p:nvSpPr>
        <p:spPr>
          <a:xfrm>
            <a:off x="1051560" y="5349240"/>
            <a:ext cx="10241280" cy="914400"/>
          </a:xfrm>
          <a:prstGeom prst="rect">
            <a:avLst/>
          </a:prstGeom>
          <a:noFill/>
          <a:ln/>
        </p:spPr>
        <p:txBody>
          <a:bodyPr wrap="square" lIns="0" tIns="0" rIns="0" bIns="0" rtlCol="0" anchor="ctr"/>
          <a:lstStyle/>
          <a:p>
            <a:pPr marL="0" indent="0">
              <a:lnSpc>
                <a:spcPct val="120000"/>
              </a:lnSpc>
              <a:buNone/>
            </a:pPr>
            <a:r>
              <a:rPr lang="en-US" sz="1450" dirty="0">
                <a:solidFill>
                  <a:srgbClr val="1A1A1A"/>
                </a:solidFill>
                <a:latin typeface="Montserrat" pitchFamily="34" charset="0"/>
                <a:ea typeface="Montserrat" pitchFamily="34" charset="-122"/>
                <a:cs typeface="Montserrat" pitchFamily="34" charset="-120"/>
              </a:rPr>
              <a:t>The choice depends on industry attractiveness, competitive position, resources, and risk appetite, everything Unit 1 taught you to assess</a:t>
            </a:r>
            <a:endParaRPr lang="en-US" sz="1450" dirty="0"/>
          </a:p>
        </p:txBody>
      </p:sp>
      <p:sp>
        <p:nvSpPr>
          <p:cNvPr id="18" name="Text 1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14 / 16</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References &amp; Next Class</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Sources &amp; What's Coming Up</a:t>
            </a:r>
            <a:endParaRPr lang="en-US" sz="3400" dirty="0"/>
          </a:p>
        </p:txBody>
      </p:sp>
      <p:sp>
        <p:nvSpPr>
          <p:cNvPr id="6" name="Shape 3"/>
          <p:cNvSpPr/>
          <p:nvPr/>
        </p:nvSpPr>
        <p:spPr>
          <a:xfrm>
            <a:off x="731520" y="2103120"/>
            <a:ext cx="10698480" cy="2011680"/>
          </a:xfrm>
          <a:prstGeom prst="roundRect">
            <a:avLst>
              <a:gd name="adj" fmla="val 3636"/>
            </a:avLst>
          </a:prstGeom>
          <a:solidFill>
            <a:srgbClr val="FFFFFF">
              <a:alpha val="70000"/>
            </a:srgbClr>
          </a:solidFill>
          <a:ln/>
        </p:spPr>
      </p:sp>
      <p:sp>
        <p:nvSpPr>
          <p:cNvPr id="7" name="Text 4"/>
          <p:cNvSpPr/>
          <p:nvPr/>
        </p:nvSpPr>
        <p:spPr>
          <a:xfrm>
            <a:off x="1005840" y="2377440"/>
            <a:ext cx="10149840" cy="1371600"/>
          </a:xfrm>
          <a:prstGeom prst="rect">
            <a:avLst/>
          </a:prstGeom>
          <a:noFill/>
          <a:ln/>
        </p:spPr>
        <p:txBody>
          <a:bodyPr wrap="square" lIns="0" tIns="0" rIns="0" bIns="0" rtlCol="0" anchor="ctr"/>
          <a:lstStyle/>
          <a:p>
            <a:pPr marL="0" indent="0">
              <a:lnSpc>
                <a:spcPct val="135000"/>
              </a:lnSpc>
              <a:buNone/>
            </a:pPr>
            <a:r>
              <a:rPr lang="en-US" sz="1400" dirty="0">
                <a:solidFill>
                  <a:srgbClr val="1A1A1A"/>
                </a:solidFill>
                <a:latin typeface="Montserrat" pitchFamily="34" charset="0"/>
                <a:ea typeface="Montserrat" pitchFamily="34" charset="-122"/>
                <a:cs typeface="Montserrat" pitchFamily="34" charset="-120"/>
              </a:rPr>
              <a:t>Course pack, Unit 2, Corporate Strategy Alternatives; Sun Tzu, The Art of War, Chapter III; public reporting on Jet Airways (2019) and Tata Group's recent portfolio moves.</a:t>
            </a:r>
            <a:endParaRPr lang="en-US" sz="1400" dirty="0"/>
          </a:p>
        </p:txBody>
      </p:sp>
      <p:sp>
        <p:nvSpPr>
          <p:cNvPr id="8" name="Shape 5"/>
          <p:cNvSpPr/>
          <p:nvPr/>
        </p:nvSpPr>
        <p:spPr>
          <a:xfrm>
            <a:off x="731520" y="4297680"/>
            <a:ext cx="10698480" cy="1828800"/>
          </a:xfrm>
          <a:prstGeom prst="roundRect">
            <a:avLst>
              <a:gd name="adj" fmla="val 4000"/>
            </a:avLst>
          </a:prstGeom>
          <a:solidFill>
            <a:srgbClr val="B20E38"/>
          </a:solidFill>
          <a:ln/>
        </p:spPr>
      </p:sp>
      <p:sp>
        <p:nvSpPr>
          <p:cNvPr id="9" name="Text 6"/>
          <p:cNvSpPr/>
          <p:nvPr/>
        </p:nvSpPr>
        <p:spPr>
          <a:xfrm>
            <a:off x="1005840" y="4297680"/>
            <a:ext cx="10149840" cy="1828800"/>
          </a:xfrm>
          <a:prstGeom prst="rect">
            <a:avLst/>
          </a:prstGeom>
          <a:noFill/>
          <a:ln/>
        </p:spPr>
        <p:txBody>
          <a:bodyPr wrap="square" lIns="0" tIns="0" rIns="0" bIns="0" rtlCol="0" anchor="ctr"/>
          <a:lstStyle/>
          <a:p>
            <a:pPr marL="0" indent="0" algn="ctr">
              <a:lnSpc>
                <a:spcPct val="130000"/>
              </a:lnSpc>
              <a:buNone/>
            </a:pPr>
            <a:endParaRPr lang="en-US" sz="170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15 / 16</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731520" y="2834640"/>
            <a:ext cx="10698480" cy="822960"/>
          </a:xfrm>
          <a:prstGeom prst="rect">
            <a:avLst/>
          </a:prstGeom>
          <a:noFill/>
          <a:ln/>
        </p:spPr>
        <p:txBody>
          <a:bodyPr wrap="square" lIns="0" tIns="0" rIns="0" bIns="0" rtlCol="0" anchor="ctr"/>
          <a:lstStyle/>
          <a:p>
            <a:pPr marL="0" indent="0" algn="ctr">
              <a:buNone/>
            </a:pPr>
            <a:r>
              <a:rPr lang="en-US" sz="3000" b="1" dirty="0">
                <a:solidFill>
                  <a:srgbClr val="B20E38"/>
                </a:solidFill>
                <a:latin typeface="Montserrat SemiBold" pitchFamily="34" charset="0"/>
                <a:ea typeface="Montserrat SemiBold" pitchFamily="34" charset="-122"/>
                <a:cs typeface="Montserrat SemiBold" pitchFamily="34" charset="-120"/>
              </a:rPr>
              <a:t>Growth is a choice, not a default.</a:t>
            </a:r>
            <a:endParaRPr lang="en-US" sz="3000" dirty="0"/>
          </a:p>
        </p:txBody>
      </p:sp>
      <p:sp>
        <p:nvSpPr>
          <p:cNvPr id="4" name="Text 1"/>
          <p:cNvSpPr/>
          <p:nvPr/>
        </p:nvSpPr>
        <p:spPr>
          <a:xfrm>
            <a:off x="731520" y="3611880"/>
            <a:ext cx="10698480" cy="548640"/>
          </a:xfrm>
          <a:prstGeom prst="rect">
            <a:avLst/>
          </a:prstGeom>
          <a:noFill/>
          <a:ln/>
        </p:spPr>
        <p:txBody>
          <a:bodyPr wrap="square" lIns="0" tIns="0" rIns="0" bIns="0" rtlCol="0" anchor="ctr"/>
          <a:lstStyle/>
          <a:p>
            <a:pPr marL="0" indent="0" algn="ctr">
              <a:buNone/>
            </a:pPr>
            <a:r>
              <a:rPr lang="en-US" sz="2200" i="1" dirty="0">
                <a:solidFill>
                  <a:srgbClr val="2A2A2A"/>
                </a:solidFill>
                <a:latin typeface="Montserrat" pitchFamily="34" charset="0"/>
                <a:ea typeface="Montserrat" pitchFamily="34" charset="-122"/>
                <a:cs typeface="Montserrat" pitchFamily="34" charset="-120"/>
              </a:rPr>
              <a:t>See you next class!</a:t>
            </a:r>
            <a:endParaRPr lang="en-US" sz="2200" dirty="0"/>
          </a:p>
        </p:txBody>
      </p:sp>
      <p:sp>
        <p:nvSpPr>
          <p:cNvPr id="5" name="Text 2"/>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16 / 16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738</TotalTime>
  <Words>1272</Words>
  <Application>Microsoft Office PowerPoint</Application>
  <PresentationFormat>Custom</PresentationFormat>
  <Paragraphs>143</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Montserrat</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Shridhar samant</cp:lastModifiedBy>
  <cp:revision>2</cp:revision>
  <dcterms:created xsi:type="dcterms:W3CDTF">2026-08-31T11:38:34Z</dcterms:created>
  <dcterms:modified xsi:type="dcterms:W3CDTF">2026-09-07T05:28:27Z</dcterms:modified>
</cp:coreProperties>
</file>