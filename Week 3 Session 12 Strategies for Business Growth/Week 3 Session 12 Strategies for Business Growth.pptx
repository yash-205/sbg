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9" r:id="rId2"/>
    <p:sldId id="283" r:id="rId3"/>
    <p:sldId id="273" r:id="rId4"/>
    <p:sldId id="274" r:id="rId5"/>
    <p:sldId id="287" r:id="rId6"/>
    <p:sldId id="260" r:id="rId7"/>
    <p:sldId id="261" r:id="rId8"/>
    <p:sldId id="284" r:id="rId9"/>
    <p:sldId id="262" r:id="rId10"/>
    <p:sldId id="285" r:id="rId11"/>
    <p:sldId id="263" r:id="rId12"/>
    <p:sldId id="286" r:id="rId13"/>
    <p:sldId id="275" r:id="rId14"/>
    <p:sldId id="268" r:id="rId15"/>
    <p:sldId id="264" r:id="rId16"/>
    <p:sldId id="266" r:id="rId17"/>
    <p:sldId id="267" r:id="rId18"/>
    <p:sldId id="269" r:id="rId19"/>
    <p:sldId id="270" r:id="rId20"/>
    <p:sldId id="271" r:id="rId21"/>
    <p:sldId id="279" r:id="rId22"/>
    <p:sldId id="282" r:id="rId23"/>
    <p:sldId id="280" r:id="rId24"/>
    <p:sldId id="281" r:id="rId25"/>
    <p:sldId id="27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02"/>
    <p:restoredTop sz="94610"/>
  </p:normalViewPr>
  <p:slideViewPr>
    <p:cSldViewPr snapToGrid="0" snapToObjects="1">
      <p:cViewPr varScale="1">
        <p:scale>
          <a:sx n="103" d="100"/>
          <a:sy n="103" d="100"/>
        </p:scale>
        <p:origin x="284" y="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22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77248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E6A7-D6F9-8A39-F224-2C43F5DB9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FE24-097A-AAF0-27D1-F2E0DCBA2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22D2A-D1A8-DEBD-B4DC-EC26A7305F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D244E9-0003-F374-EB32-F728700E4CC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59624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F90F2-9AD4-11D0-73EB-9CB801272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C25FF-F145-BEAF-B356-F0003EC10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1871F-4947-324F-9770-43A048809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04EBC4-F25F-7D69-CB5D-59F0CED3091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24325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F90F2-9AD4-11D0-73EB-9CB801272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C25FF-F145-BEAF-B356-F0003EC10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1871F-4947-324F-9770-43A048809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04EBC4-F25F-7D69-CB5D-59F0CED3091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31197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10277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4126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63018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E130-917C-26A5-5FE5-EE0693EBB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7106F-0FAC-DEC6-12F3-60E6145F4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F89D5-5C04-198B-F212-592FB383C4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9A520A-5E7A-0743-4EC9-8C57FD56E5C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54877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B9FC6-08CA-05EA-05CF-7CC247DD7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DB859-FA49-5A0F-2B78-FFCA66E7B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82164-7F51-AD13-C20E-CA1FAFF4BA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27B91-7C61-2CF0-2A38-2043F9550F5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89283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4273-B079-C00C-5361-DE7853D67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E4E1D-B717-350D-0BCB-A441BA86A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95F7B-7341-B66D-21C7-B2E34AC5E4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108493-DBC6-6FBA-9A1B-01B494AB7D7E}"/>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045105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7979-472F-CFA9-C35F-A6456CD4C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E89C3-F8AE-D475-064A-DADAEFADE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B592E-F3A4-4CF7-DD4B-6D006C62F1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CD7E43-A616-C741-9961-1B9CC5DCD5E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138902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43D6-A0A6-5681-716B-26BAA617D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63F01-BDE4-84B3-E273-4D31CADC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2C4AF-939F-8CA0-E1C6-F83EB0CD18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D140A0-6B6F-4A7C-4B7B-CB42C5F656C8}"/>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596006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4">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RECAP</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Last Session</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91440" y="54864"/>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RECAP</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Last Session</a:t>
            </a:r>
            <a:endParaRPr lang="en-US" sz="2500" dirty="0"/>
          </a:p>
        </p:txBody>
      </p:sp>
      <p:sp>
        <p:nvSpPr>
          <p:cNvPr id="16" name="Shape 2">
            <a:extLst>
              <a:ext uri="{FF2B5EF4-FFF2-40B4-BE49-F238E27FC236}">
                <a16:creationId xmlns:a16="http://schemas.microsoft.com/office/drawing/2014/main" id="{8B00E552-FC0D-4EF4-100C-50ED4AA36945}"/>
              </a:ext>
            </a:extLst>
          </p:cNvPr>
          <p:cNvSpPr/>
          <p:nvPr/>
        </p:nvSpPr>
        <p:spPr>
          <a:xfrm>
            <a:off x="457200" y="1371600"/>
            <a:ext cx="8229600" cy="868680"/>
          </a:xfrm>
          <a:prstGeom prst="roundRect">
            <a:avLst>
              <a:gd name="adj" fmla="val 8421"/>
            </a:avLst>
          </a:prstGeom>
          <a:solidFill>
            <a:srgbClr val="FFFFFF">
              <a:alpha val="88000"/>
            </a:srgbClr>
          </a:solidFill>
          <a:ln/>
        </p:spPr>
        <p:txBody>
          <a:bodyPr/>
          <a:lstStyle/>
          <a:p>
            <a:endParaRPr lang="en-US"/>
          </a:p>
        </p:txBody>
      </p:sp>
      <p:sp>
        <p:nvSpPr>
          <p:cNvPr id="17" name="Shape 3">
            <a:extLst>
              <a:ext uri="{FF2B5EF4-FFF2-40B4-BE49-F238E27FC236}">
                <a16:creationId xmlns:a16="http://schemas.microsoft.com/office/drawing/2014/main" id="{D64F14D7-0F99-DEDD-EB49-6154213E1B49}"/>
              </a:ext>
            </a:extLst>
          </p:cNvPr>
          <p:cNvSpPr/>
          <p:nvPr/>
        </p:nvSpPr>
        <p:spPr>
          <a:xfrm>
            <a:off x="457200" y="1371600"/>
            <a:ext cx="73152" cy="868680"/>
          </a:xfrm>
          <a:prstGeom prst="rect">
            <a:avLst/>
          </a:prstGeom>
          <a:solidFill>
            <a:srgbClr val="B20E38"/>
          </a:solidFill>
          <a:ln/>
        </p:spPr>
        <p:txBody>
          <a:bodyPr/>
          <a:lstStyle/>
          <a:p>
            <a:endParaRPr lang="en-US"/>
          </a:p>
        </p:txBody>
      </p:sp>
      <p:sp>
        <p:nvSpPr>
          <p:cNvPr id="18" name="Text 4">
            <a:extLst>
              <a:ext uri="{FF2B5EF4-FFF2-40B4-BE49-F238E27FC236}">
                <a16:creationId xmlns:a16="http://schemas.microsoft.com/office/drawing/2014/main" id="{A0E67334-9D7D-8E90-4973-13A45A2651D6}"/>
              </a:ext>
            </a:extLst>
          </p:cNvPr>
          <p:cNvSpPr/>
          <p:nvPr/>
        </p:nvSpPr>
        <p:spPr>
          <a:xfrm>
            <a:off x="777240" y="1371600"/>
            <a:ext cx="7772400" cy="868680"/>
          </a:xfrm>
          <a:prstGeom prst="rect">
            <a:avLst/>
          </a:prstGeom>
          <a:noFill/>
          <a:ln/>
        </p:spPr>
        <p:txBody>
          <a:bodyPr wrap="square" lIns="0" tIns="0" rIns="0" bIns="0" rtlCol="0" anchor="ctr"/>
          <a:lstStyle/>
          <a:p>
            <a:pPr marL="0" indent="0">
              <a:lnSpc>
                <a:spcPct val="115000"/>
              </a:lnSpc>
              <a:buNone/>
            </a:pPr>
            <a:r>
              <a:rPr lang="en-US" sz="1300" dirty="0">
                <a:solidFill>
                  <a:srgbClr val="1A1A1A"/>
                </a:solidFill>
                <a:latin typeface="Montserrat" pitchFamily="34" charset="0"/>
                <a:ea typeface="Montserrat" pitchFamily="34" charset="-122"/>
                <a:cs typeface="Montserrat" pitchFamily="34" charset="-120"/>
              </a:rPr>
              <a:t>Porter’s Five Forces, SWOT, PESTEL</a:t>
            </a:r>
            <a:endParaRPr lang="en-US" sz="1300" dirty="0"/>
          </a:p>
        </p:txBody>
      </p:sp>
    </p:spTree>
    <p:extLst>
      <p:ext uri="{BB962C8B-B14F-4D97-AF65-F5344CB8AC3E}">
        <p14:creationId xmlns:p14="http://schemas.microsoft.com/office/powerpoint/2010/main" val="2891166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53948AC1-8AB5-D8A2-FFF4-ABF38E5081C2}"/>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E3C84D9D-4DDF-AB4E-C692-E1D01529A28F}"/>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B9491486-160C-B2C7-A7AF-75C7D7C02A71}"/>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RECAP</a:t>
            </a:r>
            <a:endParaRPr lang="en-US" sz="1050" dirty="0"/>
          </a:p>
        </p:txBody>
      </p:sp>
      <p:sp>
        <p:nvSpPr>
          <p:cNvPr id="4" name="Text 1">
            <a:extLst>
              <a:ext uri="{FF2B5EF4-FFF2-40B4-BE49-F238E27FC236}">
                <a16:creationId xmlns:a16="http://schemas.microsoft.com/office/drawing/2014/main" id="{9ABB84D5-D5FF-6234-1389-5F665BC7B2FF}"/>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Last Session</a:t>
            </a:r>
            <a:endParaRPr lang="en-US" sz="2500" dirty="0"/>
          </a:p>
        </p:txBody>
      </p:sp>
      <p:sp>
        <p:nvSpPr>
          <p:cNvPr id="5" name="TextBox 4">
            <a:extLst>
              <a:ext uri="{FF2B5EF4-FFF2-40B4-BE49-F238E27FC236}">
                <a16:creationId xmlns:a16="http://schemas.microsoft.com/office/drawing/2014/main" id="{75A30F2F-2E6A-1D21-70C0-2E475A5ADF15}"/>
              </a:ext>
            </a:extLst>
          </p:cNvPr>
          <p:cNvSpPr txBox="1"/>
          <p:nvPr/>
        </p:nvSpPr>
        <p:spPr>
          <a:xfrm>
            <a:off x="265176" y="2212848"/>
            <a:ext cx="2504212" cy="369332"/>
          </a:xfrm>
          <a:prstGeom prst="rect">
            <a:avLst/>
          </a:prstGeom>
          <a:noFill/>
        </p:spPr>
        <p:txBody>
          <a:bodyPr wrap="none" rtlCol="0">
            <a:spAutoFit/>
          </a:bodyPr>
          <a:lstStyle/>
          <a:p>
            <a:r>
              <a:rPr lang="en-US" dirty="0"/>
              <a:t>Environmental Scanning</a:t>
            </a:r>
          </a:p>
        </p:txBody>
      </p:sp>
      <p:sp>
        <p:nvSpPr>
          <p:cNvPr id="6" name="TextBox 5">
            <a:extLst>
              <a:ext uri="{FF2B5EF4-FFF2-40B4-BE49-F238E27FC236}">
                <a16:creationId xmlns:a16="http://schemas.microsoft.com/office/drawing/2014/main" id="{DBDF0294-4FA2-38D5-5DD7-6B17F6AF3F8C}"/>
              </a:ext>
            </a:extLst>
          </p:cNvPr>
          <p:cNvSpPr txBox="1"/>
          <p:nvPr/>
        </p:nvSpPr>
        <p:spPr>
          <a:xfrm>
            <a:off x="3328416" y="2783301"/>
            <a:ext cx="1727139" cy="369332"/>
          </a:xfrm>
          <a:prstGeom prst="rect">
            <a:avLst/>
          </a:prstGeom>
          <a:noFill/>
        </p:spPr>
        <p:txBody>
          <a:bodyPr wrap="none" rtlCol="0">
            <a:spAutoFit/>
          </a:bodyPr>
          <a:lstStyle/>
          <a:p>
            <a:r>
              <a:rPr lang="en-US" dirty="0"/>
              <a:t>Inward Scanning</a:t>
            </a:r>
          </a:p>
        </p:txBody>
      </p:sp>
      <p:sp>
        <p:nvSpPr>
          <p:cNvPr id="7" name="TextBox 6">
            <a:extLst>
              <a:ext uri="{FF2B5EF4-FFF2-40B4-BE49-F238E27FC236}">
                <a16:creationId xmlns:a16="http://schemas.microsoft.com/office/drawing/2014/main" id="{1D237D78-B736-5E80-630D-A9A1305BBAC4}"/>
              </a:ext>
            </a:extLst>
          </p:cNvPr>
          <p:cNvSpPr txBox="1"/>
          <p:nvPr/>
        </p:nvSpPr>
        <p:spPr>
          <a:xfrm>
            <a:off x="3328416" y="1621536"/>
            <a:ext cx="1900264" cy="369332"/>
          </a:xfrm>
          <a:prstGeom prst="rect">
            <a:avLst/>
          </a:prstGeom>
          <a:noFill/>
        </p:spPr>
        <p:txBody>
          <a:bodyPr wrap="none" rtlCol="0">
            <a:spAutoFit/>
          </a:bodyPr>
          <a:lstStyle/>
          <a:p>
            <a:r>
              <a:rPr lang="en-US" dirty="0"/>
              <a:t>Outward Scanning</a:t>
            </a:r>
          </a:p>
        </p:txBody>
      </p:sp>
      <p:sp>
        <p:nvSpPr>
          <p:cNvPr id="8" name="TextBox 7">
            <a:extLst>
              <a:ext uri="{FF2B5EF4-FFF2-40B4-BE49-F238E27FC236}">
                <a16:creationId xmlns:a16="http://schemas.microsoft.com/office/drawing/2014/main" id="{BCCF56CF-2ECC-4436-2980-A12B9CB40557}"/>
              </a:ext>
            </a:extLst>
          </p:cNvPr>
          <p:cNvSpPr txBox="1"/>
          <p:nvPr/>
        </p:nvSpPr>
        <p:spPr>
          <a:xfrm>
            <a:off x="5355336" y="2212848"/>
            <a:ext cx="1442767" cy="369332"/>
          </a:xfrm>
          <a:prstGeom prst="rect">
            <a:avLst/>
          </a:prstGeom>
          <a:noFill/>
        </p:spPr>
        <p:txBody>
          <a:bodyPr wrap="none" rtlCol="0">
            <a:spAutoFit/>
          </a:bodyPr>
          <a:lstStyle/>
          <a:p>
            <a:r>
              <a:rPr lang="en-US" dirty="0"/>
              <a:t>How to scan?</a:t>
            </a:r>
          </a:p>
        </p:txBody>
      </p:sp>
      <p:sp>
        <p:nvSpPr>
          <p:cNvPr id="9" name="TextBox 8">
            <a:extLst>
              <a:ext uri="{FF2B5EF4-FFF2-40B4-BE49-F238E27FC236}">
                <a16:creationId xmlns:a16="http://schemas.microsoft.com/office/drawing/2014/main" id="{B167F60E-1017-206F-DBC5-63CD03389865}"/>
              </a:ext>
            </a:extLst>
          </p:cNvPr>
          <p:cNvSpPr txBox="1"/>
          <p:nvPr/>
        </p:nvSpPr>
        <p:spPr>
          <a:xfrm>
            <a:off x="7464552" y="2200371"/>
            <a:ext cx="1540935" cy="369332"/>
          </a:xfrm>
          <a:prstGeom prst="rect">
            <a:avLst/>
          </a:prstGeom>
          <a:noFill/>
        </p:spPr>
        <p:txBody>
          <a:bodyPr wrap="none" rtlCol="0">
            <a:spAutoFit/>
          </a:bodyPr>
          <a:lstStyle/>
          <a:p>
            <a:r>
              <a:rPr lang="en-US" dirty="0"/>
              <a:t>What to Scan?</a:t>
            </a:r>
          </a:p>
        </p:txBody>
      </p:sp>
      <p:cxnSp>
        <p:nvCxnSpPr>
          <p:cNvPr id="11" name="Straight Arrow Connector 10">
            <a:extLst>
              <a:ext uri="{FF2B5EF4-FFF2-40B4-BE49-F238E27FC236}">
                <a16:creationId xmlns:a16="http://schemas.microsoft.com/office/drawing/2014/main" id="{0F2A47C1-A1D0-238B-5BCA-75E0B91FCF78}"/>
              </a:ext>
            </a:extLst>
          </p:cNvPr>
          <p:cNvCxnSpPr/>
          <p:nvPr/>
        </p:nvCxnSpPr>
        <p:spPr>
          <a:xfrm flipV="1">
            <a:off x="2769388" y="1990868"/>
            <a:ext cx="769340" cy="4066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A5A3CEF0-A873-940E-DA50-EA17D7252A7D}"/>
              </a:ext>
            </a:extLst>
          </p:cNvPr>
          <p:cNvCxnSpPr/>
          <p:nvPr/>
        </p:nvCxnSpPr>
        <p:spPr>
          <a:xfrm>
            <a:off x="2769388" y="2397514"/>
            <a:ext cx="751052" cy="455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CB6FAEB-9882-EA5B-EF47-2197AC1D48EC}"/>
              </a:ext>
            </a:extLst>
          </p:cNvPr>
          <p:cNvCxnSpPr>
            <a:endCxn id="8" idx="1"/>
          </p:cNvCxnSpPr>
          <p:nvPr/>
        </p:nvCxnSpPr>
        <p:spPr>
          <a:xfrm>
            <a:off x="2926080" y="2397514"/>
            <a:ext cx="2429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6527233E-EF22-EBC7-FDFC-708090C01DB3}"/>
              </a:ext>
            </a:extLst>
          </p:cNvPr>
          <p:cNvCxnSpPr/>
          <p:nvPr/>
        </p:nvCxnSpPr>
        <p:spPr>
          <a:xfrm>
            <a:off x="6798103" y="2385037"/>
            <a:ext cx="66644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Graphic 21" descr="Checkmark with solid fill">
            <a:extLst>
              <a:ext uri="{FF2B5EF4-FFF2-40B4-BE49-F238E27FC236}">
                <a16:creationId xmlns:a16="http://schemas.microsoft.com/office/drawing/2014/main" id="{B115622B-29D4-E8FF-1FBD-8E894B20B933}"/>
              </a:ext>
            </a:extLst>
          </p:cNvPr>
          <p:cNvSpPr/>
          <p:nvPr/>
        </p:nvSpPr>
        <p:spPr>
          <a:xfrm>
            <a:off x="3856976" y="2231520"/>
            <a:ext cx="590056" cy="359411"/>
          </a:xfrm>
          <a:custGeom>
            <a:avLst/>
            <a:gdLst>
              <a:gd name="csX0" fmla="*/ 802958 w 880109"/>
              <a:gd name="csY0" fmla="*/ 0 h 618172"/>
              <a:gd name="csX1" fmla="*/ 315278 w 880109"/>
              <a:gd name="csY1" fmla="*/ 461010 h 618172"/>
              <a:gd name="csX2" fmla="*/ 80963 w 880109"/>
              <a:gd name="csY2" fmla="*/ 220980 h 618172"/>
              <a:gd name="csX3" fmla="*/ 0 w 880109"/>
              <a:gd name="csY3" fmla="*/ 298132 h 618172"/>
              <a:gd name="csX4" fmla="*/ 311468 w 880109"/>
              <a:gd name="csY4" fmla="*/ 618173 h 618172"/>
              <a:gd name="csX5" fmla="*/ 393383 w 880109"/>
              <a:gd name="csY5" fmla="*/ 541973 h 618172"/>
              <a:gd name="csX6" fmla="*/ 880110 w 880109"/>
              <a:gd name="csY6" fmla="*/ 80010 h 6181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80109" h="618172">
                <a:moveTo>
                  <a:pt x="802958" y="0"/>
                </a:moveTo>
                <a:lnTo>
                  <a:pt x="315278" y="461010"/>
                </a:lnTo>
                <a:lnTo>
                  <a:pt x="80963" y="220980"/>
                </a:lnTo>
                <a:lnTo>
                  <a:pt x="0" y="298132"/>
                </a:lnTo>
                <a:lnTo>
                  <a:pt x="311468" y="618173"/>
                </a:lnTo>
                <a:lnTo>
                  <a:pt x="393383" y="541973"/>
                </a:lnTo>
                <a:lnTo>
                  <a:pt x="880110" y="80010"/>
                </a:lnTo>
                <a:close/>
              </a:path>
            </a:pathLst>
          </a:custGeom>
          <a:solidFill>
            <a:srgbClr val="000000"/>
          </a:solidFill>
          <a:ln w="9525" cap="flat">
            <a:noFill/>
            <a:prstDash val="solid"/>
            <a:miter/>
          </a:ln>
        </p:spPr>
        <p:txBody>
          <a:bodyPr/>
          <a:lstStyle/>
          <a:p>
            <a:endParaRPr lang="en-US"/>
          </a:p>
        </p:txBody>
      </p:sp>
      <p:sp>
        <p:nvSpPr>
          <p:cNvPr id="26" name="Graphic 23" descr="Close with solid fill">
            <a:extLst>
              <a:ext uri="{FF2B5EF4-FFF2-40B4-BE49-F238E27FC236}">
                <a16:creationId xmlns:a16="http://schemas.microsoft.com/office/drawing/2014/main" id="{AB323BD8-C11D-9709-E5DD-3EC0B5EF2D69}"/>
              </a:ext>
            </a:extLst>
          </p:cNvPr>
          <p:cNvSpPr/>
          <p:nvPr/>
        </p:nvSpPr>
        <p:spPr>
          <a:xfrm>
            <a:off x="6935384" y="2163219"/>
            <a:ext cx="362290" cy="443635"/>
          </a:xfrm>
          <a:custGeom>
            <a:avLst/>
            <a:gdLst>
              <a:gd name="csX0" fmla="*/ 674370 w 674370"/>
              <a:gd name="csY0" fmla="*/ 80963 h 674370"/>
              <a:gd name="csX1" fmla="*/ 593408 w 674370"/>
              <a:gd name="csY1" fmla="*/ 0 h 674370"/>
              <a:gd name="csX2" fmla="*/ 337185 w 674370"/>
              <a:gd name="csY2" fmla="*/ 256223 h 674370"/>
              <a:gd name="csX3" fmla="*/ 80963 w 674370"/>
              <a:gd name="csY3" fmla="*/ 0 h 674370"/>
              <a:gd name="csX4" fmla="*/ 0 w 674370"/>
              <a:gd name="csY4" fmla="*/ 80963 h 674370"/>
              <a:gd name="csX5" fmla="*/ 256223 w 674370"/>
              <a:gd name="csY5" fmla="*/ 337185 h 674370"/>
              <a:gd name="csX6" fmla="*/ 0 w 674370"/>
              <a:gd name="csY6" fmla="*/ 593408 h 674370"/>
              <a:gd name="csX7" fmla="*/ 80963 w 674370"/>
              <a:gd name="csY7" fmla="*/ 674370 h 674370"/>
              <a:gd name="csX8" fmla="*/ 337185 w 674370"/>
              <a:gd name="csY8" fmla="*/ 418148 h 674370"/>
              <a:gd name="csX9" fmla="*/ 593408 w 674370"/>
              <a:gd name="csY9" fmla="*/ 674370 h 674370"/>
              <a:gd name="csX10" fmla="*/ 674370 w 674370"/>
              <a:gd name="csY10" fmla="*/ 593408 h 674370"/>
              <a:gd name="csX11" fmla="*/ 418148 w 674370"/>
              <a:gd name="csY11" fmla="*/ 337185 h 674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74370" h="674370">
                <a:moveTo>
                  <a:pt x="674370" y="80963"/>
                </a:moveTo>
                <a:lnTo>
                  <a:pt x="593408" y="0"/>
                </a:lnTo>
                <a:lnTo>
                  <a:pt x="337185" y="256223"/>
                </a:lnTo>
                <a:lnTo>
                  <a:pt x="80963" y="0"/>
                </a:lnTo>
                <a:lnTo>
                  <a:pt x="0" y="80963"/>
                </a:lnTo>
                <a:lnTo>
                  <a:pt x="256223" y="337185"/>
                </a:lnTo>
                <a:lnTo>
                  <a:pt x="0" y="593408"/>
                </a:lnTo>
                <a:lnTo>
                  <a:pt x="80963" y="674370"/>
                </a:lnTo>
                <a:lnTo>
                  <a:pt x="337185" y="418148"/>
                </a:lnTo>
                <a:lnTo>
                  <a:pt x="593408" y="674370"/>
                </a:lnTo>
                <a:lnTo>
                  <a:pt x="674370" y="593408"/>
                </a:lnTo>
                <a:lnTo>
                  <a:pt x="418148" y="337185"/>
                </a:lnTo>
                <a:close/>
              </a:path>
            </a:pathLst>
          </a:custGeom>
          <a:solidFill>
            <a:srgbClr val="000000"/>
          </a:solidFill>
          <a:ln w="9525" cap="flat">
            <a:noFill/>
            <a:prstDash val="solid"/>
            <a:miter/>
          </a:ln>
        </p:spPr>
        <p:txBody>
          <a:bodyPr/>
          <a:lstStyle/>
          <a:p>
            <a:endParaRPr lang="en-US"/>
          </a:p>
        </p:txBody>
      </p:sp>
    </p:spTree>
    <p:extLst>
      <p:ext uri="{BB962C8B-B14F-4D97-AF65-F5344CB8AC3E}">
        <p14:creationId xmlns:p14="http://schemas.microsoft.com/office/powerpoint/2010/main" val="85498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9B3B9D33-96E7-350E-7BB9-3D7971C73543}"/>
            </a:ext>
          </a:extLst>
        </p:cNvPr>
        <p:cNvGrpSpPr/>
        <p:nvPr/>
      </p:nvGrpSpPr>
      <p:grpSpPr>
        <a:xfrm>
          <a:off x="0" y="0"/>
          <a:ext cx="0" cy="0"/>
          <a:chOff x="0" y="0"/>
          <a:chExt cx="0" cy="0"/>
        </a:xfrm>
      </p:grpSpPr>
      <p:pic>
        <p:nvPicPr>
          <p:cNvPr id="1028" name="Picture 4" descr="A drive through Colorado that is as peaceful as it is powerful, with the BUGATTI VEYRON. #BUGATTI #VEYRON @winningauto">
            <a:extLst>
              <a:ext uri="{FF2B5EF4-FFF2-40B4-BE49-F238E27FC236}">
                <a16:creationId xmlns:a16="http://schemas.microsoft.com/office/drawing/2014/main" id="{B4EE51CC-A314-4E8C-874E-EB5B15BB1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146" y="654468"/>
            <a:ext cx="3136696" cy="39169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CBFC2D7-CBF2-424C-B32C-20F9584AEA31}"/>
              </a:ext>
            </a:extLst>
          </p:cNvPr>
          <p:cNvPicPr>
            <a:picLocks noChangeAspect="1"/>
          </p:cNvPicPr>
          <p:nvPr/>
        </p:nvPicPr>
        <p:blipFill>
          <a:blip r:embed="rId4"/>
          <a:stretch>
            <a:fillRect/>
          </a:stretch>
        </p:blipFill>
        <p:spPr>
          <a:xfrm>
            <a:off x="3457575" y="1106940"/>
            <a:ext cx="5315165" cy="3190875"/>
          </a:xfrm>
          <a:prstGeom prst="rect">
            <a:avLst/>
          </a:prstGeom>
        </p:spPr>
      </p:pic>
    </p:spTree>
    <p:extLst>
      <p:ext uri="{BB962C8B-B14F-4D97-AF65-F5344CB8AC3E}">
        <p14:creationId xmlns:p14="http://schemas.microsoft.com/office/powerpoint/2010/main" val="254404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9B3B9D33-96E7-350E-7BB9-3D7971C73543}"/>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0BD80351-EBD9-9F71-E9C5-0C385C8FF4D2}"/>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FD53B26F-AD18-26CB-F5E1-0FCB35858487}"/>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Today</a:t>
            </a:r>
            <a:endParaRPr lang="en-US" sz="1050" dirty="0"/>
          </a:p>
        </p:txBody>
      </p:sp>
      <p:sp>
        <p:nvSpPr>
          <p:cNvPr id="4" name="Text 1">
            <a:extLst>
              <a:ext uri="{FF2B5EF4-FFF2-40B4-BE49-F238E27FC236}">
                <a16:creationId xmlns:a16="http://schemas.microsoft.com/office/drawing/2014/main" id="{925E9F0D-DE86-022E-3077-9D2F2861F395}"/>
              </a:ext>
            </a:extLst>
          </p:cNvPr>
          <p:cNvSpPr/>
          <p:nvPr/>
        </p:nvSpPr>
        <p:spPr>
          <a:xfrm>
            <a:off x="2137410" y="2114550"/>
            <a:ext cx="48691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Value Chain &amp; Cost Analysis</a:t>
            </a:r>
            <a:endParaRPr lang="en-US" sz="2500" dirty="0"/>
          </a:p>
        </p:txBody>
      </p:sp>
    </p:spTree>
    <p:extLst>
      <p:ext uri="{BB962C8B-B14F-4D97-AF65-F5344CB8AC3E}">
        <p14:creationId xmlns:p14="http://schemas.microsoft.com/office/powerpoint/2010/main" val="180456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A STORY TO START</a:t>
            </a:r>
            <a:endParaRPr lang="en-US" sz="1050" dirty="0"/>
          </a:p>
        </p:txBody>
      </p:sp>
      <p:sp>
        <p:nvSpPr>
          <p:cNvPr id="4" name="Text 1"/>
          <p:cNvSpPr/>
          <p:nvPr/>
        </p:nvSpPr>
        <p:spPr>
          <a:xfrm>
            <a:off x="365760" y="320040"/>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A ₹50,000 Loan to World's Largest Bicycle Maker</a:t>
            </a:r>
            <a:endParaRPr lang="en-US" sz="2500" dirty="0"/>
          </a:p>
        </p:txBody>
      </p:sp>
      <p:sp>
        <p:nvSpPr>
          <p:cNvPr id="5" name="Shape 2"/>
          <p:cNvSpPr/>
          <p:nvPr/>
        </p:nvSpPr>
        <p:spPr>
          <a:xfrm>
            <a:off x="457200" y="1143000"/>
            <a:ext cx="8229600" cy="3246120"/>
          </a:xfrm>
          <a:prstGeom prst="roundRect">
            <a:avLst>
              <a:gd name="adj" fmla="val 2817"/>
            </a:avLst>
          </a:prstGeom>
          <a:solidFill>
            <a:srgbClr val="FFFFFF">
              <a:alpha val="90000"/>
            </a:srgbClr>
          </a:solidFill>
          <a:ln/>
          <a:effectLst>
            <a:outerShdw blurRad="76200" dist="25400" dir="5400000" algn="bl" rotWithShape="0">
              <a:srgbClr val="000000">
                <a:alpha val="10000"/>
              </a:srgbClr>
            </a:outerShdw>
          </a:effectLst>
        </p:spPr>
        <p:txBody>
          <a:bodyPr/>
          <a:lstStyle/>
          <a:p>
            <a:endParaRPr lang="en-US"/>
          </a:p>
        </p:txBody>
      </p:sp>
      <p:sp>
        <p:nvSpPr>
          <p:cNvPr id="6" name="Text 3"/>
          <p:cNvSpPr/>
          <p:nvPr/>
        </p:nvSpPr>
        <p:spPr>
          <a:xfrm>
            <a:off x="731520" y="1325880"/>
            <a:ext cx="7680960" cy="320040"/>
          </a:xfrm>
          <a:prstGeom prst="rect">
            <a:avLst/>
          </a:prstGeom>
          <a:noFill/>
          <a:ln/>
        </p:spPr>
        <p:txBody>
          <a:bodyPr wrap="square" lIns="0" tIns="0" rIns="0" bIns="0" rtlCol="0" anchor="ctr"/>
          <a:lstStyle/>
          <a:p>
            <a:pPr marL="0" indent="0">
              <a:buNone/>
            </a:pPr>
            <a:r>
              <a:rPr lang="en-US" sz="1350" b="1" dirty="0">
                <a:solidFill>
                  <a:srgbClr val="B20E38"/>
                </a:solidFill>
                <a:latin typeface="Montserrat SemiBold" pitchFamily="34" charset="0"/>
                <a:ea typeface="Montserrat SemiBold" pitchFamily="34" charset="-122"/>
                <a:cs typeface="Montserrat SemiBold" pitchFamily="34" charset="-120"/>
              </a:rPr>
              <a:t>1956, Ludhiana</a:t>
            </a:r>
            <a:endParaRPr lang="en-US" sz="1350" dirty="0"/>
          </a:p>
        </p:txBody>
      </p:sp>
      <p:sp>
        <p:nvSpPr>
          <p:cNvPr id="7" name="Text 4"/>
          <p:cNvSpPr/>
          <p:nvPr/>
        </p:nvSpPr>
        <p:spPr>
          <a:xfrm>
            <a:off x="731520" y="1645920"/>
            <a:ext cx="7680960" cy="731520"/>
          </a:xfrm>
          <a:prstGeom prst="rect">
            <a:avLst/>
          </a:prstGeom>
          <a:noFill/>
          <a:ln/>
        </p:spPr>
        <p:txBody>
          <a:bodyPr wrap="square" lIns="0" tIns="0" rIns="0" bIns="0" rtlCol="0" anchor="ctr"/>
          <a:lstStyle/>
          <a:p>
            <a:pPr marL="0" indent="0">
              <a:lnSpc>
                <a:spcPct val="120000"/>
              </a:lnSpc>
              <a:buNone/>
            </a:pPr>
            <a:r>
              <a:rPr lang="en-US" sz="1250" dirty="0">
                <a:solidFill>
                  <a:srgbClr val="1A1A1A"/>
                </a:solidFill>
                <a:latin typeface="Montserrat" pitchFamily="34" charset="0"/>
                <a:ea typeface="Montserrat" pitchFamily="34" charset="-122"/>
                <a:cs typeface="Montserrat" pitchFamily="34" charset="-120"/>
              </a:rPr>
              <a:t>Four Munjal brothers, having traded bicycle parts since the 1940s, take a bank loan of about ₹50,000 to start Cycles company.</a:t>
            </a:r>
            <a:endParaRPr lang="en-US" sz="1250" dirty="0"/>
          </a:p>
        </p:txBody>
      </p:sp>
      <p:sp>
        <p:nvSpPr>
          <p:cNvPr id="8" name="Text 5"/>
          <p:cNvSpPr/>
          <p:nvPr/>
        </p:nvSpPr>
        <p:spPr>
          <a:xfrm>
            <a:off x="731520" y="2377440"/>
            <a:ext cx="7680960" cy="320040"/>
          </a:xfrm>
          <a:prstGeom prst="rect">
            <a:avLst/>
          </a:prstGeom>
          <a:noFill/>
          <a:ln/>
        </p:spPr>
        <p:txBody>
          <a:bodyPr wrap="square" lIns="0" tIns="0" rIns="0" bIns="0" rtlCol="0" anchor="ctr"/>
          <a:lstStyle/>
          <a:p>
            <a:pPr marL="0" indent="0">
              <a:buNone/>
            </a:pPr>
            <a:r>
              <a:rPr lang="en-US" sz="1350" b="1" dirty="0">
                <a:solidFill>
                  <a:srgbClr val="B20E38"/>
                </a:solidFill>
                <a:latin typeface="Montserrat SemiBold" pitchFamily="34" charset="0"/>
                <a:ea typeface="Montserrat SemiBold" pitchFamily="34" charset="-122"/>
                <a:cs typeface="Montserrat SemiBold" pitchFamily="34" charset="-120"/>
              </a:rPr>
              <a:t>The advantage nobody could see from outside</a:t>
            </a:r>
            <a:endParaRPr lang="en-US" sz="1350" dirty="0"/>
          </a:p>
        </p:txBody>
      </p:sp>
      <p:sp>
        <p:nvSpPr>
          <p:cNvPr id="9" name="Text 6"/>
          <p:cNvSpPr/>
          <p:nvPr/>
        </p:nvSpPr>
        <p:spPr>
          <a:xfrm>
            <a:off x="731520" y="2697480"/>
            <a:ext cx="7680960" cy="731520"/>
          </a:xfrm>
          <a:prstGeom prst="rect">
            <a:avLst/>
          </a:prstGeom>
          <a:noFill/>
          <a:ln/>
        </p:spPr>
        <p:txBody>
          <a:bodyPr wrap="square" lIns="0" tIns="0" rIns="0" bIns="0" rtlCol="0" anchor="ctr"/>
          <a:lstStyle/>
          <a:p>
            <a:pPr marL="0" indent="0">
              <a:lnSpc>
                <a:spcPct val="120000"/>
              </a:lnSpc>
              <a:buNone/>
            </a:pPr>
            <a:r>
              <a:rPr lang="en-US" sz="1250" dirty="0">
                <a:solidFill>
                  <a:srgbClr val="1A1A1A"/>
                </a:solidFill>
                <a:latin typeface="Montserrat" pitchFamily="34" charset="0"/>
                <a:ea typeface="Montserrat" pitchFamily="34" charset="-122"/>
                <a:cs typeface="Montserrat" pitchFamily="34" charset="-120"/>
              </a:rPr>
              <a:t>Rather than buying components from outside suppliers, they built deep in-house manufacturing capability for parts most rivals bought externally — tightening quality and cutting costs at every step.</a:t>
            </a:r>
            <a:endParaRPr lang="en-US" sz="1250" dirty="0"/>
          </a:p>
        </p:txBody>
      </p:sp>
      <p:sp>
        <p:nvSpPr>
          <p:cNvPr id="10" name="Text 7"/>
          <p:cNvSpPr/>
          <p:nvPr/>
        </p:nvSpPr>
        <p:spPr>
          <a:xfrm>
            <a:off x="731520" y="3429000"/>
            <a:ext cx="7680960" cy="320040"/>
          </a:xfrm>
          <a:prstGeom prst="rect">
            <a:avLst/>
          </a:prstGeom>
          <a:noFill/>
          <a:ln/>
        </p:spPr>
        <p:txBody>
          <a:bodyPr wrap="square" lIns="0" tIns="0" rIns="0" bIns="0" rtlCol="0" anchor="ctr"/>
          <a:lstStyle/>
          <a:p>
            <a:pPr marL="0" indent="0">
              <a:buNone/>
            </a:pPr>
            <a:r>
              <a:rPr lang="en-US" sz="1350" b="1" dirty="0">
                <a:solidFill>
                  <a:srgbClr val="B20E38"/>
                </a:solidFill>
                <a:latin typeface="Montserrat SemiBold" pitchFamily="34" charset="0"/>
                <a:ea typeface="Montserrat SemiBold" pitchFamily="34" charset="-122"/>
                <a:cs typeface="Montserrat SemiBold" pitchFamily="34" charset="-120"/>
              </a:rPr>
              <a:t>By 1986</a:t>
            </a:r>
            <a:endParaRPr lang="en-US" sz="1350" dirty="0"/>
          </a:p>
        </p:txBody>
      </p:sp>
      <p:sp>
        <p:nvSpPr>
          <p:cNvPr id="11" name="Text 8"/>
          <p:cNvSpPr/>
          <p:nvPr/>
        </p:nvSpPr>
        <p:spPr>
          <a:xfrm>
            <a:off x="731520" y="3694176"/>
            <a:ext cx="7680960" cy="731520"/>
          </a:xfrm>
          <a:prstGeom prst="rect">
            <a:avLst/>
          </a:prstGeom>
          <a:noFill/>
          <a:ln/>
        </p:spPr>
        <p:txBody>
          <a:bodyPr wrap="square" lIns="0" tIns="0" rIns="0" bIns="0" rtlCol="0" anchor="ctr"/>
          <a:lstStyle/>
          <a:p>
            <a:pPr marL="0" indent="0">
              <a:lnSpc>
                <a:spcPct val="120000"/>
              </a:lnSpc>
              <a:buNone/>
            </a:pPr>
            <a:r>
              <a:rPr lang="en-US" sz="1250" dirty="0">
                <a:solidFill>
                  <a:srgbClr val="1A1A1A"/>
                </a:solidFill>
                <a:latin typeface="Montserrat" pitchFamily="34" charset="0"/>
                <a:ea typeface="Montserrat" pitchFamily="34" charset="-122"/>
                <a:cs typeface="Montserrat" pitchFamily="34" charset="-120"/>
              </a:rPr>
              <a:t> The company entered the Guinness Book of World Records as the world's largest bicycle manufacturer — built not on one clever idea, but on controlling its entire value chain.</a:t>
            </a:r>
            <a:endParaRPr lang="en-US" sz="1250" dirty="0"/>
          </a:p>
        </p:txBody>
      </p:sp>
      <p:sp>
        <p:nvSpPr>
          <p:cNvPr id="12" name="Text 9"/>
          <p:cNvSpPr/>
          <p:nvPr/>
        </p:nvSpPr>
        <p:spPr>
          <a:xfrm>
            <a:off x="365760" y="4864608"/>
            <a:ext cx="7589520" cy="228600"/>
          </a:xfrm>
          <a:prstGeom prst="rect">
            <a:avLst/>
          </a:prstGeom>
          <a:noFill/>
          <a:ln/>
        </p:spPr>
        <p:txBody>
          <a:bodyPr wrap="square" lIns="0" tIns="0" rIns="0" bIns="0" rtlCol="0" anchor="ctr"/>
          <a:lstStyle/>
          <a:p>
            <a:pPr marL="0" indent="0" algn="l">
              <a:buNone/>
            </a:pPr>
            <a:r>
              <a:rPr lang="en-US" sz="800" i="1" dirty="0">
                <a:solidFill>
                  <a:srgbClr val="8A6A55"/>
                </a:solidFill>
                <a:latin typeface="Montserrat" pitchFamily="34" charset="0"/>
                <a:ea typeface="Montserrat" pitchFamily="34" charset="-122"/>
                <a:cs typeface="Montserrat" pitchFamily="34" charset="-120"/>
              </a:rPr>
              <a:t>History based on widely documented accounts of Hero Cycles (founded 1956, Ludhiana) and its 1986 Guinness World Record.</a:t>
            </a:r>
            <a:endParaRPr lang="en-US" sz="800" dirty="0"/>
          </a:p>
        </p:txBody>
      </p:sp>
      <p:sp>
        <p:nvSpPr>
          <p:cNvPr id="13" name="Text 10"/>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5 / 17</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71502" y="54864"/>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1</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What Is a Value Chain?</a:t>
            </a:r>
            <a:endParaRPr lang="en-US" sz="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1</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What Is a Value Chain?</a:t>
            </a:r>
            <a:endParaRPr lang="en-US" sz="2500" dirty="0"/>
          </a:p>
        </p:txBody>
      </p:sp>
      <p:sp>
        <p:nvSpPr>
          <p:cNvPr id="5" name="Text 2"/>
          <p:cNvSpPr/>
          <p:nvPr/>
        </p:nvSpPr>
        <p:spPr>
          <a:xfrm>
            <a:off x="457200" y="1143000"/>
            <a:ext cx="8229600" cy="1005840"/>
          </a:xfrm>
          <a:prstGeom prst="rect">
            <a:avLst/>
          </a:prstGeom>
          <a:noFill/>
          <a:ln/>
        </p:spPr>
        <p:txBody>
          <a:bodyPr wrap="square" lIns="0" tIns="0" rIns="0" bIns="0" rtlCol="0" anchor="ctr"/>
          <a:lstStyle/>
          <a:p>
            <a:pPr marL="0" indent="0">
              <a:lnSpc>
                <a:spcPct val="130000"/>
              </a:lnSpc>
              <a:buNone/>
            </a:pPr>
            <a:r>
              <a:rPr lang="en-US" sz="1650" dirty="0">
                <a:solidFill>
                  <a:srgbClr val="1A1A1A"/>
                </a:solidFill>
                <a:latin typeface="Montserrat" pitchFamily="34" charset="0"/>
                <a:ea typeface="Montserrat" pitchFamily="34" charset="-122"/>
                <a:cs typeface="Montserrat" pitchFamily="34" charset="-120"/>
              </a:rPr>
              <a:t>Every step a business takes to turn raw inputs into something a customer will pay for and </a:t>
            </a:r>
            <a:r>
              <a:rPr lang="en-US" sz="1650" b="1" dirty="0">
                <a:solidFill>
                  <a:srgbClr val="B20E38"/>
                </a:solidFill>
                <a:latin typeface="Montserrat" pitchFamily="34" charset="0"/>
                <a:ea typeface="Montserrat" pitchFamily="34" charset="-122"/>
                <a:cs typeface="Montserrat" pitchFamily="34" charset="-120"/>
              </a:rPr>
              <a:t>each step either adds value or/and adds cost</a:t>
            </a:r>
            <a:r>
              <a:rPr lang="en-US" sz="1650" dirty="0">
                <a:solidFill>
                  <a:srgbClr val="1A1A1A"/>
                </a:solidFill>
                <a:latin typeface="Montserrat" pitchFamily="34" charset="0"/>
                <a:ea typeface="Montserrat" pitchFamily="34" charset="-122"/>
                <a:cs typeface="Montserrat" pitchFamily="34" charset="-120"/>
              </a:rPr>
              <a:t>.</a:t>
            </a:r>
            <a:endParaRPr lang="en-US" sz="1650" dirty="0"/>
          </a:p>
        </p:txBody>
      </p:sp>
      <p:sp>
        <p:nvSpPr>
          <p:cNvPr id="6" name="Shape 3"/>
          <p:cNvSpPr/>
          <p:nvPr/>
        </p:nvSpPr>
        <p:spPr>
          <a:xfrm>
            <a:off x="457200" y="2331720"/>
            <a:ext cx="8229600" cy="2011680"/>
          </a:xfrm>
          <a:prstGeom prst="roundRect">
            <a:avLst>
              <a:gd name="adj" fmla="val 4545"/>
            </a:avLst>
          </a:prstGeom>
          <a:solidFill>
            <a:srgbClr val="FFFFFF">
              <a:alpha val="90000"/>
            </a:srgbClr>
          </a:solidFill>
          <a:ln/>
        </p:spPr>
        <p:txBody>
          <a:bodyPr/>
          <a:lstStyle/>
          <a:p>
            <a:endParaRPr lang="en-US"/>
          </a:p>
        </p:txBody>
      </p:sp>
      <p:sp>
        <p:nvSpPr>
          <p:cNvPr id="7" name="Text 4"/>
          <p:cNvSpPr/>
          <p:nvPr/>
        </p:nvSpPr>
        <p:spPr>
          <a:xfrm>
            <a:off x="731520" y="2514600"/>
            <a:ext cx="7680960" cy="365760"/>
          </a:xfrm>
          <a:prstGeom prst="rect">
            <a:avLst/>
          </a:prstGeom>
          <a:noFill/>
          <a:ln/>
        </p:spPr>
        <p:txBody>
          <a:bodyPr wrap="square" lIns="0" tIns="0" rIns="0" bIns="0" rtlCol="0" anchor="ctr"/>
          <a:lstStyle/>
          <a:p>
            <a:pPr marL="0" indent="0">
              <a:buNone/>
            </a:pPr>
            <a:r>
              <a:rPr lang="en-US" sz="1400" b="1" dirty="0">
                <a:solidFill>
                  <a:srgbClr val="B20E38"/>
                </a:solidFill>
                <a:latin typeface="Montserrat SemiBold" pitchFamily="34" charset="0"/>
                <a:ea typeface="Montserrat SemiBold" pitchFamily="34" charset="-122"/>
                <a:cs typeface="Montserrat SemiBold" pitchFamily="34" charset="-120"/>
              </a:rPr>
              <a:t>Why Hero Cycles cared about every link</a:t>
            </a:r>
            <a:endParaRPr lang="en-US" sz="1400" dirty="0"/>
          </a:p>
        </p:txBody>
      </p:sp>
      <p:sp>
        <p:nvSpPr>
          <p:cNvPr id="8" name="Text 5"/>
          <p:cNvSpPr/>
          <p:nvPr/>
        </p:nvSpPr>
        <p:spPr>
          <a:xfrm>
            <a:off x="731520" y="2926080"/>
            <a:ext cx="7680960" cy="1280160"/>
          </a:xfrm>
          <a:prstGeom prst="rect">
            <a:avLst/>
          </a:prstGeom>
          <a:noFill/>
          <a:ln/>
        </p:spPr>
        <p:txBody>
          <a:bodyPr wrap="square" lIns="0" tIns="0" rIns="0" bIns="0" rtlCol="0" anchor="ctr"/>
          <a:lstStyle/>
          <a:p>
            <a:pPr marL="0" indent="0">
              <a:lnSpc>
                <a:spcPct val="130000"/>
              </a:lnSpc>
              <a:buNone/>
            </a:pPr>
            <a:r>
              <a:rPr lang="en-US" sz="1350" dirty="0">
                <a:solidFill>
                  <a:srgbClr val="1A1A1A"/>
                </a:solidFill>
                <a:latin typeface="Montserrat" pitchFamily="34" charset="0"/>
                <a:ea typeface="Montserrat" pitchFamily="34" charset="-122"/>
                <a:cs typeface="Montserrat" pitchFamily="34" charset="-120"/>
              </a:rPr>
              <a:t>Most bicycle makers bought parts and assembled them. Hero went further back in the chain  making more components itself  so it controlled quality and cost at more steps than its rivals could.</a:t>
            </a:r>
            <a:endParaRPr lang="en-US" sz="1350" dirty="0"/>
          </a:p>
        </p:txBody>
      </p:sp>
      <p:sp>
        <p:nvSpPr>
          <p:cNvPr id="9" name="Text 6"/>
          <p:cNvSpPr/>
          <p:nvPr/>
        </p:nvSpPr>
        <p:spPr>
          <a:xfrm>
            <a:off x="365760" y="4864608"/>
            <a:ext cx="7589520" cy="228600"/>
          </a:xfrm>
          <a:prstGeom prst="rect">
            <a:avLst/>
          </a:prstGeom>
          <a:noFill/>
          <a:ln/>
        </p:spPr>
        <p:txBody>
          <a:bodyPr wrap="square" lIns="0" tIns="0" rIns="0" bIns="0" rtlCol="0" anchor="ctr"/>
          <a:lstStyle/>
          <a:p>
            <a:pPr marL="0" indent="0" algn="l">
              <a:buNone/>
            </a:pPr>
            <a:r>
              <a:rPr lang="en-US" sz="800" i="1" dirty="0">
                <a:solidFill>
                  <a:srgbClr val="8A6A55"/>
                </a:solidFill>
                <a:latin typeface="Montserrat" pitchFamily="34" charset="0"/>
                <a:ea typeface="Montserrat" pitchFamily="34" charset="-122"/>
                <a:cs typeface="Montserrat" pitchFamily="34" charset="-120"/>
              </a:rPr>
              <a:t>Concept based on: A. Nag, Strategic Management: Analysis, Implementation and Control, Ch. 7.</a:t>
            </a:r>
            <a:endParaRPr lang="en-US" sz="800" dirty="0"/>
          </a:p>
        </p:txBody>
      </p:sp>
      <p:sp>
        <p:nvSpPr>
          <p:cNvPr id="10" name="Text 7"/>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6 / 17</a:t>
            </a:r>
            <a:endParaRPr lang="en-US" sz="800" dirty="0"/>
          </a:p>
        </p:txBody>
      </p:sp>
    </p:spTree>
    <p:extLst>
      <p:ext uri="{BB962C8B-B14F-4D97-AF65-F5344CB8AC3E}">
        <p14:creationId xmlns:p14="http://schemas.microsoft.com/office/powerpoint/2010/main" val="140137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2</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Primary Activities</a:t>
            </a:r>
            <a:endParaRPr lang="en-US" sz="2500" dirty="0"/>
          </a:p>
        </p:txBody>
      </p:sp>
      <p:sp>
        <p:nvSpPr>
          <p:cNvPr id="5" name="Shape 2"/>
          <p:cNvSpPr/>
          <p:nvPr/>
        </p:nvSpPr>
        <p:spPr>
          <a:xfrm>
            <a:off x="457200" y="948690"/>
            <a:ext cx="8229600" cy="658368"/>
          </a:xfrm>
          <a:prstGeom prst="roundRect">
            <a:avLst>
              <a:gd name="adj" fmla="val 8333"/>
            </a:avLst>
          </a:prstGeom>
          <a:solidFill>
            <a:srgbClr val="FFFFFF">
              <a:alpha val="88000"/>
            </a:srgbClr>
          </a:solidFill>
          <a:ln/>
        </p:spPr>
        <p:txBody>
          <a:bodyPr/>
          <a:lstStyle/>
          <a:p>
            <a:endParaRPr lang="en-US"/>
          </a:p>
        </p:txBody>
      </p:sp>
      <p:sp>
        <p:nvSpPr>
          <p:cNvPr id="6" name="Text 3"/>
          <p:cNvSpPr/>
          <p:nvPr/>
        </p:nvSpPr>
        <p:spPr>
          <a:xfrm>
            <a:off x="685800" y="948690"/>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Inbound Logistics</a:t>
            </a:r>
            <a:endParaRPr lang="en-US" sz="1250" dirty="0"/>
          </a:p>
        </p:txBody>
      </p:sp>
      <p:sp>
        <p:nvSpPr>
          <p:cNvPr id="7" name="Text 4"/>
          <p:cNvSpPr/>
          <p:nvPr/>
        </p:nvSpPr>
        <p:spPr>
          <a:xfrm>
            <a:off x="3474720" y="948690"/>
            <a:ext cx="5029200" cy="658368"/>
          </a:xfrm>
          <a:prstGeom prst="rect">
            <a:avLst/>
          </a:prstGeom>
          <a:noFill/>
          <a:ln/>
        </p:spPr>
        <p:txBody>
          <a:bodyPr wrap="square" lIns="0" tIns="0" rIns="0" bIns="0" rtlCol="0" anchor="ctr"/>
          <a:lstStyle/>
          <a:p>
            <a:pPr marL="0" indent="0">
              <a:buNone/>
            </a:pPr>
            <a:endParaRPr lang="en-US" sz="1200" dirty="0"/>
          </a:p>
        </p:txBody>
      </p:sp>
      <p:sp>
        <p:nvSpPr>
          <p:cNvPr id="8" name="Shape 5"/>
          <p:cNvSpPr/>
          <p:nvPr/>
        </p:nvSpPr>
        <p:spPr>
          <a:xfrm>
            <a:off x="457200" y="1698498"/>
            <a:ext cx="8229600" cy="658368"/>
          </a:xfrm>
          <a:prstGeom prst="roundRect">
            <a:avLst>
              <a:gd name="adj" fmla="val 8333"/>
            </a:avLst>
          </a:prstGeom>
          <a:solidFill>
            <a:srgbClr val="FFFFFF">
              <a:alpha val="88000"/>
            </a:srgbClr>
          </a:solidFill>
          <a:ln/>
        </p:spPr>
        <p:txBody>
          <a:bodyPr/>
          <a:lstStyle/>
          <a:p>
            <a:endParaRPr lang="en-US"/>
          </a:p>
        </p:txBody>
      </p:sp>
      <p:sp>
        <p:nvSpPr>
          <p:cNvPr id="9" name="Text 6"/>
          <p:cNvSpPr/>
          <p:nvPr/>
        </p:nvSpPr>
        <p:spPr>
          <a:xfrm>
            <a:off x="685800" y="1698498"/>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Operations</a:t>
            </a:r>
            <a:endParaRPr lang="en-US" sz="1250" dirty="0"/>
          </a:p>
        </p:txBody>
      </p:sp>
      <p:sp>
        <p:nvSpPr>
          <p:cNvPr id="10" name="Text 7"/>
          <p:cNvSpPr/>
          <p:nvPr/>
        </p:nvSpPr>
        <p:spPr>
          <a:xfrm>
            <a:off x="3474720" y="1698498"/>
            <a:ext cx="5029200" cy="658368"/>
          </a:xfrm>
          <a:prstGeom prst="rect">
            <a:avLst/>
          </a:prstGeom>
          <a:noFill/>
          <a:ln/>
        </p:spPr>
        <p:txBody>
          <a:bodyPr wrap="square" lIns="0" tIns="0" rIns="0" bIns="0" rtlCol="0" anchor="ctr"/>
          <a:lstStyle/>
          <a:p>
            <a:pPr marL="0" indent="0">
              <a:buNone/>
            </a:pPr>
            <a:endParaRPr lang="en-US" sz="1200" dirty="0"/>
          </a:p>
        </p:txBody>
      </p:sp>
      <p:sp>
        <p:nvSpPr>
          <p:cNvPr id="11" name="Shape 8"/>
          <p:cNvSpPr/>
          <p:nvPr/>
        </p:nvSpPr>
        <p:spPr>
          <a:xfrm>
            <a:off x="457200" y="2448306"/>
            <a:ext cx="8229600" cy="658368"/>
          </a:xfrm>
          <a:prstGeom prst="roundRect">
            <a:avLst>
              <a:gd name="adj" fmla="val 8333"/>
            </a:avLst>
          </a:prstGeom>
          <a:solidFill>
            <a:srgbClr val="FFFFFF">
              <a:alpha val="88000"/>
            </a:srgbClr>
          </a:solidFill>
          <a:ln/>
        </p:spPr>
        <p:txBody>
          <a:bodyPr/>
          <a:lstStyle/>
          <a:p>
            <a:endParaRPr lang="en-US"/>
          </a:p>
        </p:txBody>
      </p:sp>
      <p:sp>
        <p:nvSpPr>
          <p:cNvPr id="12" name="Text 9"/>
          <p:cNvSpPr/>
          <p:nvPr/>
        </p:nvSpPr>
        <p:spPr>
          <a:xfrm>
            <a:off x="685800" y="2448306"/>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Outbound Logistics</a:t>
            </a:r>
            <a:endParaRPr lang="en-US" sz="1250" dirty="0"/>
          </a:p>
        </p:txBody>
      </p:sp>
      <p:sp>
        <p:nvSpPr>
          <p:cNvPr id="13" name="Text 10"/>
          <p:cNvSpPr/>
          <p:nvPr/>
        </p:nvSpPr>
        <p:spPr>
          <a:xfrm>
            <a:off x="3474720" y="2448306"/>
            <a:ext cx="5029200" cy="658368"/>
          </a:xfrm>
          <a:prstGeom prst="rect">
            <a:avLst/>
          </a:prstGeom>
          <a:noFill/>
          <a:ln/>
        </p:spPr>
        <p:txBody>
          <a:bodyPr wrap="square" lIns="0" tIns="0" rIns="0" bIns="0" rtlCol="0" anchor="ctr"/>
          <a:lstStyle/>
          <a:p>
            <a:pPr marL="0" indent="0">
              <a:buNone/>
            </a:pPr>
            <a:endParaRPr lang="en-US" sz="1200" dirty="0"/>
          </a:p>
        </p:txBody>
      </p:sp>
      <p:sp>
        <p:nvSpPr>
          <p:cNvPr id="14" name="Shape 11"/>
          <p:cNvSpPr/>
          <p:nvPr/>
        </p:nvSpPr>
        <p:spPr>
          <a:xfrm>
            <a:off x="457200" y="3198114"/>
            <a:ext cx="8229600" cy="658368"/>
          </a:xfrm>
          <a:prstGeom prst="roundRect">
            <a:avLst>
              <a:gd name="adj" fmla="val 8333"/>
            </a:avLst>
          </a:prstGeom>
          <a:solidFill>
            <a:srgbClr val="FFFFFF">
              <a:alpha val="88000"/>
            </a:srgbClr>
          </a:solidFill>
          <a:ln/>
        </p:spPr>
        <p:txBody>
          <a:bodyPr/>
          <a:lstStyle/>
          <a:p>
            <a:endParaRPr lang="en-US"/>
          </a:p>
        </p:txBody>
      </p:sp>
      <p:sp>
        <p:nvSpPr>
          <p:cNvPr id="15" name="Text 12"/>
          <p:cNvSpPr/>
          <p:nvPr/>
        </p:nvSpPr>
        <p:spPr>
          <a:xfrm>
            <a:off x="685800" y="3198114"/>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Marketing &amp; Sales</a:t>
            </a:r>
            <a:endParaRPr lang="en-US" sz="1250" dirty="0"/>
          </a:p>
        </p:txBody>
      </p:sp>
      <p:sp>
        <p:nvSpPr>
          <p:cNvPr id="16" name="Text 13"/>
          <p:cNvSpPr/>
          <p:nvPr/>
        </p:nvSpPr>
        <p:spPr>
          <a:xfrm>
            <a:off x="3474720" y="3198114"/>
            <a:ext cx="5029200" cy="658368"/>
          </a:xfrm>
          <a:prstGeom prst="rect">
            <a:avLst/>
          </a:prstGeom>
          <a:noFill/>
          <a:ln/>
        </p:spPr>
        <p:txBody>
          <a:bodyPr wrap="square" lIns="0" tIns="0" rIns="0" bIns="0" rtlCol="0" anchor="ctr"/>
          <a:lstStyle/>
          <a:p>
            <a:pPr marL="0" indent="0">
              <a:buNone/>
            </a:pPr>
            <a:endParaRPr lang="en-US" sz="1200" dirty="0"/>
          </a:p>
        </p:txBody>
      </p:sp>
      <p:sp>
        <p:nvSpPr>
          <p:cNvPr id="17" name="Shape 14"/>
          <p:cNvSpPr/>
          <p:nvPr/>
        </p:nvSpPr>
        <p:spPr>
          <a:xfrm>
            <a:off x="457200" y="3947922"/>
            <a:ext cx="8229600" cy="658368"/>
          </a:xfrm>
          <a:prstGeom prst="roundRect">
            <a:avLst>
              <a:gd name="adj" fmla="val 8333"/>
            </a:avLst>
          </a:prstGeom>
          <a:solidFill>
            <a:srgbClr val="FFFFFF">
              <a:alpha val="88000"/>
            </a:srgbClr>
          </a:solidFill>
          <a:ln/>
        </p:spPr>
        <p:txBody>
          <a:bodyPr/>
          <a:lstStyle/>
          <a:p>
            <a:endParaRPr lang="en-US"/>
          </a:p>
        </p:txBody>
      </p:sp>
      <p:sp>
        <p:nvSpPr>
          <p:cNvPr id="18" name="Text 15"/>
          <p:cNvSpPr/>
          <p:nvPr/>
        </p:nvSpPr>
        <p:spPr>
          <a:xfrm>
            <a:off x="685800" y="3947922"/>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rPr>
              <a:t>Aftersales</a:t>
            </a:r>
            <a:endParaRPr lang="en-US" sz="1250" dirty="0"/>
          </a:p>
        </p:txBody>
      </p:sp>
      <p:sp>
        <p:nvSpPr>
          <p:cNvPr id="19" name="Text 16"/>
          <p:cNvSpPr/>
          <p:nvPr/>
        </p:nvSpPr>
        <p:spPr>
          <a:xfrm>
            <a:off x="3474720" y="3947922"/>
            <a:ext cx="5029200" cy="658368"/>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2</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Primary Activities</a:t>
            </a:r>
            <a:endParaRPr lang="en-US" sz="2500" dirty="0"/>
          </a:p>
        </p:txBody>
      </p:sp>
      <p:sp>
        <p:nvSpPr>
          <p:cNvPr id="5" name="Shape 2"/>
          <p:cNvSpPr/>
          <p:nvPr/>
        </p:nvSpPr>
        <p:spPr>
          <a:xfrm>
            <a:off x="457200" y="948690"/>
            <a:ext cx="8229600" cy="658368"/>
          </a:xfrm>
          <a:prstGeom prst="roundRect">
            <a:avLst>
              <a:gd name="adj" fmla="val 8333"/>
            </a:avLst>
          </a:prstGeom>
          <a:solidFill>
            <a:srgbClr val="FFFFFF">
              <a:alpha val="88000"/>
            </a:srgbClr>
          </a:solidFill>
          <a:ln/>
        </p:spPr>
        <p:txBody>
          <a:bodyPr/>
          <a:lstStyle/>
          <a:p>
            <a:endParaRPr lang="en-US"/>
          </a:p>
        </p:txBody>
      </p:sp>
      <p:sp>
        <p:nvSpPr>
          <p:cNvPr id="6" name="Text 3"/>
          <p:cNvSpPr/>
          <p:nvPr/>
        </p:nvSpPr>
        <p:spPr>
          <a:xfrm>
            <a:off x="685800" y="948690"/>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Inbound Logistics</a:t>
            </a:r>
            <a:endParaRPr lang="en-US" sz="1250" dirty="0"/>
          </a:p>
        </p:txBody>
      </p:sp>
      <p:sp>
        <p:nvSpPr>
          <p:cNvPr id="7" name="Text 4"/>
          <p:cNvSpPr/>
          <p:nvPr/>
        </p:nvSpPr>
        <p:spPr>
          <a:xfrm>
            <a:off x="3474720" y="948690"/>
            <a:ext cx="5029200" cy="658368"/>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Getting raw materials in</a:t>
            </a:r>
            <a:endParaRPr lang="en-US" sz="1200" dirty="0"/>
          </a:p>
        </p:txBody>
      </p:sp>
      <p:sp>
        <p:nvSpPr>
          <p:cNvPr id="8" name="Shape 5"/>
          <p:cNvSpPr/>
          <p:nvPr/>
        </p:nvSpPr>
        <p:spPr>
          <a:xfrm>
            <a:off x="457200" y="1698498"/>
            <a:ext cx="8229600" cy="658368"/>
          </a:xfrm>
          <a:prstGeom prst="roundRect">
            <a:avLst>
              <a:gd name="adj" fmla="val 8333"/>
            </a:avLst>
          </a:prstGeom>
          <a:solidFill>
            <a:srgbClr val="FFFFFF">
              <a:alpha val="88000"/>
            </a:srgbClr>
          </a:solidFill>
          <a:ln/>
        </p:spPr>
        <p:txBody>
          <a:bodyPr/>
          <a:lstStyle/>
          <a:p>
            <a:endParaRPr lang="en-US"/>
          </a:p>
        </p:txBody>
      </p:sp>
      <p:sp>
        <p:nvSpPr>
          <p:cNvPr id="9" name="Text 6"/>
          <p:cNvSpPr/>
          <p:nvPr/>
        </p:nvSpPr>
        <p:spPr>
          <a:xfrm>
            <a:off x="685800" y="1698498"/>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Operations</a:t>
            </a:r>
            <a:endParaRPr lang="en-US" sz="1250" dirty="0"/>
          </a:p>
        </p:txBody>
      </p:sp>
      <p:sp>
        <p:nvSpPr>
          <p:cNvPr id="10" name="Text 7"/>
          <p:cNvSpPr/>
          <p:nvPr/>
        </p:nvSpPr>
        <p:spPr>
          <a:xfrm>
            <a:off x="3474720" y="1698498"/>
            <a:ext cx="5029200" cy="658368"/>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Turning inputs into the product</a:t>
            </a:r>
            <a:endParaRPr lang="en-US" sz="1200" dirty="0"/>
          </a:p>
        </p:txBody>
      </p:sp>
      <p:sp>
        <p:nvSpPr>
          <p:cNvPr id="11" name="Shape 8"/>
          <p:cNvSpPr/>
          <p:nvPr/>
        </p:nvSpPr>
        <p:spPr>
          <a:xfrm>
            <a:off x="457200" y="2448306"/>
            <a:ext cx="8229600" cy="658368"/>
          </a:xfrm>
          <a:prstGeom prst="roundRect">
            <a:avLst>
              <a:gd name="adj" fmla="val 8333"/>
            </a:avLst>
          </a:prstGeom>
          <a:solidFill>
            <a:srgbClr val="FFFFFF">
              <a:alpha val="88000"/>
            </a:srgbClr>
          </a:solidFill>
          <a:ln/>
        </p:spPr>
        <p:txBody>
          <a:bodyPr/>
          <a:lstStyle/>
          <a:p>
            <a:endParaRPr lang="en-US"/>
          </a:p>
        </p:txBody>
      </p:sp>
      <p:sp>
        <p:nvSpPr>
          <p:cNvPr id="12" name="Text 9"/>
          <p:cNvSpPr/>
          <p:nvPr/>
        </p:nvSpPr>
        <p:spPr>
          <a:xfrm>
            <a:off x="685800" y="2448306"/>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Outbound Logistics</a:t>
            </a:r>
            <a:endParaRPr lang="en-US" sz="1250" dirty="0"/>
          </a:p>
        </p:txBody>
      </p:sp>
      <p:sp>
        <p:nvSpPr>
          <p:cNvPr id="13" name="Text 10"/>
          <p:cNvSpPr/>
          <p:nvPr/>
        </p:nvSpPr>
        <p:spPr>
          <a:xfrm>
            <a:off x="3474720" y="2448306"/>
            <a:ext cx="5029200" cy="658368"/>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Getting the product to customers</a:t>
            </a:r>
            <a:endParaRPr lang="en-US" sz="1200" dirty="0"/>
          </a:p>
        </p:txBody>
      </p:sp>
      <p:sp>
        <p:nvSpPr>
          <p:cNvPr id="14" name="Shape 11"/>
          <p:cNvSpPr/>
          <p:nvPr/>
        </p:nvSpPr>
        <p:spPr>
          <a:xfrm>
            <a:off x="457200" y="3198114"/>
            <a:ext cx="8229600" cy="658368"/>
          </a:xfrm>
          <a:prstGeom prst="roundRect">
            <a:avLst>
              <a:gd name="adj" fmla="val 8333"/>
            </a:avLst>
          </a:prstGeom>
          <a:solidFill>
            <a:srgbClr val="FFFFFF">
              <a:alpha val="88000"/>
            </a:srgbClr>
          </a:solidFill>
          <a:ln/>
        </p:spPr>
        <p:txBody>
          <a:bodyPr/>
          <a:lstStyle/>
          <a:p>
            <a:endParaRPr lang="en-US"/>
          </a:p>
        </p:txBody>
      </p:sp>
      <p:sp>
        <p:nvSpPr>
          <p:cNvPr id="15" name="Text 12"/>
          <p:cNvSpPr/>
          <p:nvPr/>
        </p:nvSpPr>
        <p:spPr>
          <a:xfrm>
            <a:off x="685800" y="3198114"/>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Marketing &amp; Sales</a:t>
            </a:r>
            <a:endParaRPr lang="en-US" sz="1250" dirty="0"/>
          </a:p>
        </p:txBody>
      </p:sp>
      <p:sp>
        <p:nvSpPr>
          <p:cNvPr id="16" name="Text 13"/>
          <p:cNvSpPr/>
          <p:nvPr/>
        </p:nvSpPr>
        <p:spPr>
          <a:xfrm>
            <a:off x="3474720" y="3198114"/>
            <a:ext cx="5029200" cy="658368"/>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Convincing people to buy</a:t>
            </a:r>
            <a:endParaRPr lang="en-US" sz="1200" dirty="0"/>
          </a:p>
        </p:txBody>
      </p:sp>
      <p:sp>
        <p:nvSpPr>
          <p:cNvPr id="17" name="Shape 14"/>
          <p:cNvSpPr/>
          <p:nvPr/>
        </p:nvSpPr>
        <p:spPr>
          <a:xfrm>
            <a:off x="457200" y="3947922"/>
            <a:ext cx="8229600" cy="658368"/>
          </a:xfrm>
          <a:prstGeom prst="roundRect">
            <a:avLst>
              <a:gd name="adj" fmla="val 8333"/>
            </a:avLst>
          </a:prstGeom>
          <a:solidFill>
            <a:srgbClr val="FFFFFF">
              <a:alpha val="88000"/>
            </a:srgbClr>
          </a:solidFill>
          <a:ln/>
        </p:spPr>
        <p:txBody>
          <a:bodyPr/>
          <a:lstStyle/>
          <a:p>
            <a:endParaRPr lang="en-US"/>
          </a:p>
        </p:txBody>
      </p:sp>
      <p:sp>
        <p:nvSpPr>
          <p:cNvPr id="18" name="Text 15"/>
          <p:cNvSpPr/>
          <p:nvPr/>
        </p:nvSpPr>
        <p:spPr>
          <a:xfrm>
            <a:off x="685800" y="3947922"/>
            <a:ext cx="2743200" cy="658368"/>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rPr>
              <a:t>Aftersales</a:t>
            </a:r>
            <a:endParaRPr lang="en-US" sz="1250" dirty="0"/>
          </a:p>
        </p:txBody>
      </p:sp>
      <p:sp>
        <p:nvSpPr>
          <p:cNvPr id="19" name="Text 16"/>
          <p:cNvSpPr/>
          <p:nvPr/>
        </p:nvSpPr>
        <p:spPr>
          <a:xfrm>
            <a:off x="3474720" y="3947922"/>
            <a:ext cx="5029200" cy="658368"/>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Supporting the customer after the sale</a:t>
            </a:r>
            <a:endParaRPr lang="en-US" sz="1200" dirty="0"/>
          </a:p>
        </p:txBody>
      </p:sp>
    </p:spTree>
    <p:extLst>
      <p:ext uri="{BB962C8B-B14F-4D97-AF65-F5344CB8AC3E}">
        <p14:creationId xmlns:p14="http://schemas.microsoft.com/office/powerpoint/2010/main" val="169213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3</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Support Activities</a:t>
            </a:r>
            <a:endParaRPr lang="en-US" sz="2500" dirty="0"/>
          </a:p>
        </p:txBody>
      </p:sp>
      <p:sp>
        <p:nvSpPr>
          <p:cNvPr id="5" name="Shape 2"/>
          <p:cNvSpPr/>
          <p:nvPr/>
        </p:nvSpPr>
        <p:spPr>
          <a:xfrm>
            <a:off x="457200" y="960120"/>
            <a:ext cx="8229600" cy="777240"/>
          </a:xfrm>
          <a:prstGeom prst="roundRect">
            <a:avLst>
              <a:gd name="adj" fmla="val 7059"/>
            </a:avLst>
          </a:prstGeom>
          <a:solidFill>
            <a:srgbClr val="FFFFFF">
              <a:alpha val="88000"/>
            </a:srgbClr>
          </a:solidFill>
          <a:ln/>
        </p:spPr>
        <p:txBody>
          <a:bodyPr/>
          <a:lstStyle/>
          <a:p>
            <a:endParaRPr lang="en-US"/>
          </a:p>
        </p:txBody>
      </p:sp>
      <p:sp>
        <p:nvSpPr>
          <p:cNvPr id="6" name="Text 3"/>
          <p:cNvSpPr/>
          <p:nvPr/>
        </p:nvSpPr>
        <p:spPr>
          <a:xfrm>
            <a:off x="685800" y="960120"/>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Procurement</a:t>
            </a:r>
            <a:endParaRPr lang="en-US" sz="1250" dirty="0"/>
          </a:p>
        </p:txBody>
      </p:sp>
      <p:sp>
        <p:nvSpPr>
          <p:cNvPr id="7" name="Text 4"/>
          <p:cNvSpPr/>
          <p:nvPr/>
        </p:nvSpPr>
        <p:spPr>
          <a:xfrm>
            <a:off x="3794760" y="960120"/>
            <a:ext cx="4709160" cy="777240"/>
          </a:xfrm>
          <a:prstGeom prst="rect">
            <a:avLst/>
          </a:prstGeom>
          <a:noFill/>
          <a:ln/>
        </p:spPr>
        <p:txBody>
          <a:bodyPr wrap="square" lIns="0" tIns="0" rIns="0" bIns="0" rtlCol="0" anchor="ctr"/>
          <a:lstStyle/>
          <a:p>
            <a:pPr marL="0" indent="0">
              <a:buNone/>
            </a:pPr>
            <a:endParaRPr lang="en-US" sz="1200" dirty="0"/>
          </a:p>
        </p:txBody>
      </p:sp>
      <p:sp>
        <p:nvSpPr>
          <p:cNvPr id="8" name="Shape 5"/>
          <p:cNvSpPr/>
          <p:nvPr/>
        </p:nvSpPr>
        <p:spPr>
          <a:xfrm>
            <a:off x="457200" y="1856232"/>
            <a:ext cx="8229600" cy="777240"/>
          </a:xfrm>
          <a:prstGeom prst="roundRect">
            <a:avLst>
              <a:gd name="adj" fmla="val 7059"/>
            </a:avLst>
          </a:prstGeom>
          <a:solidFill>
            <a:srgbClr val="FFFFFF">
              <a:alpha val="88000"/>
            </a:srgbClr>
          </a:solidFill>
          <a:ln/>
        </p:spPr>
        <p:txBody>
          <a:bodyPr/>
          <a:lstStyle/>
          <a:p>
            <a:endParaRPr lang="en-US"/>
          </a:p>
        </p:txBody>
      </p:sp>
      <p:sp>
        <p:nvSpPr>
          <p:cNvPr id="9" name="Text 6"/>
          <p:cNvSpPr/>
          <p:nvPr/>
        </p:nvSpPr>
        <p:spPr>
          <a:xfrm>
            <a:off x="685800" y="1856232"/>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Technology Development</a:t>
            </a:r>
            <a:endParaRPr lang="en-US" sz="1250" dirty="0"/>
          </a:p>
        </p:txBody>
      </p:sp>
      <p:sp>
        <p:nvSpPr>
          <p:cNvPr id="10" name="Text 7"/>
          <p:cNvSpPr/>
          <p:nvPr/>
        </p:nvSpPr>
        <p:spPr>
          <a:xfrm>
            <a:off x="3794760" y="1856232"/>
            <a:ext cx="4709160" cy="777240"/>
          </a:xfrm>
          <a:prstGeom prst="rect">
            <a:avLst/>
          </a:prstGeom>
          <a:noFill/>
          <a:ln/>
        </p:spPr>
        <p:txBody>
          <a:bodyPr wrap="square" lIns="0" tIns="0" rIns="0" bIns="0" rtlCol="0" anchor="ctr"/>
          <a:lstStyle/>
          <a:p>
            <a:pPr marL="0" indent="0">
              <a:buNone/>
            </a:pPr>
            <a:endParaRPr lang="en-US" sz="1200" dirty="0"/>
          </a:p>
        </p:txBody>
      </p:sp>
      <p:sp>
        <p:nvSpPr>
          <p:cNvPr id="11" name="Shape 8"/>
          <p:cNvSpPr/>
          <p:nvPr/>
        </p:nvSpPr>
        <p:spPr>
          <a:xfrm>
            <a:off x="457200" y="2752344"/>
            <a:ext cx="8229600" cy="777240"/>
          </a:xfrm>
          <a:prstGeom prst="roundRect">
            <a:avLst>
              <a:gd name="adj" fmla="val 7059"/>
            </a:avLst>
          </a:prstGeom>
          <a:solidFill>
            <a:srgbClr val="FFFFFF">
              <a:alpha val="88000"/>
            </a:srgbClr>
          </a:solidFill>
          <a:ln/>
        </p:spPr>
        <p:txBody>
          <a:bodyPr/>
          <a:lstStyle/>
          <a:p>
            <a:endParaRPr lang="en-US"/>
          </a:p>
        </p:txBody>
      </p:sp>
      <p:sp>
        <p:nvSpPr>
          <p:cNvPr id="12" name="Text 9"/>
          <p:cNvSpPr/>
          <p:nvPr/>
        </p:nvSpPr>
        <p:spPr>
          <a:xfrm>
            <a:off x="685800" y="2752344"/>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Human Resource Management</a:t>
            </a:r>
            <a:endParaRPr lang="en-US" sz="1250" dirty="0"/>
          </a:p>
        </p:txBody>
      </p:sp>
      <p:sp>
        <p:nvSpPr>
          <p:cNvPr id="13" name="Text 10"/>
          <p:cNvSpPr/>
          <p:nvPr/>
        </p:nvSpPr>
        <p:spPr>
          <a:xfrm>
            <a:off x="3794760" y="2752344"/>
            <a:ext cx="4709160" cy="777240"/>
          </a:xfrm>
          <a:prstGeom prst="rect">
            <a:avLst/>
          </a:prstGeom>
          <a:noFill/>
          <a:ln/>
        </p:spPr>
        <p:txBody>
          <a:bodyPr wrap="square" lIns="0" tIns="0" rIns="0" bIns="0" rtlCol="0" anchor="ctr"/>
          <a:lstStyle/>
          <a:p>
            <a:pPr marL="0" indent="0">
              <a:buNone/>
            </a:pPr>
            <a:endParaRPr lang="en-US" sz="1200" dirty="0"/>
          </a:p>
        </p:txBody>
      </p:sp>
      <p:sp>
        <p:nvSpPr>
          <p:cNvPr id="14" name="Shape 11"/>
          <p:cNvSpPr/>
          <p:nvPr/>
        </p:nvSpPr>
        <p:spPr>
          <a:xfrm>
            <a:off x="457200" y="3648456"/>
            <a:ext cx="8229600" cy="777240"/>
          </a:xfrm>
          <a:prstGeom prst="roundRect">
            <a:avLst>
              <a:gd name="adj" fmla="val 7059"/>
            </a:avLst>
          </a:prstGeom>
          <a:solidFill>
            <a:srgbClr val="FFFFFF">
              <a:alpha val="88000"/>
            </a:srgbClr>
          </a:solidFill>
          <a:ln/>
        </p:spPr>
        <p:txBody>
          <a:bodyPr/>
          <a:lstStyle/>
          <a:p>
            <a:endParaRPr lang="en-US"/>
          </a:p>
        </p:txBody>
      </p:sp>
      <p:sp>
        <p:nvSpPr>
          <p:cNvPr id="15" name="Text 12"/>
          <p:cNvSpPr/>
          <p:nvPr/>
        </p:nvSpPr>
        <p:spPr>
          <a:xfrm>
            <a:off x="685800" y="3648456"/>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Infrastructure</a:t>
            </a:r>
            <a:endParaRPr lang="en-US" sz="1250" dirty="0"/>
          </a:p>
        </p:txBody>
      </p:sp>
      <p:sp>
        <p:nvSpPr>
          <p:cNvPr id="16" name="Text 13"/>
          <p:cNvSpPr/>
          <p:nvPr/>
        </p:nvSpPr>
        <p:spPr>
          <a:xfrm>
            <a:off x="3794760" y="3648456"/>
            <a:ext cx="4709160" cy="77724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3</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Support Activities</a:t>
            </a:r>
            <a:endParaRPr lang="en-US" sz="2500" dirty="0"/>
          </a:p>
        </p:txBody>
      </p:sp>
      <p:sp>
        <p:nvSpPr>
          <p:cNvPr id="5" name="Shape 2"/>
          <p:cNvSpPr/>
          <p:nvPr/>
        </p:nvSpPr>
        <p:spPr>
          <a:xfrm>
            <a:off x="457200" y="960120"/>
            <a:ext cx="8229600" cy="777240"/>
          </a:xfrm>
          <a:prstGeom prst="roundRect">
            <a:avLst>
              <a:gd name="adj" fmla="val 7059"/>
            </a:avLst>
          </a:prstGeom>
          <a:solidFill>
            <a:srgbClr val="FFFFFF">
              <a:alpha val="88000"/>
            </a:srgbClr>
          </a:solidFill>
          <a:ln/>
        </p:spPr>
        <p:txBody>
          <a:bodyPr/>
          <a:lstStyle/>
          <a:p>
            <a:endParaRPr lang="en-US"/>
          </a:p>
        </p:txBody>
      </p:sp>
      <p:sp>
        <p:nvSpPr>
          <p:cNvPr id="6" name="Text 3"/>
          <p:cNvSpPr/>
          <p:nvPr/>
        </p:nvSpPr>
        <p:spPr>
          <a:xfrm>
            <a:off x="685800" y="960120"/>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Procurement</a:t>
            </a:r>
            <a:endParaRPr lang="en-US" sz="1250" dirty="0"/>
          </a:p>
        </p:txBody>
      </p:sp>
      <p:sp>
        <p:nvSpPr>
          <p:cNvPr id="7" name="Text 4"/>
          <p:cNvSpPr/>
          <p:nvPr/>
        </p:nvSpPr>
        <p:spPr>
          <a:xfrm>
            <a:off x="3794760" y="960120"/>
            <a:ext cx="4709160" cy="777240"/>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Buying what the business needs, well</a:t>
            </a:r>
            <a:endParaRPr lang="en-US" sz="1200" dirty="0"/>
          </a:p>
        </p:txBody>
      </p:sp>
      <p:sp>
        <p:nvSpPr>
          <p:cNvPr id="8" name="Shape 5"/>
          <p:cNvSpPr/>
          <p:nvPr/>
        </p:nvSpPr>
        <p:spPr>
          <a:xfrm>
            <a:off x="457200" y="1856232"/>
            <a:ext cx="8229600" cy="777240"/>
          </a:xfrm>
          <a:prstGeom prst="roundRect">
            <a:avLst>
              <a:gd name="adj" fmla="val 7059"/>
            </a:avLst>
          </a:prstGeom>
          <a:solidFill>
            <a:srgbClr val="FFFFFF">
              <a:alpha val="88000"/>
            </a:srgbClr>
          </a:solidFill>
          <a:ln/>
        </p:spPr>
        <p:txBody>
          <a:bodyPr/>
          <a:lstStyle/>
          <a:p>
            <a:endParaRPr lang="en-US"/>
          </a:p>
        </p:txBody>
      </p:sp>
      <p:sp>
        <p:nvSpPr>
          <p:cNvPr id="9" name="Text 6"/>
          <p:cNvSpPr/>
          <p:nvPr/>
        </p:nvSpPr>
        <p:spPr>
          <a:xfrm>
            <a:off x="685800" y="1856232"/>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Technology Development</a:t>
            </a:r>
            <a:endParaRPr lang="en-US" sz="1250" dirty="0"/>
          </a:p>
        </p:txBody>
      </p:sp>
      <p:sp>
        <p:nvSpPr>
          <p:cNvPr id="10" name="Text 7"/>
          <p:cNvSpPr/>
          <p:nvPr/>
        </p:nvSpPr>
        <p:spPr>
          <a:xfrm>
            <a:off x="3794760" y="1856232"/>
            <a:ext cx="4709160" cy="777240"/>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Improving how things get done</a:t>
            </a:r>
            <a:endParaRPr lang="en-US" sz="1200" dirty="0"/>
          </a:p>
        </p:txBody>
      </p:sp>
      <p:sp>
        <p:nvSpPr>
          <p:cNvPr id="11" name="Shape 8"/>
          <p:cNvSpPr/>
          <p:nvPr/>
        </p:nvSpPr>
        <p:spPr>
          <a:xfrm>
            <a:off x="457200" y="2752344"/>
            <a:ext cx="8229600" cy="777240"/>
          </a:xfrm>
          <a:prstGeom prst="roundRect">
            <a:avLst>
              <a:gd name="adj" fmla="val 7059"/>
            </a:avLst>
          </a:prstGeom>
          <a:solidFill>
            <a:srgbClr val="FFFFFF">
              <a:alpha val="88000"/>
            </a:srgbClr>
          </a:solidFill>
          <a:ln/>
        </p:spPr>
        <p:txBody>
          <a:bodyPr/>
          <a:lstStyle/>
          <a:p>
            <a:endParaRPr lang="en-US"/>
          </a:p>
        </p:txBody>
      </p:sp>
      <p:sp>
        <p:nvSpPr>
          <p:cNvPr id="12" name="Text 9"/>
          <p:cNvSpPr/>
          <p:nvPr/>
        </p:nvSpPr>
        <p:spPr>
          <a:xfrm>
            <a:off x="685800" y="2752344"/>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Human Resource Management</a:t>
            </a:r>
            <a:endParaRPr lang="en-US" sz="1250" dirty="0"/>
          </a:p>
        </p:txBody>
      </p:sp>
      <p:sp>
        <p:nvSpPr>
          <p:cNvPr id="13" name="Text 10"/>
          <p:cNvSpPr/>
          <p:nvPr/>
        </p:nvSpPr>
        <p:spPr>
          <a:xfrm>
            <a:off x="3794760" y="2752344"/>
            <a:ext cx="4709160" cy="777240"/>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Hiring, training, and keeping good people</a:t>
            </a:r>
            <a:endParaRPr lang="en-US" sz="1200" dirty="0"/>
          </a:p>
        </p:txBody>
      </p:sp>
      <p:sp>
        <p:nvSpPr>
          <p:cNvPr id="14" name="Shape 11"/>
          <p:cNvSpPr/>
          <p:nvPr/>
        </p:nvSpPr>
        <p:spPr>
          <a:xfrm>
            <a:off x="457200" y="3648456"/>
            <a:ext cx="8229600" cy="777240"/>
          </a:xfrm>
          <a:prstGeom prst="roundRect">
            <a:avLst>
              <a:gd name="adj" fmla="val 7059"/>
            </a:avLst>
          </a:prstGeom>
          <a:solidFill>
            <a:srgbClr val="FFFFFF">
              <a:alpha val="88000"/>
            </a:srgbClr>
          </a:solidFill>
          <a:ln/>
        </p:spPr>
        <p:txBody>
          <a:bodyPr/>
          <a:lstStyle/>
          <a:p>
            <a:endParaRPr lang="en-US"/>
          </a:p>
        </p:txBody>
      </p:sp>
      <p:sp>
        <p:nvSpPr>
          <p:cNvPr id="15" name="Text 12"/>
          <p:cNvSpPr/>
          <p:nvPr/>
        </p:nvSpPr>
        <p:spPr>
          <a:xfrm>
            <a:off x="685800" y="3648456"/>
            <a:ext cx="3017520" cy="777240"/>
          </a:xfrm>
          <a:prstGeom prst="rect">
            <a:avLst/>
          </a:prstGeom>
          <a:noFill/>
          <a:ln/>
        </p:spPr>
        <p:txBody>
          <a:bodyPr wrap="square" lIns="0" tIns="0" rIns="0" bIns="0" rtlCol="0" anchor="ctr"/>
          <a:lstStyle/>
          <a:p>
            <a:pPr marL="0" indent="0">
              <a:buNone/>
            </a:pPr>
            <a:r>
              <a:rPr lang="en-US" sz="1250" b="1" dirty="0">
                <a:solidFill>
                  <a:srgbClr val="B20E38"/>
                </a:solidFill>
                <a:latin typeface="Montserrat SemiBold" pitchFamily="34" charset="0"/>
                <a:ea typeface="Montserrat SemiBold" pitchFamily="34" charset="-122"/>
                <a:cs typeface="Montserrat SemiBold" pitchFamily="34" charset="-120"/>
              </a:rPr>
              <a:t>Infrastructure</a:t>
            </a:r>
            <a:endParaRPr lang="en-US" sz="1250" dirty="0"/>
          </a:p>
        </p:txBody>
      </p:sp>
      <p:sp>
        <p:nvSpPr>
          <p:cNvPr id="16" name="Text 13"/>
          <p:cNvSpPr/>
          <p:nvPr/>
        </p:nvSpPr>
        <p:spPr>
          <a:xfrm>
            <a:off x="3794760" y="3648456"/>
            <a:ext cx="4709160" cy="777240"/>
          </a:xfrm>
          <a:prstGeom prst="rect">
            <a:avLst/>
          </a:prstGeom>
          <a:noFill/>
          <a:ln/>
        </p:spPr>
        <p:txBody>
          <a:bodyPr wrap="square" lIns="0" tIns="0" rIns="0" bIns="0" rtlCol="0" anchor="ctr"/>
          <a:lstStyle/>
          <a:p>
            <a:pPr marL="0" indent="0">
              <a:buNone/>
            </a:pPr>
            <a:r>
              <a:rPr lang="en-US" sz="1200" dirty="0">
                <a:solidFill>
                  <a:srgbClr val="1A1A1A"/>
                </a:solidFill>
                <a:latin typeface="Montserrat" pitchFamily="34" charset="0"/>
                <a:ea typeface="Montserrat" pitchFamily="34" charset="-122"/>
                <a:cs typeface="Montserrat" pitchFamily="34" charset="-120"/>
              </a:rPr>
              <a:t>The systems that hold everything together</a:t>
            </a:r>
            <a:endParaRPr lang="en-US" sz="1200" dirty="0"/>
          </a:p>
        </p:txBody>
      </p:sp>
      <p:sp>
        <p:nvSpPr>
          <p:cNvPr id="17" name="Text 14"/>
          <p:cNvSpPr/>
          <p:nvPr/>
        </p:nvSpPr>
        <p:spPr>
          <a:xfrm>
            <a:off x="640080" y="4533138"/>
            <a:ext cx="8229600" cy="365760"/>
          </a:xfrm>
          <a:prstGeom prst="rect">
            <a:avLst/>
          </a:prstGeom>
          <a:noFill/>
          <a:ln/>
        </p:spPr>
        <p:txBody>
          <a:bodyPr wrap="square" lIns="0" tIns="0" rIns="0" bIns="0" rtlCol="0" anchor="ctr"/>
          <a:lstStyle/>
          <a:p>
            <a:pPr marL="0" indent="0">
              <a:buNone/>
            </a:pPr>
            <a:r>
              <a:rPr lang="en-US" sz="1150" i="1" dirty="0">
                <a:solidFill>
                  <a:srgbClr val="6B6B6B"/>
                </a:solidFill>
                <a:highlight>
                  <a:srgbClr val="FFFF00"/>
                </a:highlight>
                <a:latin typeface="Montserrat" pitchFamily="34" charset="0"/>
                <a:ea typeface="Montserrat" pitchFamily="34" charset="-122"/>
                <a:cs typeface="Montserrat" pitchFamily="34" charset="-120"/>
              </a:rPr>
              <a:t>Support activities don’t deal with the product directly — but without them, the primary activities fall apart.</a:t>
            </a:r>
            <a:endParaRPr lang="en-US" sz="1150" dirty="0">
              <a:highlight>
                <a:srgbClr val="FFFF00"/>
              </a:highlight>
            </a:endParaRPr>
          </a:p>
        </p:txBody>
      </p:sp>
    </p:spTree>
    <p:extLst>
      <p:ext uri="{BB962C8B-B14F-4D97-AF65-F5344CB8AC3E}">
        <p14:creationId xmlns:p14="http://schemas.microsoft.com/office/powerpoint/2010/main" val="76897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C2221B25-EBF7-FF69-5700-901C1A4828C4}"/>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DF0231CD-0E55-D47C-FAD7-EA809083CC99}"/>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1">
            <a:extLst>
              <a:ext uri="{FF2B5EF4-FFF2-40B4-BE49-F238E27FC236}">
                <a16:creationId xmlns:a16="http://schemas.microsoft.com/office/drawing/2014/main" id="{A2B0C69B-25C8-70BC-7542-B253D161D674}"/>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Value Chain</a:t>
            </a:r>
            <a:endParaRPr lang="en-US" sz="2500" dirty="0"/>
          </a:p>
        </p:txBody>
      </p:sp>
      <p:pic>
        <p:nvPicPr>
          <p:cNvPr id="19" name="Picture 18">
            <a:extLst>
              <a:ext uri="{FF2B5EF4-FFF2-40B4-BE49-F238E27FC236}">
                <a16:creationId xmlns:a16="http://schemas.microsoft.com/office/drawing/2014/main" id="{C419C1D3-9BD1-8E76-7711-33989C9FDE3A}"/>
              </a:ext>
            </a:extLst>
          </p:cNvPr>
          <p:cNvPicPr>
            <a:picLocks noChangeAspect="1"/>
          </p:cNvPicPr>
          <p:nvPr/>
        </p:nvPicPr>
        <p:blipFill>
          <a:blip r:embed="rId4"/>
          <a:stretch>
            <a:fillRect/>
          </a:stretch>
        </p:blipFill>
        <p:spPr>
          <a:xfrm>
            <a:off x="2448613" y="850392"/>
            <a:ext cx="5251598" cy="3835908"/>
          </a:xfrm>
          <a:prstGeom prst="rect">
            <a:avLst/>
          </a:prstGeom>
        </p:spPr>
      </p:pic>
    </p:spTree>
    <p:extLst>
      <p:ext uri="{BB962C8B-B14F-4D97-AF65-F5344CB8AC3E}">
        <p14:creationId xmlns:p14="http://schemas.microsoft.com/office/powerpoint/2010/main" val="708360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BACK TO BONCHO’S MOMOS</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Mapping His Value Chain</a:t>
            </a:r>
            <a:endParaRPr lang="en-US" sz="2500" dirty="0"/>
          </a:p>
        </p:txBody>
      </p:sp>
      <p:sp>
        <p:nvSpPr>
          <p:cNvPr id="5" name="Shape 2"/>
          <p:cNvSpPr/>
          <p:nvPr/>
        </p:nvSpPr>
        <p:spPr>
          <a:xfrm>
            <a:off x="457200" y="1280160"/>
            <a:ext cx="2103120" cy="822960"/>
          </a:xfrm>
          <a:prstGeom prst="rect">
            <a:avLst/>
          </a:prstGeom>
          <a:solidFill>
            <a:srgbClr val="B20E38"/>
          </a:solidFill>
          <a:ln/>
        </p:spPr>
        <p:txBody>
          <a:bodyPr/>
          <a:lstStyle/>
          <a:p>
            <a:endParaRPr lang="en-US"/>
          </a:p>
        </p:txBody>
      </p:sp>
      <p:sp>
        <p:nvSpPr>
          <p:cNvPr id="6" name="Text 3"/>
          <p:cNvSpPr/>
          <p:nvPr/>
        </p:nvSpPr>
        <p:spPr>
          <a:xfrm>
            <a:off x="457200" y="1280160"/>
            <a:ext cx="210312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Inbound</a:t>
            </a:r>
            <a:endParaRPr lang="en-US" sz="1250" dirty="0"/>
          </a:p>
        </p:txBody>
      </p:sp>
      <p:sp>
        <p:nvSpPr>
          <p:cNvPr id="7" name="Shape 4"/>
          <p:cNvSpPr/>
          <p:nvPr/>
        </p:nvSpPr>
        <p:spPr>
          <a:xfrm>
            <a:off x="2606040" y="1280160"/>
            <a:ext cx="6080760" cy="822960"/>
          </a:xfrm>
          <a:prstGeom prst="rect">
            <a:avLst/>
          </a:prstGeom>
          <a:solidFill>
            <a:srgbClr val="FFFFFF">
              <a:alpha val="88000"/>
            </a:srgbClr>
          </a:solidFill>
          <a:ln/>
        </p:spPr>
        <p:txBody>
          <a:bodyPr/>
          <a:lstStyle/>
          <a:p>
            <a:endParaRPr lang="en-US"/>
          </a:p>
        </p:txBody>
      </p:sp>
      <p:sp>
        <p:nvSpPr>
          <p:cNvPr id="8" name="Text 5"/>
          <p:cNvSpPr/>
          <p:nvPr/>
        </p:nvSpPr>
        <p:spPr>
          <a:xfrm>
            <a:off x="2788920" y="1280160"/>
            <a:ext cx="5760720" cy="822960"/>
          </a:xfrm>
          <a:prstGeom prst="rect">
            <a:avLst/>
          </a:prstGeom>
          <a:noFill/>
          <a:ln/>
        </p:spPr>
        <p:txBody>
          <a:bodyPr wrap="square" lIns="0" tIns="0" rIns="0" bIns="0" rtlCol="0" anchor="ctr"/>
          <a:lstStyle/>
          <a:p>
            <a:pPr marL="0" indent="0">
              <a:buNone/>
            </a:pPr>
            <a:r>
              <a:rPr lang="en-US" sz="1250" dirty="0">
                <a:solidFill>
                  <a:srgbClr val="1A1A1A"/>
                </a:solidFill>
                <a:latin typeface="Montserrat" pitchFamily="34" charset="0"/>
                <a:ea typeface="Montserrat" pitchFamily="34" charset="-122"/>
                <a:cs typeface="Montserrat" pitchFamily="34" charset="-120"/>
              </a:rPr>
              <a:t>Buying vegetables and flour each morning</a:t>
            </a:r>
            <a:endParaRPr lang="en-US" sz="1250" dirty="0"/>
          </a:p>
        </p:txBody>
      </p:sp>
      <p:sp>
        <p:nvSpPr>
          <p:cNvPr id="9" name="Shape 6"/>
          <p:cNvSpPr/>
          <p:nvPr/>
        </p:nvSpPr>
        <p:spPr>
          <a:xfrm>
            <a:off x="457200" y="2221992"/>
            <a:ext cx="2103120" cy="822960"/>
          </a:xfrm>
          <a:prstGeom prst="rect">
            <a:avLst/>
          </a:prstGeom>
          <a:solidFill>
            <a:srgbClr val="B20E38"/>
          </a:solidFill>
          <a:ln/>
        </p:spPr>
        <p:txBody>
          <a:bodyPr/>
          <a:lstStyle/>
          <a:p>
            <a:endParaRPr lang="en-US"/>
          </a:p>
        </p:txBody>
      </p:sp>
      <p:sp>
        <p:nvSpPr>
          <p:cNvPr id="10" name="Text 7"/>
          <p:cNvSpPr/>
          <p:nvPr/>
        </p:nvSpPr>
        <p:spPr>
          <a:xfrm>
            <a:off x="457200" y="2221992"/>
            <a:ext cx="210312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Operations</a:t>
            </a:r>
            <a:endParaRPr lang="en-US" sz="1250" dirty="0"/>
          </a:p>
        </p:txBody>
      </p:sp>
      <p:sp>
        <p:nvSpPr>
          <p:cNvPr id="11" name="Shape 8"/>
          <p:cNvSpPr/>
          <p:nvPr/>
        </p:nvSpPr>
        <p:spPr>
          <a:xfrm>
            <a:off x="2606040" y="2221992"/>
            <a:ext cx="6080760" cy="822960"/>
          </a:xfrm>
          <a:prstGeom prst="rect">
            <a:avLst/>
          </a:prstGeom>
          <a:solidFill>
            <a:srgbClr val="FFFFFF">
              <a:alpha val="88000"/>
            </a:srgbClr>
          </a:solidFill>
          <a:ln/>
        </p:spPr>
        <p:txBody>
          <a:bodyPr/>
          <a:lstStyle/>
          <a:p>
            <a:endParaRPr lang="en-US"/>
          </a:p>
        </p:txBody>
      </p:sp>
      <p:sp>
        <p:nvSpPr>
          <p:cNvPr id="12" name="Text 9"/>
          <p:cNvSpPr/>
          <p:nvPr/>
        </p:nvSpPr>
        <p:spPr>
          <a:xfrm>
            <a:off x="2788920" y="2221992"/>
            <a:ext cx="5760720" cy="822960"/>
          </a:xfrm>
          <a:prstGeom prst="rect">
            <a:avLst/>
          </a:prstGeom>
          <a:noFill/>
          <a:ln/>
        </p:spPr>
        <p:txBody>
          <a:bodyPr wrap="square" lIns="0" tIns="0" rIns="0" bIns="0" rtlCol="0" anchor="ctr"/>
          <a:lstStyle/>
          <a:p>
            <a:pPr marL="0" indent="0">
              <a:buNone/>
            </a:pPr>
            <a:r>
              <a:rPr lang="en-US" sz="1250" dirty="0">
                <a:solidFill>
                  <a:srgbClr val="1A1A1A"/>
                </a:solidFill>
                <a:latin typeface="Montserrat" pitchFamily="34" charset="0"/>
                <a:ea typeface="Montserrat" pitchFamily="34" charset="-122"/>
                <a:cs typeface="Montserrat" pitchFamily="34" charset="-120"/>
              </a:rPr>
              <a:t>Prepping and steaming the momos</a:t>
            </a:r>
            <a:endParaRPr lang="en-US" sz="1250" dirty="0"/>
          </a:p>
        </p:txBody>
      </p:sp>
      <p:sp>
        <p:nvSpPr>
          <p:cNvPr id="13" name="Shape 10"/>
          <p:cNvSpPr/>
          <p:nvPr/>
        </p:nvSpPr>
        <p:spPr>
          <a:xfrm>
            <a:off x="457200" y="3163824"/>
            <a:ext cx="2103120" cy="822960"/>
          </a:xfrm>
          <a:prstGeom prst="rect">
            <a:avLst/>
          </a:prstGeom>
          <a:solidFill>
            <a:srgbClr val="B20E38"/>
          </a:solidFill>
          <a:ln/>
        </p:spPr>
        <p:txBody>
          <a:bodyPr/>
          <a:lstStyle/>
          <a:p>
            <a:endParaRPr lang="en-US"/>
          </a:p>
        </p:txBody>
      </p:sp>
      <p:sp>
        <p:nvSpPr>
          <p:cNvPr id="14" name="Text 11"/>
          <p:cNvSpPr/>
          <p:nvPr/>
        </p:nvSpPr>
        <p:spPr>
          <a:xfrm>
            <a:off x="457200" y="3163824"/>
            <a:ext cx="210312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Outbound + Sales</a:t>
            </a:r>
            <a:endParaRPr lang="en-US" sz="1250" dirty="0"/>
          </a:p>
        </p:txBody>
      </p:sp>
      <p:sp>
        <p:nvSpPr>
          <p:cNvPr id="15" name="Shape 12"/>
          <p:cNvSpPr/>
          <p:nvPr/>
        </p:nvSpPr>
        <p:spPr>
          <a:xfrm>
            <a:off x="2606040" y="3163824"/>
            <a:ext cx="6080760" cy="822960"/>
          </a:xfrm>
          <a:prstGeom prst="rect">
            <a:avLst/>
          </a:prstGeom>
          <a:solidFill>
            <a:srgbClr val="FFFFFF">
              <a:alpha val="88000"/>
            </a:srgbClr>
          </a:solidFill>
          <a:ln/>
        </p:spPr>
        <p:txBody>
          <a:bodyPr/>
          <a:lstStyle/>
          <a:p>
            <a:endParaRPr lang="en-US"/>
          </a:p>
        </p:txBody>
      </p:sp>
      <p:sp>
        <p:nvSpPr>
          <p:cNvPr id="16" name="Text 13"/>
          <p:cNvSpPr/>
          <p:nvPr/>
        </p:nvSpPr>
        <p:spPr>
          <a:xfrm>
            <a:off x="2788920" y="3163824"/>
            <a:ext cx="5760720" cy="822960"/>
          </a:xfrm>
          <a:prstGeom prst="rect">
            <a:avLst/>
          </a:prstGeom>
          <a:noFill/>
          <a:ln/>
        </p:spPr>
        <p:txBody>
          <a:bodyPr wrap="square" lIns="0" tIns="0" rIns="0" bIns="0" rtlCol="0" anchor="ctr"/>
          <a:lstStyle/>
          <a:p>
            <a:pPr marL="0" indent="0">
              <a:buNone/>
            </a:pPr>
            <a:r>
              <a:rPr lang="en-US" sz="1250" dirty="0">
                <a:solidFill>
                  <a:srgbClr val="1A1A1A"/>
                </a:solidFill>
                <a:latin typeface="Montserrat" pitchFamily="34" charset="0"/>
                <a:ea typeface="Montserrat" pitchFamily="34" charset="-122"/>
                <a:cs typeface="Montserrat" pitchFamily="34" charset="-120"/>
              </a:rPr>
              <a:t>Serving customers at the cart, and maybe, delivery</a:t>
            </a:r>
            <a:endParaRPr lang="en-US" sz="12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CORE CONCEPT 4</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What Is Cost Analysis?</a:t>
            </a:r>
            <a:endParaRPr lang="en-US" sz="2500" dirty="0"/>
          </a:p>
        </p:txBody>
      </p:sp>
      <p:sp>
        <p:nvSpPr>
          <p:cNvPr id="5" name="Shape 2"/>
          <p:cNvSpPr/>
          <p:nvPr/>
        </p:nvSpPr>
        <p:spPr>
          <a:xfrm>
            <a:off x="457200" y="1188720"/>
            <a:ext cx="8229600" cy="3108960"/>
          </a:xfrm>
          <a:prstGeom prst="roundRect">
            <a:avLst>
              <a:gd name="adj" fmla="val 2941"/>
            </a:avLst>
          </a:prstGeom>
          <a:solidFill>
            <a:srgbClr val="FFFFFF">
              <a:alpha val="90000"/>
            </a:srgbClr>
          </a:solidFill>
          <a:ln/>
        </p:spPr>
        <p:txBody>
          <a:bodyPr/>
          <a:lstStyle/>
          <a:p>
            <a:endParaRPr lang="en-US"/>
          </a:p>
        </p:txBody>
      </p:sp>
      <p:sp>
        <p:nvSpPr>
          <p:cNvPr id="6" name="Text 3"/>
          <p:cNvSpPr/>
          <p:nvPr/>
        </p:nvSpPr>
        <p:spPr>
          <a:xfrm>
            <a:off x="731520" y="1371600"/>
            <a:ext cx="7680960" cy="640080"/>
          </a:xfrm>
          <a:prstGeom prst="rect">
            <a:avLst/>
          </a:prstGeom>
          <a:noFill/>
          <a:ln/>
        </p:spPr>
        <p:txBody>
          <a:bodyPr wrap="square" lIns="0" tIns="0" rIns="0" bIns="0" rtlCol="0" anchor="ctr"/>
          <a:lstStyle/>
          <a:p>
            <a:pPr marL="0" indent="0">
              <a:lnSpc>
                <a:spcPct val="120000"/>
              </a:lnSpc>
              <a:buNone/>
            </a:pPr>
            <a:r>
              <a:rPr lang="en-US" sz="1500" b="1" dirty="0">
                <a:solidFill>
                  <a:srgbClr val="B20E38"/>
                </a:solidFill>
                <a:latin typeface="Montserrat SemiBold" pitchFamily="34" charset="0"/>
                <a:ea typeface="Montserrat SemiBold" pitchFamily="34" charset="-122"/>
                <a:cs typeface="Montserrat SemiBold" pitchFamily="34" charset="-120"/>
              </a:rPr>
              <a:t>Figuring out exactly where money is spent across the value chain — and whether each step earns its cost back.</a:t>
            </a:r>
            <a:endParaRPr lang="en-US" sz="1500" dirty="0"/>
          </a:p>
        </p:txBody>
      </p:sp>
      <p:sp>
        <p:nvSpPr>
          <p:cNvPr id="7" name="Text 4"/>
          <p:cNvSpPr/>
          <p:nvPr/>
        </p:nvSpPr>
        <p:spPr>
          <a:xfrm>
            <a:off x="731520" y="2148840"/>
            <a:ext cx="7680960" cy="914400"/>
          </a:xfrm>
          <a:prstGeom prst="rect">
            <a:avLst/>
          </a:prstGeom>
          <a:noFill/>
          <a:ln/>
        </p:spPr>
        <p:txBody>
          <a:bodyPr wrap="square" lIns="0" tIns="0" rIns="0" bIns="0" rtlCol="0" anchor="ctr"/>
          <a:lstStyle/>
          <a:p>
            <a:pPr marL="0" indent="0">
              <a:lnSpc>
                <a:spcPct val="125000"/>
              </a:lnSpc>
              <a:buNone/>
            </a:pPr>
            <a:r>
              <a:rPr lang="en-US" sz="1300" dirty="0">
                <a:solidFill>
                  <a:srgbClr val="1A1A1A"/>
                </a:solidFill>
                <a:latin typeface="Montserrat" pitchFamily="34" charset="0"/>
                <a:ea typeface="Montserrat" pitchFamily="34" charset="-122"/>
                <a:cs typeface="Montserrat" pitchFamily="34" charset="-120"/>
              </a:rPr>
              <a:t>A step that costs a lot but adds little value to the customer is a target for cutting. A step that costs a little but creates a lot of value is worth protecting, even growing.</a:t>
            </a:r>
            <a:endParaRPr lang="en-US" sz="1300" dirty="0"/>
          </a:p>
        </p:txBody>
      </p:sp>
      <p:sp>
        <p:nvSpPr>
          <p:cNvPr id="8" name="Text 5"/>
          <p:cNvSpPr/>
          <p:nvPr/>
        </p:nvSpPr>
        <p:spPr>
          <a:xfrm>
            <a:off x="731520" y="3108960"/>
            <a:ext cx="7680960" cy="1005840"/>
          </a:xfrm>
          <a:prstGeom prst="rect">
            <a:avLst/>
          </a:prstGeom>
          <a:noFill/>
          <a:ln/>
        </p:spPr>
        <p:txBody>
          <a:bodyPr wrap="square" lIns="0" tIns="0" rIns="0" bIns="0" rtlCol="0" anchor="ctr"/>
          <a:lstStyle/>
          <a:p>
            <a:pPr marL="0" indent="0">
              <a:lnSpc>
                <a:spcPct val="125000"/>
              </a:lnSpc>
              <a:buNone/>
            </a:pPr>
            <a:r>
              <a:rPr lang="en-US" sz="1300" i="1" dirty="0">
                <a:solidFill>
                  <a:srgbClr val="2A2A2A"/>
                </a:solidFill>
                <a:latin typeface="Montserrat" pitchFamily="34" charset="0"/>
                <a:ea typeface="Montserrat" pitchFamily="34" charset="-122"/>
                <a:cs typeface="Montserrat" pitchFamily="34" charset="-120"/>
              </a:rPr>
              <a:t>Hero's in-house component manufacturing lowered cost at a step most rivals treated as an expensive external purchase.</a:t>
            </a:r>
            <a:endParaRPr lang="en-US" sz="1300" dirty="0"/>
          </a:p>
        </p:txBody>
      </p:sp>
      <p:sp>
        <p:nvSpPr>
          <p:cNvPr id="9" name="Text 6"/>
          <p:cNvSpPr/>
          <p:nvPr/>
        </p:nvSpPr>
        <p:spPr>
          <a:xfrm>
            <a:off x="365760" y="4864608"/>
            <a:ext cx="7589520" cy="228600"/>
          </a:xfrm>
          <a:prstGeom prst="rect">
            <a:avLst/>
          </a:prstGeom>
          <a:noFill/>
          <a:ln/>
        </p:spPr>
        <p:txBody>
          <a:bodyPr wrap="square" lIns="0" tIns="0" rIns="0" bIns="0" rtlCol="0" anchor="ctr"/>
          <a:lstStyle/>
          <a:p>
            <a:pPr marL="0" indent="0" algn="l">
              <a:buNone/>
            </a:pPr>
            <a:r>
              <a:rPr lang="en-US" sz="800" i="1" dirty="0">
                <a:solidFill>
                  <a:srgbClr val="8A6A55"/>
                </a:solidFill>
                <a:latin typeface="Montserrat" pitchFamily="34" charset="0"/>
                <a:ea typeface="Montserrat" pitchFamily="34" charset="-122"/>
                <a:cs typeface="Montserrat" pitchFamily="34" charset="-120"/>
              </a:rPr>
              <a:t>Based on: A. Nag, Strategic Management: Analysis, Implementation and Control, Ch. 5.</a:t>
            </a:r>
            <a:endParaRPr lang="en-US" sz="800" dirty="0"/>
          </a:p>
        </p:txBody>
      </p:sp>
      <p:sp>
        <p:nvSpPr>
          <p:cNvPr id="10" name="Text 7"/>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9 / 17</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FROM THE READING: SUN TZU, CH. II</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Sun Tzu's Economics of War</a:t>
            </a:r>
            <a:endParaRPr lang="en-US" sz="2500" dirty="0"/>
          </a:p>
        </p:txBody>
      </p:sp>
      <p:pic>
        <p:nvPicPr>
          <p:cNvPr id="15" name="Picture 14">
            <a:extLst>
              <a:ext uri="{FF2B5EF4-FFF2-40B4-BE49-F238E27FC236}">
                <a16:creationId xmlns:a16="http://schemas.microsoft.com/office/drawing/2014/main" id="{0D21C8D0-F9A6-B7FA-7374-63C02109D841}"/>
              </a:ext>
            </a:extLst>
          </p:cNvPr>
          <p:cNvPicPr>
            <a:picLocks noChangeAspect="1"/>
          </p:cNvPicPr>
          <p:nvPr/>
        </p:nvPicPr>
        <p:blipFill>
          <a:blip r:embed="rId4"/>
          <a:stretch>
            <a:fillRect/>
          </a:stretch>
        </p:blipFill>
        <p:spPr>
          <a:xfrm>
            <a:off x="608082" y="1236587"/>
            <a:ext cx="7483573" cy="35207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FROM THE READING: SUN TZU, CH. II</a:t>
            </a:r>
            <a:endParaRPr lang="en-US" sz="1050" dirty="0"/>
          </a:p>
        </p:txBody>
      </p:sp>
      <p:sp>
        <p:nvSpPr>
          <p:cNvPr id="4" name="Text 1"/>
          <p:cNvSpPr/>
          <p:nvPr/>
        </p:nvSpPr>
        <p:spPr>
          <a:xfrm>
            <a:off x="365760" y="34747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“Forage on the Enemy” — The Value Chain Lesson</a:t>
            </a:r>
            <a:endParaRPr lang="en-US" sz="2500" dirty="0"/>
          </a:p>
        </p:txBody>
      </p:sp>
      <p:pic>
        <p:nvPicPr>
          <p:cNvPr id="12" name="Picture 11">
            <a:extLst>
              <a:ext uri="{FF2B5EF4-FFF2-40B4-BE49-F238E27FC236}">
                <a16:creationId xmlns:a16="http://schemas.microsoft.com/office/drawing/2014/main" id="{56A8D34A-ACD6-7353-6B0F-BBE5C9F885A5}"/>
              </a:ext>
            </a:extLst>
          </p:cNvPr>
          <p:cNvPicPr>
            <a:picLocks noChangeAspect="1"/>
          </p:cNvPicPr>
          <p:nvPr/>
        </p:nvPicPr>
        <p:blipFill>
          <a:blip r:embed="rId4"/>
          <a:stretch>
            <a:fillRect/>
          </a:stretch>
        </p:blipFill>
        <p:spPr>
          <a:xfrm>
            <a:off x="838200" y="1014984"/>
            <a:ext cx="7715250" cy="37274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CLASS ACTIVITY · 10 MINUTES</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Find the Cost Advantage</a:t>
            </a:r>
            <a:endParaRPr lang="en-US" sz="2500" dirty="0"/>
          </a:p>
        </p:txBody>
      </p:sp>
      <p:sp>
        <p:nvSpPr>
          <p:cNvPr id="5" name="Text 2"/>
          <p:cNvSpPr/>
          <p:nvPr/>
        </p:nvSpPr>
        <p:spPr>
          <a:xfrm>
            <a:off x="457200" y="850392"/>
            <a:ext cx="8229600" cy="822960"/>
          </a:xfrm>
          <a:prstGeom prst="rect">
            <a:avLst/>
          </a:prstGeom>
          <a:noFill/>
          <a:ln/>
        </p:spPr>
        <p:txBody>
          <a:bodyPr wrap="square" lIns="0" tIns="0" rIns="0" bIns="0" rtlCol="0" anchor="ctr"/>
          <a:lstStyle/>
          <a:p>
            <a:pPr marL="0" indent="0">
              <a:lnSpc>
                <a:spcPct val="130000"/>
              </a:lnSpc>
              <a:buNone/>
            </a:pPr>
            <a:r>
              <a:rPr lang="en-US" sz="1400" i="1" dirty="0">
                <a:solidFill>
                  <a:srgbClr val="2A2A2A"/>
                </a:solidFill>
                <a:latin typeface="Montserrat" pitchFamily="34" charset="0"/>
                <a:ea typeface="Montserrat" pitchFamily="34" charset="-122"/>
                <a:cs typeface="Montserrat" pitchFamily="34" charset="-120"/>
              </a:rPr>
              <a:t>Pick any business you know. Walk through its value chain</a:t>
            </a:r>
            <a:endParaRPr lang="en-US" sz="1400" dirty="0"/>
          </a:p>
        </p:txBody>
      </p:sp>
      <p:sp>
        <p:nvSpPr>
          <p:cNvPr id="6" name="Shape 3"/>
          <p:cNvSpPr/>
          <p:nvPr/>
        </p:nvSpPr>
        <p:spPr>
          <a:xfrm>
            <a:off x="457200" y="1920240"/>
            <a:ext cx="8229600" cy="685800"/>
          </a:xfrm>
          <a:prstGeom prst="roundRect">
            <a:avLst>
              <a:gd name="adj" fmla="val 10667"/>
            </a:avLst>
          </a:prstGeom>
          <a:solidFill>
            <a:srgbClr val="FFFFFF">
              <a:alpha val="88000"/>
            </a:srgbClr>
          </a:solidFill>
          <a:ln/>
        </p:spPr>
        <p:txBody>
          <a:bodyPr/>
          <a:lstStyle/>
          <a:p>
            <a:endParaRPr lang="en-US"/>
          </a:p>
        </p:txBody>
      </p:sp>
      <p:sp>
        <p:nvSpPr>
          <p:cNvPr id="7" name="Text 4"/>
          <p:cNvSpPr/>
          <p:nvPr/>
        </p:nvSpPr>
        <p:spPr>
          <a:xfrm>
            <a:off x="731520" y="1920240"/>
            <a:ext cx="7680960" cy="685800"/>
          </a:xfrm>
          <a:prstGeom prst="rect">
            <a:avLst/>
          </a:prstGeom>
          <a:noFill/>
          <a:ln/>
        </p:spPr>
        <p:txBody>
          <a:bodyPr wrap="square" lIns="0" tIns="0" rIns="0" bIns="0" rtlCol="0" anchor="ctr"/>
          <a:lstStyle/>
          <a:p>
            <a:pPr marL="0" indent="0">
              <a:buNone/>
            </a:pPr>
            <a:r>
              <a:rPr lang="en-US" sz="1300" dirty="0">
                <a:solidFill>
                  <a:srgbClr val="1A1A1A"/>
                </a:solidFill>
                <a:latin typeface="Montserrat" pitchFamily="34" charset="0"/>
                <a:ea typeface="Montserrat" pitchFamily="34" charset="-122"/>
                <a:cs typeface="Montserrat" pitchFamily="34" charset="-120"/>
              </a:rPr>
              <a:t>•  Which step costs the most, honestly?</a:t>
            </a:r>
            <a:endParaRPr lang="en-US" sz="1300" dirty="0"/>
          </a:p>
        </p:txBody>
      </p:sp>
      <p:sp>
        <p:nvSpPr>
          <p:cNvPr id="8" name="Shape 5"/>
          <p:cNvSpPr/>
          <p:nvPr/>
        </p:nvSpPr>
        <p:spPr>
          <a:xfrm>
            <a:off x="457200" y="2724912"/>
            <a:ext cx="8229600" cy="685800"/>
          </a:xfrm>
          <a:prstGeom prst="roundRect">
            <a:avLst>
              <a:gd name="adj" fmla="val 10667"/>
            </a:avLst>
          </a:prstGeom>
          <a:solidFill>
            <a:srgbClr val="FFFFFF">
              <a:alpha val="88000"/>
            </a:srgbClr>
          </a:solidFill>
          <a:ln/>
        </p:spPr>
        <p:txBody>
          <a:bodyPr/>
          <a:lstStyle/>
          <a:p>
            <a:endParaRPr lang="en-US"/>
          </a:p>
        </p:txBody>
      </p:sp>
      <p:sp>
        <p:nvSpPr>
          <p:cNvPr id="9" name="Text 6"/>
          <p:cNvSpPr/>
          <p:nvPr/>
        </p:nvSpPr>
        <p:spPr>
          <a:xfrm>
            <a:off x="731520" y="2724912"/>
            <a:ext cx="7680960" cy="685800"/>
          </a:xfrm>
          <a:prstGeom prst="rect">
            <a:avLst/>
          </a:prstGeom>
          <a:noFill/>
          <a:ln/>
        </p:spPr>
        <p:txBody>
          <a:bodyPr wrap="square" lIns="0" tIns="0" rIns="0" bIns="0" rtlCol="0" anchor="ctr"/>
          <a:lstStyle/>
          <a:p>
            <a:pPr marL="0" indent="0">
              <a:buNone/>
            </a:pPr>
            <a:r>
              <a:rPr lang="en-US" sz="1300" dirty="0">
                <a:solidFill>
                  <a:srgbClr val="1A1A1A"/>
                </a:solidFill>
                <a:latin typeface="Montserrat" pitchFamily="34" charset="0"/>
                <a:ea typeface="Montserrat" pitchFamily="34" charset="-122"/>
                <a:cs typeface="Montserrat" pitchFamily="34" charset="-120"/>
              </a:rPr>
              <a:t>•  Which step does the customer notice and value?</a:t>
            </a:r>
            <a:endParaRPr lang="en-US" sz="1300" dirty="0"/>
          </a:p>
        </p:txBody>
      </p:sp>
      <p:sp>
        <p:nvSpPr>
          <p:cNvPr id="12" name="Text 9"/>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14 / 17</a:t>
            </a:r>
            <a:endParaRPr lang="en-US" sz="800" dirty="0"/>
          </a:p>
        </p:txBody>
      </p:sp>
      <p:sp>
        <p:nvSpPr>
          <p:cNvPr id="13" name="Shape 5">
            <a:extLst>
              <a:ext uri="{FF2B5EF4-FFF2-40B4-BE49-F238E27FC236}">
                <a16:creationId xmlns:a16="http://schemas.microsoft.com/office/drawing/2014/main" id="{7AA51158-59D4-BB70-109A-0F76EF6A2B2B}"/>
              </a:ext>
            </a:extLst>
          </p:cNvPr>
          <p:cNvSpPr/>
          <p:nvPr/>
        </p:nvSpPr>
        <p:spPr>
          <a:xfrm>
            <a:off x="454152" y="3526536"/>
            <a:ext cx="8229600" cy="685800"/>
          </a:xfrm>
          <a:prstGeom prst="roundRect">
            <a:avLst>
              <a:gd name="adj" fmla="val 10667"/>
            </a:avLst>
          </a:prstGeom>
          <a:solidFill>
            <a:srgbClr val="FFFFFF">
              <a:alpha val="88000"/>
            </a:srgbClr>
          </a:solidFill>
          <a:ln/>
        </p:spPr>
        <p:txBody>
          <a:bodyPr/>
          <a:lstStyle/>
          <a:p>
            <a:endParaRPr lang="en-US"/>
          </a:p>
        </p:txBody>
      </p:sp>
      <p:sp>
        <p:nvSpPr>
          <p:cNvPr id="14" name="Text 6">
            <a:extLst>
              <a:ext uri="{FF2B5EF4-FFF2-40B4-BE49-F238E27FC236}">
                <a16:creationId xmlns:a16="http://schemas.microsoft.com/office/drawing/2014/main" id="{306A19EF-1059-B43A-8DE1-AEC3B7A9A645}"/>
              </a:ext>
            </a:extLst>
          </p:cNvPr>
          <p:cNvSpPr/>
          <p:nvPr/>
        </p:nvSpPr>
        <p:spPr>
          <a:xfrm>
            <a:off x="728472" y="3526536"/>
            <a:ext cx="7680960" cy="685800"/>
          </a:xfrm>
          <a:prstGeom prst="rect">
            <a:avLst/>
          </a:prstGeom>
          <a:noFill/>
          <a:ln/>
        </p:spPr>
        <p:txBody>
          <a:bodyPr wrap="square" lIns="0" tIns="0" rIns="0" bIns="0" rtlCol="0" anchor="ctr"/>
          <a:lstStyle/>
          <a:p>
            <a:r>
              <a:rPr lang="en-US" sz="1300" dirty="0">
                <a:solidFill>
                  <a:srgbClr val="1A1A1A"/>
                </a:solidFill>
                <a:latin typeface="Montserrat" pitchFamily="34" charset="0"/>
                <a:ea typeface="Montserrat" pitchFamily="34" charset="-122"/>
                <a:cs typeface="Montserrat" pitchFamily="34" charset="-120"/>
              </a:rPr>
              <a:t>•  </a:t>
            </a:r>
            <a:r>
              <a:rPr lang="en-US" sz="1200" i="1" dirty="0">
                <a:solidFill>
                  <a:srgbClr val="2A2A2A"/>
                </a:solidFill>
                <a:latin typeface="Montserrat" pitchFamily="34" charset="0"/>
                <a:ea typeface="Montserrat" pitchFamily="34" charset="-122"/>
                <a:cs typeface="Montserrat" pitchFamily="34" charset="-120"/>
              </a:rPr>
              <a:t>Find one step where it could cut cost without losing customer value.</a:t>
            </a:r>
            <a:endParaRPr lang="en-US" sz="1400" dirty="0"/>
          </a:p>
          <a:p>
            <a:pPr marL="0" indent="0">
              <a:buNone/>
            </a:pP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WHY THIS MATTERS</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Why This Matters for a Founder</a:t>
            </a:r>
            <a:endParaRPr lang="en-US" sz="2500" dirty="0"/>
          </a:p>
        </p:txBody>
      </p:sp>
      <p:sp>
        <p:nvSpPr>
          <p:cNvPr id="5" name="Shape 2"/>
          <p:cNvSpPr/>
          <p:nvPr/>
        </p:nvSpPr>
        <p:spPr>
          <a:xfrm>
            <a:off x="502920" y="1417320"/>
            <a:ext cx="365760" cy="365760"/>
          </a:xfrm>
          <a:prstGeom prst="ellipse">
            <a:avLst/>
          </a:prstGeom>
          <a:solidFill>
            <a:srgbClr val="B20E38"/>
          </a:solidFill>
          <a:ln/>
        </p:spPr>
        <p:txBody>
          <a:bodyPr/>
          <a:lstStyle/>
          <a:p>
            <a:endParaRPr lang="en-US"/>
          </a:p>
        </p:txBody>
      </p:sp>
      <p:sp>
        <p:nvSpPr>
          <p:cNvPr id="6" name="Text 3"/>
          <p:cNvSpPr/>
          <p:nvPr/>
        </p:nvSpPr>
        <p:spPr>
          <a:xfrm>
            <a:off x="502920" y="14173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1</a:t>
            </a:r>
            <a:endParaRPr lang="en-US" sz="1500" dirty="0"/>
          </a:p>
        </p:txBody>
      </p:sp>
      <p:sp>
        <p:nvSpPr>
          <p:cNvPr id="7" name="Text 4"/>
          <p:cNvSpPr/>
          <p:nvPr/>
        </p:nvSpPr>
        <p:spPr>
          <a:xfrm>
            <a:off x="1051560" y="1371600"/>
            <a:ext cx="7406640" cy="68580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Most founders know their total costs but not where in the chain those costs sit</a:t>
            </a:r>
            <a:endParaRPr lang="en-US" sz="1300" dirty="0"/>
          </a:p>
        </p:txBody>
      </p:sp>
      <p:sp>
        <p:nvSpPr>
          <p:cNvPr id="8" name="Shape 5"/>
          <p:cNvSpPr/>
          <p:nvPr/>
        </p:nvSpPr>
        <p:spPr>
          <a:xfrm>
            <a:off x="502920" y="2286000"/>
            <a:ext cx="365760" cy="365760"/>
          </a:xfrm>
          <a:prstGeom prst="ellipse">
            <a:avLst/>
          </a:prstGeom>
          <a:solidFill>
            <a:srgbClr val="B20E38"/>
          </a:solidFill>
          <a:ln/>
        </p:spPr>
        <p:txBody>
          <a:bodyPr/>
          <a:lstStyle/>
          <a:p>
            <a:endParaRPr lang="en-US"/>
          </a:p>
        </p:txBody>
      </p:sp>
      <p:sp>
        <p:nvSpPr>
          <p:cNvPr id="9" name="Text 6"/>
          <p:cNvSpPr/>
          <p:nvPr/>
        </p:nvSpPr>
        <p:spPr>
          <a:xfrm>
            <a:off x="502920" y="22860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2</a:t>
            </a:r>
            <a:endParaRPr lang="en-US" sz="1500" dirty="0"/>
          </a:p>
        </p:txBody>
      </p:sp>
      <p:sp>
        <p:nvSpPr>
          <p:cNvPr id="10" name="Text 7"/>
          <p:cNvSpPr/>
          <p:nvPr/>
        </p:nvSpPr>
        <p:spPr>
          <a:xfrm>
            <a:off x="1051560" y="2240280"/>
            <a:ext cx="7406640" cy="68580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A value chain view shows exactly which step to fix first, instead of cutting costs everywhere at once</a:t>
            </a:r>
            <a:endParaRPr lang="en-US" sz="1300" dirty="0"/>
          </a:p>
        </p:txBody>
      </p:sp>
      <p:sp>
        <p:nvSpPr>
          <p:cNvPr id="11" name="Shape 8"/>
          <p:cNvSpPr/>
          <p:nvPr/>
        </p:nvSpPr>
        <p:spPr>
          <a:xfrm>
            <a:off x="502920" y="3154680"/>
            <a:ext cx="365760" cy="365760"/>
          </a:xfrm>
          <a:prstGeom prst="ellipse">
            <a:avLst/>
          </a:prstGeom>
          <a:solidFill>
            <a:srgbClr val="B20E38"/>
          </a:solidFill>
          <a:ln/>
        </p:spPr>
        <p:txBody>
          <a:bodyPr/>
          <a:lstStyle/>
          <a:p>
            <a:endParaRPr lang="en-US"/>
          </a:p>
        </p:txBody>
      </p:sp>
      <p:sp>
        <p:nvSpPr>
          <p:cNvPr id="12" name="Text 9"/>
          <p:cNvSpPr/>
          <p:nvPr/>
        </p:nvSpPr>
        <p:spPr>
          <a:xfrm>
            <a:off x="502920" y="31546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3</a:t>
            </a:r>
            <a:endParaRPr lang="en-US" sz="1500" dirty="0"/>
          </a:p>
        </p:txBody>
      </p:sp>
      <p:sp>
        <p:nvSpPr>
          <p:cNvPr id="13" name="Text 10"/>
          <p:cNvSpPr/>
          <p:nvPr/>
        </p:nvSpPr>
        <p:spPr>
          <a:xfrm>
            <a:off x="1051560" y="3108960"/>
            <a:ext cx="7406640" cy="68580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Hero's advantage wasn't a single genius idea — it was controlling one link in the chain better than anyone else</a:t>
            </a:r>
            <a:endParaRPr lang="en-US" sz="1300" dirty="0"/>
          </a:p>
        </p:txBody>
      </p:sp>
      <p:sp>
        <p:nvSpPr>
          <p:cNvPr id="14" name="Text 11"/>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15 / 17</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SUMMARY</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2500" dirty="0"/>
          </a:p>
        </p:txBody>
      </p:sp>
      <p:sp>
        <p:nvSpPr>
          <p:cNvPr id="5" name="Shape 2"/>
          <p:cNvSpPr/>
          <p:nvPr/>
        </p:nvSpPr>
        <p:spPr>
          <a:xfrm>
            <a:off x="457200" y="971550"/>
            <a:ext cx="8229600" cy="658368"/>
          </a:xfrm>
          <a:prstGeom prst="roundRect">
            <a:avLst>
              <a:gd name="adj" fmla="val 11111"/>
            </a:avLst>
          </a:prstGeom>
          <a:solidFill>
            <a:srgbClr val="FFFFFF">
              <a:alpha val="88000"/>
            </a:srgbClr>
          </a:solidFill>
          <a:ln/>
        </p:spPr>
        <p:txBody>
          <a:bodyPr/>
          <a:lstStyle/>
          <a:p>
            <a:endParaRPr lang="en-US"/>
          </a:p>
        </p:txBody>
      </p:sp>
      <p:sp>
        <p:nvSpPr>
          <p:cNvPr id="6" name="Shape 3"/>
          <p:cNvSpPr/>
          <p:nvPr/>
        </p:nvSpPr>
        <p:spPr>
          <a:xfrm>
            <a:off x="457200" y="971550"/>
            <a:ext cx="73152" cy="658368"/>
          </a:xfrm>
          <a:prstGeom prst="rect">
            <a:avLst/>
          </a:prstGeom>
          <a:solidFill>
            <a:srgbClr val="B20E38"/>
          </a:solidFill>
          <a:ln/>
        </p:spPr>
        <p:txBody>
          <a:bodyPr/>
          <a:lstStyle/>
          <a:p>
            <a:endParaRPr lang="en-US"/>
          </a:p>
        </p:txBody>
      </p:sp>
      <p:sp>
        <p:nvSpPr>
          <p:cNvPr id="7" name="Text 4"/>
          <p:cNvSpPr/>
          <p:nvPr/>
        </p:nvSpPr>
        <p:spPr>
          <a:xfrm>
            <a:off x="777240" y="971550"/>
            <a:ext cx="7772400" cy="658368"/>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Montserrat" pitchFamily="34" charset="0"/>
                <a:ea typeface="Montserrat" pitchFamily="34" charset="-122"/>
                <a:cs typeface="Montserrat" pitchFamily="34" charset="-120"/>
              </a:rPr>
              <a:t>A value chain is every step that turns inputs into something customers will pay for</a:t>
            </a:r>
            <a:endParaRPr lang="en-US" sz="1100" dirty="0"/>
          </a:p>
        </p:txBody>
      </p:sp>
      <p:sp>
        <p:nvSpPr>
          <p:cNvPr id="8" name="Shape 5"/>
          <p:cNvSpPr/>
          <p:nvPr/>
        </p:nvSpPr>
        <p:spPr>
          <a:xfrm>
            <a:off x="457200" y="1703070"/>
            <a:ext cx="8229600" cy="658368"/>
          </a:xfrm>
          <a:prstGeom prst="roundRect">
            <a:avLst>
              <a:gd name="adj" fmla="val 11111"/>
            </a:avLst>
          </a:prstGeom>
          <a:solidFill>
            <a:srgbClr val="FFFFFF">
              <a:alpha val="88000"/>
            </a:srgbClr>
          </a:solidFill>
          <a:ln/>
        </p:spPr>
        <p:txBody>
          <a:bodyPr/>
          <a:lstStyle/>
          <a:p>
            <a:endParaRPr lang="en-US"/>
          </a:p>
        </p:txBody>
      </p:sp>
      <p:sp>
        <p:nvSpPr>
          <p:cNvPr id="9" name="Shape 6"/>
          <p:cNvSpPr/>
          <p:nvPr/>
        </p:nvSpPr>
        <p:spPr>
          <a:xfrm>
            <a:off x="457200" y="1703070"/>
            <a:ext cx="73152" cy="658368"/>
          </a:xfrm>
          <a:prstGeom prst="rect">
            <a:avLst/>
          </a:prstGeom>
          <a:solidFill>
            <a:srgbClr val="B20E38"/>
          </a:solidFill>
          <a:ln/>
        </p:spPr>
        <p:txBody>
          <a:bodyPr/>
          <a:lstStyle/>
          <a:p>
            <a:endParaRPr lang="en-US"/>
          </a:p>
        </p:txBody>
      </p:sp>
      <p:sp>
        <p:nvSpPr>
          <p:cNvPr id="10" name="Text 7"/>
          <p:cNvSpPr/>
          <p:nvPr/>
        </p:nvSpPr>
        <p:spPr>
          <a:xfrm>
            <a:off x="777240" y="1703070"/>
            <a:ext cx="7772400" cy="658368"/>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Montserrat" pitchFamily="34" charset="0"/>
                <a:ea typeface="Montserrat" pitchFamily="34" charset="-122"/>
                <a:cs typeface="Montserrat" pitchFamily="34" charset="-120"/>
              </a:rPr>
              <a:t>Primary activities touch the product directly; support activities hold everything up</a:t>
            </a:r>
            <a:endParaRPr lang="en-US" sz="1100" dirty="0"/>
          </a:p>
        </p:txBody>
      </p:sp>
      <p:sp>
        <p:nvSpPr>
          <p:cNvPr id="11" name="Shape 8"/>
          <p:cNvSpPr/>
          <p:nvPr/>
        </p:nvSpPr>
        <p:spPr>
          <a:xfrm>
            <a:off x="457200" y="2434590"/>
            <a:ext cx="8229600" cy="658368"/>
          </a:xfrm>
          <a:prstGeom prst="roundRect">
            <a:avLst>
              <a:gd name="adj" fmla="val 11111"/>
            </a:avLst>
          </a:prstGeom>
          <a:solidFill>
            <a:srgbClr val="FFFFFF">
              <a:alpha val="88000"/>
            </a:srgbClr>
          </a:solidFill>
          <a:ln/>
        </p:spPr>
        <p:txBody>
          <a:bodyPr/>
          <a:lstStyle/>
          <a:p>
            <a:endParaRPr lang="en-US"/>
          </a:p>
        </p:txBody>
      </p:sp>
      <p:sp>
        <p:nvSpPr>
          <p:cNvPr id="12" name="Shape 9"/>
          <p:cNvSpPr/>
          <p:nvPr/>
        </p:nvSpPr>
        <p:spPr>
          <a:xfrm>
            <a:off x="457200" y="2434590"/>
            <a:ext cx="73152" cy="658368"/>
          </a:xfrm>
          <a:prstGeom prst="rect">
            <a:avLst/>
          </a:prstGeom>
          <a:solidFill>
            <a:srgbClr val="B20E38"/>
          </a:solidFill>
          <a:ln/>
        </p:spPr>
        <p:txBody>
          <a:bodyPr/>
          <a:lstStyle/>
          <a:p>
            <a:endParaRPr lang="en-US"/>
          </a:p>
        </p:txBody>
      </p:sp>
      <p:sp>
        <p:nvSpPr>
          <p:cNvPr id="13" name="Text 10"/>
          <p:cNvSpPr/>
          <p:nvPr/>
        </p:nvSpPr>
        <p:spPr>
          <a:xfrm>
            <a:off x="777240" y="2434590"/>
            <a:ext cx="7772400" cy="658368"/>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Montserrat" pitchFamily="34" charset="0"/>
                <a:ea typeface="Montserrat" pitchFamily="34" charset="-122"/>
                <a:cs typeface="Montserrat" pitchFamily="34" charset="-120"/>
              </a:rPr>
              <a:t>Cost analysis finds where money is spent — and whether each step earns it back</a:t>
            </a:r>
            <a:endParaRPr lang="en-US" sz="1100" dirty="0"/>
          </a:p>
        </p:txBody>
      </p:sp>
      <p:sp>
        <p:nvSpPr>
          <p:cNvPr id="14" name="Shape 11"/>
          <p:cNvSpPr/>
          <p:nvPr/>
        </p:nvSpPr>
        <p:spPr>
          <a:xfrm>
            <a:off x="457200" y="3166110"/>
            <a:ext cx="8229600" cy="658368"/>
          </a:xfrm>
          <a:prstGeom prst="roundRect">
            <a:avLst>
              <a:gd name="adj" fmla="val 11111"/>
            </a:avLst>
          </a:prstGeom>
          <a:solidFill>
            <a:srgbClr val="FFFFFF">
              <a:alpha val="88000"/>
            </a:srgbClr>
          </a:solidFill>
          <a:ln/>
        </p:spPr>
        <p:txBody>
          <a:bodyPr/>
          <a:lstStyle/>
          <a:p>
            <a:endParaRPr lang="en-US"/>
          </a:p>
        </p:txBody>
      </p:sp>
      <p:sp>
        <p:nvSpPr>
          <p:cNvPr id="15" name="Shape 12"/>
          <p:cNvSpPr/>
          <p:nvPr/>
        </p:nvSpPr>
        <p:spPr>
          <a:xfrm>
            <a:off x="457200" y="3166110"/>
            <a:ext cx="73152" cy="658368"/>
          </a:xfrm>
          <a:prstGeom prst="rect">
            <a:avLst/>
          </a:prstGeom>
          <a:solidFill>
            <a:srgbClr val="B20E38"/>
          </a:solidFill>
          <a:ln/>
        </p:spPr>
        <p:txBody>
          <a:bodyPr/>
          <a:lstStyle/>
          <a:p>
            <a:endParaRPr lang="en-US"/>
          </a:p>
        </p:txBody>
      </p:sp>
      <p:sp>
        <p:nvSpPr>
          <p:cNvPr id="16" name="Text 13"/>
          <p:cNvSpPr/>
          <p:nvPr/>
        </p:nvSpPr>
        <p:spPr>
          <a:xfrm>
            <a:off x="777240" y="3166110"/>
            <a:ext cx="7772400" cy="658368"/>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Montserrat" pitchFamily="34" charset="0"/>
                <a:ea typeface="Montserrat" pitchFamily="34" charset="-122"/>
                <a:cs typeface="Montserrat" pitchFamily="34" charset="-120"/>
              </a:rPr>
              <a:t>Sun Tzu warned that a dragged-out campaign drains resources even without losing — the same is true of an inefficient value chain step</a:t>
            </a:r>
            <a:endParaRPr lang="en-US" sz="1100" dirty="0"/>
          </a:p>
        </p:txBody>
      </p:sp>
      <p:sp>
        <p:nvSpPr>
          <p:cNvPr id="17" name="Shape 14"/>
          <p:cNvSpPr/>
          <p:nvPr/>
        </p:nvSpPr>
        <p:spPr>
          <a:xfrm>
            <a:off x="457200" y="3897630"/>
            <a:ext cx="8229600" cy="658368"/>
          </a:xfrm>
          <a:prstGeom prst="roundRect">
            <a:avLst>
              <a:gd name="adj" fmla="val 11111"/>
            </a:avLst>
          </a:prstGeom>
          <a:solidFill>
            <a:srgbClr val="FFFFFF">
              <a:alpha val="88000"/>
            </a:srgbClr>
          </a:solidFill>
          <a:ln/>
        </p:spPr>
        <p:txBody>
          <a:bodyPr/>
          <a:lstStyle/>
          <a:p>
            <a:endParaRPr lang="en-US"/>
          </a:p>
        </p:txBody>
      </p:sp>
      <p:sp>
        <p:nvSpPr>
          <p:cNvPr id="18" name="Shape 15"/>
          <p:cNvSpPr/>
          <p:nvPr/>
        </p:nvSpPr>
        <p:spPr>
          <a:xfrm>
            <a:off x="457200" y="3897630"/>
            <a:ext cx="73152" cy="658368"/>
          </a:xfrm>
          <a:prstGeom prst="rect">
            <a:avLst/>
          </a:prstGeom>
          <a:solidFill>
            <a:srgbClr val="B20E38"/>
          </a:solidFill>
          <a:ln/>
        </p:spPr>
        <p:txBody>
          <a:bodyPr/>
          <a:lstStyle/>
          <a:p>
            <a:endParaRPr lang="en-US"/>
          </a:p>
        </p:txBody>
      </p:sp>
      <p:sp>
        <p:nvSpPr>
          <p:cNvPr id="19" name="Text 16"/>
          <p:cNvSpPr/>
          <p:nvPr/>
        </p:nvSpPr>
        <p:spPr>
          <a:xfrm>
            <a:off x="777240" y="3897630"/>
            <a:ext cx="7772400" cy="658368"/>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Montserrat" pitchFamily="34" charset="0"/>
                <a:ea typeface="Montserrat" pitchFamily="34" charset="-122"/>
                <a:cs typeface="Montserrat" pitchFamily="34" charset="-120"/>
              </a:rPr>
              <a:t>Hero Cycles built a world-record business by controlling one link in the chain better than rivals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CD45F5F6-90A3-B307-0610-26726764822F}"/>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DDBA4E51-0E92-6816-3190-858F91BDF20C}"/>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8B299D70-377B-36F6-817A-7675EC5118E0}"/>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Term of the day</a:t>
            </a:r>
            <a:endParaRPr lang="en-US" sz="1050" dirty="0"/>
          </a:p>
        </p:txBody>
      </p:sp>
      <p:sp>
        <p:nvSpPr>
          <p:cNvPr id="4" name="Text 1">
            <a:extLst>
              <a:ext uri="{FF2B5EF4-FFF2-40B4-BE49-F238E27FC236}">
                <a16:creationId xmlns:a16="http://schemas.microsoft.com/office/drawing/2014/main" id="{13CEC980-EA55-1CB9-A137-23BF57A5A8DF}"/>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rPr>
              <a:t>Zugzwang</a:t>
            </a:r>
            <a:endParaRPr lang="en-US" sz="2500" dirty="0"/>
          </a:p>
        </p:txBody>
      </p:sp>
      <p:pic>
        <p:nvPicPr>
          <p:cNvPr id="21" name="Picture 20">
            <a:extLst>
              <a:ext uri="{FF2B5EF4-FFF2-40B4-BE49-F238E27FC236}">
                <a16:creationId xmlns:a16="http://schemas.microsoft.com/office/drawing/2014/main" id="{FCC17F03-8974-3652-A0CD-203E3AF4D7B6}"/>
              </a:ext>
            </a:extLst>
          </p:cNvPr>
          <p:cNvPicPr>
            <a:picLocks noChangeAspect="1"/>
          </p:cNvPicPr>
          <p:nvPr/>
        </p:nvPicPr>
        <p:blipFill>
          <a:blip r:embed="rId4"/>
          <a:srcRect b="62140"/>
          <a:stretch>
            <a:fillRect/>
          </a:stretch>
        </p:blipFill>
        <p:spPr>
          <a:xfrm>
            <a:off x="714375" y="1051560"/>
            <a:ext cx="7715250" cy="1947333"/>
          </a:xfrm>
          <a:prstGeom prst="rect">
            <a:avLst/>
          </a:prstGeom>
        </p:spPr>
      </p:pic>
      <p:pic>
        <p:nvPicPr>
          <p:cNvPr id="22" name="Picture 21">
            <a:extLst>
              <a:ext uri="{FF2B5EF4-FFF2-40B4-BE49-F238E27FC236}">
                <a16:creationId xmlns:a16="http://schemas.microsoft.com/office/drawing/2014/main" id="{3DE2B3F4-56B5-FE4B-78A4-2C27DB2EB9D4}"/>
              </a:ext>
            </a:extLst>
          </p:cNvPr>
          <p:cNvPicPr>
            <a:picLocks noChangeAspect="1"/>
          </p:cNvPicPr>
          <p:nvPr/>
        </p:nvPicPr>
        <p:blipFill>
          <a:blip r:embed="rId4"/>
          <a:srcRect l="-39" t="90574" r="40"/>
          <a:stretch>
            <a:fillRect/>
          </a:stretch>
        </p:blipFill>
        <p:spPr>
          <a:xfrm>
            <a:off x="714375" y="3200061"/>
            <a:ext cx="7715250" cy="484801"/>
          </a:xfrm>
          <a:prstGeom prst="rect">
            <a:avLst/>
          </a:prstGeom>
        </p:spPr>
      </p:pic>
    </p:spTree>
    <p:extLst>
      <p:ext uri="{BB962C8B-B14F-4D97-AF65-F5344CB8AC3E}">
        <p14:creationId xmlns:p14="http://schemas.microsoft.com/office/powerpoint/2010/main" val="304665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F7FB1C05-5AE0-73DD-3247-A1DE48AC7FD9}"/>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6F8735B0-BA02-E843-EEFA-49EFA826AA47}"/>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42524057-9D11-8965-9EB0-CA3DB37BCC5C}"/>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Term of the day</a:t>
            </a:r>
            <a:endParaRPr lang="en-US" sz="1050" dirty="0"/>
          </a:p>
        </p:txBody>
      </p:sp>
      <p:sp>
        <p:nvSpPr>
          <p:cNvPr id="4" name="Text 1">
            <a:extLst>
              <a:ext uri="{FF2B5EF4-FFF2-40B4-BE49-F238E27FC236}">
                <a16:creationId xmlns:a16="http://schemas.microsoft.com/office/drawing/2014/main" id="{F4B9B10B-3FCC-404C-334D-316148FB5388}"/>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rPr>
              <a:t>Zugzwang</a:t>
            </a:r>
            <a:endParaRPr lang="en-US" sz="2500" dirty="0"/>
          </a:p>
        </p:txBody>
      </p:sp>
      <p:pic>
        <p:nvPicPr>
          <p:cNvPr id="6" name="Picture 5">
            <a:extLst>
              <a:ext uri="{FF2B5EF4-FFF2-40B4-BE49-F238E27FC236}">
                <a16:creationId xmlns:a16="http://schemas.microsoft.com/office/drawing/2014/main" id="{6EADCD20-AE33-8AB9-6C75-CD7009554D8F}"/>
              </a:ext>
            </a:extLst>
          </p:cNvPr>
          <p:cNvPicPr>
            <a:picLocks noChangeAspect="1"/>
          </p:cNvPicPr>
          <p:nvPr/>
        </p:nvPicPr>
        <p:blipFill>
          <a:blip r:embed="rId4"/>
          <a:stretch>
            <a:fillRect/>
          </a:stretch>
        </p:blipFill>
        <p:spPr>
          <a:xfrm>
            <a:off x="1754187" y="850392"/>
            <a:ext cx="5635625" cy="3757083"/>
          </a:xfrm>
          <a:prstGeom prst="rect">
            <a:avLst/>
          </a:prstGeom>
        </p:spPr>
      </p:pic>
    </p:spTree>
    <p:extLst>
      <p:ext uri="{BB962C8B-B14F-4D97-AF65-F5344CB8AC3E}">
        <p14:creationId xmlns:p14="http://schemas.microsoft.com/office/powerpoint/2010/main" val="1278034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8E1BA3AF-313B-C397-6D97-1A1DA66BB2C8}"/>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979125D1-91ED-9CDF-9FBB-861B78AA0437}"/>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29E74128-DA35-BB1A-71BD-AE8573C32C95}"/>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Term of the day</a:t>
            </a:r>
            <a:endParaRPr lang="en-US" sz="1050" dirty="0"/>
          </a:p>
        </p:txBody>
      </p:sp>
      <p:sp>
        <p:nvSpPr>
          <p:cNvPr id="4" name="Text 1">
            <a:extLst>
              <a:ext uri="{FF2B5EF4-FFF2-40B4-BE49-F238E27FC236}">
                <a16:creationId xmlns:a16="http://schemas.microsoft.com/office/drawing/2014/main" id="{0A3E4780-B74D-52B3-57C8-6E5646CCF90C}"/>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rPr>
              <a:t>Causes</a:t>
            </a:r>
            <a:endParaRPr lang="en-US" sz="2500" dirty="0"/>
          </a:p>
        </p:txBody>
      </p:sp>
      <p:sp>
        <p:nvSpPr>
          <p:cNvPr id="6" name="TextBox 5">
            <a:extLst>
              <a:ext uri="{FF2B5EF4-FFF2-40B4-BE49-F238E27FC236}">
                <a16:creationId xmlns:a16="http://schemas.microsoft.com/office/drawing/2014/main" id="{16E22318-04BB-15BF-686C-C1780590980E}"/>
              </a:ext>
            </a:extLst>
          </p:cNvPr>
          <p:cNvSpPr txBox="1"/>
          <p:nvPr/>
        </p:nvSpPr>
        <p:spPr>
          <a:xfrm>
            <a:off x="365759" y="854362"/>
            <a:ext cx="8541173" cy="1122743"/>
          </a:xfrm>
          <a:prstGeom prst="rect">
            <a:avLst/>
          </a:prstGeom>
          <a:noFill/>
        </p:spPr>
        <p:txBody>
          <a:bodyPr wrap="square">
            <a:spAutoFit/>
          </a:bodyPr>
          <a:lstStyle/>
          <a:p>
            <a:pPr>
              <a:lnSpc>
                <a:spcPct val="200000"/>
              </a:lnSpc>
            </a:pPr>
            <a:r>
              <a:rPr lang="en-US" b="1" i="1" dirty="0"/>
              <a:t>Strategic Inertia: </a:t>
            </a:r>
            <a:r>
              <a:rPr lang="en-US" dirty="0"/>
              <a:t>Ignoring market shifts (like Kodak ignoring digital photography) until only bad choices remain.</a:t>
            </a:r>
          </a:p>
        </p:txBody>
      </p:sp>
      <p:sp>
        <p:nvSpPr>
          <p:cNvPr id="8" name="TextBox 7">
            <a:extLst>
              <a:ext uri="{FF2B5EF4-FFF2-40B4-BE49-F238E27FC236}">
                <a16:creationId xmlns:a16="http://schemas.microsoft.com/office/drawing/2014/main" id="{41FC1262-EFB7-1B4A-1255-4C1BFBBF3423}"/>
              </a:ext>
            </a:extLst>
          </p:cNvPr>
          <p:cNvSpPr txBox="1"/>
          <p:nvPr/>
        </p:nvSpPr>
        <p:spPr>
          <a:xfrm>
            <a:off x="365760" y="1977105"/>
            <a:ext cx="8541172" cy="1122743"/>
          </a:xfrm>
          <a:prstGeom prst="rect">
            <a:avLst/>
          </a:prstGeom>
          <a:noFill/>
        </p:spPr>
        <p:txBody>
          <a:bodyPr wrap="square">
            <a:spAutoFit/>
          </a:bodyPr>
          <a:lstStyle/>
          <a:p>
            <a:pPr>
              <a:lnSpc>
                <a:spcPct val="200000"/>
              </a:lnSpc>
            </a:pPr>
            <a:r>
              <a:rPr lang="en-US" b="1" i="1" dirty="0"/>
              <a:t>Over-Regulation: </a:t>
            </a:r>
            <a:r>
              <a:rPr lang="en-US" dirty="0"/>
              <a:t>Compliance frameworks that trap a business between legal penalties and operational paralysis.</a:t>
            </a:r>
          </a:p>
        </p:txBody>
      </p:sp>
      <p:sp>
        <p:nvSpPr>
          <p:cNvPr id="10" name="TextBox 9">
            <a:extLst>
              <a:ext uri="{FF2B5EF4-FFF2-40B4-BE49-F238E27FC236}">
                <a16:creationId xmlns:a16="http://schemas.microsoft.com/office/drawing/2014/main" id="{9198DB17-A41D-BE92-4E2E-A1F3F93D9F1D}"/>
              </a:ext>
            </a:extLst>
          </p:cNvPr>
          <p:cNvSpPr txBox="1"/>
          <p:nvPr/>
        </p:nvSpPr>
        <p:spPr>
          <a:xfrm>
            <a:off x="365760" y="3166395"/>
            <a:ext cx="8778240" cy="1122743"/>
          </a:xfrm>
          <a:prstGeom prst="rect">
            <a:avLst/>
          </a:prstGeom>
          <a:noFill/>
        </p:spPr>
        <p:txBody>
          <a:bodyPr wrap="square">
            <a:spAutoFit/>
          </a:bodyPr>
          <a:lstStyle/>
          <a:p>
            <a:pPr>
              <a:lnSpc>
                <a:spcPct val="200000"/>
              </a:lnSpc>
            </a:pPr>
            <a:r>
              <a:rPr lang="en-US" b="1" i="1" dirty="0"/>
              <a:t>Sunk Cost Fallacy: </a:t>
            </a:r>
            <a:r>
              <a:rPr lang="en-US" dirty="0"/>
              <a:t>Pouring resources into a failing project until it becomes too big to abandon safely, yet too broken to fix.</a:t>
            </a:r>
          </a:p>
        </p:txBody>
      </p:sp>
    </p:spTree>
    <p:extLst>
      <p:ext uri="{BB962C8B-B14F-4D97-AF65-F5344CB8AC3E}">
        <p14:creationId xmlns:p14="http://schemas.microsoft.com/office/powerpoint/2010/main" val="293360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a:extLst>
            <a:ext uri="{FF2B5EF4-FFF2-40B4-BE49-F238E27FC236}">
              <a16:creationId xmlns:a16="http://schemas.microsoft.com/office/drawing/2014/main" id="{106410DA-8DEF-6A27-4326-4569FBB84A73}"/>
            </a:ext>
          </a:extLst>
        </p:cNvPr>
        <p:cNvGrpSpPr/>
        <p:nvPr/>
      </p:nvGrpSpPr>
      <p:grpSpPr>
        <a:xfrm>
          <a:off x="0" y="0"/>
          <a:ext cx="0" cy="0"/>
          <a:chOff x="0" y="0"/>
          <a:chExt cx="0" cy="0"/>
        </a:xfrm>
      </p:grpSpPr>
      <p:pic>
        <p:nvPicPr>
          <p:cNvPr id="2" name="Image 0" descr="/home/claude/assets/content_bg.png">
            <a:extLst>
              <a:ext uri="{FF2B5EF4-FFF2-40B4-BE49-F238E27FC236}">
                <a16:creationId xmlns:a16="http://schemas.microsoft.com/office/drawing/2014/main" id="{AEEFEF7C-80C8-6F54-F068-CE1DB0302BEA}"/>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B4D435B2-7DD7-A23C-82E4-FA7FC1D74332}"/>
              </a:ext>
            </a:extLst>
          </p:cNvPr>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Term of the day</a:t>
            </a:r>
            <a:endParaRPr lang="en-US" sz="1050" dirty="0"/>
          </a:p>
        </p:txBody>
      </p:sp>
      <p:sp>
        <p:nvSpPr>
          <p:cNvPr id="4" name="Text 1">
            <a:extLst>
              <a:ext uri="{FF2B5EF4-FFF2-40B4-BE49-F238E27FC236}">
                <a16:creationId xmlns:a16="http://schemas.microsoft.com/office/drawing/2014/main" id="{8B0957AE-676D-E6DE-C6C8-DBCE5CEC6DDE}"/>
              </a:ext>
            </a:extLst>
          </p:cNvPr>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rPr>
              <a:t>Cure</a:t>
            </a:r>
            <a:endParaRPr lang="en-US" sz="2500" dirty="0"/>
          </a:p>
        </p:txBody>
      </p:sp>
      <p:sp>
        <p:nvSpPr>
          <p:cNvPr id="6" name="TextBox 5">
            <a:extLst>
              <a:ext uri="{FF2B5EF4-FFF2-40B4-BE49-F238E27FC236}">
                <a16:creationId xmlns:a16="http://schemas.microsoft.com/office/drawing/2014/main" id="{3450E8C4-DEB2-5C6F-C8A6-06217F99BA13}"/>
              </a:ext>
            </a:extLst>
          </p:cNvPr>
          <p:cNvSpPr txBox="1"/>
          <p:nvPr/>
        </p:nvSpPr>
        <p:spPr>
          <a:xfrm>
            <a:off x="365761" y="816934"/>
            <a:ext cx="8778239" cy="1122743"/>
          </a:xfrm>
          <a:prstGeom prst="rect">
            <a:avLst/>
          </a:prstGeom>
          <a:noFill/>
        </p:spPr>
        <p:txBody>
          <a:bodyPr wrap="square">
            <a:spAutoFit/>
          </a:bodyPr>
          <a:lstStyle/>
          <a:p>
            <a:pPr>
              <a:lnSpc>
                <a:spcPct val="200000"/>
              </a:lnSpc>
            </a:pPr>
            <a:r>
              <a:rPr lang="en-US" b="1" i="1" dirty="0"/>
              <a:t>Introduce a Third Variable: </a:t>
            </a:r>
            <a:r>
              <a:rPr lang="en-US" dirty="0"/>
              <a:t>If Option A and Option B are both fatal, pivot to a completely new market, product line, or business model.</a:t>
            </a:r>
          </a:p>
        </p:txBody>
      </p:sp>
      <p:sp>
        <p:nvSpPr>
          <p:cNvPr id="8" name="TextBox 7">
            <a:extLst>
              <a:ext uri="{FF2B5EF4-FFF2-40B4-BE49-F238E27FC236}">
                <a16:creationId xmlns:a16="http://schemas.microsoft.com/office/drawing/2014/main" id="{51B24DC1-63E6-E59D-9500-39DCD268C424}"/>
              </a:ext>
            </a:extLst>
          </p:cNvPr>
          <p:cNvSpPr txBox="1"/>
          <p:nvPr/>
        </p:nvSpPr>
        <p:spPr>
          <a:xfrm>
            <a:off x="365760" y="2063012"/>
            <a:ext cx="8778240" cy="1477328"/>
          </a:xfrm>
          <a:prstGeom prst="rect">
            <a:avLst/>
          </a:prstGeom>
          <a:noFill/>
        </p:spPr>
        <p:txBody>
          <a:bodyPr wrap="square">
            <a:spAutoFit/>
          </a:bodyPr>
          <a:lstStyle/>
          <a:p>
            <a:pPr>
              <a:lnSpc>
                <a:spcPct val="200000"/>
              </a:lnSpc>
            </a:pPr>
            <a:r>
              <a:rPr lang="en-US" b="1" i="1" dirty="0"/>
              <a:t>Buy Time: </a:t>
            </a:r>
            <a:r>
              <a:rPr lang="en-US" dirty="0"/>
              <a:t>Outsource the problem or form a strategic partnership to shift the risk and delay the forced decision.</a:t>
            </a:r>
          </a:p>
          <a:p>
            <a:endParaRPr lang="en-US" dirty="0"/>
          </a:p>
        </p:txBody>
      </p:sp>
      <p:sp>
        <p:nvSpPr>
          <p:cNvPr id="10" name="TextBox 9">
            <a:extLst>
              <a:ext uri="{FF2B5EF4-FFF2-40B4-BE49-F238E27FC236}">
                <a16:creationId xmlns:a16="http://schemas.microsoft.com/office/drawing/2014/main" id="{C2980D99-047D-0EEE-7875-1B51C0699A87}"/>
              </a:ext>
            </a:extLst>
          </p:cNvPr>
          <p:cNvSpPr txBox="1"/>
          <p:nvPr/>
        </p:nvSpPr>
        <p:spPr>
          <a:xfrm>
            <a:off x="365760" y="3360297"/>
            <a:ext cx="8642773" cy="2031325"/>
          </a:xfrm>
          <a:prstGeom prst="rect">
            <a:avLst/>
          </a:prstGeom>
          <a:noFill/>
        </p:spPr>
        <p:txBody>
          <a:bodyPr wrap="square">
            <a:spAutoFit/>
          </a:bodyPr>
          <a:lstStyle/>
          <a:p>
            <a:pPr lvl="0">
              <a:lnSpc>
                <a:spcPct val="200000"/>
              </a:lnSpc>
            </a:pPr>
            <a:r>
              <a:rPr lang="en-US" b="1" i="1" dirty="0"/>
              <a:t>Controlled Sacrifice: </a:t>
            </a:r>
            <a:r>
              <a:rPr lang="en-US" dirty="0"/>
              <a:t>Accept that a loss is inevitable. Choose the option with the most predictable damage, take the hit early, and preserve resources to rebuild.</a:t>
            </a:r>
          </a:p>
          <a:p>
            <a:br>
              <a:rPr lang="en-US" dirty="0"/>
            </a:br>
            <a:endParaRPr lang="en-US" dirty="0"/>
          </a:p>
          <a:p>
            <a:endParaRPr lang="en-US" dirty="0"/>
          </a:p>
        </p:txBody>
      </p:sp>
    </p:spTree>
    <p:extLst>
      <p:ext uri="{BB962C8B-B14F-4D97-AF65-F5344CB8AC3E}">
        <p14:creationId xmlns:p14="http://schemas.microsoft.com/office/powerpoint/2010/main" val="29414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EDD2"/>
        </a:solidFill>
        <a:effectLst/>
      </p:bgPr>
    </p:bg>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5760" y="54864"/>
            <a:ext cx="8412480" cy="219456"/>
          </a:xfrm>
          <a:prstGeom prst="rect">
            <a:avLst/>
          </a:prstGeom>
          <a:noFill/>
          <a:ln/>
        </p:spPr>
        <p:txBody>
          <a:bodyPr wrap="square" lIns="0" tIns="0" rIns="0" bIns="0" rtlCol="0" anchor="ctr"/>
          <a:lstStyle/>
          <a:p>
            <a:pPr marL="0" indent="0" algn="l">
              <a:buNone/>
            </a:pPr>
            <a:r>
              <a:rPr lang="en-US" sz="1050" b="1" kern="0" spc="200" dirty="0">
                <a:solidFill>
                  <a:srgbClr val="8C1030"/>
                </a:solidFill>
                <a:latin typeface="Montserrat" pitchFamily="34" charset="0"/>
                <a:ea typeface="Montserrat" pitchFamily="34" charset="-122"/>
                <a:cs typeface="Montserrat" pitchFamily="34" charset="-120"/>
              </a:rPr>
              <a:t>REFERENCES &amp; NEXT SESSION</a:t>
            </a:r>
            <a:endParaRPr lang="en-US" sz="1050" dirty="0"/>
          </a:p>
        </p:txBody>
      </p:sp>
      <p:sp>
        <p:nvSpPr>
          <p:cNvPr id="4" name="Text 1"/>
          <p:cNvSpPr/>
          <p:nvPr/>
        </p:nvSpPr>
        <p:spPr>
          <a:xfrm>
            <a:off x="365760" y="256032"/>
            <a:ext cx="8412480" cy="594360"/>
          </a:xfrm>
          <a:prstGeom prst="rect">
            <a:avLst/>
          </a:prstGeom>
          <a:noFill/>
          <a:ln/>
        </p:spPr>
        <p:txBody>
          <a:bodyPr wrap="square" lIns="0" tIns="0" rIns="0" bIns="0" rtlCol="0" anchor="ctr"/>
          <a:lstStyle/>
          <a:p>
            <a:pPr marL="0" indent="0" algn="l">
              <a:buNone/>
            </a:pPr>
            <a:r>
              <a:rPr lang="en-US" sz="2500" b="1" dirty="0">
                <a:solidFill>
                  <a:srgbClr val="B20E38"/>
                </a:solidFill>
                <a:latin typeface="Montserrat SemiBold" pitchFamily="34" charset="0"/>
                <a:ea typeface="Montserrat SemiBold" pitchFamily="34" charset="-122"/>
                <a:cs typeface="Montserrat SemiBold" pitchFamily="34" charset="-120"/>
              </a:rPr>
              <a:t>Sources &amp; What's Coming Up</a:t>
            </a:r>
            <a:endParaRPr lang="en-US" sz="2500" dirty="0"/>
          </a:p>
        </p:txBody>
      </p:sp>
      <p:sp>
        <p:nvSpPr>
          <p:cNvPr id="5" name="Text 2"/>
          <p:cNvSpPr/>
          <p:nvPr/>
        </p:nvSpPr>
        <p:spPr>
          <a:xfrm>
            <a:off x="457200" y="1188720"/>
            <a:ext cx="3931920" cy="274320"/>
          </a:xfrm>
          <a:prstGeom prst="rect">
            <a:avLst/>
          </a:prstGeom>
          <a:noFill/>
          <a:ln/>
        </p:spPr>
        <p:txBody>
          <a:bodyPr wrap="square" lIns="0" tIns="0" rIns="0" bIns="0" rtlCol="0" anchor="ctr"/>
          <a:lstStyle/>
          <a:p>
            <a:pPr marL="0" indent="0">
              <a:buNone/>
            </a:pPr>
            <a:r>
              <a:rPr lang="en-US" sz="1300" b="1" dirty="0">
                <a:solidFill>
                  <a:srgbClr val="B20E38"/>
                </a:solidFill>
                <a:latin typeface="Montserrat SemiBold" pitchFamily="34" charset="0"/>
                <a:ea typeface="Montserrat SemiBold" pitchFamily="34" charset="-122"/>
                <a:cs typeface="Montserrat SemiBold" pitchFamily="34" charset="-120"/>
              </a:rPr>
              <a:t>Required Reading</a:t>
            </a:r>
            <a:endParaRPr lang="en-US" sz="1300" dirty="0"/>
          </a:p>
        </p:txBody>
      </p:sp>
      <p:sp>
        <p:nvSpPr>
          <p:cNvPr id="6" name="Text 3"/>
          <p:cNvSpPr/>
          <p:nvPr/>
        </p:nvSpPr>
        <p:spPr>
          <a:xfrm>
            <a:off x="457200" y="1481328"/>
            <a:ext cx="3931920" cy="640080"/>
          </a:xfrm>
          <a:prstGeom prst="rect">
            <a:avLst/>
          </a:prstGeom>
          <a:noFill/>
          <a:ln/>
        </p:spPr>
        <p:txBody>
          <a:bodyPr wrap="square" lIns="0" tIns="0" rIns="0" bIns="0" rtlCol="0" anchor="ctr"/>
          <a:lstStyle/>
          <a:p>
            <a:pPr marL="342900" indent="-342900">
              <a:lnSpc>
                <a:spcPct val="125000"/>
              </a:lnSpc>
              <a:buSzPct val="100000"/>
              <a:buChar char="•"/>
            </a:pPr>
            <a:r>
              <a:rPr lang="en-US" sz="1100" dirty="0">
                <a:solidFill>
                  <a:srgbClr val="1A1A1A"/>
                </a:solidFill>
                <a:latin typeface="Montserrat" pitchFamily="34" charset="0"/>
                <a:ea typeface="Montserrat" pitchFamily="34" charset="-122"/>
                <a:cs typeface="Montserrat" pitchFamily="34" charset="-120"/>
              </a:rPr>
              <a:t>A. Nag — Strategic Management: Analysis, Implementation and Control, Ch. 5 &amp; 7
</a:t>
            </a:r>
            <a:endParaRPr lang="en-US" sz="1100" dirty="0"/>
          </a:p>
        </p:txBody>
      </p:sp>
      <p:sp>
        <p:nvSpPr>
          <p:cNvPr id="7" name="Text 4"/>
          <p:cNvSpPr/>
          <p:nvPr/>
        </p:nvSpPr>
        <p:spPr>
          <a:xfrm>
            <a:off x="457200" y="2240280"/>
            <a:ext cx="3931920" cy="274320"/>
          </a:xfrm>
          <a:prstGeom prst="rect">
            <a:avLst/>
          </a:prstGeom>
          <a:noFill/>
          <a:ln/>
        </p:spPr>
        <p:txBody>
          <a:bodyPr wrap="square" lIns="0" tIns="0" rIns="0" bIns="0" rtlCol="0" anchor="ctr"/>
          <a:lstStyle/>
          <a:p>
            <a:pPr marL="0" indent="0">
              <a:buNone/>
            </a:pPr>
            <a:r>
              <a:rPr lang="en-US" sz="1300" b="1" dirty="0">
                <a:solidFill>
                  <a:srgbClr val="B20E38"/>
                </a:solidFill>
                <a:latin typeface="Montserrat SemiBold" pitchFamily="34" charset="0"/>
                <a:ea typeface="Montserrat SemiBold" pitchFamily="34" charset="-122"/>
                <a:cs typeface="Montserrat SemiBold" pitchFamily="34" charset="-120"/>
              </a:rPr>
              <a:t>Case &amp; History Sources</a:t>
            </a:r>
            <a:endParaRPr lang="en-US" sz="1300" dirty="0"/>
          </a:p>
        </p:txBody>
      </p:sp>
      <p:sp>
        <p:nvSpPr>
          <p:cNvPr id="8" name="Text 5"/>
          <p:cNvSpPr/>
          <p:nvPr/>
        </p:nvSpPr>
        <p:spPr>
          <a:xfrm>
            <a:off x="457200" y="2532888"/>
            <a:ext cx="3931920" cy="109728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A1A"/>
                </a:solidFill>
                <a:latin typeface="Montserrat" pitchFamily="34" charset="0"/>
                <a:ea typeface="Montserrat" pitchFamily="34" charset="-122"/>
                <a:cs typeface="Montserrat" pitchFamily="34" charset="-120"/>
              </a:rPr>
              <a:t>Case: Hero Cycles (Value Chain)
Sun Tzu — The Art of War, Ch. II
Publicly documented history of Hero Cycles (founded 1956)</a:t>
            </a:r>
            <a:endParaRPr lang="en-US" sz="1050" dirty="0"/>
          </a:p>
        </p:txBody>
      </p:sp>
      <p:sp>
        <p:nvSpPr>
          <p:cNvPr id="9" name="Shape 6"/>
          <p:cNvSpPr/>
          <p:nvPr/>
        </p:nvSpPr>
        <p:spPr>
          <a:xfrm>
            <a:off x="4709160" y="1188720"/>
            <a:ext cx="3977640" cy="2880360"/>
          </a:xfrm>
          <a:prstGeom prst="roundRect">
            <a:avLst>
              <a:gd name="adj" fmla="val 3175"/>
            </a:avLst>
          </a:prstGeom>
          <a:solidFill>
            <a:srgbClr val="FFFFFF">
              <a:alpha val="90000"/>
            </a:srgbClr>
          </a:solidFill>
          <a:ln/>
        </p:spPr>
        <p:txBody>
          <a:bodyPr/>
          <a:lstStyle/>
          <a:p>
            <a:endParaRPr lang="en-US"/>
          </a:p>
        </p:txBody>
      </p:sp>
      <p:sp>
        <p:nvSpPr>
          <p:cNvPr id="13" name="Text 10"/>
          <p:cNvSpPr/>
          <p:nvPr/>
        </p:nvSpPr>
        <p:spPr>
          <a:xfrm>
            <a:off x="4914900" y="2430018"/>
            <a:ext cx="3566160" cy="365760"/>
          </a:xfrm>
          <a:prstGeom prst="rect">
            <a:avLst/>
          </a:prstGeom>
          <a:noFill/>
          <a:ln/>
        </p:spPr>
        <p:txBody>
          <a:bodyPr wrap="square" lIns="0" tIns="0" rIns="0" bIns="0" rtlCol="0" anchor="ctr"/>
          <a:lstStyle/>
          <a:p>
            <a:pPr marL="0" indent="0">
              <a:buNone/>
            </a:pPr>
            <a:r>
              <a:rPr lang="en-US" sz="1100" b="1" dirty="0">
                <a:solidFill>
                  <a:srgbClr val="B20E38"/>
                </a:solidFill>
                <a:highlight>
                  <a:srgbClr val="FFFF00"/>
                </a:highlight>
                <a:latin typeface="Montserrat" pitchFamily="34" charset="0"/>
                <a:ea typeface="Montserrat" pitchFamily="34" charset="-122"/>
                <a:cs typeface="Montserrat" pitchFamily="34" charset="-120"/>
              </a:rPr>
              <a:t>Term for Next Session— Pyrrhic Victory</a:t>
            </a:r>
            <a:endParaRPr lang="en-US" sz="1100" dirty="0">
              <a:highlight>
                <a:srgbClr val="FFFF00"/>
              </a:highlight>
            </a:endParaRPr>
          </a:p>
        </p:txBody>
      </p:sp>
      <p:sp>
        <p:nvSpPr>
          <p:cNvPr id="14" name="Text 11"/>
          <p:cNvSpPr/>
          <p:nvPr/>
        </p:nvSpPr>
        <p:spPr>
          <a:xfrm>
            <a:off x="8229600" y="4864608"/>
            <a:ext cx="777240" cy="228600"/>
          </a:xfrm>
          <a:prstGeom prst="rect">
            <a:avLst/>
          </a:prstGeom>
          <a:noFill/>
          <a:ln/>
        </p:spPr>
        <p:txBody>
          <a:bodyPr wrap="square" lIns="0" tIns="0" rIns="0" bIns="0" rtlCol="0" anchor="ctr"/>
          <a:lstStyle/>
          <a:p>
            <a:pPr marL="0" indent="0" algn="r">
              <a:buNone/>
            </a:pPr>
            <a:r>
              <a:rPr lang="en-US" sz="800" dirty="0">
                <a:solidFill>
                  <a:srgbClr val="B20E38"/>
                </a:solidFill>
                <a:latin typeface="Montserrat" pitchFamily="34" charset="0"/>
                <a:ea typeface="Montserrat" pitchFamily="34" charset="-122"/>
                <a:cs typeface="Montserrat" pitchFamily="34" charset="-120"/>
              </a:rPr>
              <a:t>17 / 17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1607</TotalTime>
  <Words>1056</Words>
  <Application>Microsoft Office PowerPoint</Application>
  <PresentationFormat>On-screen Show (16:9)</PresentationFormat>
  <Paragraphs>160</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Montserrat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Shridhar samant</cp:lastModifiedBy>
  <cp:revision>12</cp:revision>
  <dcterms:created xsi:type="dcterms:W3CDTF">2026-08-06T05:19:38Z</dcterms:created>
  <dcterms:modified xsi:type="dcterms:W3CDTF">2026-09-02T12:35:45Z</dcterms:modified>
</cp:coreProperties>
</file>