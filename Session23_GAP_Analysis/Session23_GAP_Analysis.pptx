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85" r:id="rId6"/>
    <p:sldId id="260" r:id="rId7"/>
    <p:sldId id="261" r:id="rId8"/>
    <p:sldId id="272" r:id="rId9"/>
    <p:sldId id="273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8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580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953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40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5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24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772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012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D8391-FE43-46D1-818C-650E1845F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105EA-4A19-6A75-17C2-F4495CE07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3F0E5-7D41-0F84-AF6E-3DE4602E7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8BD0C-A52E-F6BD-E5A8-0A4D32A15E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537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17BB4-2AB8-1F57-4A3D-D4565C320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90B04-7603-7C41-B62A-C47A4CA9E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56AE4-E886-2E8C-1DF3-6B77578AF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90E7D-8624-5413-4116-1090E24A26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53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STRATEGIES FOR BUSINESS GROWTH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2194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GAP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6 · Session 23 · How Much Growth Do You Actually Need?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 &amp; BRIDGE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From Direction to Distance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063240"/>
          </a:xfrm>
          <a:prstGeom prst="roundRect">
            <a:avLst>
              <a:gd name="adj" fmla="val 1791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Ansoff Matrix (Session 19) told you which direction to grow in. Diversification (Session 20) and BCG (Session 21) told you how to manage what you already have.
</a:t>
            </a: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None of them answer one basic question: </a:t>
            </a:r>
            <a:r>
              <a:rPr lang="en-US" sz="150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much growth do you actually need?</a:t>
            </a: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That's what GAP Analysis is for.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GAP Analysis?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063240"/>
          </a:xfrm>
          <a:prstGeom prst="roundRect">
            <a:avLst>
              <a:gd name="adj" fmla="val 1791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 Analysis compares where a business is </a:t>
            </a:r>
            <a:r>
              <a:rPr lang="en-US" sz="150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headed</a:t>
            </a: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on its current path against where it </a:t>
            </a:r>
            <a:r>
              <a:rPr lang="en-US" sz="150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wants to be</a:t>
            </a: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and measures the difference.
That difference, the "gap," is what strategy has to close.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Strategic Planning Gap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063240"/>
          </a:xfrm>
          <a:prstGeom prst="roundRect">
            <a:avLst>
              <a:gd name="adj" fmla="val 1791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Picture two lines on a chart of revenue (or profit) over time:
</a:t>
            </a:r>
            <a:r>
              <a:rPr lang="en-US" sz="145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desired line </a:t>
            </a: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your growth objective, rising steadily.
</a:t>
            </a:r>
            <a:r>
              <a:rPr lang="en-US" sz="145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projected line </a:t>
            </a: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what happens if you simply continue current strategy, unchanged.
</a:t>
            </a: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widening space between those two lines is the gap you need a strategy to close.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Strategic Planning Gap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16</a:t>
            </a:r>
            <a:endParaRPr lang="en-US" sz="800" dirty="0"/>
          </a:p>
        </p:txBody>
      </p:sp>
      <p:sp>
        <p:nvSpPr>
          <p:cNvPr id="8" name="AutoShape 2" descr="Generated image: GAP Analysis: Bridging Current and Desired States">
            <a:extLst>
              <a:ext uri="{FF2B5EF4-FFF2-40B4-BE49-F238E27FC236}">
                <a16:creationId xmlns:a16="http://schemas.microsoft.com/office/drawing/2014/main" id="{B5DB6052-5D54-406F-A2CF-970A82CE66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BD3E67-1925-4B21-81F4-829C3A228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423" y="1103473"/>
            <a:ext cx="5542046" cy="369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67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TYPES OF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Operating Gap vs. Strategic Gap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86200" cy="2377440"/>
          </a:xfrm>
          <a:prstGeom prst="roundRect">
            <a:avLst>
              <a:gd name="adj" fmla="val 2308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Operating Gap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be closed by doing the current strategy better — improving efficiency, cutting costs, raising prices slightly, better execution.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3886200" cy="2377440"/>
          </a:xfrm>
          <a:prstGeom prst="roundRect">
            <a:avLst>
              <a:gd name="adj" fmla="val 2308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Strategic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Can't be closed by doing more of the same — it needs a genuinely new strategy: a new product, a new market, or a new business entirely.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real gaps are a mix of both — </a:t>
            </a: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the operating part first; it's faster and cheaper.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WAYS TO CLOSE THE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Three Growth Routes (Recap: Ansoff)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WAYS TO CLOSE THE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Three Growth Routes (Recap: Ansoff)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Intensive Growth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6479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more with what you have — market penetration, market development, product development.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Integrative Growth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76479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 by controlling more of the value chain — backward, forward, or horizontal integration.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Diversification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41071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 into genuinely new businesses, related or unrelated to the current 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006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Combination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41071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real companies use more than one route at once, layered together.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6363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CASE: INTENSIVE + DIVERSIFICATION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Airtel Closes the Gap After Jio's Disruption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66561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CASE: INTENSIVE + DIVERSIFICATION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Airtel Closes the Gap After Jio's Disruption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176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98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gap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Jio's 2016 entry crashed data prices industry-wide, blowing a hole in Airtel's projected revenue and profit trajectory.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2494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Intensive growth response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7860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Airtel matched aggressive data pricing and pushed hard on 4G network expansion to defend and grow its existing customer base.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Diversification response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52958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Airtel built out Airtel Payments Bank and expanded its digital-services portfolio — genuinely new revenue lines to help close the gap.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CASE: HORIZONTAL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Vodafone-Idea: Merging to Close a Survival Gap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176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98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gap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Both Vodafone India and Idea Cellular were individually losing share and cash rapidly after Jio's price war began.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1854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response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2018 merger combined their subscriber bases and infrastructure — horizontal integration aimed at regaining the scale neither could reach alone.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1912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lesson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every gap gets closed by growth — sometimes closing it means merging just to survive.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Boncho's</a:t>
            </a: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</a:t>
            </a: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Momos</a:t>
            </a: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- Her Growth Gap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063240"/>
          </a:xfrm>
          <a:prstGeom prst="roundRect">
            <a:avLst>
              <a:gd name="adj" fmla="val 1791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 err="1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Boncho’s</a:t>
            </a:r>
            <a:r>
              <a:rPr lang="en-US" sz="150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wants to double her monthly revenue within a year. </a:t>
            </a: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 if she changes nothing, her single outlet's steady regulars will only grow revenue by a small amount that shortfall is her gap.
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Boncho’s</a:t>
            </a: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Momos — Choosing Her Closing Strategy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063240"/>
          </a:xfrm>
          <a:prstGeom prst="roundRect">
            <a:avLst>
              <a:gd name="adj" fmla="val 1791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 err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Boncho’s</a:t>
            </a: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gap is mostly strategic, not operating — her single outlet is already running efficiently, so trimming costs alone won't double her revenue.
</a:t>
            </a:r>
            <a:r>
              <a:rPr lang="en-US" sz="150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 best bet: </a:t>
            </a: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 product development (her fusion menu) with a delivery partnership (extending reach without owning logistics) — two routes at once, like Airtel did.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Building a GAP Analysis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a clear growth objective — a specific number, not a vague ambition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07568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 your current trajectory — what happens if nothing changes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916936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 the gap — the difference between objective and projection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758184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one or more closing strategies — intensive, integrative, diversification, or combination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Limitations of GAP Analysis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It depends entirely on how realistic your "projected" line actually is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488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A large gap doesn't tell you which closing strategy will actually work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0632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It's a planning tool, not an execution plan — closing the gap still takes real strategic choices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977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External shocks can move both lines unpredictably, making the gap a moving target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Common Pitfalls When Using GAP Analysis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Setting an objective that's aspirational but has no real link to the business's capabilities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488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Projecting the current trajectory too optimistically, which understates the real gap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0632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Picking a closing strategy because it's familiar, not because it fits the gap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977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Treating the gap as closed once a plan exists, without tracking actual progress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Key Takeaways from Today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 Analysis measures the distance between your growth objective and your current trajectory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842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gap is what strategy actually has to close — not just "grow more"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34056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734056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Closing routes: intensive, integrative, diversification, or a combination of these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83864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483864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companies often close gaps with more than one route at once — as Airtel did after Jio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 &amp; NEXT SESSION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Sources &amp; What's Coming Up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Required Reading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Ansoff, H.I. (1965). "Corporate Strategy" — the origin of gap-based strategic planning.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Case &amp; History Sources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8775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Public accounts of Airtel's response to Jio's market entry, and the Vodafone-Idea 2018 merger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 / 16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5511" y="582930"/>
            <a:ext cx="829818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1" y="4992624"/>
            <a:ext cx="9141714" cy="150876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8607981" y="192024"/>
            <a:ext cx="274320" cy="3429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7" name="Text 5"/>
          <p:cNvSpPr/>
          <p:nvPr/>
        </p:nvSpPr>
        <p:spPr>
          <a:xfrm>
            <a:off x="412671" y="2289352"/>
            <a:ext cx="80238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GE / McKinsey Nine-Cell Matrix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90611" y="240030"/>
            <a:ext cx="1645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/ 20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5511" y="582930"/>
            <a:ext cx="829818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1" y="4992624"/>
            <a:ext cx="9141714" cy="150876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8607981" y="192024"/>
            <a:ext cx="274320" cy="3429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378381" y="240030"/>
            <a:ext cx="7200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8381" y="469773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05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BCG Was a Start, Not the Whole Story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9831" y="1577340"/>
            <a:ext cx="8023860" cy="2948940"/>
          </a:xfrm>
          <a:prstGeom prst="roundRect">
            <a:avLst>
              <a:gd name="adj" fmla="val 186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55571" y="1817370"/>
            <a:ext cx="7612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275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BCG Matrix uses two numbers, market growth and relative market share, to sort a portfolio into four boxes. Fast, simple, and honestly, a little crude.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755571" y="2674620"/>
            <a:ext cx="7612380" cy="1577340"/>
          </a:xfrm>
          <a:prstGeom prst="roundRect">
            <a:avLst>
              <a:gd name="adj" fmla="val 3478"/>
            </a:avLst>
          </a:prstGeom>
          <a:solidFill>
            <a:srgbClr val="B20E38"/>
          </a:solidFill>
          <a:ln/>
        </p:spPr>
      </p:sp>
      <p:sp>
        <p:nvSpPr>
          <p:cNvPr id="11" name="Text 9"/>
          <p:cNvSpPr/>
          <p:nvPr/>
        </p:nvSpPr>
        <p:spPr>
          <a:xfrm>
            <a:off x="961311" y="2674620"/>
            <a:ext cx="72009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Electric, working with McKinsey in the early 1970s, built a richer version: instead of two numbers, it uses two composite judgments, industry attractiveness and business strength, each built from multiple real factors.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90611" y="240030"/>
            <a:ext cx="1645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/ 20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5511" y="582930"/>
            <a:ext cx="829818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1" y="4992624"/>
            <a:ext cx="9141714" cy="150876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8607981" y="192024"/>
            <a:ext cx="274320" cy="3429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378381" y="240030"/>
            <a:ext cx="7200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Tool Exists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8381" y="469773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05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Problem BCG Couldn't Solve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9831" y="1577340"/>
            <a:ext cx="8023860" cy="2948940"/>
          </a:xfrm>
          <a:prstGeom prst="roundRect">
            <a:avLst>
              <a:gd name="adj" fmla="val 186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55571" y="1817370"/>
            <a:ext cx="76123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238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real businesses can have identical growth and share numbers, and still be nothing alike. A slow-growing category can still be genuinely attractive: high margins, few competitors, loyal customers, low regulatory risk.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755571" y="2777490"/>
            <a:ext cx="76123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238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BCG's two axes can't capture that nuance. GE's matrix was built specifically to let managers weigh in judgment, not just plug in two numbers.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6790611" y="240030"/>
            <a:ext cx="1645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/ 20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5511" y="582930"/>
            <a:ext cx="829818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1" y="4992624"/>
            <a:ext cx="9141714" cy="150876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8607981" y="192024"/>
            <a:ext cx="274320" cy="3429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378381" y="240030"/>
            <a:ext cx="7200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8381" y="469773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05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Two Composite Axes, Not Two Numbers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9831" y="1577340"/>
            <a:ext cx="3840480" cy="2811780"/>
          </a:xfrm>
          <a:prstGeom prst="roundRect">
            <a:avLst>
              <a:gd name="adj" fmla="val 195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55571" y="174879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Industry Attractiveness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5571" y="2228850"/>
            <a:ext cx="34290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8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size, market growth rate, competitive intensity, profit margins, technology requirements, regulatory environment</a:t>
            </a:r>
            <a:endParaRPr lang="en-US" sz="1088" dirty="0"/>
          </a:p>
        </p:txBody>
      </p:sp>
      <p:sp>
        <p:nvSpPr>
          <p:cNvPr id="11" name="Shape 9"/>
          <p:cNvSpPr/>
          <p:nvPr/>
        </p:nvSpPr>
        <p:spPr>
          <a:xfrm>
            <a:off x="4630341" y="1577340"/>
            <a:ext cx="3840480" cy="2811780"/>
          </a:xfrm>
          <a:prstGeom prst="roundRect">
            <a:avLst>
              <a:gd name="adj" fmla="val 195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36081" y="174879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Business Strength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36081" y="2228850"/>
            <a:ext cx="34290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8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share, brand strength, cost position, distribution reach, technical capability, management quality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6790611" y="240030"/>
            <a:ext cx="1645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20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5511" y="582930"/>
            <a:ext cx="829818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1" y="4992624"/>
            <a:ext cx="9141714" cy="150876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8607981" y="192024"/>
            <a:ext cx="274320" cy="3429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378381" y="240030"/>
            <a:ext cx="7200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8381" y="469773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05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Nine Cells, Three Zones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9831" y="1611630"/>
            <a:ext cx="2571750" cy="960120"/>
          </a:xfrm>
          <a:prstGeom prst="rect">
            <a:avLst/>
          </a:prstGeom>
          <a:solidFill>
            <a:srgbClr val="B20E3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9831" y="1611630"/>
            <a:ext cx="25717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Invest / Grow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58741" y="1611630"/>
            <a:ext cx="2571750" cy="960120"/>
          </a:xfrm>
          <a:prstGeom prst="rect">
            <a:avLst/>
          </a:prstGeom>
          <a:solidFill>
            <a:srgbClr val="B20E3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8741" y="1611630"/>
            <a:ext cx="25717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Invest / Grow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67651" y="1611630"/>
            <a:ext cx="2571750" cy="960120"/>
          </a:xfrm>
          <a:prstGeom prst="rect">
            <a:avLst/>
          </a:prstGeom>
          <a:solidFill>
            <a:srgbClr val="D962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7651" y="1611630"/>
            <a:ext cx="25717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Selective Growth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9831" y="2674620"/>
            <a:ext cx="2571750" cy="960120"/>
          </a:xfrm>
          <a:prstGeom prst="rect">
            <a:avLst/>
          </a:prstGeom>
          <a:solidFill>
            <a:srgbClr val="B20E3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9831" y="2674620"/>
            <a:ext cx="25717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Invest / Grow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58741" y="2674620"/>
            <a:ext cx="2571750" cy="960120"/>
          </a:xfrm>
          <a:prstGeom prst="rect">
            <a:avLst/>
          </a:prstGeom>
          <a:solidFill>
            <a:srgbClr val="D962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8741" y="2674620"/>
            <a:ext cx="25717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Selective Growth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67651" y="2674620"/>
            <a:ext cx="2571750" cy="960120"/>
          </a:xfrm>
          <a:prstGeom prst="rect">
            <a:avLst/>
          </a:prstGeom>
          <a:solidFill>
            <a:srgbClr val="8A6A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7651" y="2674620"/>
            <a:ext cx="25717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Harvest / Divest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9831" y="3737610"/>
            <a:ext cx="2571750" cy="960120"/>
          </a:xfrm>
          <a:prstGeom prst="rect">
            <a:avLst/>
          </a:prstGeom>
          <a:solidFill>
            <a:srgbClr val="D962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831" y="3737610"/>
            <a:ext cx="25717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Selective Growth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58741" y="3737610"/>
            <a:ext cx="2571750" cy="960120"/>
          </a:xfrm>
          <a:prstGeom prst="rect">
            <a:avLst/>
          </a:prstGeom>
          <a:solidFill>
            <a:srgbClr val="8A6A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8741" y="3737610"/>
            <a:ext cx="25717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Harvest / Divest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67651" y="3737610"/>
            <a:ext cx="2571750" cy="960120"/>
          </a:xfrm>
          <a:prstGeom prst="rect">
            <a:avLst/>
          </a:prstGeom>
          <a:solidFill>
            <a:srgbClr val="8A6A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7651" y="3737610"/>
            <a:ext cx="25717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Harvest / Divest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9831" y="4800600"/>
            <a:ext cx="80238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8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Top-left = strong on both axes, invest heavily. Bottom-right = weak on both, harvest cash or exit.</a:t>
            </a:r>
            <a:endParaRPr lang="en-US" sz="938" dirty="0"/>
          </a:p>
        </p:txBody>
      </p:sp>
      <p:sp>
        <p:nvSpPr>
          <p:cNvPr id="27" name="Text 25"/>
          <p:cNvSpPr/>
          <p:nvPr/>
        </p:nvSpPr>
        <p:spPr>
          <a:xfrm>
            <a:off x="6790611" y="240030"/>
            <a:ext cx="1645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20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5511" y="582930"/>
            <a:ext cx="829818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1" y="4992624"/>
            <a:ext cx="9141714" cy="150876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8607981" y="192024"/>
            <a:ext cx="274320" cy="3429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378381" y="240030"/>
            <a:ext cx="7200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8381" y="469773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05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4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Mckinsey</a:t>
            </a:r>
            <a:r>
              <a:rPr lang="en-US" sz="2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90611" y="240030"/>
            <a:ext cx="1645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20</a:t>
            </a:r>
            <a:endParaRPr lang="en-US" sz="105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384DC92-16FA-434E-BB77-392C70A9C123}"/>
              </a:ext>
            </a:extLst>
          </p:cNvPr>
          <p:cNvGraphicFramePr>
            <a:graphicFrameLocks noGrp="1"/>
          </p:cNvGraphicFramePr>
          <p:nvPr/>
        </p:nvGraphicFramePr>
        <p:xfrm>
          <a:off x="524029" y="1690735"/>
          <a:ext cx="7990132" cy="2167486"/>
        </p:xfrm>
        <a:graphic>
          <a:graphicData uri="http://schemas.openxmlformats.org/drawingml/2006/table">
            <a:tbl>
              <a:tblPr/>
              <a:tblGrid>
                <a:gridCol w="1997533">
                  <a:extLst>
                    <a:ext uri="{9D8B030D-6E8A-4147-A177-3AD203B41FA5}">
                      <a16:colId xmlns:a16="http://schemas.microsoft.com/office/drawing/2014/main" val="2343375530"/>
                    </a:ext>
                  </a:extLst>
                </a:gridCol>
                <a:gridCol w="1997533">
                  <a:extLst>
                    <a:ext uri="{9D8B030D-6E8A-4147-A177-3AD203B41FA5}">
                      <a16:colId xmlns:a16="http://schemas.microsoft.com/office/drawing/2014/main" val="2146996037"/>
                    </a:ext>
                  </a:extLst>
                </a:gridCol>
                <a:gridCol w="1997533">
                  <a:extLst>
                    <a:ext uri="{9D8B030D-6E8A-4147-A177-3AD203B41FA5}">
                      <a16:colId xmlns:a16="http://schemas.microsoft.com/office/drawing/2014/main" val="1266458771"/>
                    </a:ext>
                  </a:extLst>
                </a:gridCol>
                <a:gridCol w="1997533">
                  <a:extLst>
                    <a:ext uri="{9D8B030D-6E8A-4147-A177-3AD203B41FA5}">
                      <a16:colId xmlns:a16="http://schemas.microsoft.com/office/drawing/2014/main" val="3730997399"/>
                    </a:ext>
                  </a:extLst>
                </a:gridCol>
              </a:tblGrid>
              <a:tr h="346798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Strong Business</a:t>
                      </a:r>
                      <a:endParaRPr lang="en-IN" sz="1400"/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Average Business</a:t>
                      </a:r>
                      <a:endParaRPr lang="en-IN" sz="1400"/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Weak Business</a:t>
                      </a:r>
                      <a:endParaRPr lang="en-IN" sz="1400"/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57592"/>
                  </a:ext>
                </a:extLst>
              </a:tr>
              <a:tr h="606896">
                <a:tc>
                  <a:txBody>
                    <a:bodyPr/>
                    <a:lstStyle/>
                    <a:p>
                      <a:r>
                        <a:rPr lang="en-IN" sz="1400" b="1"/>
                        <a:t>High Industry Attractiveness</a:t>
                      </a:r>
                      <a:endParaRPr lang="en-IN" sz="1400"/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🟢 Invest/Grow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🟢 Selective Investment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🟡 Build/Select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907426"/>
                  </a:ext>
                </a:extLst>
              </a:tr>
              <a:tr h="606896">
                <a:tc>
                  <a:txBody>
                    <a:bodyPr/>
                    <a:lstStyle/>
                    <a:p>
                      <a:r>
                        <a:rPr lang="en-IN" sz="1400" b="1"/>
                        <a:t>Medium Industry Attractiveness</a:t>
                      </a:r>
                      <a:endParaRPr lang="en-IN" sz="1400"/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🟢 Selective Growth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🟡 Hold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🟠 Harvest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651997"/>
                  </a:ext>
                </a:extLst>
              </a:tr>
              <a:tr h="606896">
                <a:tc>
                  <a:txBody>
                    <a:bodyPr/>
                    <a:lstStyle/>
                    <a:p>
                      <a:r>
                        <a:rPr lang="en-IN" sz="1400" b="1"/>
                        <a:t>Low Industry Attractiveness</a:t>
                      </a:r>
                      <a:endParaRPr lang="en-IN" sz="1400"/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🟡 Protect/Harvest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🟠 Harvest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🔴 Exit/Divest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474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004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5511" y="582930"/>
            <a:ext cx="829818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1" y="4992624"/>
            <a:ext cx="9141714" cy="150876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8607981" y="192024"/>
            <a:ext cx="274320" cy="3429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378381" y="240030"/>
            <a:ext cx="7200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Story · Part 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Godrej Group: A Portfolio Worth Mapping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90611" y="240030"/>
            <a:ext cx="1645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20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5511" y="582930"/>
            <a:ext cx="829818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1" y="4992624"/>
            <a:ext cx="9141714" cy="150876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8607981" y="192024"/>
            <a:ext cx="274320" cy="3429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378381" y="240030"/>
            <a:ext cx="7200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Story · Part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8381" y="469773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05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Godrej Group: A Portfolio Worth Mapping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9831" y="1577340"/>
            <a:ext cx="8023860" cy="2948940"/>
          </a:xfrm>
          <a:prstGeom prst="roundRect">
            <a:avLst>
              <a:gd name="adj" fmla="val 186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55571" y="1783080"/>
            <a:ext cx="7612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Founded 1897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55571" y="2057400"/>
            <a:ext cx="7612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locks and safes to one of India's most diversified conglomerates, spanning consumer products, real estate, agrochemicals, appliances, and more.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5571" y="2846070"/>
            <a:ext cx="7612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Three businesses worth examining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55571" y="3120390"/>
            <a:ext cx="76123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163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Godrej Consumer Products (soaps, hair colour, household insecticides), Godrej Properties (real estate development), and Godrej Agrovet (animal feed, agri-inputs).</a:t>
            </a:r>
            <a:endParaRPr lang="en-US" sz="1163" dirty="0"/>
          </a:p>
        </p:txBody>
      </p:sp>
      <p:sp>
        <p:nvSpPr>
          <p:cNvPr id="13" name="Text 11"/>
          <p:cNvSpPr/>
          <p:nvPr/>
        </p:nvSpPr>
        <p:spPr>
          <a:xfrm>
            <a:off x="6790611" y="240030"/>
            <a:ext cx="1645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20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074721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5511" y="582930"/>
            <a:ext cx="829818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1" y="4992624"/>
            <a:ext cx="9141714" cy="150876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8607981" y="192024"/>
            <a:ext cx="274320" cy="3429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378381" y="240030"/>
            <a:ext cx="7200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Story · Part 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8381" y="469773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05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Mapping the Group onto the Grid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9831" y="1577340"/>
            <a:ext cx="8023860" cy="925830"/>
          </a:xfrm>
          <a:prstGeom prst="roundRect">
            <a:avLst>
              <a:gd name="adj" fmla="val 5926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21281" y="1659636"/>
            <a:ext cx="2194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Godrej Consumer Products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3018711" y="1659636"/>
            <a:ext cx="24003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attractiveness, high strength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5556171" y="1659636"/>
            <a:ext cx="2880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3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Decades of brand trust and distribution reach in a steadily growing FMCG market</a:t>
            </a:r>
            <a:endParaRPr lang="en-US" sz="863" dirty="0"/>
          </a:p>
        </p:txBody>
      </p:sp>
      <p:sp>
        <p:nvSpPr>
          <p:cNvPr id="12" name="Shape 10"/>
          <p:cNvSpPr/>
          <p:nvPr/>
        </p:nvSpPr>
        <p:spPr>
          <a:xfrm>
            <a:off x="549831" y="2606040"/>
            <a:ext cx="8023860" cy="925830"/>
          </a:xfrm>
          <a:prstGeom prst="roundRect">
            <a:avLst>
              <a:gd name="adj" fmla="val 5926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21281" y="2688336"/>
            <a:ext cx="2194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Godrej Properties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3018711" y="2688336"/>
            <a:ext cx="24003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Medium attractiveness, medium strength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5556171" y="2688336"/>
            <a:ext cx="2880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3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Cyclical, capital-intensive, strong brand but exposed to real-estate cycles</a:t>
            </a:r>
            <a:endParaRPr lang="en-US" sz="863" dirty="0"/>
          </a:p>
        </p:txBody>
      </p:sp>
      <p:sp>
        <p:nvSpPr>
          <p:cNvPr id="16" name="Shape 14"/>
          <p:cNvSpPr/>
          <p:nvPr/>
        </p:nvSpPr>
        <p:spPr>
          <a:xfrm>
            <a:off x="549831" y="3634740"/>
            <a:ext cx="8023860" cy="925830"/>
          </a:xfrm>
          <a:prstGeom prst="roundRect">
            <a:avLst>
              <a:gd name="adj" fmla="val 5926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21281" y="3717036"/>
            <a:ext cx="21945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Godrej Agrovet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3018711" y="3717036"/>
            <a:ext cx="24003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Medium attractiveness, building strength</a:t>
            </a:r>
            <a:endParaRPr lang="en-US" sz="938" dirty="0"/>
          </a:p>
        </p:txBody>
      </p:sp>
      <p:sp>
        <p:nvSpPr>
          <p:cNvPr id="19" name="Text 17"/>
          <p:cNvSpPr/>
          <p:nvPr/>
        </p:nvSpPr>
        <p:spPr>
          <a:xfrm>
            <a:off x="5556171" y="3717036"/>
            <a:ext cx="2880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63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genuinely important sector, but still establishing scale relative to specialised agri players</a:t>
            </a:r>
            <a:endParaRPr lang="en-US" sz="863" dirty="0"/>
          </a:p>
        </p:txBody>
      </p:sp>
      <p:sp>
        <p:nvSpPr>
          <p:cNvPr id="20" name="Text 18"/>
          <p:cNvSpPr/>
          <p:nvPr/>
        </p:nvSpPr>
        <p:spPr>
          <a:xfrm>
            <a:off x="6790611" y="240030"/>
            <a:ext cx="1645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20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5511" y="582930"/>
            <a:ext cx="829818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1" y="4992624"/>
            <a:ext cx="9141714" cy="150876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8607981" y="192024"/>
            <a:ext cx="274320" cy="3429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378381" y="240030"/>
            <a:ext cx="7200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What Do You Do With This?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8381" y="469773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05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Each Zone Implies a Different Move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9831" y="1645920"/>
            <a:ext cx="8023860" cy="788670"/>
          </a:xfrm>
          <a:prstGeom prst="roundRect">
            <a:avLst>
              <a:gd name="adj" fmla="val 6957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21281" y="1748790"/>
            <a:ext cx="2194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Invest / Grow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8711" y="1748790"/>
            <a:ext cx="54178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88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 aggressively, this is where the group's future is being built</a:t>
            </a:r>
            <a:endParaRPr lang="en-US" sz="1088" dirty="0"/>
          </a:p>
        </p:txBody>
      </p:sp>
      <p:sp>
        <p:nvSpPr>
          <p:cNvPr id="11" name="Shape 9"/>
          <p:cNvSpPr/>
          <p:nvPr/>
        </p:nvSpPr>
        <p:spPr>
          <a:xfrm>
            <a:off x="549831" y="2537460"/>
            <a:ext cx="8023860" cy="788670"/>
          </a:xfrm>
          <a:prstGeom prst="roundRect">
            <a:avLst>
              <a:gd name="adj" fmla="val 6957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21281" y="2640330"/>
            <a:ext cx="2194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Selective Growth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8711" y="2640330"/>
            <a:ext cx="54178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88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 carefully, fix specific weaknesses before committing more capital</a:t>
            </a:r>
            <a:endParaRPr lang="en-US" sz="1088" dirty="0"/>
          </a:p>
        </p:txBody>
      </p:sp>
      <p:sp>
        <p:nvSpPr>
          <p:cNvPr id="14" name="Shape 12"/>
          <p:cNvSpPr/>
          <p:nvPr/>
        </p:nvSpPr>
        <p:spPr>
          <a:xfrm>
            <a:off x="549831" y="3429000"/>
            <a:ext cx="8023860" cy="788670"/>
          </a:xfrm>
          <a:prstGeom prst="roundRect">
            <a:avLst>
              <a:gd name="adj" fmla="val 6957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21281" y="3531870"/>
            <a:ext cx="21945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Harvest / Divest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8711" y="3531870"/>
            <a:ext cx="54178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88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Minimise new investment, extract cash, or exit entirely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6790611" y="240030"/>
            <a:ext cx="1645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20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5511" y="582930"/>
            <a:ext cx="829818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1" y="4992624"/>
            <a:ext cx="9141714" cy="150876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4" name="Shape 2"/>
          <p:cNvSpPr/>
          <p:nvPr/>
        </p:nvSpPr>
        <p:spPr>
          <a:xfrm rot="10800000">
            <a:off x="8607981" y="192024"/>
            <a:ext cx="274320" cy="342900"/>
          </a:xfrm>
          <a:prstGeom prst="triangl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/>
          <p:nvPr/>
        </p:nvSpPr>
        <p:spPr>
          <a:xfrm>
            <a:off x="378381" y="240030"/>
            <a:ext cx="7200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Comparing the Two Tools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8381" y="469773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050" b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that is Bharat</a:t>
            </a:r>
            <a:r>
              <a:rPr lang="en-US" sz="10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GE Matrix vs. BCG Matrix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9831" y="1577340"/>
            <a:ext cx="3840480" cy="2811780"/>
          </a:xfrm>
          <a:prstGeom prst="roundRect">
            <a:avLst>
              <a:gd name="adj" fmla="val 195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55571" y="1748790"/>
            <a:ext cx="34290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25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BCG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55571" y="2194560"/>
            <a:ext cx="34290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hard numbers: growth rate, relative share. Fast, objective, easy to defend, but can miss real nuance.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4630341" y="1577340"/>
            <a:ext cx="3840480" cy="2811780"/>
          </a:xfrm>
          <a:prstGeom prst="roundRect">
            <a:avLst>
              <a:gd name="adj" fmla="val 195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36081" y="1748790"/>
            <a:ext cx="34290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25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GE / McKinsey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4836081" y="2194560"/>
            <a:ext cx="34290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weighted factors, judgment-based. Richer picture, but the weights and scores can be gamed or biased.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90611" y="240030"/>
            <a:ext cx="1645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20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5511" y="582930"/>
            <a:ext cx="829818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78381" y="240030"/>
            <a:ext cx="7200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Poison Pill Effect</a:t>
            </a:r>
            <a:endParaRPr lang="en-US" sz="2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F9386E8-EE20-B4C0-FD82-A1209C693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731" y="1474470"/>
            <a:ext cx="4696539" cy="313102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4C943-1243-2391-7D7C-9E40DF96E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1CCE3A-E0D6-8349-9EEA-97E26DFDE9D3}"/>
              </a:ext>
            </a:extLst>
          </p:cNvPr>
          <p:cNvSpPr/>
          <p:nvPr/>
        </p:nvSpPr>
        <p:spPr>
          <a:xfrm>
            <a:off x="275511" y="582930"/>
            <a:ext cx="829818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D7406A-B00C-6322-33EA-4404D7F3895E}"/>
              </a:ext>
            </a:extLst>
          </p:cNvPr>
          <p:cNvSpPr/>
          <p:nvPr/>
        </p:nvSpPr>
        <p:spPr>
          <a:xfrm>
            <a:off x="378381" y="240030"/>
            <a:ext cx="7200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3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704127-9318-DBC0-4A27-A26661A38035}"/>
              </a:ext>
            </a:extLst>
          </p:cNvPr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Poison Pill Effect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4C0501-EC8B-F2A5-7EB4-03F7822E4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530" y="1405891"/>
            <a:ext cx="4858941" cy="323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40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41BFC-AFD7-2A75-7906-F80F0B742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3685D2-FB3C-64C1-C28B-218D498306A1}"/>
              </a:ext>
            </a:extLst>
          </p:cNvPr>
          <p:cNvSpPr/>
          <p:nvPr/>
        </p:nvSpPr>
        <p:spPr>
          <a:xfrm>
            <a:off x="275511" y="582930"/>
            <a:ext cx="8298180" cy="0"/>
          </a:xfrm>
          <a:prstGeom prst="line">
            <a:avLst/>
          </a:prstGeom>
          <a:noFill/>
          <a:ln w="15875">
            <a:solidFill>
              <a:srgbClr val="B20E3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1D38C46-8993-7B9D-EA24-BF89E93DD441}"/>
              </a:ext>
            </a:extLst>
          </p:cNvPr>
          <p:cNvSpPr/>
          <p:nvPr/>
        </p:nvSpPr>
        <p:spPr>
          <a:xfrm>
            <a:off x="1191" y="4992624"/>
            <a:ext cx="9141714" cy="150876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299256-DF47-8B89-4D39-31F3121BAAFA}"/>
              </a:ext>
            </a:extLst>
          </p:cNvPr>
          <p:cNvSpPr/>
          <p:nvPr/>
        </p:nvSpPr>
        <p:spPr>
          <a:xfrm rot="10800000">
            <a:off x="8607981" y="192024"/>
            <a:ext cx="274320" cy="342900"/>
          </a:xfrm>
          <a:prstGeom prst="triangle">
            <a:avLst/>
          </a:prstGeom>
          <a:solidFill>
            <a:srgbClr val="D9622B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A22C1C-1DF5-CF65-68FC-0F7288EB42ED}"/>
              </a:ext>
            </a:extLst>
          </p:cNvPr>
          <p:cNvSpPr/>
          <p:nvPr/>
        </p:nvSpPr>
        <p:spPr>
          <a:xfrm>
            <a:off x="378381" y="240030"/>
            <a:ext cx="72009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 &amp; Next Class</a:t>
            </a:r>
            <a:endParaRPr lang="en-US" sz="13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A20D7A-577E-A36E-FE70-B297753BAE19}"/>
              </a:ext>
            </a:extLst>
          </p:cNvPr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Sources &amp; What's Coming Up</a:t>
            </a:r>
            <a:endParaRPr lang="en-US" sz="2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F0EEF5C-D56E-DE30-76E3-81A0B757FF59}"/>
              </a:ext>
            </a:extLst>
          </p:cNvPr>
          <p:cNvSpPr/>
          <p:nvPr/>
        </p:nvSpPr>
        <p:spPr>
          <a:xfrm>
            <a:off x="549831" y="1577340"/>
            <a:ext cx="802386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22CE1EA-E124-6223-6610-AD556ACC4415}"/>
              </a:ext>
            </a:extLst>
          </p:cNvPr>
          <p:cNvSpPr/>
          <p:nvPr/>
        </p:nvSpPr>
        <p:spPr>
          <a:xfrm>
            <a:off x="755571" y="1783080"/>
            <a:ext cx="76123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088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Course pack, Unit 2, Portfolio Planning Tools; Sun Tzu, The Art of War, Chapter III; public accounts of Godrej Group's business structure.</a:t>
            </a:r>
            <a:endParaRPr lang="en-US" sz="1088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F49947A-8F01-E0E9-635B-A6A18A3B9DE8}"/>
              </a:ext>
            </a:extLst>
          </p:cNvPr>
          <p:cNvSpPr/>
          <p:nvPr/>
        </p:nvSpPr>
        <p:spPr>
          <a:xfrm>
            <a:off x="549831" y="3223260"/>
            <a:ext cx="8023860" cy="1371600"/>
          </a:xfrm>
          <a:prstGeom prst="roundRect">
            <a:avLst>
              <a:gd name="adj" fmla="val 4000"/>
            </a:avLst>
          </a:prstGeom>
          <a:solidFill>
            <a:srgbClr val="B20E38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0470D30-F179-AA73-AE26-7DF246CE13CF}"/>
              </a:ext>
            </a:extLst>
          </p:cNvPr>
          <p:cNvSpPr/>
          <p:nvPr/>
        </p:nvSpPr>
        <p:spPr>
          <a:xfrm>
            <a:off x="755571" y="3223260"/>
            <a:ext cx="76123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for next Session: </a:t>
            </a:r>
            <a:r>
              <a:rPr lang="en-US" sz="1350" b="1" dirty="0">
                <a:highlight>
                  <a:srgbClr val="FFFF00"/>
                </a:highlight>
              </a:rPr>
              <a:t>The Empty Chair Strategy</a:t>
            </a:r>
            <a:r>
              <a:rPr lang="en-US" sz="1350" b="1" i="1" dirty="0">
                <a:highlight>
                  <a:srgbClr val="FFFF00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200" b="1" dirty="0">
              <a:highlight>
                <a:srgbClr val="FFFF00"/>
              </a:highlight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C14C6DB-F6D6-DB80-3E0B-07A20BF25BCD}"/>
              </a:ext>
            </a:extLst>
          </p:cNvPr>
          <p:cNvSpPr/>
          <p:nvPr/>
        </p:nvSpPr>
        <p:spPr>
          <a:xfrm>
            <a:off x="6790611" y="240030"/>
            <a:ext cx="16459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/ 20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5428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1789</Words>
  <Application>Microsoft Office PowerPoint</Application>
  <PresentationFormat>On-screen Show (16:9)</PresentationFormat>
  <Paragraphs>244</Paragraphs>
  <Slides>32</Slides>
  <Notes>32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Montserrat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Shridhar samant</cp:lastModifiedBy>
  <cp:revision>3</cp:revision>
  <dcterms:created xsi:type="dcterms:W3CDTF">2026-09-08T14:45:25Z</dcterms:created>
  <dcterms:modified xsi:type="dcterms:W3CDTF">2026-09-19T07:57:08Z</dcterms:modified>
</cp:coreProperties>
</file>