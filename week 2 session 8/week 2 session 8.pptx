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9" r:id="rId2"/>
    <p:sldId id="271" r:id="rId3"/>
    <p:sldId id="284" r:id="rId4"/>
    <p:sldId id="27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80" r:id="rId22"/>
    <p:sldId id="269" r:id="rId23"/>
    <p:sldId id="281" r:id="rId24"/>
    <p:sldId id="285" r:id="rId25"/>
    <p:sldId id="286" r:id="rId26"/>
    <p:sldId id="287" r:id="rId27"/>
    <p:sldId id="290" r:id="rId28"/>
    <p:sldId id="288" r:id="rId29"/>
    <p:sldId id="291" r:id="rId30"/>
    <p:sldId id="292" r:id="rId31"/>
    <p:sldId id="294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580" y="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5148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04482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5064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021999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413702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1E53F-0C23-D869-3748-E8A2AAF0B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72E753-267E-1682-C86D-8A5B44C7F4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04457F-4A4A-0CC9-C076-8EC421BF3C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2190C-6479-44E9-F3D4-4AFE121CBF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9851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ABB29-BEE7-B43C-52A7-204012E05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83C1FD-E19B-F0EA-6AF2-4A6F296846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B1C71E-E3CE-E379-252C-83795075CB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4E96B-71E4-3409-34C3-F735E78F84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6780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92AEB-2F2D-C919-665A-095BF5410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5C3B13-7CF3-8CF4-E0AF-65A07C943E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D2EBC-B58C-F86C-B486-F33A372E2B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86314F-F4BD-28E3-3059-7EFE7DE80D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2317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3D6B2-5E9F-D4AA-0009-17B4E1A67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6ACDEB-7F66-6A75-C0AD-A1E26FA186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5D176C-5D5E-A691-FE20-26AA1DA752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77C9E-0C42-B086-0974-237EF7221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90997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C15AA-E58B-0665-AC91-CFCA89A88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8B7FBA-AAC6-5F4E-6C55-B48CA834EA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B8DBC2-2643-84D2-AB47-97B48A8C39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FB0FC5-7EEE-3EBB-068E-DB0032A068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76328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BDD6C-3D3B-F707-E82F-777B9FD83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F0FE6A-CB9A-D3F2-1FDB-F11FC912F6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20AF38-E000-0F61-DD8A-2ECCB0FB32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A166C1-154A-CA0A-7908-1820C4F97E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12653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EA6A7-9EA1-4374-5694-9AD04A5AF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826A7E-7517-DFD1-40A1-C7B44C3B08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E6D9A2-246E-F070-06A4-5B4D159FE3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217B2D-AFA6-F57E-BA36-480AE0FB1D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10352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91F7C-5E7F-F1B9-E701-D1750B829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B51BBE-6700-F4C7-5378-A833021B8E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576EB9-5445-1648-E19F-F486D80A71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077625-098C-BFC8-6C83-EB4D9E34F3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475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1030"/>
              </a:buClr>
              <a:buSzPts val="1050"/>
              <a:buFont typeface="Montserrat"/>
              <a:buNone/>
            </a:pPr>
            <a:r>
              <a:rPr lang="en-US" sz="1050" b="1" i="0" u="none" strike="noStrike" cap="none">
                <a:solidFill>
                  <a:srgbClr val="8C1030"/>
                </a:solidFill>
                <a:latin typeface="Montserrat"/>
                <a:ea typeface="Montserrat"/>
                <a:cs typeface="Montserrat"/>
                <a:sym typeface="Montserrat"/>
              </a:rPr>
              <a:t>RECAP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2500"/>
              <a:buFont typeface="Montserrat SemiBold"/>
              <a:buNone/>
            </a:pPr>
            <a:r>
              <a:rPr lang="en-US" sz="2500" b="1" i="0" u="none" strike="noStrike" cap="none" dirty="0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Last Session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4" descr="/home/claude/assets/content_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1030"/>
              </a:buClr>
              <a:buSzPts val="1050"/>
              <a:buFont typeface="Montserrat"/>
              <a:buNone/>
            </a:pPr>
            <a:r>
              <a:rPr lang="en-US" sz="1050" b="1" i="0" u="none" strike="noStrike" cap="none">
                <a:solidFill>
                  <a:srgbClr val="8C1030"/>
                </a:solidFill>
                <a:latin typeface="Montserrat"/>
                <a:ea typeface="Montserrat"/>
                <a:cs typeface="Montserrat"/>
                <a:sym typeface="Montserrat"/>
              </a:rPr>
              <a:t>RECAP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2500"/>
              <a:buFont typeface="Montserrat SemiBold"/>
              <a:buNone/>
            </a:pPr>
            <a:r>
              <a:rPr lang="en-US" sz="2500" b="1" i="0" u="none" strike="noStrike" cap="none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Last Session, in 60 Seconds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457200" y="13716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457200" y="1371600"/>
            <a:ext cx="73152" cy="868680"/>
          </a:xfrm>
          <a:prstGeom prst="rect">
            <a:avLst/>
          </a:prstGeom>
          <a:solidFill>
            <a:srgbClr val="B20E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777240" y="1371600"/>
            <a:ext cx="77724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ontserrat"/>
              <a:buNone/>
            </a:pPr>
            <a:r>
              <a:rPr lang="en-US" sz="1300" b="0" i="0" u="none" strike="noStrike" cap="none" dirty="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Good strategy involves real trade-offs  deliberately choosing what NOT to do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457200" y="2359152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457200" y="2359152"/>
            <a:ext cx="73152" cy="868680"/>
          </a:xfrm>
          <a:prstGeom prst="rect">
            <a:avLst/>
          </a:prstGeom>
          <a:solidFill>
            <a:srgbClr val="B20E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777240" y="2359152"/>
            <a:ext cx="77724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ontserrat"/>
              <a:buNone/>
            </a:pPr>
            <a:r>
              <a:rPr lang="en-US" sz="13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Strategy must fit both the outside environment and your own capabilities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457200" y="3346704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457200" y="3346704"/>
            <a:ext cx="73152" cy="868680"/>
          </a:xfrm>
          <a:prstGeom prst="rect">
            <a:avLst/>
          </a:prstGeom>
          <a:solidFill>
            <a:srgbClr val="B20E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777240" y="3346704"/>
            <a:ext cx="77724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ontserrat"/>
              <a:buNone/>
            </a:pPr>
            <a:r>
              <a:rPr lang="en-US" sz="1300" b="0" i="0" u="none" strike="noStrike" cap="none" dirty="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Execution matters as much as the plan itself  often more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300"/>
              <a:buFont typeface="Montserrat"/>
              <a:buNone/>
            </a:pPr>
            <a:r>
              <a:rPr lang="en-US" sz="1300" b="1" i="1" u="none" strike="noStrike" cap="none">
                <a:solidFill>
                  <a:srgbClr val="B20E38"/>
                </a:solidFill>
                <a:latin typeface="Montserrat"/>
                <a:ea typeface="Montserrat"/>
                <a:cs typeface="Montserrat"/>
                <a:sym typeface="Montserrat"/>
              </a:rPr>
              <a:t>Today: the actual process strategy follows, from idea to result.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800"/>
              <a:buFont typeface="Montserrat"/>
              <a:buNone/>
            </a:pPr>
            <a:r>
              <a:rPr lang="en-US" sz="800" b="0" i="0" u="none" strike="noStrike" cap="none">
                <a:solidFill>
                  <a:srgbClr val="B20E38"/>
                </a:solidFill>
                <a:latin typeface="Montserrat"/>
                <a:ea typeface="Montserrat"/>
                <a:cs typeface="Montserrat"/>
                <a:sym typeface="Montserrat"/>
              </a:rPr>
              <a:t>4 / 15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2069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729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LEVEL 1 OF 3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What Is Corporate-Level Strategy?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Based on: A. Nag, Strategic Management: Analysis, Implementation and Control, Ch. 1.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/ 15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309556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11" descr="/home/claude/assets/content_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1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1030"/>
              </a:buClr>
              <a:buSzPts val="1050"/>
              <a:buFont typeface="Montserrat"/>
              <a:buNone/>
            </a:pPr>
            <a:r>
              <a:rPr lang="en-US" sz="1050" b="1" i="0" u="none" strike="noStrike" cap="none">
                <a:solidFill>
                  <a:srgbClr val="8C1030"/>
                </a:solidFill>
                <a:latin typeface="Montserrat"/>
                <a:ea typeface="Montserrat"/>
                <a:cs typeface="Montserrat"/>
                <a:sym typeface="Montserrat"/>
              </a:rPr>
              <a:t>LOOKING AHEAD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2500"/>
              <a:buFont typeface="Montserrat SemiBold"/>
              <a:buNone/>
            </a:pPr>
            <a:r>
              <a:rPr lang="en-US" sz="2500" b="1" i="0" u="none" strike="noStrike" cap="none" dirty="0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Strategy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365760" y="1280160"/>
            <a:ext cx="2679192" cy="2926080"/>
          </a:xfrm>
          <a:prstGeom prst="roundRect">
            <a:avLst>
              <a:gd name="adj" fmla="val 2730"/>
            </a:avLst>
          </a:prstGeom>
          <a:solidFill>
            <a:srgbClr val="FFFFFF">
              <a:alpha val="87843"/>
            </a:srgbClr>
          </a:solidFill>
          <a:ln>
            <a:noFill/>
          </a:ln>
          <a:effectLst>
            <a:outerShdw blurRad="63500" dist="254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1"/>
          <p:cNvSpPr/>
          <p:nvPr/>
        </p:nvSpPr>
        <p:spPr>
          <a:xfrm>
            <a:off x="502920" y="1508760"/>
            <a:ext cx="240487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450"/>
              <a:buFont typeface="Montserrat SemiBold"/>
              <a:buNone/>
            </a:pPr>
            <a:r>
              <a:rPr lang="en-US" sz="1450" b="1" i="0" u="none" strike="noStrike" cap="none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Corporate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502920" y="2194560"/>
            <a:ext cx="2404872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Which businesses should we even be in?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3182112" y="1280160"/>
            <a:ext cx="2679192" cy="2926080"/>
          </a:xfrm>
          <a:prstGeom prst="roundRect">
            <a:avLst>
              <a:gd name="adj" fmla="val 2730"/>
            </a:avLst>
          </a:prstGeom>
          <a:solidFill>
            <a:srgbClr val="FFFFFF">
              <a:alpha val="87843"/>
            </a:srgbClr>
          </a:solidFill>
          <a:ln>
            <a:noFill/>
          </a:ln>
          <a:effectLst>
            <a:outerShdw blurRad="63500" dist="254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1"/>
          <p:cNvSpPr/>
          <p:nvPr/>
        </p:nvSpPr>
        <p:spPr>
          <a:xfrm>
            <a:off x="3319272" y="1508760"/>
            <a:ext cx="240487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450"/>
              <a:buFont typeface="Montserrat SemiBold"/>
              <a:buNone/>
            </a:pPr>
            <a:r>
              <a:rPr lang="en-US" sz="1450" b="1" i="0" u="none" strike="noStrike" cap="none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SBU / Business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3319272" y="2194560"/>
            <a:ext cx="2404872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How do we win within one specific business?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5998464" y="1280160"/>
            <a:ext cx="2679192" cy="2926080"/>
          </a:xfrm>
          <a:prstGeom prst="roundRect">
            <a:avLst>
              <a:gd name="adj" fmla="val 2730"/>
            </a:avLst>
          </a:prstGeom>
          <a:solidFill>
            <a:srgbClr val="FFFFFF">
              <a:alpha val="87843"/>
            </a:srgbClr>
          </a:solidFill>
          <a:ln>
            <a:noFill/>
          </a:ln>
          <a:effectLst>
            <a:outerShdw blurRad="63500" dist="254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1"/>
          <p:cNvSpPr/>
          <p:nvPr/>
        </p:nvSpPr>
        <p:spPr>
          <a:xfrm>
            <a:off x="6135624" y="1508760"/>
            <a:ext cx="240487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450"/>
              <a:buFont typeface="Montserrat SemiBold"/>
              <a:buNone/>
            </a:pPr>
            <a:r>
              <a:rPr lang="en-US" sz="1450" b="1" i="0" u="none" strike="noStrike" cap="none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Functional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6135624" y="2194560"/>
            <a:ext cx="2404872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How does each department support that win?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457200" y="437083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50"/>
              <a:buFont typeface="Montserrat"/>
              <a:buNone/>
            </a:pPr>
            <a:r>
              <a:rPr lang="en-US" sz="1150" b="0" i="1" u="none" strike="noStrike" cap="none">
                <a:solidFill>
                  <a:srgbClr val="6B6B6B"/>
                </a:solidFill>
                <a:latin typeface="Montserrat"/>
                <a:ea typeface="Montserrat"/>
                <a:cs typeface="Montserrat"/>
                <a:sym typeface="Montserrat"/>
              </a:rPr>
              <a:t>We'll dig into each of these deeply next session.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6A55"/>
              </a:buClr>
              <a:buSzPts val="800"/>
              <a:buFont typeface="Montserrat"/>
              <a:buNone/>
            </a:pPr>
            <a:r>
              <a:rPr lang="en-US" sz="800" b="0" i="1" u="none" strike="noStrike" cap="none">
                <a:solidFill>
                  <a:srgbClr val="8A6A55"/>
                </a:solidFill>
                <a:latin typeface="Montserrat"/>
                <a:ea typeface="Montserrat"/>
                <a:cs typeface="Montserrat"/>
                <a:sym typeface="Montserrat"/>
              </a:rPr>
              <a:t>Framework based on: A. Nag, Strategic Management: Analysis, Implementation and Control, Ch. 1.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800"/>
              <a:buFont typeface="Montserrat"/>
              <a:buNone/>
            </a:pPr>
            <a:r>
              <a:rPr lang="en-US" sz="800" b="0" i="0" u="none" strike="noStrike" cap="none">
                <a:solidFill>
                  <a:srgbClr val="B20E38"/>
                </a:solidFill>
                <a:latin typeface="Montserrat"/>
                <a:ea typeface="Montserrat"/>
                <a:cs typeface="Montserrat"/>
                <a:sym typeface="Montserrat"/>
              </a:rPr>
              <a:t>11 / 15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18189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STORY TO START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One Group, Many Businesses, Different Questions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8229600" cy="3246120"/>
          </a:xfrm>
          <a:prstGeom prst="roundRect">
            <a:avLst>
              <a:gd name="adj" fmla="val 2817"/>
            </a:avLst>
          </a:prstGeom>
          <a:solidFill>
            <a:srgbClr val="FFFFFF">
              <a:alpha val="90000"/>
            </a:srgbClr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3258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top of the house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31520" y="16459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Tata Group decides which industries to be in at all — steel, cars, software, watches and jewellery through Titan, and many more.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1520" y="2377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Inside one business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31520" y="269748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Titan itself then decides how to actually win inside the watch and jewellery markets — against HMT, against family jewellers.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31520" y="3429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Inside one department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31520" y="37490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Titan's marketing team decides how to advertise; its operations team decides how to run factories — each supporting the same fight, from a different angle.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Illustrative framing based on Tata Group's and Titan Company's publicly documented, diversified business structure.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/ 15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LEVEL 1 OF 3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What Is Corporate-Level Strategy?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8229600" cy="3108960"/>
          </a:xfrm>
          <a:prstGeom prst="roundRect">
            <a:avLst>
              <a:gd name="adj" fmla="val 2941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question: Which businesses should we even be in?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Decided by the very top of an organization — whether to enter, exit, or expand into entirely different industries.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651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Example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31520" y="306324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Tata Group's decision to be in steel, cars, IT services, and consumer lifestyle products all at once, under one umbrella.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Based on: A. Nag, Strategic Management: Analysis, Implementation and Control, Ch. 1.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/ 15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LEVEL 2 OF 3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What Is SBU-Level Strategy?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8229600" cy="3108960"/>
          </a:xfrm>
          <a:prstGeom prst="roundRect">
            <a:avLst>
              <a:gd name="adj" fmla="val 2941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question: How do we actually win inside this one business?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SBU stands for Strategic Business Unit — one distinct business within a larger group, competing in its own specific market.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651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Example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31520" y="306324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Titan deciding how to compete on trust and design against traditional family jewellers — a question specific to the jewellery business, not Tata Group as a whole.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Based on: A. Nag, Strategic Management: Analysis, Implementation and Control, Ch. 1.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/ 15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LEVEL 3 OF 3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What Is Functional-Level Strategy?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8229600" cy="3108960"/>
          </a:xfrm>
          <a:prstGeom prst="roundRect">
            <a:avLst>
              <a:gd name="adj" fmla="val 2941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question: How does each department support that win, day to day?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narrowest level — marketing, operations, finance and HR each make their own choices that ladder up to the SBU's strategy.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651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Example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31520" y="306324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Titan's marketing team choosing which festival campaigns to run; its operations team deciding how to staff each store — functional choices, in service of the bigger fight.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Based on: A. Nag, Strategic Management: Analysis, Implementation and Control, Ch. 1.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 / 15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PUTTING THEM TOGETHER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Three Levels, Side by Side</a:t>
            </a:r>
            <a:endParaRPr lang="en-US" sz="2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27432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Corporate</a:t>
                      </a:r>
                      <a:endParaRPr lang="en-US" sz="12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0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SBU</a:t>
                      </a:r>
                      <a:endParaRPr lang="en-US" sz="12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0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Functional</a:t>
                      </a:r>
                      <a:endParaRPr lang="en-US" sz="12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0E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Which businesses to be in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How to win in one business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How each department helps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1A1A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Tata Group's portfolio choice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1A1A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Titan vs. family jewellers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1A1A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Titan's marketing campaigns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Decided by top leadership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Decided by business-unit heads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Decided by department heads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Based on: A. Nag, Strategic Management: Analysis, Implementation and Control, Ch. 1.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 / 15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 TO TITAN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SBU-Level Decisions Inside a Corporate Umbrella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8229600" cy="2834640"/>
          </a:xfrm>
          <a:prstGeom prst="roundRect">
            <a:avLst>
              <a:gd name="adj" fmla="val 3226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463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Tata Group's corporate decision: be in watches and jewellery at all, through Titan.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31520" y="210312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Titan's SBU-level decisions within that: introducing certified purity and transparent pricing to win customer trust away from generations-old family jewellers — a choice specific to competing in jewellery, made by the people running that business, not by Tata Group's top leadership directly.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History based on widely documented accounts of Tanishq's trust-building strategy (purity certification, transparent pricing).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/ 15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 TO MOMOS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Do Small Businesses Have Levels Too?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716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“Corporate”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31520" y="171907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Should </a:t>
            </a:r>
            <a:r>
              <a:rPr lang="en-US" sz="1250" dirty="0" err="1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Boncho</a:t>
            </a: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open a second cart, or add a delivery-only kitchen?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359152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45059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“SBU”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1520" y="2798064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does the momo cart itself compete on taste and price?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3438144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3529584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“Functional”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31520" y="387705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does she plan ingredient purchases and staff shifts?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Even a one-person business makes decisions at all three levels — just without the fancy titles.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“Priya's Momos” is a fictional business created for classroom illustration only.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/ 15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 DISCUSSION · 5 MINUTES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Which Level Made This Decision?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716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“We are shutting down our least profitable business unit entirely.”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57200" y="23774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3774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“Our sales team will start following up with customers within 24 hours.”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57200" y="33832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338328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“We will now offer both a budget and a premium version of our product.”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Illustrative examples for classroom discussion — no external source.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/ 15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THIS MATTERS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Why Founders Need to Know Which Level They're At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02920" y="1417320"/>
            <a:ext cx="365760" cy="365760"/>
          </a:xfrm>
          <a:prstGeom prst="ellipse">
            <a:avLst/>
          </a:prstGeom>
          <a:solidFill>
            <a:srgbClr val="B20E38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51560" y="137160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corporate-level mistake (entering the wrong business) is far more expensive to undo than a functional one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02920" y="2286000"/>
            <a:ext cx="365760" cy="365760"/>
          </a:xfrm>
          <a:prstGeom prst="ellipse">
            <a:avLst/>
          </a:prstGeom>
          <a:solidFill>
            <a:srgbClr val="B20E38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51560" y="224028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Investors and co-founders often disagree because they're arguing about different levels without realizing it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3154680"/>
            <a:ext cx="365760" cy="365760"/>
          </a:xfrm>
          <a:prstGeom prst="ellipse">
            <a:avLst/>
          </a:prstGeom>
          <a:solidFill>
            <a:srgbClr val="B20E38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51560" y="310896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your business grows past one person, someone has to own each level clearly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 / 15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6" descr="/home/claude/assets/content_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907" y="54864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6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1030"/>
              </a:buClr>
              <a:buSzPts val="1050"/>
              <a:buFont typeface="Montserrat"/>
              <a:buNone/>
            </a:pPr>
            <a:r>
              <a:rPr lang="en-US" sz="1050" b="1" i="0" u="none" strike="noStrike" cap="none">
                <a:solidFill>
                  <a:srgbClr val="8C1030"/>
                </a:solidFill>
                <a:latin typeface="Montserrat"/>
                <a:ea typeface="Montserrat"/>
                <a:cs typeface="Montserrat"/>
                <a:sym typeface="Montserrat"/>
              </a:rPr>
              <a:t>CORE CONCEPT 1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2500"/>
              <a:buFont typeface="Montserrat SemiBold"/>
              <a:buNone/>
            </a:pPr>
            <a:r>
              <a:rPr lang="en-US" sz="2500" b="1" i="0" u="none" strike="noStrike" cap="none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Strategic Management Model: Four Stages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6" descr="/home/claude/assets/content_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6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1030"/>
              </a:buClr>
              <a:buSzPts val="1050"/>
              <a:buFont typeface="Montserrat"/>
              <a:buNone/>
            </a:pPr>
            <a:r>
              <a:rPr lang="en-US" sz="1050" b="1" i="0" u="none" strike="noStrike" cap="none">
                <a:solidFill>
                  <a:srgbClr val="8C1030"/>
                </a:solidFill>
                <a:latin typeface="Montserrat"/>
                <a:ea typeface="Montserrat"/>
                <a:cs typeface="Montserrat"/>
                <a:sym typeface="Montserrat"/>
              </a:rPr>
              <a:t>CORE CONCEPT 1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2500"/>
              <a:buFont typeface="Montserrat SemiBold"/>
              <a:buNone/>
            </a:pPr>
            <a:r>
              <a:rPr lang="en-US" sz="2500" b="1" i="0" u="none" strike="noStrike" cap="none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Strategic Management Model: Four Stages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365760" y="1280160"/>
            <a:ext cx="1947672" cy="2926080"/>
          </a:xfrm>
          <a:prstGeom prst="roundRect">
            <a:avLst>
              <a:gd name="adj" fmla="val 3756"/>
            </a:avLst>
          </a:prstGeom>
          <a:solidFill>
            <a:srgbClr val="FFFFFF">
              <a:alpha val="87843"/>
            </a:srgbClr>
          </a:solidFill>
          <a:ln>
            <a:noFill/>
          </a:ln>
          <a:effectLst>
            <a:outerShdw blurRad="63500" dist="254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1083564" y="1463040"/>
            <a:ext cx="512064" cy="512064"/>
          </a:xfrm>
          <a:prstGeom prst="ellipse">
            <a:avLst/>
          </a:prstGeom>
          <a:solidFill>
            <a:srgbClr val="B20E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1083564" y="146304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Montserrat SemiBold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475488" y="2103120"/>
            <a:ext cx="172821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300"/>
              <a:buFont typeface="Montserrat SemiBold"/>
              <a:buNone/>
            </a:pPr>
            <a:r>
              <a:rPr lang="en-US" sz="1300" b="1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Planning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475488" y="2606040"/>
            <a:ext cx="1728216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Montserrat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Look outward and inward before deciding anything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2423160" y="1280160"/>
            <a:ext cx="1947672" cy="2926080"/>
          </a:xfrm>
          <a:prstGeom prst="roundRect">
            <a:avLst>
              <a:gd name="adj" fmla="val 3756"/>
            </a:avLst>
          </a:prstGeom>
          <a:solidFill>
            <a:srgbClr val="FFFFFF">
              <a:alpha val="87843"/>
            </a:srgbClr>
          </a:solidFill>
          <a:ln>
            <a:noFill/>
          </a:ln>
          <a:effectLst>
            <a:outerShdw blurRad="63500" dist="254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3140964" y="1463040"/>
            <a:ext cx="512064" cy="512064"/>
          </a:xfrm>
          <a:prstGeom prst="ellipse">
            <a:avLst/>
          </a:prstGeom>
          <a:solidFill>
            <a:srgbClr val="B20E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3140964" y="146304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Montserrat SemiBold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2532888" y="2103120"/>
            <a:ext cx="172821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300"/>
              <a:buFont typeface="Montserrat SemiBold"/>
              <a:buNone/>
            </a:pPr>
            <a:r>
              <a:rPr lang="en-US" sz="1300" b="1" i="0" u="none" strike="noStrike" cap="none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Formulation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2532888" y="2606040"/>
            <a:ext cx="1728216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Montserrat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Design the actual strategy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4480560" y="1280160"/>
            <a:ext cx="1947672" cy="2926080"/>
          </a:xfrm>
          <a:prstGeom prst="roundRect">
            <a:avLst>
              <a:gd name="adj" fmla="val 3756"/>
            </a:avLst>
          </a:prstGeom>
          <a:solidFill>
            <a:srgbClr val="FFFFFF">
              <a:alpha val="87843"/>
            </a:srgbClr>
          </a:solidFill>
          <a:ln>
            <a:noFill/>
          </a:ln>
          <a:effectLst>
            <a:outerShdw blurRad="63500" dist="254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5198364" y="1463040"/>
            <a:ext cx="512064" cy="512064"/>
          </a:xfrm>
          <a:prstGeom prst="ellipse">
            <a:avLst/>
          </a:prstGeom>
          <a:solidFill>
            <a:srgbClr val="B20E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5198364" y="146304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Montserrat SemiBold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4590288" y="2103120"/>
            <a:ext cx="172821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300"/>
              <a:buFont typeface="Montserrat SemiBold"/>
              <a:buNone/>
            </a:pPr>
            <a:r>
              <a:rPr lang="en-US" sz="1300" b="1" i="0" u="none" strike="noStrike" cap="none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Implementation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4590288" y="2606040"/>
            <a:ext cx="1728216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Montserrat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Put the strategy into action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6537960" y="1280160"/>
            <a:ext cx="1947672" cy="2926080"/>
          </a:xfrm>
          <a:prstGeom prst="roundRect">
            <a:avLst>
              <a:gd name="adj" fmla="val 3756"/>
            </a:avLst>
          </a:prstGeom>
          <a:solidFill>
            <a:srgbClr val="FFFFFF">
              <a:alpha val="87843"/>
            </a:srgbClr>
          </a:solidFill>
          <a:ln>
            <a:noFill/>
          </a:ln>
          <a:effectLst>
            <a:outerShdw blurRad="63500" dist="254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7255764" y="1463040"/>
            <a:ext cx="512064" cy="512064"/>
          </a:xfrm>
          <a:prstGeom prst="ellipse">
            <a:avLst/>
          </a:prstGeom>
          <a:solidFill>
            <a:srgbClr val="B20E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7255764" y="146304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Montserrat SemiBold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6647688" y="2103120"/>
            <a:ext cx="172821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300"/>
              <a:buFont typeface="Montserrat SemiBold"/>
              <a:buNone/>
            </a:pPr>
            <a:r>
              <a:rPr lang="en-US" sz="1300" b="1" i="0" u="none" strike="noStrike" cap="none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Evaluation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6647688" y="2606040"/>
            <a:ext cx="1728216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Montserrat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Check if it's working, and adjust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457200" y="437083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00"/>
              <a:buFont typeface="Montserrat"/>
              <a:buNone/>
            </a:pPr>
            <a:r>
              <a:rPr lang="en-US" sz="1100" b="0" i="1" u="none" strike="noStrike" cap="none">
                <a:solidFill>
                  <a:srgbClr val="6B6B6B"/>
                </a:solidFill>
                <a:latin typeface="Montserrat"/>
                <a:ea typeface="Montserrat"/>
                <a:cs typeface="Montserrat"/>
                <a:sym typeface="Montserrat"/>
              </a:rPr>
              <a:t>It's a cycle, not a straight line — evaluation often sends you back to scanning again.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365760" y="4726725"/>
            <a:ext cx="7589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6A55"/>
              </a:buClr>
              <a:buSzPts val="800"/>
              <a:buFont typeface="Montserrat"/>
              <a:buNone/>
            </a:pPr>
            <a:r>
              <a:rPr lang="en-US" sz="800" b="0" i="1" u="none" strike="noStrike" cap="none" dirty="0">
                <a:solidFill>
                  <a:srgbClr val="8A6A55"/>
                </a:solidFill>
                <a:latin typeface="Montserrat"/>
                <a:ea typeface="Montserrat"/>
                <a:cs typeface="Montserrat"/>
                <a:sym typeface="Montserrat"/>
              </a:rPr>
              <a:t>Framework based on: A. Nag, Strategic Management: Analysis, Implementation and Control, Ch. 1.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800"/>
              <a:buFont typeface="Montserrat"/>
              <a:buNone/>
            </a:pPr>
            <a:r>
              <a:rPr lang="en-US" sz="800" b="0" i="0" u="none" strike="noStrike" cap="none">
                <a:solidFill>
                  <a:srgbClr val="B20E38"/>
                </a:solidFill>
                <a:latin typeface="Montserrat"/>
                <a:ea typeface="Montserrat"/>
                <a:cs typeface="Montserrat"/>
                <a:sym typeface="Montserrat"/>
              </a:rPr>
              <a:t>6 / 15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583759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5" descr="/home/claude/assets/content_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5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1030"/>
              </a:buClr>
              <a:buSzPts val="1050"/>
              <a:buFont typeface="Montserrat"/>
              <a:buNone/>
            </a:pPr>
            <a:r>
              <a:rPr lang="en-US" sz="1050" b="1" i="0" u="none" strike="noStrike" cap="none">
                <a:solidFill>
                  <a:srgbClr val="8C1030"/>
                </a:solidFill>
                <a:latin typeface="Montserrat"/>
                <a:ea typeface="Montserrat"/>
                <a:cs typeface="Montserrat"/>
                <a:sym typeface="Montserrat"/>
              </a:rPr>
              <a:t>A STORY TO START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2500"/>
              <a:buFont typeface="Montserrat SemiBold"/>
              <a:buNone/>
            </a:pPr>
            <a:r>
              <a:rPr lang="en-US" sz="2500" b="1" i="0" u="none" strike="noStrike" cap="none" dirty="0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How </a:t>
            </a:r>
            <a:r>
              <a:rPr lang="en-US" sz="2500" b="1" i="0" u="none" strike="noStrike" cap="none" dirty="0" err="1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Boncho</a:t>
            </a:r>
            <a:r>
              <a:rPr lang="en-US" sz="2500" b="1" i="0" u="none" strike="noStrike" cap="none" dirty="0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Actually Decided to Add Delivery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457200" y="1143000"/>
            <a:ext cx="8229600" cy="3246120"/>
          </a:xfrm>
          <a:prstGeom prst="roundRect">
            <a:avLst>
              <a:gd name="adj" fmla="val 2817"/>
            </a:avLst>
          </a:prstGeom>
          <a:solidFill>
            <a:srgbClr val="FFFFFF">
              <a:alpha val="90196"/>
            </a:srgbClr>
          </a:solidFill>
          <a:ln>
            <a:noFill/>
          </a:ln>
          <a:effectLst>
            <a:outerShdw blurRad="76200" dist="254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731520" y="132588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350"/>
              <a:buFont typeface="Montserrat SemiBold"/>
              <a:buNone/>
            </a:pPr>
            <a:r>
              <a:rPr lang="en-US" sz="1350" b="1" i="0" u="none" strike="noStrike" cap="none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She noticed something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731520" y="1645920"/>
            <a:ext cx="76809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Montserrat"/>
              <a:buNone/>
            </a:pPr>
            <a:r>
              <a:rPr lang="en-US" sz="125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Rainy days meant fewer customers walking to her cart, but her friends kept asking if she delivered.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731520" y="237744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350"/>
              <a:buFont typeface="Montserrat SemiBold"/>
              <a:buNone/>
            </a:pPr>
            <a:r>
              <a:rPr lang="en-US" sz="1350" b="1" i="0" u="none" strike="noStrike" cap="none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She thought it through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731520" y="2697480"/>
            <a:ext cx="76809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Montserrat"/>
              <a:buNone/>
            </a:pPr>
            <a:r>
              <a:rPr lang="en-US" sz="1250" b="0" i="0" u="none" strike="noStrike" cap="none" dirty="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Could  afford a delivery bag and a bit of extra staff time? Would nearby hostels actually order enough to be worth it?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731520" y="342900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350"/>
              <a:buFont typeface="Montserrat SemiBold"/>
              <a:buNone/>
            </a:pPr>
            <a:r>
              <a:rPr lang="en-US" sz="1350" b="1" i="0" u="none" strike="noStrike" cap="none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She tried it, then watched closely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731520" y="3749040"/>
            <a:ext cx="76809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Montserrat"/>
              <a:buNone/>
            </a:pPr>
            <a:r>
              <a:rPr lang="en-US" sz="125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She started with just two hostels, tracked orders weekly, and only expanded once it was clearly working.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731520" y="4478383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50"/>
              <a:buFont typeface="Montserrat"/>
              <a:buNone/>
            </a:pPr>
            <a:r>
              <a:rPr lang="en-US" sz="1150" b="0" i="1" u="none" strike="noStrike" cap="none">
                <a:solidFill>
                  <a:srgbClr val="6B6B6B"/>
                </a:solidFill>
                <a:latin typeface="Montserrat"/>
                <a:ea typeface="Montserrat"/>
                <a:cs typeface="Montserrat"/>
                <a:sym typeface="Montserrat"/>
              </a:rPr>
              <a:t>Without knowing it, Priya just walked through all four stages of the strategic management model.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6A55"/>
              </a:buClr>
              <a:buSzPts val="800"/>
              <a:buFont typeface="Montserrat"/>
              <a:buNone/>
            </a:pPr>
            <a:r>
              <a:rPr lang="en-US" sz="800" b="0" i="1" u="none" strike="noStrike" cap="none">
                <a:solidFill>
                  <a:srgbClr val="8A6A55"/>
                </a:solidFill>
                <a:latin typeface="Montserrat"/>
                <a:ea typeface="Montserrat"/>
                <a:cs typeface="Montserrat"/>
                <a:sym typeface="Montserrat"/>
              </a:rPr>
              <a:t>“Priya's Momos” is a fictional business created for classroom illustration only.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800"/>
              <a:buFont typeface="Montserrat"/>
              <a:buNone/>
            </a:pPr>
            <a:r>
              <a:rPr lang="en-US" sz="800" b="0" i="0" u="none" strike="noStrike" cap="none">
                <a:solidFill>
                  <a:srgbClr val="B20E38"/>
                </a:solidFill>
                <a:latin typeface="Montserrat"/>
                <a:ea typeface="Montserrat"/>
                <a:cs typeface="Montserrat"/>
                <a:sym typeface="Montserrat"/>
              </a:rPr>
              <a:t>5 / 15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7" descr="/home/claude/assets/content_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7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1030"/>
              </a:buClr>
              <a:buSzPts val="1050"/>
              <a:buFont typeface="Montserrat"/>
              <a:buNone/>
            </a:pPr>
            <a:r>
              <a:rPr lang="en-US" sz="1050" b="1" i="0" u="none" strike="noStrike" cap="none">
                <a:solidFill>
                  <a:srgbClr val="8C1030"/>
                </a:solidFill>
                <a:latin typeface="Montserrat"/>
                <a:ea typeface="Montserrat"/>
                <a:cs typeface="Montserrat"/>
                <a:sym typeface="Montserrat"/>
              </a:rPr>
              <a:t>STAGE 1 OF 4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2500"/>
              <a:buFont typeface="Montserrat SemiBold"/>
              <a:buNone/>
            </a:pPr>
            <a:r>
              <a:rPr lang="en-US" sz="2500" b="1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Planning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457200" y="1188720"/>
            <a:ext cx="8229600" cy="3108960"/>
          </a:xfrm>
          <a:prstGeom prst="roundRect">
            <a:avLst>
              <a:gd name="adj" fmla="val 2941"/>
            </a:avLst>
          </a:prstGeom>
          <a:solidFill>
            <a:srgbClr val="FFFFFF">
              <a:alpha val="9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500"/>
              <a:buFont typeface="Montserrat SemiBold"/>
              <a:buNone/>
            </a:pPr>
            <a:r>
              <a:rPr lang="en-US" sz="1500" b="1" i="0" u="none" strike="noStrike" cap="none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Looking outward and inward before making any big decision.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731520" y="1965960"/>
            <a:ext cx="76809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ontserrat"/>
              <a:buNone/>
            </a:pPr>
            <a:r>
              <a:rPr lang="en-US" sz="13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Outward: what are customers, competitors, and the broader market doing? Inward: what can we actually afford, staff, and support well?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731520" y="278892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350"/>
              <a:buFont typeface="Montserrat SemiBold"/>
              <a:buNone/>
            </a:pPr>
            <a:r>
              <a:rPr lang="en-US" sz="1350" b="1" i="0" u="none" strike="noStrike" cap="none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For </a:t>
            </a:r>
            <a:r>
              <a:rPr lang="en-US" sz="1350" b="1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Boncho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731520" y="320040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ontserrat"/>
              <a:buNone/>
            </a:pPr>
            <a:r>
              <a:rPr lang="en-US" sz="1300" b="0" i="1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Noticing rainy-day drop-offs and repeated delivery requests — that's scanning in action.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6A55"/>
              </a:buClr>
              <a:buSzPts val="800"/>
              <a:buFont typeface="Montserrat"/>
              <a:buNone/>
            </a:pPr>
            <a:r>
              <a:rPr lang="en-US" sz="800" b="0" i="1" u="none" strike="noStrike" cap="none">
                <a:solidFill>
                  <a:srgbClr val="8A6A55"/>
                </a:solidFill>
                <a:latin typeface="Montserrat"/>
                <a:ea typeface="Montserrat"/>
                <a:cs typeface="Montserrat"/>
                <a:sym typeface="Montserrat"/>
              </a:rPr>
              <a:t>Based on: A. Nag, Strategic Management: Analysis, Implementation and Control, Ch. 1.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800"/>
              <a:buFont typeface="Montserrat"/>
              <a:buNone/>
            </a:pPr>
            <a:r>
              <a:rPr lang="en-US" sz="800" b="0" i="0" u="none" strike="noStrike" cap="none">
                <a:solidFill>
                  <a:srgbClr val="B20E38"/>
                </a:solidFill>
                <a:latin typeface="Montserrat"/>
                <a:ea typeface="Montserrat"/>
                <a:cs typeface="Montserrat"/>
                <a:sym typeface="Montserrat"/>
              </a:rPr>
              <a:t>7 / 15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8" descr="/home/claude/assets/content_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8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1030"/>
              </a:buClr>
              <a:buSzPts val="1050"/>
              <a:buFont typeface="Montserrat"/>
              <a:buNone/>
            </a:pPr>
            <a:r>
              <a:rPr lang="en-US" sz="1050" b="1" i="0" u="none" strike="noStrike" cap="none">
                <a:solidFill>
                  <a:srgbClr val="8C1030"/>
                </a:solidFill>
                <a:latin typeface="Montserrat"/>
                <a:ea typeface="Montserrat"/>
                <a:cs typeface="Montserrat"/>
                <a:sym typeface="Montserrat"/>
              </a:rPr>
              <a:t>STAGE 2 OF 4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2500"/>
              <a:buFont typeface="Montserrat SemiBold"/>
              <a:buNone/>
            </a:pPr>
            <a:r>
              <a:rPr lang="en-US" sz="2500" b="1" i="0" u="none" strike="noStrike" cap="none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Strategy Formulation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457200" y="1188720"/>
            <a:ext cx="8229600" cy="3108960"/>
          </a:xfrm>
          <a:prstGeom prst="roundRect">
            <a:avLst>
              <a:gd name="adj" fmla="val 2941"/>
            </a:avLst>
          </a:prstGeom>
          <a:solidFill>
            <a:srgbClr val="FFFFFF">
              <a:alpha val="9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500"/>
              <a:buFont typeface="Montserrat SemiBold"/>
              <a:buNone/>
            </a:pPr>
            <a:r>
              <a:rPr lang="en-US" sz="1500" b="1" i="0" u="none" strike="noStrike" cap="none" dirty="0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Designing the actual response  turning what you learned into a real choice.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731520" y="196596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ontserrat"/>
              <a:buNone/>
            </a:pPr>
            <a:r>
              <a:rPr lang="en-US" sz="13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This is where you weigh options, consider trade-offs, and commit to one direction over the alternatives.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731520" y="26974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350"/>
              <a:buFont typeface="Montserrat SemiBold"/>
              <a:buNone/>
            </a:pPr>
            <a:r>
              <a:rPr lang="en-US" sz="1350" b="1" i="0" u="none" strike="noStrike" cap="none" dirty="0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For </a:t>
            </a:r>
            <a:r>
              <a:rPr lang="en-US" sz="1350" b="1" dirty="0" err="1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Boncho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731520" y="3108960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ontserrat"/>
              <a:buNone/>
            </a:pPr>
            <a:r>
              <a:rPr lang="en-US" sz="1300" b="0" i="1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Deciding to test delivery with just two nearby hostels first, instead of the whole neighbourhood at once.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6A55"/>
              </a:buClr>
              <a:buSzPts val="800"/>
              <a:buFont typeface="Montserrat"/>
              <a:buNone/>
            </a:pPr>
            <a:r>
              <a:rPr lang="en-US" sz="800" b="0" i="1" u="none" strike="noStrike" cap="none">
                <a:solidFill>
                  <a:srgbClr val="8A6A55"/>
                </a:solidFill>
                <a:latin typeface="Montserrat"/>
                <a:ea typeface="Montserrat"/>
                <a:cs typeface="Montserrat"/>
                <a:sym typeface="Montserrat"/>
              </a:rPr>
              <a:t>Based on: A. Nag, Strategic Management: Analysis, Implementation and Control, Ch. 1.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800"/>
              <a:buFont typeface="Montserrat"/>
              <a:buNone/>
            </a:pPr>
            <a:r>
              <a:rPr lang="en-US" sz="800" b="0" i="0" u="none" strike="noStrike" cap="none">
                <a:solidFill>
                  <a:srgbClr val="B20E38"/>
                </a:solidFill>
                <a:latin typeface="Montserrat"/>
                <a:ea typeface="Montserrat"/>
                <a:cs typeface="Montserrat"/>
                <a:sym typeface="Montserrat"/>
              </a:rPr>
              <a:t>8 / 15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9" descr="/home/claude/assets/content_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9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1030"/>
              </a:buClr>
              <a:buSzPts val="1050"/>
              <a:buFont typeface="Montserrat"/>
              <a:buNone/>
            </a:pPr>
            <a:r>
              <a:rPr lang="en-US" sz="1050" b="1" i="0" u="none" strike="noStrike" cap="none">
                <a:solidFill>
                  <a:srgbClr val="8C1030"/>
                </a:solidFill>
                <a:latin typeface="Montserrat"/>
                <a:ea typeface="Montserrat"/>
                <a:cs typeface="Montserrat"/>
                <a:sym typeface="Montserrat"/>
              </a:rPr>
              <a:t>STAGE 3 OF 4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2500"/>
              <a:buFont typeface="Montserrat SemiBold"/>
              <a:buNone/>
            </a:pPr>
            <a:r>
              <a:rPr lang="en-US" sz="2500" b="1" i="0" u="none" strike="noStrike" cap="none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Strategy Implementation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457200" y="1188720"/>
            <a:ext cx="8229600" cy="3108960"/>
          </a:xfrm>
          <a:prstGeom prst="roundRect">
            <a:avLst>
              <a:gd name="adj" fmla="val 2941"/>
            </a:avLst>
          </a:prstGeom>
          <a:solidFill>
            <a:srgbClr val="FFFFFF">
              <a:alpha val="9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500"/>
              <a:buFont typeface="Montserrat SemiBold"/>
              <a:buNone/>
            </a:pPr>
            <a:r>
              <a:rPr lang="en-US" sz="1500" b="1" i="0" u="none" strike="noStrike" cap="none" dirty="0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Putting the plan into action where most of the real work actually happens.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731520" y="1965960"/>
            <a:ext cx="76809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ontserrat"/>
              <a:buNone/>
            </a:pPr>
            <a:r>
              <a:rPr lang="en-US" sz="1300" b="0" i="0" u="none" strike="noStrike" cap="none" dirty="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This is where the policies, programs, procedures and budgets we learned last week come to life the tools that make a strategy actually run day to day.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731520" y="278892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350"/>
              <a:buFont typeface="Montserrat SemiBold"/>
              <a:buNone/>
            </a:pPr>
            <a:r>
              <a:rPr lang="en-US" sz="1350" b="1" i="0" u="none" strike="noStrike" cap="none" dirty="0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For </a:t>
            </a:r>
            <a:r>
              <a:rPr lang="en-US" sz="1350" b="1" dirty="0" err="1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Boncho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731520" y="320040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ontserrat"/>
              <a:buNone/>
            </a:pPr>
            <a:r>
              <a:rPr lang="en-US" sz="1300" b="0" i="1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Buying a delivery bag, telling regulars, and actually running orders for two weeks.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365760" y="4639638"/>
            <a:ext cx="7589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6A55"/>
              </a:buClr>
              <a:buSzPts val="800"/>
              <a:buFont typeface="Montserrat"/>
              <a:buNone/>
            </a:pPr>
            <a:r>
              <a:rPr lang="en-US" sz="800" b="0" i="1" u="none" strike="noStrike" cap="none" dirty="0">
                <a:solidFill>
                  <a:srgbClr val="8A6A55"/>
                </a:solidFill>
                <a:latin typeface="Montserrat"/>
                <a:ea typeface="Montserrat"/>
                <a:cs typeface="Montserrat"/>
                <a:sym typeface="Montserrat"/>
              </a:rPr>
              <a:t>Based on: A. Nag, Strategic Management: Analysis, Implementation and Control, Ch. 1.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800"/>
              <a:buFont typeface="Montserrat"/>
              <a:buNone/>
            </a:pPr>
            <a:r>
              <a:rPr lang="en-US" sz="800" b="0" i="0" u="none" strike="noStrike" cap="none">
                <a:solidFill>
                  <a:srgbClr val="B20E38"/>
                </a:solidFill>
                <a:latin typeface="Montserrat"/>
                <a:ea typeface="Montserrat"/>
                <a:cs typeface="Montserrat"/>
                <a:sym typeface="Montserrat"/>
              </a:rPr>
              <a:t>9 / 15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0" descr="/home/claude/assets/content_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1030"/>
              </a:buClr>
              <a:buSzPts val="1050"/>
              <a:buFont typeface="Montserrat"/>
              <a:buNone/>
            </a:pPr>
            <a:r>
              <a:rPr lang="en-US" sz="1050" b="1" i="0" u="none" strike="noStrike" cap="none">
                <a:solidFill>
                  <a:srgbClr val="8C1030"/>
                </a:solidFill>
                <a:latin typeface="Montserrat"/>
                <a:ea typeface="Montserrat"/>
                <a:cs typeface="Montserrat"/>
                <a:sym typeface="Montserrat"/>
              </a:rPr>
              <a:t>STAGE 4 OF 4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2500"/>
              <a:buFont typeface="Montserrat SemiBold"/>
              <a:buNone/>
            </a:pPr>
            <a:r>
              <a:rPr lang="en-US" sz="2500" b="1" i="0" u="none" strike="noStrike" cap="none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Evaluation &amp; Control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457200" y="1188720"/>
            <a:ext cx="8229600" cy="3108960"/>
          </a:xfrm>
          <a:prstGeom prst="roundRect">
            <a:avLst>
              <a:gd name="adj" fmla="val 2941"/>
            </a:avLst>
          </a:prstGeom>
          <a:solidFill>
            <a:srgbClr val="FFFFFF">
              <a:alpha val="9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500"/>
              <a:buFont typeface="Montserrat SemiBold"/>
              <a:buNone/>
            </a:pPr>
            <a:r>
              <a:rPr lang="en-US" sz="1500" b="1" i="0" u="none" strike="noStrike" cap="none" dirty="0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Checking whether it's actually working and being willing to change course.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731520" y="1965960"/>
            <a:ext cx="76809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ontserrat"/>
              <a:buNone/>
            </a:pPr>
            <a:r>
              <a:rPr lang="en-US" sz="13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Without this stage, a business keeps doing something long after it's stopped working. This stage often sends you straight back to scanning again.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731520" y="278892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350"/>
              <a:buFont typeface="Montserrat SemiBold"/>
              <a:buNone/>
            </a:pPr>
            <a:r>
              <a:rPr lang="en-US" sz="1350" b="1" i="0" u="none" strike="noStrike" cap="none" dirty="0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For </a:t>
            </a:r>
            <a:r>
              <a:rPr lang="en-US" sz="1350" b="1" dirty="0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Broncho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731520" y="3200400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ontserrat"/>
              <a:buNone/>
            </a:pPr>
            <a:r>
              <a:rPr lang="en-US" sz="1300" b="0" i="1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Tracking weekly delivery orders — and only expanding to more hostels once the numbers clearly justified it.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6A55"/>
              </a:buClr>
              <a:buSzPts val="800"/>
              <a:buFont typeface="Montserrat"/>
              <a:buNone/>
            </a:pPr>
            <a:r>
              <a:rPr lang="en-US" sz="800" b="0" i="1" u="none" strike="noStrike" cap="none">
                <a:solidFill>
                  <a:srgbClr val="8A6A55"/>
                </a:solidFill>
                <a:latin typeface="Montserrat"/>
                <a:ea typeface="Montserrat"/>
                <a:cs typeface="Montserrat"/>
                <a:sym typeface="Montserrat"/>
              </a:rPr>
              <a:t>Based on: A. Nag, Strategic Management: Analysis, Implementation and Control, Ch. 1.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800"/>
              <a:buFont typeface="Montserrat"/>
              <a:buNone/>
            </a:pPr>
            <a:r>
              <a:rPr lang="en-US" sz="800" b="0" i="0" u="none" strike="noStrike" cap="none">
                <a:solidFill>
                  <a:srgbClr val="B20E38"/>
                </a:solidFill>
                <a:latin typeface="Montserrat"/>
                <a:ea typeface="Montserrat"/>
                <a:cs typeface="Montserrat"/>
                <a:sym typeface="Montserrat"/>
              </a:rPr>
              <a:t>10 / 15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12" descr="/home/claude/assets/content_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2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1030"/>
              </a:buClr>
              <a:buSzPts val="1050"/>
              <a:buFont typeface="Montserrat"/>
              <a:buNone/>
            </a:pPr>
            <a:r>
              <a:rPr lang="en-US" sz="1050" b="1" i="0" u="none" strike="noStrike" cap="none">
                <a:solidFill>
                  <a:srgbClr val="8C1030"/>
                </a:solidFill>
                <a:latin typeface="Montserrat"/>
                <a:ea typeface="Montserrat"/>
                <a:cs typeface="Montserrat"/>
                <a:sym typeface="Montserrat"/>
              </a:rPr>
              <a:t>BACK TO PRIYA'S MOMOS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2500"/>
              <a:buFont typeface="Montserrat SemiBold"/>
              <a:buNone/>
            </a:pPr>
            <a:r>
              <a:rPr lang="en-US" sz="2500" b="1" i="0" u="none" strike="noStrike" cap="none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Her Delivery Decision, All Four Stages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457200" y="1280160"/>
            <a:ext cx="2103120" cy="713232"/>
          </a:xfrm>
          <a:prstGeom prst="rect">
            <a:avLst/>
          </a:prstGeom>
          <a:solidFill>
            <a:srgbClr val="B20E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2"/>
          <p:cNvSpPr/>
          <p:nvPr/>
        </p:nvSpPr>
        <p:spPr>
          <a:xfrm>
            <a:off x="457200" y="1280160"/>
            <a:ext cx="210312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ontserrat SemiBold"/>
              <a:buNone/>
            </a:pPr>
            <a:r>
              <a:rPr lang="en-US" sz="1250" b="1" i="0" u="none" strike="noStrike" cap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Planning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2606040" y="1280160"/>
            <a:ext cx="6080760" cy="713232"/>
          </a:xfrm>
          <a:prstGeom prst="rect">
            <a:avLst/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2"/>
          <p:cNvSpPr/>
          <p:nvPr/>
        </p:nvSpPr>
        <p:spPr>
          <a:xfrm>
            <a:off x="2788920" y="1280160"/>
            <a:ext cx="576072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Montserrat"/>
              <a:buNone/>
            </a:pPr>
            <a:r>
              <a:rPr lang="en-US" sz="1250" b="0" i="0" u="none" strike="noStrike" cap="none" dirty="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Noticed rain drop and delivery requests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457200" y="2121408"/>
            <a:ext cx="2103120" cy="713232"/>
          </a:xfrm>
          <a:prstGeom prst="rect">
            <a:avLst/>
          </a:prstGeom>
          <a:solidFill>
            <a:srgbClr val="B20E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2"/>
          <p:cNvSpPr/>
          <p:nvPr/>
        </p:nvSpPr>
        <p:spPr>
          <a:xfrm>
            <a:off x="457200" y="2121408"/>
            <a:ext cx="210312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ontserrat SemiBold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Formulation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2606040" y="2121408"/>
            <a:ext cx="6080760" cy="713232"/>
          </a:xfrm>
          <a:prstGeom prst="rect">
            <a:avLst/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2"/>
          <p:cNvSpPr/>
          <p:nvPr/>
        </p:nvSpPr>
        <p:spPr>
          <a:xfrm>
            <a:off x="2788920" y="2121408"/>
            <a:ext cx="576072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Montserrat"/>
              <a:buNone/>
            </a:pPr>
            <a:r>
              <a:rPr lang="en-US" sz="125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Chose to test with 2 hostels, not the whole area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457200" y="2962656"/>
            <a:ext cx="2103120" cy="713232"/>
          </a:xfrm>
          <a:prstGeom prst="rect">
            <a:avLst/>
          </a:prstGeom>
          <a:solidFill>
            <a:srgbClr val="B20E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2"/>
          <p:cNvSpPr/>
          <p:nvPr/>
        </p:nvSpPr>
        <p:spPr>
          <a:xfrm>
            <a:off x="457200" y="2962656"/>
            <a:ext cx="210312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ontserrat SemiBold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Implementation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2606040" y="2962656"/>
            <a:ext cx="6080760" cy="713232"/>
          </a:xfrm>
          <a:prstGeom prst="rect">
            <a:avLst/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2"/>
          <p:cNvSpPr/>
          <p:nvPr/>
        </p:nvSpPr>
        <p:spPr>
          <a:xfrm>
            <a:off x="2788920" y="2962656"/>
            <a:ext cx="576072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Montserrat"/>
              <a:buNone/>
            </a:pPr>
            <a:r>
              <a:rPr lang="en-US" sz="125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Bought a delivery bag, ran it for 2 weeks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457200" y="3803904"/>
            <a:ext cx="2103120" cy="713232"/>
          </a:xfrm>
          <a:prstGeom prst="rect">
            <a:avLst/>
          </a:prstGeom>
          <a:solidFill>
            <a:srgbClr val="B20E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2"/>
          <p:cNvSpPr/>
          <p:nvPr/>
        </p:nvSpPr>
        <p:spPr>
          <a:xfrm>
            <a:off x="457200" y="3803904"/>
            <a:ext cx="210312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ontserrat SemiBold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Evaluation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2606040" y="3803904"/>
            <a:ext cx="6080760" cy="713232"/>
          </a:xfrm>
          <a:prstGeom prst="rect">
            <a:avLst/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2"/>
          <p:cNvSpPr/>
          <p:nvPr/>
        </p:nvSpPr>
        <p:spPr>
          <a:xfrm>
            <a:off x="2788920" y="3803904"/>
            <a:ext cx="576072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Montserrat"/>
              <a:buNone/>
            </a:pPr>
            <a:r>
              <a:rPr lang="en-US" sz="1250" b="0" i="0" u="none" strike="noStrike" cap="none" dirty="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Tracked orders, then expanded once it worked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6A55"/>
              </a:buClr>
              <a:buSzPts val="800"/>
              <a:buFont typeface="Montserrat"/>
              <a:buNone/>
            </a:pPr>
            <a:r>
              <a:rPr lang="en-US" sz="800" b="0" i="1" u="none" strike="noStrike" cap="none">
                <a:solidFill>
                  <a:srgbClr val="8A6A55"/>
                </a:solidFill>
                <a:latin typeface="Montserrat"/>
                <a:ea typeface="Montserrat"/>
                <a:cs typeface="Montserrat"/>
                <a:sym typeface="Montserrat"/>
              </a:rPr>
              <a:t>“Priya's Momos” is a fictional business created for classroom illustration only.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800"/>
              <a:buFont typeface="Montserrat"/>
              <a:buNone/>
            </a:pPr>
            <a:r>
              <a:rPr lang="en-US" sz="800" b="0" i="0" u="none" strike="noStrike" cap="none">
                <a:solidFill>
                  <a:srgbClr val="B20E38"/>
                </a:solidFill>
                <a:latin typeface="Montserrat"/>
                <a:ea typeface="Montserrat"/>
                <a:cs typeface="Montserrat"/>
                <a:sym typeface="Montserrat"/>
              </a:rPr>
              <a:t>12 / 15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SUMMARY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Key Takeaways from Today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371600"/>
            <a:ext cx="73152" cy="73152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3716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Corporate-level strategy decides which businesses to be in at all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221992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57200" y="2221992"/>
            <a:ext cx="73152" cy="73152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221992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SBU-level strategy decides how to win inside one specific business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3072384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" y="3072384"/>
            <a:ext cx="73152" cy="73152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072384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Functional-level strategy decides how each department supports that win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7200" y="3922776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457200" y="3922776"/>
            <a:ext cx="73152" cy="73152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3922776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Even a single small business makes decisions at all three levels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 / 15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13" descr="/home/claude/assets/content_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3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1030"/>
              </a:buClr>
              <a:buSzPts val="1050"/>
              <a:buFont typeface="Montserrat"/>
              <a:buNone/>
            </a:pPr>
            <a:r>
              <a:rPr lang="en-US" sz="1050" b="1" i="0" u="none" strike="noStrike" cap="none">
                <a:solidFill>
                  <a:srgbClr val="8C1030"/>
                </a:solidFill>
                <a:latin typeface="Montserrat"/>
                <a:ea typeface="Montserrat"/>
                <a:cs typeface="Montserrat"/>
                <a:sym typeface="Montserrat"/>
              </a:rPr>
              <a:t>SUMMARY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3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2500"/>
              <a:buFont typeface="Montserrat SemiBold"/>
              <a:buNone/>
            </a:pPr>
            <a:r>
              <a:rPr lang="en-US" sz="2500" b="1" i="0" u="none" strike="noStrike" cap="none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Key Takeaways from Today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457200" y="13716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3"/>
          <p:cNvSpPr/>
          <p:nvPr/>
        </p:nvSpPr>
        <p:spPr>
          <a:xfrm>
            <a:off x="457200" y="1371600"/>
            <a:ext cx="73152" cy="731520"/>
          </a:xfrm>
          <a:prstGeom prst="rect">
            <a:avLst/>
          </a:prstGeom>
          <a:solidFill>
            <a:srgbClr val="B20E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3"/>
          <p:cNvSpPr/>
          <p:nvPr/>
        </p:nvSpPr>
        <p:spPr>
          <a:xfrm>
            <a:off x="777240" y="1371600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Montserrat"/>
              <a:buNone/>
            </a:pPr>
            <a:r>
              <a:rPr lang="en-US" sz="125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The strategic management model has four stages: scan, formulate, implement, evaluate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457200" y="2221992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3"/>
          <p:cNvSpPr/>
          <p:nvPr/>
        </p:nvSpPr>
        <p:spPr>
          <a:xfrm>
            <a:off x="457200" y="2221992"/>
            <a:ext cx="73152" cy="731520"/>
          </a:xfrm>
          <a:prstGeom prst="rect">
            <a:avLst/>
          </a:prstGeom>
          <a:solidFill>
            <a:srgbClr val="B20E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3"/>
          <p:cNvSpPr/>
          <p:nvPr/>
        </p:nvSpPr>
        <p:spPr>
          <a:xfrm>
            <a:off x="777240" y="2221992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Montserrat"/>
              <a:buNone/>
            </a:pPr>
            <a:r>
              <a:rPr lang="en-US" sz="125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It's a cycle, not a straight line — evaluation often restarts the process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457200" y="3072384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3"/>
          <p:cNvSpPr/>
          <p:nvPr/>
        </p:nvSpPr>
        <p:spPr>
          <a:xfrm>
            <a:off x="457200" y="3072384"/>
            <a:ext cx="73152" cy="731520"/>
          </a:xfrm>
          <a:prstGeom prst="rect">
            <a:avLst/>
          </a:prstGeom>
          <a:solidFill>
            <a:srgbClr val="B20E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3"/>
          <p:cNvSpPr/>
          <p:nvPr/>
        </p:nvSpPr>
        <p:spPr>
          <a:xfrm>
            <a:off x="777240" y="3072384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Montserrat"/>
              <a:buNone/>
            </a:pPr>
            <a:r>
              <a:rPr lang="en-US" sz="125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Even Priya's small delivery decision followed all four stages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457200" y="3922776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3"/>
          <p:cNvSpPr/>
          <p:nvPr/>
        </p:nvSpPr>
        <p:spPr>
          <a:xfrm>
            <a:off x="457200" y="3922776"/>
            <a:ext cx="73152" cy="731520"/>
          </a:xfrm>
          <a:prstGeom prst="rect">
            <a:avLst/>
          </a:prstGeom>
          <a:solidFill>
            <a:srgbClr val="B20E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3"/>
          <p:cNvSpPr/>
          <p:nvPr/>
        </p:nvSpPr>
        <p:spPr>
          <a:xfrm>
            <a:off x="777240" y="3922776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Montserrat"/>
              <a:buNone/>
            </a:pPr>
            <a:r>
              <a:rPr lang="en-US" sz="125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Strategy exists at three levels: corporate, SBU, and functional — our focus next session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800"/>
              <a:buFont typeface="Montserrat"/>
              <a:buNone/>
            </a:pPr>
            <a:r>
              <a:rPr lang="en-US" sz="800" b="0" i="0" u="none" strike="noStrike" cap="none">
                <a:solidFill>
                  <a:srgbClr val="B20E38"/>
                </a:solidFill>
                <a:latin typeface="Montserrat"/>
                <a:ea typeface="Montserrat"/>
                <a:cs typeface="Montserrat"/>
                <a:sym typeface="Montserrat"/>
              </a:rPr>
              <a:t>13 / 15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DC40D-06E2-0B86-15FA-C157F227B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>
            <a:extLst>
              <a:ext uri="{FF2B5EF4-FFF2-40B4-BE49-F238E27FC236}">
                <a16:creationId xmlns:a16="http://schemas.microsoft.com/office/drawing/2014/main" id="{70E5E3CD-8919-8535-3EF1-588DE35F46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568813F-6DF0-FF29-7996-565095C4DB2F}"/>
              </a:ext>
            </a:extLst>
          </p:cNvPr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Term Of the day</a:t>
            </a:r>
            <a:endParaRPr lang="en-US" sz="10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EECB06C-DE3B-4FDF-6A74-7390281C195E}"/>
              </a:ext>
            </a:extLst>
          </p:cNvPr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 err="1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Schwerpunkt</a:t>
            </a:r>
            <a:endParaRPr lang="en-US" sz="25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BC95A6A-2EB6-5CAD-2EED-D87A01E892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7309" y="850392"/>
            <a:ext cx="6646547" cy="362538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4BEF4CB-E789-4797-93E0-CF6714640E7F}"/>
              </a:ext>
            </a:extLst>
          </p:cNvPr>
          <p:cNvSpPr txBox="1"/>
          <p:nvPr/>
        </p:nvSpPr>
        <p:spPr>
          <a:xfrm>
            <a:off x="258935" y="2387084"/>
            <a:ext cx="901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Achilles</a:t>
            </a:r>
          </a:p>
        </p:txBody>
      </p:sp>
    </p:spTree>
    <p:extLst>
      <p:ext uri="{BB962C8B-B14F-4D97-AF65-F5344CB8AC3E}">
        <p14:creationId xmlns:p14="http://schemas.microsoft.com/office/powerpoint/2010/main" val="1881936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D5593-65C7-FB4E-1FD1-681F4086F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>
            <a:extLst>
              <a:ext uri="{FF2B5EF4-FFF2-40B4-BE49-F238E27FC236}">
                <a16:creationId xmlns:a16="http://schemas.microsoft.com/office/drawing/2014/main" id="{810B4802-559F-FEC7-BBDA-F6507CBD4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CD52B09-9E94-537C-AA55-6D1CCA4BAB35}"/>
              </a:ext>
            </a:extLst>
          </p:cNvPr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Term Of the day</a:t>
            </a:r>
            <a:endParaRPr lang="en-US" sz="10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91F7C45-E706-268F-1890-39A2B1276F42}"/>
              </a:ext>
            </a:extLst>
          </p:cNvPr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 err="1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Schwerpunkt</a:t>
            </a:r>
            <a:endParaRPr lang="en-US" sz="25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FCCD5B-DD6C-87A9-B5FD-A94D7BCDEF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8536" y="960120"/>
            <a:ext cx="6646927" cy="3625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9213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2FEFC-230C-725B-D419-697C941DD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>
            <a:extLst>
              <a:ext uri="{FF2B5EF4-FFF2-40B4-BE49-F238E27FC236}">
                <a16:creationId xmlns:a16="http://schemas.microsoft.com/office/drawing/2014/main" id="{E8325EAC-AA53-898F-E992-5F8EF0291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88B1C93-BB67-C3F7-A5B1-E05E37D7C320}"/>
              </a:ext>
            </a:extLst>
          </p:cNvPr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Term Of the day</a:t>
            </a:r>
            <a:endParaRPr lang="en-US" sz="10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06D9A20-D2CE-7F7E-6738-2C5457339164}"/>
              </a:ext>
            </a:extLst>
          </p:cNvPr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 err="1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Schwerpunkt</a:t>
            </a:r>
            <a:endParaRPr lang="en-US" sz="25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A05E8F-DEE7-7535-F87B-5D2E015876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812" y="1051560"/>
            <a:ext cx="6768467" cy="369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6851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89FDD-762D-86B1-34FB-267BCF9F0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>
            <a:extLst>
              <a:ext uri="{FF2B5EF4-FFF2-40B4-BE49-F238E27FC236}">
                <a16:creationId xmlns:a16="http://schemas.microsoft.com/office/drawing/2014/main" id="{B6CE4897-31D5-0C21-2ED5-CDC33B1A8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977054D-9644-D35D-B26D-AED2710F70DA}"/>
              </a:ext>
            </a:extLst>
          </p:cNvPr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Term Of the day</a:t>
            </a:r>
            <a:endParaRPr lang="en-US" sz="10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86F927A-ED22-5FB7-44F6-3988D9531F61}"/>
              </a:ext>
            </a:extLst>
          </p:cNvPr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 err="1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Schwerpunkt</a:t>
            </a:r>
            <a:endParaRPr lang="en-US" sz="25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97D19F-5F05-5B9A-B196-01C4949C62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5629"/>
          <a:stretch>
            <a:fillRect/>
          </a:stretch>
        </p:blipFill>
        <p:spPr>
          <a:xfrm>
            <a:off x="685800" y="1480324"/>
            <a:ext cx="7772400" cy="18811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8D27DA7-0FBC-180E-2EFF-CE15778EDB9A}"/>
              </a:ext>
            </a:extLst>
          </p:cNvPr>
          <p:cNvCxnSpPr/>
          <p:nvPr/>
        </p:nvCxnSpPr>
        <p:spPr>
          <a:xfrm>
            <a:off x="3977640" y="2571750"/>
            <a:ext cx="0" cy="15430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8C93AAF-7A58-4750-9079-4842DBF72F15}"/>
              </a:ext>
            </a:extLst>
          </p:cNvPr>
          <p:cNvSpPr txBox="1"/>
          <p:nvPr/>
        </p:nvSpPr>
        <p:spPr>
          <a:xfrm>
            <a:off x="2594610" y="4259818"/>
            <a:ext cx="3107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Focal Point or Center of Gravity</a:t>
            </a:r>
          </a:p>
        </p:txBody>
      </p:sp>
    </p:spTree>
    <p:extLst>
      <p:ext uri="{BB962C8B-B14F-4D97-AF65-F5344CB8AC3E}">
        <p14:creationId xmlns:p14="http://schemas.microsoft.com/office/powerpoint/2010/main" val="3875998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FF622-4C0B-DBC8-FF2F-E74AB9AC6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>
            <a:extLst>
              <a:ext uri="{FF2B5EF4-FFF2-40B4-BE49-F238E27FC236}">
                <a16:creationId xmlns:a16="http://schemas.microsoft.com/office/drawing/2014/main" id="{D533F7CE-E127-BD14-9442-A8ABDFF12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1BE87BB-14DA-BFCF-E21F-B4BB0D86D2D6}"/>
              </a:ext>
            </a:extLst>
          </p:cNvPr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Term Of the day</a:t>
            </a:r>
            <a:endParaRPr lang="en-US" sz="10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D5EA310-58B4-5BFF-2AE4-43E5DB6374D2}"/>
              </a:ext>
            </a:extLst>
          </p:cNvPr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 err="1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Schwerpunkt</a:t>
            </a:r>
            <a:endParaRPr lang="en-US" sz="2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EF1471-D27E-DC4C-CF99-0A8E9897AB07}"/>
              </a:ext>
            </a:extLst>
          </p:cNvPr>
          <p:cNvSpPr txBox="1"/>
          <p:nvPr/>
        </p:nvSpPr>
        <p:spPr>
          <a:xfrm>
            <a:off x="2394512" y="1866876"/>
            <a:ext cx="4354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Similarly, all organizations have Achilles heel.</a:t>
            </a:r>
          </a:p>
        </p:txBody>
      </p:sp>
    </p:spTree>
    <p:extLst>
      <p:ext uri="{BB962C8B-B14F-4D97-AF65-F5344CB8AC3E}">
        <p14:creationId xmlns:p14="http://schemas.microsoft.com/office/powerpoint/2010/main" val="42100695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4957B-616C-35DF-FB08-58207628E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>
            <a:extLst>
              <a:ext uri="{FF2B5EF4-FFF2-40B4-BE49-F238E27FC236}">
                <a16:creationId xmlns:a16="http://schemas.microsoft.com/office/drawing/2014/main" id="{7EF78E0E-C0F1-6B2D-8D21-EA19DA3AA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8C27F4A6-547D-97CF-8769-110067362493}"/>
              </a:ext>
            </a:extLst>
          </p:cNvPr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Term Of the day</a:t>
            </a:r>
            <a:endParaRPr lang="en-US" sz="10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05FD82B-4AB4-02C8-0437-20E86A8619BE}"/>
              </a:ext>
            </a:extLst>
          </p:cNvPr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 err="1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Schwerpunkt</a:t>
            </a:r>
            <a:endParaRPr lang="en-US" sz="25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2EDA89-313F-6FA8-D199-746B4447BE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9983" b="49763"/>
          <a:stretch>
            <a:fillRect/>
          </a:stretch>
        </p:blipFill>
        <p:spPr>
          <a:xfrm>
            <a:off x="2628265" y="1506855"/>
            <a:ext cx="3887470" cy="2129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2565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8C3D0-7070-ACA0-E281-038C16C5D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>
            <a:extLst>
              <a:ext uri="{FF2B5EF4-FFF2-40B4-BE49-F238E27FC236}">
                <a16:creationId xmlns:a16="http://schemas.microsoft.com/office/drawing/2014/main" id="{A1419A49-F458-3821-B160-804219931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7656B95-2911-76F2-175B-85DAB3C2825B}"/>
              </a:ext>
            </a:extLst>
          </p:cNvPr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Term Of the day</a:t>
            </a:r>
            <a:endParaRPr lang="en-US" sz="10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C8DBC8E-66CC-9FD2-EB66-975F84E46556}"/>
              </a:ext>
            </a:extLst>
          </p:cNvPr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 err="1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Schwerpunkt</a:t>
            </a:r>
            <a:endParaRPr lang="en-US" sz="25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9CCAC6-C3BE-93B6-1A3E-9E6C0B6BC2B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01" t="-270" r="-18" b="50033"/>
          <a:stretch>
            <a:fillRect/>
          </a:stretch>
        </p:blipFill>
        <p:spPr>
          <a:xfrm>
            <a:off x="2628265" y="1506855"/>
            <a:ext cx="3887470" cy="2129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4126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F28D0-45C9-AE40-D663-4413AD2A1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>
            <a:extLst>
              <a:ext uri="{FF2B5EF4-FFF2-40B4-BE49-F238E27FC236}">
                <a16:creationId xmlns:a16="http://schemas.microsoft.com/office/drawing/2014/main" id="{22A9C2ED-4604-4EC6-923D-8A4C0B04D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007504B6-627E-360F-4EB7-705437B6176C}"/>
              </a:ext>
            </a:extLst>
          </p:cNvPr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Term Of the day</a:t>
            </a:r>
            <a:endParaRPr lang="en-US" sz="10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82DA000-297D-002E-6019-ABFECBB68B17}"/>
              </a:ext>
            </a:extLst>
          </p:cNvPr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 err="1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Schwerpunkt</a:t>
            </a:r>
            <a:endParaRPr lang="en-US" sz="25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5A25B6-2A13-7082-70CC-74BA21A0FA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854" t="50686" r="129" b="-923"/>
          <a:stretch>
            <a:fillRect/>
          </a:stretch>
        </p:blipFill>
        <p:spPr>
          <a:xfrm>
            <a:off x="2628265" y="1506855"/>
            <a:ext cx="3887470" cy="2129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6131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1772</Words>
  <Application>Microsoft Office PowerPoint</Application>
  <PresentationFormat>On-screen Show (16:9)</PresentationFormat>
  <Paragraphs>245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Montserrat</vt:lpstr>
      <vt:lpstr>Montserrat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Shridhar samant</cp:lastModifiedBy>
  <cp:revision>2</cp:revision>
  <dcterms:created xsi:type="dcterms:W3CDTF">2026-07-31T08:53:27Z</dcterms:created>
  <dcterms:modified xsi:type="dcterms:W3CDTF">2026-08-19T05:37:14Z</dcterms:modified>
</cp:coreProperties>
</file>