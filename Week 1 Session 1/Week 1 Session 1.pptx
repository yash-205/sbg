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72" r:id="rId3"/>
    <p:sldId id="282" r:id="rId4"/>
    <p:sldId id="271" r:id="rId5"/>
    <p:sldId id="283" r:id="rId6"/>
    <p:sldId id="281" r:id="rId7"/>
    <p:sldId id="273" r:id="rId8"/>
    <p:sldId id="276" r:id="rId9"/>
    <p:sldId id="277" r:id="rId10"/>
    <p:sldId id="270" r:id="rId11"/>
    <p:sldId id="284" r:id="rId12"/>
    <p:sldId id="278" r:id="rId13"/>
    <p:sldId id="279" r:id="rId14"/>
    <p:sldId id="280" r:id="rId15"/>
    <p:sldId id="267" r:id="rId16"/>
    <p:sldId id="264" r:id="rId17"/>
  </p:sldIdLst>
  <p:sldSz cx="9144000" cy="5143500" type="screen16x9"/>
  <p:notesSz cx="5143500" cy="9144000"/>
  <p:embeddedFontLst>
    <p:embeddedFont>
      <p:font typeface="Calibri" panose="020F0502020204030204" pitchFamily="34" charset="0"/>
      <p:regular r:id="rId19"/>
      <p:bold r:id="rId20"/>
      <p:italic r:id="rId21"/>
      <p:boldItalic r:id="rId22"/>
    </p:embeddedFont>
    <p:embeddedFont>
      <p:font typeface="Google Sans" panose="020B0604020202020204" charset="0"/>
      <p:regular r:id="rId23"/>
      <p:bold r:id="rId24"/>
      <p:italic r:id="rId25"/>
      <p:boldItalic r:id="rId26"/>
    </p:embeddedFont>
    <p:embeddedFont>
      <p:font typeface="Montserrat" panose="00000500000000000000" pitchFamily="2" charset="0"/>
      <p:regular r:id="rId27"/>
      <p:bold r:id="rId28"/>
      <p:italic r:id="rId29"/>
      <p:boldItalic r:id="rId30"/>
    </p:embeddedFont>
    <p:embeddedFont>
      <p:font typeface="Montserrat SemiBold" panose="000007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hD8ze84tE2NbMnysBs+KCL/1iq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4479AA-C001-4957-BA26-486574868DD1}">
  <a:tblStyle styleId="{044479AA-C001-4957-BA26-486574868DD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3" d="100"/>
          <a:sy n="103" d="100"/>
        </p:scale>
        <p:origin x="607" y="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 name="Google Shape;1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 name="Google Shape;1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6" name="Google Shape;216;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6" name="Google Shape;216;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87135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1" name="Google Shape;201;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1" name="Google Shape;201;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1384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8" name="Google Shape;228;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78886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8" name="Google Shape;228;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0" name="Google Shape;270;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1" name="Google Shape;271;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43663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5" name="Google Shape;285;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5892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0" name="Google Shape;18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1" name="Google Shape;181;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0" name="Google Shape;180;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1" name="Google Shape;181;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7935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8" name="Google Shape;298;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84192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7" name="Google Shape;317;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8" name="Google Shape;318;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13</a:t>
            </a:fld>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26765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4" name="Google Shape;334;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5" name="Google Shape;335;p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566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36" name="Google Shape;136;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16</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
        <p:cNvGrpSpPr/>
        <p:nvPr/>
      </p:nvGrpSpPr>
      <p:grpSpPr>
        <a:xfrm>
          <a:off x="0" y="0"/>
          <a:ext cx="0" cy="0"/>
          <a:chOff x="0" y="0"/>
          <a:chExt cx="0" cy="0"/>
        </a:xfrm>
      </p:grpSpPr>
      <p:sp>
        <p:nvSpPr>
          <p:cNvPr id="8" name="Google Shape;8;p28"/>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8"/>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827652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15"/>
        <p:cNvGrpSpPr/>
        <p:nvPr/>
      </p:nvGrpSpPr>
      <p:grpSpPr>
        <a:xfrm>
          <a:off x="0" y="0"/>
          <a:ext cx="0" cy="0"/>
          <a:chOff x="0" y="0"/>
          <a:chExt cx="0" cy="0"/>
        </a:xfrm>
      </p:grpSpPr>
      <p:sp>
        <p:nvSpPr>
          <p:cNvPr id="16" name="Google Shape;16;p1"/>
          <p:cNvSpPr/>
          <p:nvPr/>
        </p:nvSpPr>
        <p:spPr>
          <a:xfrm>
            <a:off x="0" y="5001768"/>
            <a:ext cx="9144000" cy="91440"/>
          </a:xfrm>
          <a:prstGeom prst="rect">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home/claude/assets/logo.png"/>
          <p:cNvPicPr preferRelativeResize="0"/>
          <p:nvPr/>
        </p:nvPicPr>
        <p:blipFill rotWithShape="1">
          <a:blip r:embed="rId3">
            <a:alphaModFix/>
          </a:blip>
          <a:srcRect/>
          <a:stretch/>
        </p:blipFill>
        <p:spPr>
          <a:xfrm>
            <a:off x="365760" y="320040"/>
            <a:ext cx="1234440" cy="572414"/>
          </a:xfrm>
          <a:prstGeom prst="rect">
            <a:avLst/>
          </a:prstGeom>
          <a:noFill/>
          <a:ln>
            <a:noFill/>
          </a:ln>
        </p:spPr>
      </p:pic>
      <p:sp>
        <p:nvSpPr>
          <p:cNvPr id="18" name="Google Shape;18;p1"/>
          <p:cNvSpPr/>
          <p:nvPr/>
        </p:nvSpPr>
        <p:spPr>
          <a:xfrm>
            <a:off x="457200" y="1596390"/>
            <a:ext cx="822960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4000"/>
              <a:buFont typeface="Montserrat SemiBold"/>
              <a:buNone/>
            </a:pPr>
            <a:r>
              <a:rPr lang="en-US" sz="4000" dirty="0">
                <a:solidFill>
                  <a:srgbClr val="1A1A1A"/>
                </a:solidFill>
                <a:latin typeface="Montserrat SemiBold"/>
                <a:ea typeface="Montserrat SemiBold"/>
                <a:cs typeface="Montserrat SemiBold"/>
                <a:sym typeface="Montserrat SemiBold"/>
              </a:rPr>
              <a:t>Strategies for Business Growth</a:t>
            </a:r>
          </a:p>
          <a:p>
            <a:pPr marL="0" marR="0" lvl="0" indent="0" algn="ctr" rtl="0">
              <a:spcBef>
                <a:spcPts val="0"/>
              </a:spcBef>
              <a:spcAft>
                <a:spcPts val="0"/>
              </a:spcAft>
              <a:buClr>
                <a:srgbClr val="1A1A1A"/>
              </a:buClr>
              <a:buSzPts val="4000"/>
              <a:buFont typeface="Montserrat SemiBold"/>
              <a:buNone/>
            </a:pPr>
            <a:r>
              <a:rPr lang="en-US" sz="4000" dirty="0">
                <a:solidFill>
                  <a:srgbClr val="1A1A1A"/>
                </a:solidFill>
                <a:latin typeface="Montserrat SemiBold"/>
                <a:ea typeface="Calibri"/>
                <a:cs typeface="Calibri"/>
                <a:sym typeface="Montserrat SemiBold"/>
              </a:rPr>
              <a:t>W1S1</a:t>
            </a:r>
            <a:endParaRPr sz="4000" dirty="0">
              <a:solidFill>
                <a:schemeClr val="dk1"/>
              </a:solidFill>
              <a:latin typeface="Calibri"/>
              <a:ea typeface="Calibri"/>
              <a:cs typeface="Calibri"/>
              <a:sym typeface="Calibri"/>
            </a:endParaRPr>
          </a:p>
        </p:txBody>
      </p:sp>
      <p:sp>
        <p:nvSpPr>
          <p:cNvPr id="20" name="Google Shape;20;p1"/>
          <p:cNvSpPr/>
          <p:nvPr/>
        </p:nvSpPr>
        <p:spPr>
          <a:xfrm>
            <a:off x="365760" y="452628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000"/>
              <a:buFont typeface="Montserrat"/>
              <a:buNone/>
            </a:pPr>
            <a:r>
              <a:rPr lang="en-US" sz="1000">
                <a:solidFill>
                  <a:srgbClr val="1A1A1A"/>
                </a:solidFill>
                <a:latin typeface="Montserrat"/>
                <a:ea typeface="Montserrat"/>
                <a:cs typeface="Montserrat"/>
                <a:sym typeface="Montserrat"/>
              </a:rPr>
              <a:t>#ApproachingRishihood</a:t>
            </a:r>
            <a:endParaRPr sz="1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217"/>
        <p:cNvGrpSpPr/>
        <p:nvPr/>
      </p:nvGrpSpPr>
      <p:grpSpPr>
        <a:xfrm>
          <a:off x="0" y="0"/>
          <a:ext cx="0" cy="0"/>
          <a:chOff x="0" y="0"/>
          <a:chExt cx="0" cy="0"/>
        </a:xfrm>
      </p:grpSpPr>
      <p:pic>
        <p:nvPicPr>
          <p:cNvPr id="218" name="Google Shape;218;p17" descr="/home/claude/assets/content_bg.png"/>
          <p:cNvPicPr preferRelativeResize="0"/>
          <p:nvPr/>
        </p:nvPicPr>
        <p:blipFill rotWithShape="1">
          <a:blip r:embed="rId3">
            <a:alphaModFix/>
          </a:blip>
          <a:srcRect/>
          <a:stretch/>
        </p:blipFill>
        <p:spPr>
          <a:xfrm>
            <a:off x="-14513" y="-245077"/>
            <a:ext cx="9144000" cy="5143500"/>
          </a:xfrm>
          <a:prstGeom prst="rect">
            <a:avLst/>
          </a:prstGeom>
          <a:noFill/>
          <a:ln>
            <a:noFill/>
          </a:ln>
        </p:spPr>
      </p:pic>
      <p:sp>
        <p:nvSpPr>
          <p:cNvPr id="219" name="Google Shape;219;p17"/>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CORE CONCEPT 1</a:t>
            </a:r>
            <a:endParaRPr sz="1050">
              <a:solidFill>
                <a:schemeClr val="dk1"/>
              </a:solidFill>
              <a:latin typeface="Calibri"/>
              <a:ea typeface="Calibri"/>
              <a:cs typeface="Calibri"/>
              <a:sym typeface="Calibri"/>
            </a:endParaRPr>
          </a:p>
        </p:txBody>
      </p:sp>
      <p:sp>
        <p:nvSpPr>
          <p:cNvPr id="220" name="Google Shape;220;p17"/>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What Is Strategy?</a:t>
            </a:r>
            <a:endParaRPr sz="2500">
              <a:solidFill>
                <a:schemeClr val="dk1"/>
              </a:solidFill>
              <a:latin typeface="Calibri"/>
              <a:ea typeface="Calibri"/>
              <a:cs typeface="Calibri"/>
              <a:sym typeface="Calibri"/>
            </a:endParaRPr>
          </a:p>
        </p:txBody>
      </p:sp>
      <p:sp>
        <p:nvSpPr>
          <p:cNvPr id="221" name="Google Shape;221;p17"/>
          <p:cNvSpPr/>
          <p:nvPr/>
        </p:nvSpPr>
        <p:spPr>
          <a:xfrm>
            <a:off x="457200" y="2317746"/>
            <a:ext cx="8229600" cy="1005840"/>
          </a:xfrm>
          <a:prstGeom prst="rect">
            <a:avLst/>
          </a:prstGeom>
          <a:noFill/>
          <a:ln>
            <a:noFill/>
          </a:ln>
        </p:spPr>
        <p:txBody>
          <a:bodyPr spcFirstLastPara="1" wrap="square" lIns="0" tIns="0" rIns="0" bIns="0" anchor="ctr" anchorCtr="0">
            <a:noAutofit/>
          </a:bodyPr>
          <a:lstStyle/>
          <a:p>
            <a:pPr marL="285750" marR="0" lvl="0" indent="-285750" algn="l" rtl="0">
              <a:lnSpc>
                <a:spcPct val="200000"/>
              </a:lnSpc>
              <a:spcBef>
                <a:spcPts val="0"/>
              </a:spcBef>
              <a:spcAft>
                <a:spcPts val="0"/>
              </a:spcAft>
              <a:buClr>
                <a:srgbClr val="1A1A1A"/>
              </a:buClr>
              <a:buSzPts val="1650"/>
              <a:buFont typeface="Arial" panose="020B0604020202020204" pitchFamily="34" charset="0"/>
              <a:buChar char="•"/>
            </a:pPr>
            <a:r>
              <a:rPr lang="en-US" sz="1650" dirty="0">
                <a:solidFill>
                  <a:srgbClr val="1A1A1A"/>
                </a:solidFill>
                <a:latin typeface="Montserrat"/>
                <a:ea typeface="Montserrat"/>
                <a:cs typeface="Montserrat"/>
                <a:sym typeface="Montserrat"/>
              </a:rPr>
              <a:t>Strategy is the </a:t>
            </a:r>
            <a:r>
              <a:rPr lang="en-US" sz="1650" b="1" dirty="0">
                <a:solidFill>
                  <a:srgbClr val="B20E38"/>
                </a:solidFill>
                <a:latin typeface="Montserrat"/>
                <a:ea typeface="Montserrat"/>
                <a:cs typeface="Montserrat"/>
                <a:sym typeface="Montserrat"/>
              </a:rPr>
              <a:t>overall direction</a:t>
            </a:r>
            <a:r>
              <a:rPr lang="en-US" sz="1650" dirty="0">
                <a:solidFill>
                  <a:srgbClr val="1A1A1A"/>
                </a:solidFill>
                <a:latin typeface="Montserrat"/>
                <a:ea typeface="Montserrat"/>
                <a:cs typeface="Montserrat"/>
                <a:sym typeface="Montserrat"/>
              </a:rPr>
              <a:t> an organization chooses the plans and policies that decide how it will use its resources to reach its goals.</a:t>
            </a:r>
          </a:p>
          <a:p>
            <a:pPr marL="285750" marR="0" lvl="0" indent="-285750" algn="l" rtl="0">
              <a:lnSpc>
                <a:spcPct val="200000"/>
              </a:lnSpc>
              <a:spcBef>
                <a:spcPts val="0"/>
              </a:spcBef>
              <a:spcAft>
                <a:spcPts val="0"/>
              </a:spcAft>
              <a:buClr>
                <a:srgbClr val="1A1A1A"/>
              </a:buClr>
              <a:buSzPts val="1650"/>
              <a:buFont typeface="Arial" panose="020B0604020202020204" pitchFamily="34" charset="0"/>
              <a:buChar char="•"/>
            </a:pPr>
            <a:r>
              <a:rPr lang="en-US" sz="1650" dirty="0">
                <a:solidFill>
                  <a:srgbClr val="1A1A1A"/>
                </a:solidFill>
                <a:latin typeface="Montserrat"/>
                <a:ea typeface="Montserrat"/>
                <a:cs typeface="Montserrat"/>
                <a:sym typeface="Montserrat"/>
              </a:rPr>
              <a:t>A strategy is defined as, “</a:t>
            </a:r>
            <a:r>
              <a:rPr lang="en-US" sz="1650" b="1" dirty="0">
                <a:solidFill>
                  <a:srgbClr val="1A1A1A"/>
                </a:solidFill>
                <a:latin typeface="Montserrat"/>
                <a:ea typeface="Montserrat"/>
                <a:cs typeface="Montserrat"/>
                <a:sym typeface="Montserrat"/>
              </a:rPr>
              <a:t>a unified, comprehensive, and integrated plan that relates to the strategic advantages </a:t>
            </a:r>
            <a:r>
              <a:rPr lang="en-US" sz="1650" dirty="0">
                <a:solidFill>
                  <a:srgbClr val="1A1A1A"/>
                </a:solidFill>
                <a:latin typeface="Montserrat"/>
                <a:ea typeface="Montserrat"/>
                <a:cs typeface="Montserrat"/>
                <a:sym typeface="Montserrat"/>
              </a:rPr>
              <a:t>of the firm and to the challenges of the environment.  It is designed to ensure that the basic objectives of the enterprise are achieved through proper execution by the </a:t>
            </a:r>
            <a:r>
              <a:rPr lang="en-US" sz="1650" dirty="0" err="1">
                <a:solidFill>
                  <a:srgbClr val="1A1A1A"/>
                </a:solidFill>
                <a:latin typeface="Montserrat"/>
                <a:ea typeface="Montserrat"/>
                <a:cs typeface="Montserrat"/>
                <a:sym typeface="Montserrat"/>
              </a:rPr>
              <a:t>organisation</a:t>
            </a:r>
            <a:r>
              <a:rPr lang="en-US" sz="1650" dirty="0">
                <a:solidFill>
                  <a:srgbClr val="1A1A1A"/>
                </a:solidFill>
                <a:latin typeface="Montserrat"/>
                <a:ea typeface="Montserrat"/>
                <a:cs typeface="Montserrat"/>
                <a:sym typeface="Montserrat"/>
              </a:rPr>
              <a:t>.”</a:t>
            </a:r>
            <a:endParaRPr sz="165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217"/>
        <p:cNvGrpSpPr/>
        <p:nvPr/>
      </p:nvGrpSpPr>
      <p:grpSpPr>
        <a:xfrm>
          <a:off x="0" y="0"/>
          <a:ext cx="0" cy="0"/>
          <a:chOff x="0" y="0"/>
          <a:chExt cx="0" cy="0"/>
        </a:xfrm>
      </p:grpSpPr>
      <p:pic>
        <p:nvPicPr>
          <p:cNvPr id="218" name="Google Shape;218;p17"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19" name="Google Shape;219;p17"/>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CORE CONCEPT 1</a:t>
            </a:r>
            <a:endParaRPr sz="1050">
              <a:solidFill>
                <a:schemeClr val="dk1"/>
              </a:solidFill>
              <a:latin typeface="Calibri"/>
              <a:ea typeface="Calibri"/>
              <a:cs typeface="Calibri"/>
              <a:sym typeface="Calibri"/>
            </a:endParaRPr>
          </a:p>
        </p:txBody>
      </p:sp>
      <p:sp>
        <p:nvSpPr>
          <p:cNvPr id="220" name="Google Shape;220;p17"/>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dirty="0">
                <a:solidFill>
                  <a:srgbClr val="B20E38"/>
                </a:solidFill>
                <a:latin typeface="Montserrat SemiBold"/>
                <a:ea typeface="Montserrat SemiBold"/>
                <a:cs typeface="Montserrat SemiBold"/>
                <a:sym typeface="Montserrat SemiBold"/>
              </a:rPr>
              <a:t>What Is Strategy?</a:t>
            </a:r>
            <a:endParaRPr sz="2500" dirty="0">
              <a:solidFill>
                <a:schemeClr val="dk1"/>
              </a:solidFill>
              <a:latin typeface="Calibri"/>
              <a:ea typeface="Calibri"/>
              <a:cs typeface="Calibri"/>
              <a:sym typeface="Calibri"/>
            </a:endParaRPr>
          </a:p>
        </p:txBody>
      </p:sp>
      <p:sp>
        <p:nvSpPr>
          <p:cNvPr id="221" name="Google Shape;221;p17"/>
          <p:cNvSpPr/>
          <p:nvPr/>
        </p:nvSpPr>
        <p:spPr>
          <a:xfrm>
            <a:off x="457200" y="2491917"/>
            <a:ext cx="8229600" cy="1005840"/>
          </a:xfrm>
          <a:prstGeom prst="rect">
            <a:avLst/>
          </a:prstGeom>
          <a:noFill/>
          <a:ln>
            <a:noFill/>
          </a:ln>
        </p:spPr>
        <p:txBody>
          <a:bodyPr spcFirstLastPara="1" wrap="square" lIns="0" tIns="0" rIns="0" bIns="0" anchor="ctr" anchorCtr="0">
            <a:noAutofit/>
          </a:bodyPr>
          <a:lstStyle/>
          <a:p>
            <a:pPr marL="0" marR="0" lvl="0" indent="0" algn="l" rtl="0">
              <a:lnSpc>
                <a:spcPct val="200000"/>
              </a:lnSpc>
              <a:spcBef>
                <a:spcPts val="0"/>
              </a:spcBef>
              <a:spcAft>
                <a:spcPts val="0"/>
              </a:spcAft>
              <a:buClr>
                <a:srgbClr val="1A1A1A"/>
              </a:buClr>
              <a:buSzPts val="1650"/>
              <a:buFont typeface="Montserrat"/>
              <a:buNone/>
            </a:pPr>
            <a:r>
              <a:rPr lang="en-US" sz="1650" dirty="0">
                <a:solidFill>
                  <a:srgbClr val="1A1A1A"/>
                </a:solidFill>
                <a:latin typeface="Montserrat"/>
                <a:ea typeface="Montserrat"/>
                <a:cs typeface="Montserrat"/>
                <a:sym typeface="Montserrat"/>
              </a:rPr>
              <a:t>Alfred D. Chandler defines strategy as, “the determination of the basic long-term goals and objectives of an enterprise and the adoption of the courses of action and the allocation of resources necessary for carrying out these goals.” Strategy is defined by Arthur </a:t>
            </a:r>
            <a:r>
              <a:rPr lang="en-US" sz="1650" dirty="0" err="1">
                <a:solidFill>
                  <a:srgbClr val="1A1A1A"/>
                </a:solidFill>
                <a:latin typeface="Montserrat"/>
                <a:ea typeface="Montserrat"/>
                <a:cs typeface="Montserrat"/>
                <a:sym typeface="Montserrat"/>
              </a:rPr>
              <a:t>Sharplin</a:t>
            </a:r>
            <a:r>
              <a:rPr lang="en-US" sz="1650" dirty="0">
                <a:solidFill>
                  <a:srgbClr val="1A1A1A"/>
                </a:solidFill>
                <a:latin typeface="Montserrat"/>
                <a:ea typeface="Montserrat"/>
                <a:cs typeface="Montserrat"/>
                <a:sym typeface="Montserrat"/>
              </a:rPr>
              <a:t> as, </a:t>
            </a:r>
            <a:r>
              <a:rPr lang="en-US" sz="1650" b="1" dirty="0">
                <a:solidFill>
                  <a:srgbClr val="1A1A1A"/>
                </a:solidFill>
                <a:latin typeface="Montserrat"/>
                <a:ea typeface="Montserrat"/>
                <a:cs typeface="Montserrat"/>
                <a:sym typeface="Montserrat"/>
              </a:rPr>
              <a:t>“a plan or course of action which is of vital pervasive, or continuing importance to the </a:t>
            </a:r>
            <a:r>
              <a:rPr lang="en-US" sz="1650" b="1" dirty="0" err="1">
                <a:solidFill>
                  <a:srgbClr val="1A1A1A"/>
                </a:solidFill>
                <a:latin typeface="Montserrat"/>
                <a:ea typeface="Montserrat"/>
                <a:cs typeface="Montserrat"/>
                <a:sym typeface="Montserrat"/>
              </a:rPr>
              <a:t>organisation</a:t>
            </a:r>
            <a:r>
              <a:rPr lang="en-US" sz="1650" b="1" dirty="0">
                <a:solidFill>
                  <a:srgbClr val="1A1A1A"/>
                </a:solidFill>
                <a:latin typeface="Montserrat"/>
                <a:ea typeface="Montserrat"/>
                <a:cs typeface="Montserrat"/>
                <a:sym typeface="Montserrat"/>
              </a:rPr>
              <a:t> as a whole.” </a:t>
            </a:r>
            <a:r>
              <a:rPr lang="en-US" sz="1650" dirty="0">
                <a:solidFill>
                  <a:srgbClr val="1A1A1A"/>
                </a:solidFill>
                <a:latin typeface="Montserrat"/>
                <a:ea typeface="Montserrat"/>
                <a:cs typeface="Montserrat"/>
                <a:sym typeface="Montserrat"/>
              </a:rPr>
              <a:t>James Brain Quinn defines the term strategy as, </a:t>
            </a:r>
            <a:r>
              <a:rPr lang="en-US" sz="1650" b="1" dirty="0">
                <a:solidFill>
                  <a:srgbClr val="1A1A1A"/>
                </a:solidFill>
                <a:latin typeface="Montserrat"/>
                <a:ea typeface="Montserrat"/>
                <a:cs typeface="Montserrat"/>
                <a:sym typeface="Montserrat"/>
              </a:rPr>
              <a:t>“the pattern of plan that integrates an </a:t>
            </a:r>
            <a:r>
              <a:rPr lang="en-US" sz="1650" b="1" dirty="0" err="1">
                <a:solidFill>
                  <a:srgbClr val="1A1A1A"/>
                </a:solidFill>
                <a:latin typeface="Montserrat"/>
                <a:ea typeface="Montserrat"/>
                <a:cs typeface="Montserrat"/>
                <a:sym typeface="Montserrat"/>
              </a:rPr>
              <a:t>organisation’s</a:t>
            </a:r>
            <a:r>
              <a:rPr lang="en-US" sz="1650" b="1" dirty="0">
                <a:solidFill>
                  <a:srgbClr val="1A1A1A"/>
                </a:solidFill>
                <a:latin typeface="Montserrat"/>
                <a:ea typeface="Montserrat"/>
                <a:cs typeface="Montserrat"/>
                <a:sym typeface="Montserrat"/>
              </a:rPr>
              <a:t> major goals, policies and action sequences into a cohesive whole.”</a:t>
            </a:r>
            <a:endParaRPr sz="165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14094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202"/>
        <p:cNvGrpSpPr/>
        <p:nvPr/>
      </p:nvGrpSpPr>
      <p:grpSpPr>
        <a:xfrm>
          <a:off x="0" y="0"/>
          <a:ext cx="0" cy="0"/>
          <a:chOff x="0" y="0"/>
          <a:chExt cx="0" cy="0"/>
        </a:xfrm>
      </p:grpSpPr>
      <p:sp>
        <p:nvSpPr>
          <p:cNvPr id="204" name="Google Shape;204;p16"/>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A STORY TO START</a:t>
            </a:r>
            <a:endParaRPr sz="1050">
              <a:solidFill>
                <a:schemeClr val="dk1"/>
              </a:solidFill>
              <a:latin typeface="Calibri"/>
              <a:ea typeface="Calibri"/>
              <a:cs typeface="Calibri"/>
              <a:sym typeface="Calibri"/>
            </a:endParaRPr>
          </a:p>
        </p:txBody>
      </p:sp>
      <p:sp>
        <p:nvSpPr>
          <p:cNvPr id="205" name="Google Shape;205;p16"/>
          <p:cNvSpPr/>
          <p:nvPr/>
        </p:nvSpPr>
        <p:spPr>
          <a:xfrm>
            <a:off x="510139" y="2571750"/>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dirty="0" err="1">
                <a:solidFill>
                  <a:srgbClr val="B20E38"/>
                </a:solidFill>
                <a:latin typeface="Montserrat SemiBold"/>
                <a:ea typeface="Montserrat SemiBold"/>
                <a:cs typeface="Montserrat SemiBold"/>
                <a:sym typeface="Montserrat SemiBold"/>
              </a:rPr>
              <a:t>Haldiram</a:t>
            </a:r>
            <a:endParaRPr lang="en-US" sz="2500" dirty="0">
              <a:solidFill>
                <a:schemeClr val="dk1"/>
              </a:solidFill>
              <a:latin typeface="Calibri"/>
              <a:ea typeface="Calibri"/>
              <a:cs typeface="Calibri"/>
              <a:sym typeface="Calibri"/>
            </a:endParaRPr>
          </a:p>
        </p:txBody>
      </p:sp>
      <p:sp>
        <p:nvSpPr>
          <p:cNvPr id="210" name="Google Shape;210;p16"/>
          <p:cNvSpPr/>
          <p:nvPr/>
        </p:nvSpPr>
        <p:spPr>
          <a:xfrm>
            <a:off x="731520" y="2697480"/>
            <a:ext cx="7680960" cy="685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A1A1A"/>
              </a:buClr>
              <a:buSzPts val="1250"/>
              <a:buFont typeface="Montserrat"/>
              <a:buNone/>
            </a:pPr>
            <a:endParaRPr sz="125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202"/>
        <p:cNvGrpSpPr/>
        <p:nvPr/>
      </p:nvGrpSpPr>
      <p:grpSpPr>
        <a:xfrm>
          <a:off x="0" y="0"/>
          <a:ext cx="0" cy="0"/>
          <a:chOff x="0" y="0"/>
          <a:chExt cx="0" cy="0"/>
        </a:xfrm>
      </p:grpSpPr>
      <p:pic>
        <p:nvPicPr>
          <p:cNvPr id="203" name="Google Shape;203;p16"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04" name="Google Shape;204;p16"/>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A STORY TO START</a:t>
            </a:r>
            <a:endParaRPr sz="1050">
              <a:solidFill>
                <a:schemeClr val="dk1"/>
              </a:solidFill>
              <a:latin typeface="Calibri"/>
              <a:ea typeface="Calibri"/>
              <a:cs typeface="Calibri"/>
              <a:sym typeface="Calibri"/>
            </a:endParaRPr>
          </a:p>
        </p:txBody>
      </p:sp>
      <p:sp>
        <p:nvSpPr>
          <p:cNvPr id="205" name="Google Shape;205;p16"/>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From a Bikaner Shop to a ₹12,800-Crore Empire</a:t>
            </a:r>
            <a:endParaRPr sz="2500">
              <a:solidFill>
                <a:schemeClr val="dk1"/>
              </a:solidFill>
              <a:latin typeface="Calibri"/>
              <a:ea typeface="Calibri"/>
              <a:cs typeface="Calibri"/>
              <a:sym typeface="Calibri"/>
            </a:endParaRPr>
          </a:p>
        </p:txBody>
      </p:sp>
      <p:sp>
        <p:nvSpPr>
          <p:cNvPr id="206" name="Google Shape;206;p16"/>
          <p:cNvSpPr/>
          <p:nvPr/>
        </p:nvSpPr>
        <p:spPr>
          <a:xfrm>
            <a:off x="457200" y="1143000"/>
            <a:ext cx="8229600" cy="3246120"/>
          </a:xfrm>
          <a:prstGeom prst="roundRect">
            <a:avLst>
              <a:gd name="adj" fmla="val 2817"/>
            </a:avLst>
          </a:prstGeom>
          <a:solidFill>
            <a:srgbClr val="FFFFFF">
              <a:alpha val="90196"/>
            </a:srgbClr>
          </a:solidFill>
          <a:ln>
            <a:noFill/>
          </a:ln>
          <a:effectLst>
            <a:outerShdw blurRad="76200" dist="25400" dir="5400000" algn="bl" rotWithShape="0">
              <a:srgbClr val="000000">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16"/>
          <p:cNvSpPr/>
          <p:nvPr/>
        </p:nvSpPr>
        <p:spPr>
          <a:xfrm>
            <a:off x="731520" y="1325880"/>
            <a:ext cx="7680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350"/>
              <a:buFont typeface="Montserrat SemiBold"/>
              <a:buNone/>
            </a:pPr>
            <a:r>
              <a:rPr lang="en-US" sz="1350" b="1">
                <a:solidFill>
                  <a:srgbClr val="B20E38"/>
                </a:solidFill>
                <a:latin typeface="Montserrat SemiBold"/>
                <a:ea typeface="Montserrat SemiBold"/>
                <a:cs typeface="Montserrat SemiBold"/>
                <a:sym typeface="Montserrat SemiBold"/>
              </a:rPr>
              <a:t>1937, Bikaner</a:t>
            </a:r>
            <a:endParaRPr sz="1350">
              <a:solidFill>
                <a:schemeClr val="dk1"/>
              </a:solidFill>
              <a:latin typeface="Calibri"/>
              <a:ea typeface="Calibri"/>
              <a:cs typeface="Calibri"/>
              <a:sym typeface="Calibri"/>
            </a:endParaRPr>
          </a:p>
        </p:txBody>
      </p:sp>
      <p:sp>
        <p:nvSpPr>
          <p:cNvPr id="208" name="Google Shape;208;p16"/>
          <p:cNvSpPr/>
          <p:nvPr/>
        </p:nvSpPr>
        <p:spPr>
          <a:xfrm>
            <a:off x="731520" y="1645920"/>
            <a:ext cx="7680960" cy="685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A1A1A"/>
              </a:buClr>
              <a:buSzPts val="1250"/>
              <a:buFont typeface="Montserrat"/>
              <a:buNone/>
            </a:pPr>
            <a:r>
              <a:rPr lang="en-US" sz="1250">
                <a:solidFill>
                  <a:srgbClr val="1A1A1A"/>
                </a:solidFill>
                <a:latin typeface="Montserrat"/>
                <a:ea typeface="Montserrat"/>
                <a:cs typeface="Montserrat"/>
                <a:sym typeface="Montserrat"/>
              </a:rPr>
              <a:t>Ganga Bhishen Agarwal opens a tiny sweets and namkeen shop, selling his own bhujia recipe on a dusty street.</a:t>
            </a:r>
            <a:endParaRPr sz="1250">
              <a:solidFill>
                <a:schemeClr val="dk1"/>
              </a:solidFill>
              <a:latin typeface="Calibri"/>
              <a:ea typeface="Calibri"/>
              <a:cs typeface="Calibri"/>
              <a:sym typeface="Calibri"/>
            </a:endParaRPr>
          </a:p>
        </p:txBody>
      </p:sp>
      <p:sp>
        <p:nvSpPr>
          <p:cNvPr id="209" name="Google Shape;209;p16"/>
          <p:cNvSpPr/>
          <p:nvPr/>
        </p:nvSpPr>
        <p:spPr>
          <a:xfrm>
            <a:off x="731520" y="2377440"/>
            <a:ext cx="7680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350"/>
              <a:buFont typeface="Montserrat SemiBold"/>
              <a:buNone/>
            </a:pPr>
            <a:r>
              <a:rPr lang="en-US" sz="1350" b="1">
                <a:solidFill>
                  <a:srgbClr val="B20E38"/>
                </a:solidFill>
                <a:latin typeface="Montserrat SemiBold"/>
                <a:ea typeface="Montserrat SemiBold"/>
                <a:cs typeface="Montserrat SemiBold"/>
                <a:sym typeface="Montserrat SemiBold"/>
              </a:rPr>
              <a:t>Deliberate, not accidental, growth</a:t>
            </a:r>
            <a:endParaRPr sz="1350">
              <a:solidFill>
                <a:schemeClr val="dk1"/>
              </a:solidFill>
              <a:latin typeface="Calibri"/>
              <a:ea typeface="Calibri"/>
              <a:cs typeface="Calibri"/>
              <a:sym typeface="Calibri"/>
            </a:endParaRPr>
          </a:p>
        </p:txBody>
      </p:sp>
      <p:sp>
        <p:nvSpPr>
          <p:cNvPr id="210" name="Google Shape;210;p16"/>
          <p:cNvSpPr/>
          <p:nvPr/>
        </p:nvSpPr>
        <p:spPr>
          <a:xfrm>
            <a:off x="731520" y="2697480"/>
            <a:ext cx="7680960" cy="685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A1A1A"/>
              </a:buClr>
              <a:buSzPts val="1250"/>
              <a:buFont typeface="Montserrat"/>
              <a:buNone/>
            </a:pPr>
            <a:r>
              <a:rPr lang="en-US" sz="1250" dirty="0">
                <a:solidFill>
                  <a:srgbClr val="1A1A1A"/>
                </a:solidFill>
                <a:latin typeface="Montserrat"/>
                <a:ea typeface="Montserrat"/>
                <a:cs typeface="Montserrat"/>
                <a:sym typeface="Montserrat"/>
              </a:rPr>
              <a:t>Instead of just selling more from one shop, the family-built manufacturing units — Kolkata, then Jaipur, then Nagpur  each a deliberate step, not a lucky break.</a:t>
            </a:r>
            <a:endParaRPr sz="1250" dirty="0">
              <a:solidFill>
                <a:schemeClr val="dk1"/>
              </a:solidFill>
              <a:latin typeface="Calibri"/>
              <a:ea typeface="Calibri"/>
              <a:cs typeface="Calibri"/>
              <a:sym typeface="Calibri"/>
            </a:endParaRPr>
          </a:p>
        </p:txBody>
      </p:sp>
      <p:sp>
        <p:nvSpPr>
          <p:cNvPr id="211" name="Google Shape;211;p16"/>
          <p:cNvSpPr/>
          <p:nvPr/>
        </p:nvSpPr>
        <p:spPr>
          <a:xfrm>
            <a:off x="731520" y="3429000"/>
            <a:ext cx="7680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350"/>
              <a:buFont typeface="Montserrat SemiBold"/>
              <a:buNone/>
            </a:pPr>
            <a:r>
              <a:rPr lang="en-US" sz="1350" b="1">
                <a:solidFill>
                  <a:srgbClr val="B20E38"/>
                </a:solidFill>
                <a:latin typeface="Montserrat SemiBold"/>
                <a:ea typeface="Montserrat SemiBold"/>
                <a:cs typeface="Montserrat SemiBold"/>
                <a:sym typeface="Montserrat SemiBold"/>
              </a:rPr>
              <a:t>Today</a:t>
            </a:r>
            <a:endParaRPr sz="1350">
              <a:solidFill>
                <a:schemeClr val="dk1"/>
              </a:solidFill>
              <a:latin typeface="Calibri"/>
              <a:ea typeface="Calibri"/>
              <a:cs typeface="Calibri"/>
              <a:sym typeface="Calibri"/>
            </a:endParaRPr>
          </a:p>
        </p:txBody>
      </p:sp>
      <p:sp>
        <p:nvSpPr>
          <p:cNvPr id="212" name="Google Shape;212;p16"/>
          <p:cNvSpPr/>
          <p:nvPr/>
        </p:nvSpPr>
        <p:spPr>
          <a:xfrm>
            <a:off x="731520" y="3749040"/>
            <a:ext cx="7680960" cy="685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A1A1A"/>
              </a:buClr>
              <a:buSzPts val="1250"/>
              <a:buFont typeface="Montserrat"/>
              <a:buNone/>
            </a:pPr>
            <a:r>
              <a:rPr lang="en-US" sz="1250" dirty="0" err="1">
                <a:solidFill>
                  <a:srgbClr val="1A1A1A"/>
                </a:solidFill>
                <a:latin typeface="Montserrat"/>
                <a:ea typeface="Montserrat"/>
                <a:cs typeface="Montserrat"/>
                <a:sym typeface="Montserrat"/>
              </a:rPr>
              <a:t>Haldiram's</a:t>
            </a:r>
            <a:r>
              <a:rPr lang="en-US" sz="1250" dirty="0">
                <a:solidFill>
                  <a:srgbClr val="1A1A1A"/>
                </a:solidFill>
                <a:latin typeface="Montserrat"/>
                <a:ea typeface="Montserrat"/>
                <a:cs typeface="Montserrat"/>
                <a:sym typeface="Montserrat"/>
              </a:rPr>
              <a:t> is a multinational snack company selling in over 80 countries, with revenue above ₹12,800 crore. One shop's recipe became an empire — through direction, not just hard work.</a:t>
            </a:r>
            <a:endParaRPr sz="125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45119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229"/>
        <p:cNvGrpSpPr/>
        <p:nvPr/>
      </p:nvGrpSpPr>
      <p:grpSpPr>
        <a:xfrm>
          <a:off x="0" y="0"/>
          <a:ext cx="0" cy="0"/>
          <a:chOff x="0" y="0"/>
          <a:chExt cx="0" cy="0"/>
        </a:xfrm>
      </p:grpSpPr>
      <p:pic>
        <p:nvPicPr>
          <p:cNvPr id="230" name="Google Shape;230;p18"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31" name="Google Shape;231;p18"/>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A USEFUL DISTINCTION</a:t>
            </a:r>
            <a:endParaRPr sz="1050">
              <a:solidFill>
                <a:schemeClr val="dk1"/>
              </a:solidFill>
              <a:latin typeface="Calibri"/>
              <a:ea typeface="Calibri"/>
              <a:cs typeface="Calibri"/>
              <a:sym typeface="Calibri"/>
            </a:endParaRPr>
          </a:p>
        </p:txBody>
      </p:sp>
      <p:sp>
        <p:nvSpPr>
          <p:cNvPr id="232" name="Google Shape;232;p18"/>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Strategy vs. Just Working Hard</a:t>
            </a:r>
            <a:endParaRPr sz="2500">
              <a:solidFill>
                <a:schemeClr val="dk1"/>
              </a:solidFill>
              <a:latin typeface="Calibri"/>
              <a:ea typeface="Calibri"/>
              <a:cs typeface="Calibri"/>
              <a:sym typeface="Calibri"/>
            </a:endParaRPr>
          </a:p>
        </p:txBody>
      </p:sp>
      <p:sp>
        <p:nvSpPr>
          <p:cNvPr id="234" name="Google Shape;234;p18"/>
          <p:cNvSpPr/>
          <p:nvPr/>
        </p:nvSpPr>
        <p:spPr>
          <a:xfrm>
            <a:off x="676275" y="4206240"/>
            <a:ext cx="82296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A2A2A"/>
              </a:buClr>
              <a:buSzPts val="1250"/>
              <a:buFont typeface="Montserrat"/>
              <a:buNone/>
            </a:pPr>
            <a:r>
              <a:rPr lang="en-US" sz="1250" b="1" i="1">
                <a:solidFill>
                  <a:srgbClr val="2A2A2A"/>
                </a:solidFill>
                <a:latin typeface="Montserrat"/>
                <a:ea typeface="Montserrat"/>
                <a:cs typeface="Montserrat"/>
                <a:sym typeface="Montserrat"/>
              </a:rPr>
              <a:t>Effort matters. But direction decides whether that effort compounds.</a:t>
            </a:r>
            <a:endParaRPr sz="1250" b="1">
              <a:solidFill>
                <a:schemeClr val="dk1"/>
              </a:solidFill>
              <a:latin typeface="Calibri"/>
              <a:ea typeface="Calibri"/>
              <a:cs typeface="Calibri"/>
              <a:sym typeface="Calibri"/>
            </a:endParaRPr>
          </a:p>
        </p:txBody>
      </p:sp>
      <p:sp>
        <p:nvSpPr>
          <p:cNvPr id="235" name="Google Shape;235;p18"/>
          <p:cNvSpPr/>
          <p:nvPr/>
        </p:nvSpPr>
        <p:spPr>
          <a:xfrm>
            <a:off x="8229600" y="4864608"/>
            <a:ext cx="7772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B20E38"/>
              </a:buClr>
              <a:buSzPts val="800"/>
              <a:buFont typeface="Montserrat"/>
              <a:buNone/>
            </a:pPr>
            <a:r>
              <a:rPr lang="en-US" sz="800">
                <a:solidFill>
                  <a:srgbClr val="B20E38"/>
                </a:solidFill>
                <a:latin typeface="Montserrat"/>
                <a:ea typeface="Montserrat"/>
                <a:cs typeface="Montserrat"/>
                <a:sym typeface="Montserrat"/>
              </a:rPr>
              <a:t>6 / 15</a:t>
            </a:r>
            <a:endParaRPr sz="800">
              <a:solidFill>
                <a:schemeClr val="dk1"/>
              </a:solidFill>
              <a:latin typeface="Calibri"/>
              <a:ea typeface="Calibri"/>
              <a:cs typeface="Calibri"/>
              <a:sym typeface="Calibri"/>
            </a:endParaRPr>
          </a:p>
        </p:txBody>
      </p:sp>
      <p:sp>
        <p:nvSpPr>
          <p:cNvPr id="8" name="Google Shape;222;p17">
            <a:extLst>
              <a:ext uri="{FF2B5EF4-FFF2-40B4-BE49-F238E27FC236}">
                <a16:creationId xmlns:a16="http://schemas.microsoft.com/office/drawing/2014/main" id="{85753595-E937-4D14-BBD3-386B10FD270C}"/>
              </a:ext>
            </a:extLst>
          </p:cNvPr>
          <p:cNvSpPr/>
          <p:nvPr/>
        </p:nvSpPr>
        <p:spPr>
          <a:xfrm>
            <a:off x="297543" y="1991106"/>
            <a:ext cx="8229600" cy="2011680"/>
          </a:xfrm>
          <a:prstGeom prst="roundRect">
            <a:avLst>
              <a:gd name="adj" fmla="val 4545"/>
            </a:avLst>
          </a:prstGeom>
          <a:solidFill>
            <a:srgbClr val="FFFFFF">
              <a:alpha val="90196"/>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224;p17">
            <a:extLst>
              <a:ext uri="{FF2B5EF4-FFF2-40B4-BE49-F238E27FC236}">
                <a16:creationId xmlns:a16="http://schemas.microsoft.com/office/drawing/2014/main" id="{408F294D-635E-4E0C-876B-6B9219297DFD}"/>
              </a:ext>
            </a:extLst>
          </p:cNvPr>
          <p:cNvSpPr/>
          <p:nvPr/>
        </p:nvSpPr>
        <p:spPr>
          <a:xfrm>
            <a:off x="616857" y="2515598"/>
            <a:ext cx="7680960" cy="12801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1A1A1A"/>
              </a:buClr>
              <a:buSzPts val="1350"/>
              <a:buFont typeface="Montserrat"/>
              <a:buNone/>
            </a:pPr>
            <a:r>
              <a:rPr lang="en-US" sz="1350" dirty="0">
                <a:solidFill>
                  <a:srgbClr val="1A1A1A"/>
                </a:solidFill>
                <a:latin typeface="Montserrat"/>
                <a:ea typeface="Montserrat"/>
                <a:cs typeface="Montserrat"/>
                <a:sym typeface="Montserrat"/>
              </a:rPr>
              <a:t>Thousands of shopkeepers in Bikaner sold sweets in 1937. Only a few made deliberate choices about where to build factories, which cities to enter, and when. That deliberate choosing is strategy.</a:t>
            </a:r>
            <a:endParaRPr sz="135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575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229"/>
        <p:cNvGrpSpPr/>
        <p:nvPr/>
      </p:nvGrpSpPr>
      <p:grpSpPr>
        <a:xfrm>
          <a:off x="0" y="0"/>
          <a:ext cx="0" cy="0"/>
          <a:chOff x="0" y="0"/>
          <a:chExt cx="0" cy="0"/>
        </a:xfrm>
      </p:grpSpPr>
      <p:pic>
        <p:nvPicPr>
          <p:cNvPr id="230" name="Google Shape;230;p18"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31" name="Google Shape;231;p18"/>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A USEFUL DISTINCTION</a:t>
            </a:r>
            <a:endParaRPr sz="1050">
              <a:solidFill>
                <a:schemeClr val="dk1"/>
              </a:solidFill>
              <a:latin typeface="Calibri"/>
              <a:ea typeface="Calibri"/>
              <a:cs typeface="Calibri"/>
              <a:sym typeface="Calibri"/>
            </a:endParaRPr>
          </a:p>
        </p:txBody>
      </p:sp>
      <p:sp>
        <p:nvSpPr>
          <p:cNvPr id="232" name="Google Shape;232;p18"/>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Strategy vs. Just Working Hard</a:t>
            </a:r>
            <a:endParaRPr sz="2500">
              <a:solidFill>
                <a:schemeClr val="dk1"/>
              </a:solidFill>
              <a:latin typeface="Calibri"/>
              <a:ea typeface="Calibri"/>
              <a:cs typeface="Calibri"/>
              <a:sym typeface="Calibri"/>
            </a:endParaRPr>
          </a:p>
        </p:txBody>
      </p:sp>
      <p:graphicFrame>
        <p:nvGraphicFramePr>
          <p:cNvPr id="233" name="Google Shape;233;p18"/>
          <p:cNvGraphicFramePr/>
          <p:nvPr/>
        </p:nvGraphicFramePr>
        <p:xfrm>
          <a:off x="457200" y="1280160"/>
          <a:ext cx="8229600" cy="2560300"/>
        </p:xfrm>
        <a:graphic>
          <a:graphicData uri="http://schemas.openxmlformats.org/drawingml/2006/table">
            <a:tbl>
              <a:tblPr>
                <a:noFill/>
                <a:tableStyleId>{044479AA-C001-4957-BA26-486574868DD1}</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40075">
                <a:tc>
                  <a:txBody>
                    <a:bodyPr/>
                    <a:lstStyle/>
                    <a:p>
                      <a:pPr marL="0" marR="0" lvl="0" indent="0" algn="l" rtl="0">
                        <a:spcBef>
                          <a:spcPts val="0"/>
                        </a:spcBef>
                        <a:spcAft>
                          <a:spcPts val="0"/>
                        </a:spcAft>
                        <a:buClr>
                          <a:srgbClr val="FFFFFF"/>
                        </a:buClr>
                        <a:buSzPts val="1300"/>
                        <a:buFont typeface="Montserrat"/>
                        <a:buNone/>
                      </a:pPr>
                      <a:r>
                        <a:rPr lang="en-US" sz="1300" b="1" u="none" strike="noStrike" cap="none">
                          <a:solidFill>
                            <a:srgbClr val="FFFFFF"/>
                          </a:solidFill>
                          <a:latin typeface="Montserrat"/>
                          <a:ea typeface="Montserrat"/>
                          <a:cs typeface="Montserrat"/>
                          <a:sym typeface="Montserrat"/>
                        </a:rPr>
                        <a:t>Hard Work Alone</a:t>
                      </a:r>
                      <a:endParaRPr sz="13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B20E38"/>
                    </a:solidFill>
                  </a:tcPr>
                </a:tc>
                <a:tc>
                  <a:txBody>
                    <a:bodyPr/>
                    <a:lstStyle/>
                    <a:p>
                      <a:pPr marL="0" marR="0" lvl="0" indent="0" algn="l" rtl="0">
                        <a:spcBef>
                          <a:spcPts val="0"/>
                        </a:spcBef>
                        <a:spcAft>
                          <a:spcPts val="0"/>
                        </a:spcAft>
                        <a:buClr>
                          <a:srgbClr val="FFFFFF"/>
                        </a:buClr>
                        <a:buSzPts val="1300"/>
                        <a:buFont typeface="Montserrat"/>
                        <a:buNone/>
                      </a:pPr>
                      <a:r>
                        <a:rPr lang="en-US" sz="1300" b="1" u="none" strike="noStrike" cap="none">
                          <a:solidFill>
                            <a:srgbClr val="FFFFFF"/>
                          </a:solidFill>
                          <a:latin typeface="Montserrat"/>
                          <a:ea typeface="Montserrat"/>
                          <a:cs typeface="Montserrat"/>
                          <a:sym typeface="Montserrat"/>
                        </a:rPr>
                        <a:t>Hard Work + Strategy</a:t>
                      </a:r>
                      <a:endParaRPr sz="13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B20E38"/>
                    </a:solidFill>
                  </a:tcPr>
                </a:tc>
                <a:extLst>
                  <a:ext uri="{0D108BD9-81ED-4DB2-BD59-A6C34878D82A}">
                    <a16:rowId xmlns:a16="http://schemas.microsoft.com/office/drawing/2014/main" val="10000"/>
                  </a:ext>
                </a:extLst>
              </a:tr>
              <a:tr h="640075">
                <a:tc>
                  <a:txBody>
                    <a:bodyPr/>
                    <a:lstStyle/>
                    <a:p>
                      <a:pPr marL="0" marR="0" lvl="0" indent="0" algn="l" rtl="0">
                        <a:spcBef>
                          <a:spcPts val="0"/>
                        </a:spcBef>
                        <a:spcAft>
                          <a:spcPts val="0"/>
                        </a:spcAft>
                        <a:buClr>
                          <a:srgbClr val="1A1A1A"/>
                        </a:buClr>
                        <a:buSzPts val="1200"/>
                        <a:buFont typeface="Montserrat"/>
                        <a:buNone/>
                      </a:pPr>
                      <a:r>
                        <a:rPr lang="en-US" sz="1200" u="none" strike="noStrike" cap="none">
                          <a:solidFill>
                            <a:srgbClr val="1A1A1A"/>
                          </a:solidFill>
                          <a:latin typeface="Montserrat"/>
                          <a:ea typeface="Montserrat"/>
                          <a:cs typeface="Montserrat"/>
                          <a:sym typeface="Montserrat"/>
                        </a:rPr>
                        <a:t>Sell more from the same shop</a:t>
                      </a:r>
                      <a:endParaRPr sz="12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00"/>
                        <a:buFont typeface="Montserrat"/>
                        <a:buNone/>
                      </a:pPr>
                      <a:r>
                        <a:rPr lang="en-US" sz="1200" u="none" strike="noStrike" cap="none">
                          <a:solidFill>
                            <a:srgbClr val="1A1A1A"/>
                          </a:solidFill>
                          <a:latin typeface="Montserrat"/>
                          <a:ea typeface="Montserrat"/>
                          <a:cs typeface="Montserrat"/>
                          <a:sym typeface="Montserrat"/>
                        </a:rPr>
                        <a:t>Decide which new city to enter, and when</a:t>
                      </a:r>
                      <a:endParaRPr sz="12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40075">
                <a:tc>
                  <a:txBody>
                    <a:bodyPr/>
                    <a:lstStyle/>
                    <a:p>
                      <a:pPr marL="0" marR="0" lvl="0" indent="0" algn="l" rtl="0">
                        <a:spcBef>
                          <a:spcPts val="0"/>
                        </a:spcBef>
                        <a:spcAft>
                          <a:spcPts val="0"/>
                        </a:spcAft>
                        <a:buClr>
                          <a:srgbClr val="1A1A1A"/>
                        </a:buClr>
                        <a:buSzPts val="1200"/>
                        <a:buFont typeface="Montserrat"/>
                        <a:buNone/>
                      </a:pPr>
                      <a:r>
                        <a:rPr lang="en-US" sz="1200" u="none" strike="noStrike" cap="none">
                          <a:solidFill>
                            <a:srgbClr val="1A1A1A"/>
                          </a:solidFill>
                          <a:latin typeface="Montserrat"/>
                          <a:ea typeface="Montserrat"/>
                          <a:cs typeface="Montserrat"/>
                          <a:sym typeface="Montserrat"/>
                        </a:rPr>
                        <a:t>React to whatever customers ask for</a:t>
                      </a:r>
                      <a:endParaRPr sz="12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00"/>
                        <a:buFont typeface="Montserrat"/>
                        <a:buNone/>
                      </a:pPr>
                      <a:r>
                        <a:rPr lang="en-US" sz="1200" u="none" strike="noStrike" cap="none">
                          <a:solidFill>
                            <a:srgbClr val="1A1A1A"/>
                          </a:solidFill>
                          <a:latin typeface="Montserrat"/>
                          <a:ea typeface="Montserrat"/>
                          <a:cs typeface="Montserrat"/>
                          <a:sym typeface="Montserrat"/>
                        </a:rPr>
                        <a:t>Choose deliberately what to offer and to whom</a:t>
                      </a:r>
                      <a:endParaRPr sz="12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40075">
                <a:tc>
                  <a:txBody>
                    <a:bodyPr/>
                    <a:lstStyle/>
                    <a:p>
                      <a:pPr marL="0" marR="0" lvl="0" indent="0" algn="l" rtl="0">
                        <a:spcBef>
                          <a:spcPts val="0"/>
                        </a:spcBef>
                        <a:spcAft>
                          <a:spcPts val="0"/>
                        </a:spcAft>
                        <a:buClr>
                          <a:srgbClr val="1A1A1A"/>
                        </a:buClr>
                        <a:buSzPts val="1200"/>
                        <a:buFont typeface="Montserrat"/>
                        <a:buNone/>
                      </a:pPr>
                      <a:r>
                        <a:rPr lang="en-US" sz="1200" u="none" strike="noStrike" cap="none">
                          <a:solidFill>
                            <a:srgbClr val="1A1A1A"/>
                          </a:solidFill>
                          <a:latin typeface="Montserrat"/>
                          <a:ea typeface="Montserrat"/>
                          <a:cs typeface="Montserrat"/>
                          <a:sym typeface="Montserrat"/>
                        </a:rPr>
                        <a:t>Hope growth happens</a:t>
                      </a:r>
                      <a:endParaRPr sz="12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00"/>
                        <a:buFont typeface="Montserrat"/>
                        <a:buNone/>
                      </a:pPr>
                      <a:r>
                        <a:rPr lang="en-US" sz="1200" u="none" strike="noStrike" cap="none">
                          <a:solidFill>
                            <a:srgbClr val="1A1A1A"/>
                          </a:solidFill>
                          <a:latin typeface="Montserrat"/>
                          <a:ea typeface="Montserrat"/>
                          <a:cs typeface="Montserrat"/>
                          <a:sym typeface="Montserrat"/>
                        </a:rPr>
                        <a:t>Plan for growth, and prepare resources for it</a:t>
                      </a:r>
                      <a:endParaRPr sz="1200" u="none" strike="noStrike" cap="none">
                        <a:latin typeface="Montserrat"/>
                        <a:ea typeface="Montserrat"/>
                        <a:cs typeface="Montserrat"/>
                        <a:sym typeface="Montserrat"/>
                      </a:endParaRPr>
                    </a:p>
                  </a:txBody>
                  <a:tcPr marL="91450" marR="91450" marT="45725" marB="45725" anchor="ctr">
                    <a:lnL w="12700" cap="flat" cmpd="sng">
                      <a:solidFill>
                        <a:srgbClr val="E8CBB0"/>
                      </a:solidFill>
                      <a:prstDash val="solid"/>
                      <a:round/>
                      <a:headEnd type="none" w="sm" len="sm"/>
                      <a:tailEnd type="none" w="sm" len="sm"/>
                    </a:lnL>
                    <a:lnR w="12700" cap="flat" cmpd="sng">
                      <a:solidFill>
                        <a:srgbClr val="E8CBB0"/>
                      </a:solidFill>
                      <a:prstDash val="solid"/>
                      <a:round/>
                      <a:headEnd type="none" w="sm" len="sm"/>
                      <a:tailEnd type="none" w="sm" len="sm"/>
                    </a:lnR>
                    <a:lnT w="12700" cap="flat" cmpd="sng">
                      <a:solidFill>
                        <a:srgbClr val="E8CBB0"/>
                      </a:solidFill>
                      <a:prstDash val="solid"/>
                      <a:round/>
                      <a:headEnd type="none" w="sm" len="sm"/>
                      <a:tailEnd type="none" w="sm" len="sm"/>
                    </a:lnT>
                    <a:lnB w="12700" cap="flat" cmpd="sng">
                      <a:solidFill>
                        <a:srgbClr val="E8CBB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234" name="Google Shape;234;p18"/>
          <p:cNvSpPr/>
          <p:nvPr/>
        </p:nvSpPr>
        <p:spPr>
          <a:xfrm>
            <a:off x="676275" y="4206240"/>
            <a:ext cx="82296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A2A2A"/>
              </a:buClr>
              <a:buSzPts val="1250"/>
              <a:buFont typeface="Montserrat"/>
              <a:buNone/>
            </a:pPr>
            <a:r>
              <a:rPr lang="en-US" sz="1250" b="1" i="1">
                <a:solidFill>
                  <a:srgbClr val="2A2A2A"/>
                </a:solidFill>
                <a:latin typeface="Montserrat"/>
                <a:ea typeface="Montserrat"/>
                <a:cs typeface="Montserrat"/>
                <a:sym typeface="Montserrat"/>
              </a:rPr>
              <a:t>Effort matters. But direction decides whether that effort compounds.</a:t>
            </a:r>
            <a:endParaRPr sz="1250" b="1">
              <a:solidFill>
                <a:schemeClr val="dk1"/>
              </a:solidFill>
              <a:latin typeface="Calibri"/>
              <a:ea typeface="Calibri"/>
              <a:cs typeface="Calibri"/>
              <a:sym typeface="Calibri"/>
            </a:endParaRPr>
          </a:p>
        </p:txBody>
      </p:sp>
      <p:sp>
        <p:nvSpPr>
          <p:cNvPr id="235" name="Google Shape;235;p18"/>
          <p:cNvSpPr/>
          <p:nvPr/>
        </p:nvSpPr>
        <p:spPr>
          <a:xfrm>
            <a:off x="8229600" y="4864608"/>
            <a:ext cx="7772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B20E38"/>
              </a:buClr>
              <a:buSzPts val="800"/>
              <a:buFont typeface="Montserrat"/>
              <a:buNone/>
            </a:pPr>
            <a:r>
              <a:rPr lang="en-US" sz="800">
                <a:solidFill>
                  <a:srgbClr val="B20E38"/>
                </a:solidFill>
                <a:latin typeface="Montserrat"/>
                <a:ea typeface="Montserrat"/>
                <a:cs typeface="Montserrat"/>
                <a:sym typeface="Montserrat"/>
              </a:rPr>
              <a:t>6 / 15</a:t>
            </a:r>
            <a:endParaRPr sz="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21"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74" name="Google Shape;274;p21"/>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MAKING IT CONCRETE</a:t>
            </a:r>
            <a:endParaRPr sz="1050">
              <a:solidFill>
                <a:schemeClr val="dk1"/>
              </a:solidFill>
              <a:latin typeface="Calibri"/>
              <a:ea typeface="Calibri"/>
              <a:cs typeface="Calibri"/>
              <a:sym typeface="Calibri"/>
            </a:endParaRPr>
          </a:p>
        </p:txBody>
      </p:sp>
      <p:sp>
        <p:nvSpPr>
          <p:cNvPr id="275" name="Google Shape;275;p21"/>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Strategy in Everyday Small-Business Choices</a:t>
            </a:r>
            <a:endParaRPr sz="2500">
              <a:solidFill>
                <a:schemeClr val="dk1"/>
              </a:solidFill>
              <a:latin typeface="Calibri"/>
              <a:ea typeface="Calibri"/>
              <a:cs typeface="Calibri"/>
              <a:sym typeface="Calibri"/>
            </a:endParaRPr>
          </a:p>
        </p:txBody>
      </p:sp>
      <p:sp>
        <p:nvSpPr>
          <p:cNvPr id="276" name="Google Shape;276;p21"/>
          <p:cNvSpPr/>
          <p:nvPr/>
        </p:nvSpPr>
        <p:spPr>
          <a:xfrm>
            <a:off x="457200" y="1061085"/>
            <a:ext cx="8229600" cy="960120"/>
          </a:xfrm>
          <a:prstGeom prst="roundRect">
            <a:avLst>
              <a:gd name="adj" fmla="val 7619"/>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21"/>
          <p:cNvSpPr/>
          <p:nvPr/>
        </p:nvSpPr>
        <p:spPr>
          <a:xfrm>
            <a:off x="731520" y="1061085"/>
            <a:ext cx="7680960" cy="9601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A1A1A"/>
              </a:buClr>
              <a:buSzPts val="1300"/>
              <a:buFont typeface="Montserrat"/>
              <a:buNone/>
            </a:pPr>
            <a:r>
              <a:rPr lang="en-US" sz="1300">
                <a:solidFill>
                  <a:srgbClr val="1A1A1A"/>
                </a:solidFill>
                <a:latin typeface="Montserrat"/>
                <a:ea typeface="Montserrat"/>
                <a:cs typeface="Montserrat"/>
                <a:sym typeface="Montserrat"/>
              </a:rPr>
              <a:t>A tailor decides to only take bulk orders from shops, not walk-in customers — that's a strategic choice about who to serve</a:t>
            </a:r>
            <a:endParaRPr sz="1300">
              <a:solidFill>
                <a:schemeClr val="dk1"/>
              </a:solidFill>
              <a:latin typeface="Calibri"/>
              <a:ea typeface="Calibri"/>
              <a:cs typeface="Calibri"/>
              <a:sym typeface="Calibri"/>
            </a:endParaRPr>
          </a:p>
        </p:txBody>
      </p:sp>
      <p:sp>
        <p:nvSpPr>
          <p:cNvPr id="278" name="Google Shape;278;p21"/>
          <p:cNvSpPr/>
          <p:nvPr/>
        </p:nvSpPr>
        <p:spPr>
          <a:xfrm>
            <a:off x="457200" y="2140077"/>
            <a:ext cx="8229600" cy="960120"/>
          </a:xfrm>
          <a:prstGeom prst="roundRect">
            <a:avLst>
              <a:gd name="adj" fmla="val 7619"/>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21"/>
          <p:cNvSpPr/>
          <p:nvPr/>
        </p:nvSpPr>
        <p:spPr>
          <a:xfrm>
            <a:off x="731520" y="2140077"/>
            <a:ext cx="7680960" cy="9601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A1A1A"/>
              </a:buClr>
              <a:buSzPts val="1300"/>
              <a:buFont typeface="Montserrat"/>
              <a:buNone/>
            </a:pPr>
            <a:r>
              <a:rPr lang="en-US" sz="1300">
                <a:solidFill>
                  <a:srgbClr val="1A1A1A"/>
                </a:solidFill>
                <a:latin typeface="Montserrat"/>
                <a:ea typeface="Montserrat"/>
                <a:cs typeface="Montserrat"/>
                <a:sym typeface="Montserrat"/>
              </a:rPr>
              <a:t>A tuition teacher decides to raise fees but cap batch size at 15 students — a deliberate trade-off, not an accident</a:t>
            </a:r>
            <a:endParaRPr sz="1300">
              <a:solidFill>
                <a:schemeClr val="dk1"/>
              </a:solidFill>
              <a:latin typeface="Calibri"/>
              <a:ea typeface="Calibri"/>
              <a:cs typeface="Calibri"/>
              <a:sym typeface="Calibri"/>
            </a:endParaRPr>
          </a:p>
        </p:txBody>
      </p:sp>
      <p:sp>
        <p:nvSpPr>
          <p:cNvPr id="280" name="Google Shape;280;p21"/>
          <p:cNvSpPr/>
          <p:nvPr/>
        </p:nvSpPr>
        <p:spPr>
          <a:xfrm>
            <a:off x="457200" y="3219069"/>
            <a:ext cx="8229600" cy="960120"/>
          </a:xfrm>
          <a:prstGeom prst="roundRect">
            <a:avLst>
              <a:gd name="adj" fmla="val 7619"/>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1" name="Google Shape;281;p21"/>
          <p:cNvSpPr/>
          <p:nvPr/>
        </p:nvSpPr>
        <p:spPr>
          <a:xfrm>
            <a:off x="731520" y="3219069"/>
            <a:ext cx="7680960" cy="96012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A1A1A"/>
              </a:buClr>
              <a:buSzPts val="1300"/>
              <a:buFont typeface="Montserrat"/>
              <a:buNone/>
            </a:pPr>
            <a:r>
              <a:rPr lang="en-US" sz="1300">
                <a:solidFill>
                  <a:srgbClr val="1A1A1A"/>
                </a:solidFill>
                <a:latin typeface="Montserrat"/>
                <a:ea typeface="Montserrat"/>
                <a:cs typeface="Montserrat"/>
                <a:sym typeface="Montserrat"/>
              </a:rPr>
              <a:t>A juice-stall owner picks a location near a gym instead of a school — a strategic bet on which customer to chase</a:t>
            </a:r>
            <a:endParaRPr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54709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1000"/>
                                        <p:tgtEl>
                                          <p:spTgt spid="276"/>
                                        </p:tgtEl>
                                      </p:cBhvr>
                                    </p:animEffect>
                                  </p:childTnLst>
                                </p:cTn>
                              </p:par>
                              <p:par>
                                <p:cTn id="8" presetID="10" presetClass="entr" presetSubtype="0" fill="hold" nodeType="withEffect">
                                  <p:stCondLst>
                                    <p:cond delay="0"/>
                                  </p:stCondLst>
                                  <p:childTnLst>
                                    <p:set>
                                      <p:cBhvr>
                                        <p:cTn id="9" dur="1" fill="hold">
                                          <p:stCondLst>
                                            <p:cond delay="0"/>
                                          </p:stCondLst>
                                        </p:cTn>
                                        <p:tgtEl>
                                          <p:spTgt spid="277"/>
                                        </p:tgtEl>
                                        <p:attrNameLst>
                                          <p:attrName>style.visibility</p:attrName>
                                        </p:attrNameLst>
                                      </p:cBhvr>
                                      <p:to>
                                        <p:strVal val="visible"/>
                                      </p:to>
                                    </p:set>
                                    <p:animEffect transition="in" filter="fade">
                                      <p:cBhvr>
                                        <p:cTn id="10" dur="1000"/>
                                        <p:tgtEl>
                                          <p:spTgt spid="27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9"/>
                                        </p:tgtEl>
                                        <p:attrNameLst>
                                          <p:attrName>style.visibility</p:attrName>
                                        </p:attrNameLst>
                                      </p:cBhvr>
                                      <p:to>
                                        <p:strVal val="visible"/>
                                      </p:to>
                                    </p:set>
                                    <p:animEffect transition="in" filter="fade">
                                      <p:cBhvr>
                                        <p:cTn id="15" dur="1000"/>
                                        <p:tgtEl>
                                          <p:spTgt spid="279"/>
                                        </p:tgtEl>
                                      </p:cBhvr>
                                    </p:animEffect>
                                  </p:childTnLst>
                                </p:cTn>
                              </p:par>
                              <p:par>
                                <p:cTn id="16" presetID="10" presetClass="entr" presetSubtype="0" fill="hold" nodeType="withEffect">
                                  <p:stCondLst>
                                    <p:cond delay="0"/>
                                  </p:stCondLst>
                                  <p:childTnLst>
                                    <p:set>
                                      <p:cBhvr>
                                        <p:cTn id="17" dur="1" fill="hold">
                                          <p:stCondLst>
                                            <p:cond delay="0"/>
                                          </p:stCondLst>
                                        </p:cTn>
                                        <p:tgtEl>
                                          <p:spTgt spid="278"/>
                                        </p:tgtEl>
                                        <p:attrNameLst>
                                          <p:attrName>style.visibility</p:attrName>
                                        </p:attrNameLst>
                                      </p:cBhvr>
                                      <p:to>
                                        <p:strVal val="visible"/>
                                      </p:to>
                                    </p:set>
                                    <p:animEffect transition="in" filter="fade">
                                      <p:cBhvr>
                                        <p:cTn id="18" dur="1000"/>
                                        <p:tgtEl>
                                          <p:spTgt spid="27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81"/>
                                        </p:tgtEl>
                                        <p:attrNameLst>
                                          <p:attrName>style.visibility</p:attrName>
                                        </p:attrNameLst>
                                      </p:cBhvr>
                                      <p:to>
                                        <p:strVal val="visible"/>
                                      </p:to>
                                    </p:set>
                                    <p:animEffect transition="in" filter="fade">
                                      <p:cBhvr>
                                        <p:cTn id="23" dur="1000"/>
                                        <p:tgtEl>
                                          <p:spTgt spid="281"/>
                                        </p:tgtEl>
                                      </p:cBhvr>
                                    </p:animEffect>
                                  </p:childTnLst>
                                </p:cTn>
                              </p:par>
                              <p:par>
                                <p:cTn id="24" presetID="10" presetClass="entr" presetSubtype="0" fill="hold" nodeType="withEffect">
                                  <p:stCondLst>
                                    <p:cond delay="0"/>
                                  </p:stCondLst>
                                  <p:childTnLst>
                                    <p:set>
                                      <p:cBhvr>
                                        <p:cTn id="25" dur="1" fill="hold">
                                          <p:stCondLst>
                                            <p:cond delay="0"/>
                                          </p:stCondLst>
                                        </p:cTn>
                                        <p:tgtEl>
                                          <p:spTgt spid="280"/>
                                        </p:tgtEl>
                                        <p:attrNameLst>
                                          <p:attrName>style.visibility</p:attrName>
                                        </p:attrNameLst>
                                      </p:cBhvr>
                                      <p:to>
                                        <p:strVal val="visible"/>
                                      </p:to>
                                    </p:set>
                                    <p:animEffect transition="in" filter="fade">
                                      <p:cBhvr>
                                        <p:cTn id="26" dur="100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22"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88" name="Google Shape;288;p22"/>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OUR RUNNING EXAMPLE</a:t>
            </a:r>
            <a:endParaRPr sz="1050">
              <a:solidFill>
                <a:schemeClr val="dk1"/>
              </a:solidFill>
              <a:latin typeface="Calibri"/>
              <a:ea typeface="Calibri"/>
              <a:cs typeface="Calibri"/>
              <a:sym typeface="Calibri"/>
            </a:endParaRPr>
          </a:p>
        </p:txBody>
      </p:sp>
      <p:sp>
        <p:nvSpPr>
          <p:cNvPr id="289" name="Google Shape;289;p22"/>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Meet Priya's Momos</a:t>
            </a:r>
            <a:endParaRPr sz="2500">
              <a:solidFill>
                <a:schemeClr val="dk1"/>
              </a:solidFill>
              <a:latin typeface="Calibri"/>
              <a:ea typeface="Calibri"/>
              <a:cs typeface="Calibri"/>
              <a:sym typeface="Calibri"/>
            </a:endParaRPr>
          </a:p>
        </p:txBody>
      </p:sp>
      <p:sp>
        <p:nvSpPr>
          <p:cNvPr id="290" name="Google Shape;290;p22"/>
          <p:cNvSpPr/>
          <p:nvPr/>
        </p:nvSpPr>
        <p:spPr>
          <a:xfrm>
            <a:off x="457200" y="1074420"/>
            <a:ext cx="8229600" cy="3108960"/>
          </a:xfrm>
          <a:prstGeom prst="roundRect">
            <a:avLst>
              <a:gd name="adj" fmla="val 2941"/>
            </a:avLst>
          </a:prstGeom>
          <a:solidFill>
            <a:srgbClr val="FFFFFF">
              <a:alpha val="90196"/>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1" name="Google Shape;291;p22"/>
          <p:cNvSpPr/>
          <p:nvPr/>
        </p:nvSpPr>
        <p:spPr>
          <a:xfrm>
            <a:off x="731520" y="1257300"/>
            <a:ext cx="7680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500"/>
              <a:buFont typeface="Montserrat SemiBold"/>
              <a:buNone/>
            </a:pPr>
            <a:r>
              <a:rPr lang="en-US" sz="1500" b="1">
                <a:solidFill>
                  <a:srgbClr val="B20E38"/>
                </a:solidFill>
                <a:latin typeface="Montserrat SemiBold"/>
                <a:ea typeface="Montserrat SemiBold"/>
                <a:cs typeface="Montserrat SemiBold"/>
                <a:sym typeface="Montserrat SemiBold"/>
              </a:rPr>
              <a:t>Priya runs a momo cart outside her college gate.</a:t>
            </a:r>
            <a:endParaRPr sz="1500">
              <a:solidFill>
                <a:schemeClr val="dk1"/>
              </a:solidFill>
              <a:latin typeface="Calibri"/>
              <a:ea typeface="Calibri"/>
              <a:cs typeface="Calibri"/>
              <a:sym typeface="Calibri"/>
            </a:endParaRPr>
          </a:p>
        </p:txBody>
      </p:sp>
      <p:sp>
        <p:nvSpPr>
          <p:cNvPr id="292" name="Google Shape;292;p22"/>
          <p:cNvSpPr/>
          <p:nvPr/>
        </p:nvSpPr>
        <p:spPr>
          <a:xfrm>
            <a:off x="731520" y="1805940"/>
            <a:ext cx="7680960" cy="128016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1A1A1A"/>
              </a:buClr>
              <a:buSzPts val="1350"/>
              <a:buFont typeface="Montserrat"/>
              <a:buNone/>
            </a:pPr>
            <a:r>
              <a:rPr lang="en-US" sz="1350" dirty="0">
                <a:solidFill>
                  <a:srgbClr val="1A1A1A"/>
                </a:solidFill>
                <a:latin typeface="Montserrat"/>
                <a:ea typeface="Montserrat"/>
                <a:cs typeface="Montserrat"/>
                <a:sym typeface="Montserrat"/>
              </a:rPr>
              <a:t>She makes great </a:t>
            </a:r>
            <a:r>
              <a:rPr lang="en-US" sz="1350" dirty="0" err="1">
                <a:solidFill>
                  <a:srgbClr val="1A1A1A"/>
                </a:solidFill>
                <a:latin typeface="Montserrat"/>
                <a:ea typeface="Montserrat"/>
                <a:cs typeface="Montserrat"/>
                <a:sym typeface="Montserrat"/>
              </a:rPr>
              <a:t>momos</a:t>
            </a:r>
            <a:r>
              <a:rPr lang="en-US" sz="1350" dirty="0">
                <a:solidFill>
                  <a:srgbClr val="1A1A1A"/>
                </a:solidFill>
                <a:latin typeface="Montserrat"/>
                <a:ea typeface="Montserrat"/>
                <a:cs typeface="Montserrat"/>
                <a:sym typeface="Montserrat"/>
              </a:rPr>
              <a:t>, has loyal regulars, and now dreams of turning her one cart into a small chain across the city. Over the next three sessions, we'll use Priya's growing business to make every abstract term policy, program, budget, objective concrete and real.</a:t>
            </a:r>
            <a:endParaRPr sz="1350" dirty="0">
              <a:solidFill>
                <a:schemeClr val="dk1"/>
              </a:solidFill>
              <a:latin typeface="Calibri"/>
              <a:ea typeface="Calibri"/>
              <a:cs typeface="Calibri"/>
              <a:sym typeface="Calibri"/>
            </a:endParaRPr>
          </a:p>
        </p:txBody>
      </p:sp>
      <p:sp>
        <p:nvSpPr>
          <p:cNvPr id="293" name="Google Shape;293;p22"/>
          <p:cNvSpPr/>
          <p:nvPr/>
        </p:nvSpPr>
        <p:spPr>
          <a:xfrm>
            <a:off x="731520" y="3268980"/>
            <a:ext cx="7680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A2A"/>
              </a:buClr>
              <a:buSzPts val="1300"/>
              <a:buFont typeface="Montserrat"/>
              <a:buNone/>
            </a:pPr>
            <a:r>
              <a:rPr lang="en-US" sz="1300" i="1">
                <a:solidFill>
                  <a:srgbClr val="2A2A2A"/>
                </a:solidFill>
                <a:latin typeface="Montserrat"/>
                <a:ea typeface="Montserrat"/>
                <a:cs typeface="Montserrat"/>
                <a:sym typeface="Montserrat"/>
              </a:rPr>
              <a:t>Keep Priya in mind — you'll see her again next class.</a:t>
            </a:r>
            <a:endParaRPr sz="1300">
              <a:solidFill>
                <a:schemeClr val="dk1"/>
              </a:solidFill>
              <a:latin typeface="Calibri"/>
              <a:ea typeface="Calibri"/>
              <a:cs typeface="Calibri"/>
              <a:sym typeface="Calibri"/>
            </a:endParaRPr>
          </a:p>
        </p:txBody>
      </p:sp>
      <p:sp>
        <p:nvSpPr>
          <p:cNvPr id="294" name="Google Shape;294;p22"/>
          <p:cNvSpPr/>
          <p:nvPr/>
        </p:nvSpPr>
        <p:spPr>
          <a:xfrm>
            <a:off x="365760" y="4864608"/>
            <a:ext cx="75895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6A55"/>
              </a:buClr>
              <a:buSzPts val="800"/>
              <a:buFont typeface="Montserrat"/>
              <a:buNone/>
            </a:pPr>
            <a:r>
              <a:rPr lang="en-US" sz="800" i="1">
                <a:solidFill>
                  <a:srgbClr val="8A6A55"/>
                </a:solidFill>
                <a:latin typeface="Montserrat"/>
                <a:ea typeface="Montserrat"/>
                <a:cs typeface="Montserrat"/>
                <a:sym typeface="Montserrat"/>
              </a:rPr>
              <a:t>“Priya's Momos” is a fictional business created for classroom illustration only.</a:t>
            </a:r>
            <a:endParaRPr sz="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18774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182"/>
        <p:cNvGrpSpPr/>
        <p:nvPr/>
      </p:nvGrpSpPr>
      <p:grpSpPr>
        <a:xfrm>
          <a:off x="0" y="0"/>
          <a:ext cx="0" cy="0"/>
          <a:chOff x="0" y="0"/>
          <a:chExt cx="0" cy="0"/>
        </a:xfrm>
      </p:grpSpPr>
      <p:sp>
        <p:nvSpPr>
          <p:cNvPr id="184" name="Google Shape;184;p15"/>
          <p:cNvSpPr/>
          <p:nvPr/>
        </p:nvSpPr>
        <p:spPr>
          <a:xfrm>
            <a:off x="365760" y="54864"/>
            <a:ext cx="8412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WHY THIS MATTERS</a:t>
            </a:r>
            <a:endParaRPr sz="1050">
              <a:solidFill>
                <a:schemeClr val="dk1"/>
              </a:solidFill>
              <a:latin typeface="Calibri"/>
              <a:ea typeface="Calibri"/>
              <a:cs typeface="Calibri"/>
              <a:sym typeface="Calibri"/>
            </a:endParaRPr>
          </a:p>
        </p:txBody>
      </p:sp>
      <p:sp>
        <p:nvSpPr>
          <p:cNvPr id="185" name="Google Shape;185;p15"/>
          <p:cNvSpPr/>
          <p:nvPr/>
        </p:nvSpPr>
        <p:spPr>
          <a:xfrm>
            <a:off x="365760" y="2260650"/>
            <a:ext cx="8412600" cy="622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dirty="0">
                <a:solidFill>
                  <a:srgbClr val="B20E38"/>
                </a:solidFill>
                <a:latin typeface="Montserrat SemiBold"/>
                <a:ea typeface="Montserrat SemiBold"/>
                <a:cs typeface="Montserrat SemiBold"/>
                <a:sym typeface="Montserrat SemiBold"/>
              </a:rPr>
              <a:t>Why This Matters for You as a Future Entrepreneur</a:t>
            </a:r>
            <a:endParaRPr sz="2500"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182"/>
        <p:cNvGrpSpPr/>
        <p:nvPr/>
      </p:nvGrpSpPr>
      <p:grpSpPr>
        <a:xfrm>
          <a:off x="0" y="0"/>
          <a:ext cx="0" cy="0"/>
          <a:chOff x="0" y="0"/>
          <a:chExt cx="0" cy="0"/>
        </a:xfrm>
      </p:grpSpPr>
      <p:pic>
        <p:nvPicPr>
          <p:cNvPr id="183" name="Google Shape;183;p15" descr="/home/claude/assets/content_bg.png"/>
          <p:cNvPicPr preferRelativeResize="0"/>
          <p:nvPr/>
        </p:nvPicPr>
        <p:blipFill rotWithShape="1">
          <a:blip r:embed="rId3">
            <a:alphaModFix/>
          </a:blip>
          <a:srcRect/>
          <a:stretch/>
        </p:blipFill>
        <p:spPr>
          <a:xfrm>
            <a:off x="0" y="11430"/>
            <a:ext cx="9144000" cy="5143500"/>
          </a:xfrm>
          <a:prstGeom prst="rect">
            <a:avLst/>
          </a:prstGeom>
          <a:noFill/>
          <a:ln>
            <a:noFill/>
          </a:ln>
        </p:spPr>
      </p:pic>
      <p:sp>
        <p:nvSpPr>
          <p:cNvPr id="184" name="Google Shape;184;p15"/>
          <p:cNvSpPr/>
          <p:nvPr/>
        </p:nvSpPr>
        <p:spPr>
          <a:xfrm>
            <a:off x="365760" y="54864"/>
            <a:ext cx="8412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WHY THIS MATTERS</a:t>
            </a:r>
            <a:endParaRPr sz="1050">
              <a:solidFill>
                <a:schemeClr val="dk1"/>
              </a:solidFill>
              <a:latin typeface="Calibri"/>
              <a:ea typeface="Calibri"/>
              <a:cs typeface="Calibri"/>
              <a:sym typeface="Calibri"/>
            </a:endParaRPr>
          </a:p>
        </p:txBody>
      </p:sp>
      <p:sp>
        <p:nvSpPr>
          <p:cNvPr id="185" name="Google Shape;185;p15"/>
          <p:cNvSpPr/>
          <p:nvPr/>
        </p:nvSpPr>
        <p:spPr>
          <a:xfrm>
            <a:off x="365750" y="414250"/>
            <a:ext cx="8412600" cy="622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Why This Matters for You as a Future Entrepreneur</a:t>
            </a:r>
            <a:endParaRPr sz="2500">
              <a:solidFill>
                <a:schemeClr val="dk1"/>
              </a:solidFill>
              <a:latin typeface="Calibri"/>
              <a:ea typeface="Calibri"/>
              <a:cs typeface="Calibri"/>
              <a:sym typeface="Calibri"/>
            </a:endParaRPr>
          </a:p>
        </p:txBody>
      </p:sp>
      <p:sp>
        <p:nvSpPr>
          <p:cNvPr id="186" name="Google Shape;186;p15"/>
          <p:cNvSpPr/>
          <p:nvPr/>
        </p:nvSpPr>
        <p:spPr>
          <a:xfrm>
            <a:off x="502920" y="1177290"/>
            <a:ext cx="365760" cy="365760"/>
          </a:xfrm>
          <a:prstGeom prst="ellipse">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15"/>
          <p:cNvSpPr/>
          <p:nvPr/>
        </p:nvSpPr>
        <p:spPr>
          <a:xfrm>
            <a:off x="502920" y="117729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Montserrat SemiBold"/>
              <a:buNone/>
            </a:pPr>
            <a:r>
              <a:rPr lang="en-US" sz="1500" b="1">
                <a:solidFill>
                  <a:srgbClr val="FFFFFF"/>
                </a:solidFill>
                <a:latin typeface="Montserrat SemiBold"/>
                <a:ea typeface="Montserrat SemiBold"/>
                <a:cs typeface="Montserrat SemiBold"/>
                <a:sym typeface="Montserrat SemiBold"/>
              </a:rPr>
              <a:t>1</a:t>
            </a:r>
            <a:endParaRPr sz="1500">
              <a:solidFill>
                <a:schemeClr val="dk1"/>
              </a:solidFill>
              <a:latin typeface="Calibri"/>
              <a:ea typeface="Calibri"/>
              <a:cs typeface="Calibri"/>
              <a:sym typeface="Calibri"/>
            </a:endParaRPr>
          </a:p>
        </p:txBody>
      </p:sp>
      <p:sp>
        <p:nvSpPr>
          <p:cNvPr id="188" name="Google Shape;188;p15"/>
          <p:cNvSpPr/>
          <p:nvPr/>
        </p:nvSpPr>
        <p:spPr>
          <a:xfrm>
            <a:off x="1051560" y="1036320"/>
            <a:ext cx="7406640" cy="5943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A1A1A"/>
              </a:buClr>
              <a:buSzPts val="1350"/>
              <a:buFont typeface="Montserrat"/>
              <a:buNone/>
            </a:pPr>
            <a:r>
              <a:rPr lang="en-US" sz="1350" dirty="0">
                <a:solidFill>
                  <a:srgbClr val="1A1A1A"/>
                </a:solidFill>
                <a:latin typeface="Montserrat"/>
                <a:ea typeface="Montserrat"/>
                <a:cs typeface="Montserrat"/>
                <a:sym typeface="Montserrat"/>
              </a:rPr>
              <a:t>Every great business idea eventually needs more than passion it needs direction</a:t>
            </a:r>
            <a:endParaRPr sz="1350" dirty="0">
              <a:solidFill>
                <a:schemeClr val="dk1"/>
              </a:solidFill>
              <a:latin typeface="Calibri"/>
              <a:ea typeface="Calibri"/>
              <a:cs typeface="Calibri"/>
              <a:sym typeface="Calibri"/>
            </a:endParaRPr>
          </a:p>
        </p:txBody>
      </p:sp>
      <p:sp>
        <p:nvSpPr>
          <p:cNvPr id="189" name="Google Shape;189;p15"/>
          <p:cNvSpPr/>
          <p:nvPr/>
        </p:nvSpPr>
        <p:spPr>
          <a:xfrm>
            <a:off x="502920" y="1954530"/>
            <a:ext cx="365760" cy="365760"/>
          </a:xfrm>
          <a:prstGeom prst="ellipse">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15"/>
          <p:cNvSpPr/>
          <p:nvPr/>
        </p:nvSpPr>
        <p:spPr>
          <a:xfrm>
            <a:off x="502920" y="195453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Montserrat SemiBold"/>
              <a:buNone/>
            </a:pPr>
            <a:r>
              <a:rPr lang="en-US" sz="1500" b="1">
                <a:solidFill>
                  <a:srgbClr val="FFFFFF"/>
                </a:solidFill>
                <a:latin typeface="Montserrat SemiBold"/>
                <a:ea typeface="Montserrat SemiBold"/>
                <a:cs typeface="Montserrat SemiBold"/>
                <a:sym typeface="Montserrat SemiBold"/>
              </a:rPr>
              <a:t>2</a:t>
            </a:r>
            <a:endParaRPr sz="1500">
              <a:solidFill>
                <a:schemeClr val="dk1"/>
              </a:solidFill>
              <a:latin typeface="Calibri"/>
              <a:ea typeface="Calibri"/>
              <a:cs typeface="Calibri"/>
              <a:sym typeface="Calibri"/>
            </a:endParaRPr>
          </a:p>
        </p:txBody>
      </p:sp>
      <p:sp>
        <p:nvSpPr>
          <p:cNvPr id="191" name="Google Shape;191;p15"/>
          <p:cNvSpPr/>
          <p:nvPr/>
        </p:nvSpPr>
        <p:spPr>
          <a:xfrm>
            <a:off x="1051560" y="1813560"/>
            <a:ext cx="7406640" cy="5943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A1A1A"/>
              </a:buClr>
              <a:buSzPts val="1350"/>
              <a:buFont typeface="Montserrat"/>
              <a:buNone/>
            </a:pPr>
            <a:r>
              <a:rPr lang="en-US" sz="1350" dirty="0">
                <a:solidFill>
                  <a:srgbClr val="1A1A1A"/>
                </a:solidFill>
                <a:latin typeface="Montserrat"/>
                <a:ea typeface="Montserrat"/>
                <a:cs typeface="Montserrat"/>
                <a:sym typeface="Montserrat"/>
              </a:rPr>
              <a:t>The same building blocks </a:t>
            </a:r>
            <a:r>
              <a:rPr lang="en-US" sz="1350" dirty="0" err="1">
                <a:solidFill>
                  <a:srgbClr val="1A1A1A"/>
                </a:solidFill>
                <a:latin typeface="Montserrat"/>
                <a:ea typeface="Montserrat"/>
                <a:cs typeface="Montserrat"/>
                <a:sym typeface="Montserrat"/>
              </a:rPr>
              <a:t>Haldiram's</a:t>
            </a:r>
            <a:r>
              <a:rPr lang="en-US" sz="1350" dirty="0">
                <a:solidFill>
                  <a:srgbClr val="1A1A1A"/>
                </a:solidFill>
                <a:latin typeface="Montserrat"/>
                <a:ea typeface="Montserrat"/>
                <a:cs typeface="Montserrat"/>
                <a:sym typeface="Montserrat"/>
              </a:rPr>
              <a:t> used at national scale, Priya can use for one cart</a:t>
            </a:r>
            <a:endParaRPr sz="1350" dirty="0">
              <a:solidFill>
                <a:schemeClr val="dk1"/>
              </a:solidFill>
              <a:latin typeface="Calibri"/>
              <a:ea typeface="Calibri"/>
              <a:cs typeface="Calibri"/>
              <a:sym typeface="Calibri"/>
            </a:endParaRPr>
          </a:p>
        </p:txBody>
      </p:sp>
      <p:sp>
        <p:nvSpPr>
          <p:cNvPr id="192" name="Google Shape;192;p15"/>
          <p:cNvSpPr/>
          <p:nvPr/>
        </p:nvSpPr>
        <p:spPr>
          <a:xfrm>
            <a:off x="502920" y="2731770"/>
            <a:ext cx="365760" cy="365760"/>
          </a:xfrm>
          <a:prstGeom prst="ellipse">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3" name="Google Shape;193;p15"/>
          <p:cNvSpPr/>
          <p:nvPr/>
        </p:nvSpPr>
        <p:spPr>
          <a:xfrm>
            <a:off x="502920" y="273177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Montserrat SemiBold"/>
              <a:buNone/>
            </a:pPr>
            <a:r>
              <a:rPr lang="en-US" sz="1500" b="1">
                <a:solidFill>
                  <a:srgbClr val="FFFFFF"/>
                </a:solidFill>
                <a:latin typeface="Montserrat SemiBold"/>
                <a:ea typeface="Montserrat SemiBold"/>
                <a:cs typeface="Montserrat SemiBold"/>
                <a:sym typeface="Montserrat SemiBold"/>
              </a:rPr>
              <a:t>3</a:t>
            </a:r>
            <a:endParaRPr sz="1500">
              <a:solidFill>
                <a:schemeClr val="dk1"/>
              </a:solidFill>
              <a:latin typeface="Calibri"/>
              <a:ea typeface="Calibri"/>
              <a:cs typeface="Calibri"/>
              <a:sym typeface="Calibri"/>
            </a:endParaRPr>
          </a:p>
        </p:txBody>
      </p:sp>
      <p:sp>
        <p:nvSpPr>
          <p:cNvPr id="194" name="Google Shape;194;p15"/>
          <p:cNvSpPr/>
          <p:nvPr/>
        </p:nvSpPr>
        <p:spPr>
          <a:xfrm>
            <a:off x="1051560" y="2590800"/>
            <a:ext cx="7406640" cy="5943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A1A1A"/>
              </a:buClr>
              <a:buSzPts val="1350"/>
              <a:buFont typeface="Montserrat"/>
              <a:buNone/>
            </a:pPr>
            <a:r>
              <a:rPr lang="en-US" sz="1350" dirty="0">
                <a:solidFill>
                  <a:srgbClr val="1A1A1A"/>
                </a:solidFill>
                <a:latin typeface="Montserrat"/>
                <a:ea typeface="Montserrat"/>
                <a:cs typeface="Montserrat"/>
                <a:sym typeface="Montserrat"/>
              </a:rPr>
              <a:t>Investors, co-founders and even your own team will ask: what's your strategy?</a:t>
            </a:r>
            <a:endParaRPr sz="1350" dirty="0">
              <a:solidFill>
                <a:schemeClr val="dk1"/>
              </a:solidFill>
              <a:latin typeface="Calibri"/>
              <a:ea typeface="Calibri"/>
              <a:cs typeface="Calibri"/>
              <a:sym typeface="Calibri"/>
            </a:endParaRPr>
          </a:p>
        </p:txBody>
      </p:sp>
      <p:sp>
        <p:nvSpPr>
          <p:cNvPr id="195" name="Google Shape;195;p15"/>
          <p:cNvSpPr/>
          <p:nvPr/>
        </p:nvSpPr>
        <p:spPr>
          <a:xfrm>
            <a:off x="502920" y="3509010"/>
            <a:ext cx="365760" cy="365760"/>
          </a:xfrm>
          <a:prstGeom prst="ellipse">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15"/>
          <p:cNvSpPr/>
          <p:nvPr/>
        </p:nvSpPr>
        <p:spPr>
          <a:xfrm>
            <a:off x="502920" y="350901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Montserrat SemiBold"/>
              <a:buNone/>
            </a:pPr>
            <a:r>
              <a:rPr lang="en-US" sz="1500" b="1">
                <a:solidFill>
                  <a:srgbClr val="FFFFFF"/>
                </a:solidFill>
                <a:latin typeface="Montserrat SemiBold"/>
                <a:ea typeface="Montserrat SemiBold"/>
                <a:cs typeface="Montserrat SemiBold"/>
                <a:sym typeface="Montserrat SemiBold"/>
              </a:rPr>
              <a:t>4</a:t>
            </a:r>
            <a:endParaRPr sz="1500">
              <a:solidFill>
                <a:schemeClr val="dk1"/>
              </a:solidFill>
              <a:latin typeface="Calibri"/>
              <a:ea typeface="Calibri"/>
              <a:cs typeface="Calibri"/>
              <a:sym typeface="Calibri"/>
            </a:endParaRPr>
          </a:p>
        </p:txBody>
      </p:sp>
      <p:sp>
        <p:nvSpPr>
          <p:cNvPr id="197" name="Google Shape;197;p15"/>
          <p:cNvSpPr/>
          <p:nvPr/>
        </p:nvSpPr>
        <p:spPr>
          <a:xfrm>
            <a:off x="1051560" y="3368040"/>
            <a:ext cx="7406640" cy="5943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A1A1A"/>
              </a:buClr>
              <a:buSzPts val="1350"/>
              <a:buFont typeface="Montserrat"/>
              <a:buNone/>
            </a:pPr>
            <a:r>
              <a:rPr lang="en-US" sz="1350" dirty="0">
                <a:solidFill>
                  <a:srgbClr val="1A1A1A"/>
                </a:solidFill>
                <a:latin typeface="Montserrat"/>
                <a:ea typeface="Montserrat"/>
                <a:cs typeface="Montserrat"/>
                <a:sym typeface="Montserrat"/>
              </a:rPr>
              <a:t>This course gives you the vocabulary and frameworks to answer that question with confidence</a:t>
            </a:r>
            <a:endParaRPr sz="135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898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6"/>
                                        </p:tgtEl>
                                        <p:attrNameLst>
                                          <p:attrName>style.visibility</p:attrName>
                                        </p:attrNameLst>
                                      </p:cBhvr>
                                      <p:to>
                                        <p:strVal val="visible"/>
                                      </p:to>
                                    </p:set>
                                    <p:anim calcmode="lin" valueType="num">
                                      <p:cBhvr additive="base">
                                        <p:cTn id="7" dur="500"/>
                                        <p:tgtEl>
                                          <p:spTgt spid="18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87"/>
                                        </p:tgtEl>
                                        <p:attrNameLst>
                                          <p:attrName>style.visibility</p:attrName>
                                        </p:attrNameLst>
                                      </p:cBhvr>
                                      <p:to>
                                        <p:strVal val="visible"/>
                                      </p:to>
                                    </p:set>
                                    <p:anim calcmode="lin" valueType="num">
                                      <p:cBhvr additive="base">
                                        <p:cTn id="10" dur="500"/>
                                        <p:tgtEl>
                                          <p:spTgt spid="187"/>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88"/>
                                        </p:tgtEl>
                                        <p:attrNameLst>
                                          <p:attrName>style.visibility</p:attrName>
                                        </p:attrNameLst>
                                      </p:cBhvr>
                                      <p:to>
                                        <p:strVal val="visible"/>
                                      </p:to>
                                    </p:set>
                                    <p:anim calcmode="lin" valueType="num">
                                      <p:cBhvr additive="base">
                                        <p:cTn id="13" dur="500"/>
                                        <p:tgtEl>
                                          <p:spTgt spid="18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90"/>
                                        </p:tgtEl>
                                        <p:attrNameLst>
                                          <p:attrName>style.visibility</p:attrName>
                                        </p:attrNameLst>
                                      </p:cBhvr>
                                      <p:to>
                                        <p:strVal val="visible"/>
                                      </p:to>
                                    </p:set>
                                    <p:anim calcmode="lin" valueType="num">
                                      <p:cBhvr additive="base">
                                        <p:cTn id="18" dur="500"/>
                                        <p:tgtEl>
                                          <p:spTgt spid="190"/>
                                        </p:tgtEl>
                                        <p:attrNameLst>
                                          <p:attrName>ppt_y</p:attrName>
                                        </p:attrNameLst>
                                      </p:cBhvr>
                                      <p:tavLst>
                                        <p:tav tm="0">
                                          <p:val>
                                            <p:strVal val="#ppt_y+1"/>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9"/>
                                        </p:tgtEl>
                                        <p:attrNameLst>
                                          <p:attrName>style.visibility</p:attrName>
                                        </p:attrNameLst>
                                      </p:cBhvr>
                                      <p:to>
                                        <p:strVal val="visible"/>
                                      </p:to>
                                    </p:set>
                                    <p:anim calcmode="lin" valueType="num">
                                      <p:cBhvr additive="base">
                                        <p:cTn id="21" dur="500"/>
                                        <p:tgtEl>
                                          <p:spTgt spid="189"/>
                                        </p:tgtEl>
                                        <p:attrNameLst>
                                          <p:attrName>ppt_y</p:attrName>
                                        </p:attrNameLst>
                                      </p:cBhvr>
                                      <p:tavLst>
                                        <p:tav tm="0">
                                          <p:val>
                                            <p:strVal val="#ppt_y+1"/>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91"/>
                                        </p:tgtEl>
                                        <p:attrNameLst>
                                          <p:attrName>style.visibility</p:attrName>
                                        </p:attrNameLst>
                                      </p:cBhvr>
                                      <p:to>
                                        <p:strVal val="visible"/>
                                      </p:to>
                                    </p:set>
                                    <p:anim calcmode="lin" valueType="num">
                                      <p:cBhvr additive="base">
                                        <p:cTn id="24" dur="500"/>
                                        <p:tgtEl>
                                          <p:spTgt spid="19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3"/>
                                        </p:tgtEl>
                                        <p:attrNameLst>
                                          <p:attrName>style.visibility</p:attrName>
                                        </p:attrNameLst>
                                      </p:cBhvr>
                                      <p:to>
                                        <p:strVal val="visible"/>
                                      </p:to>
                                    </p:set>
                                    <p:anim calcmode="lin" valueType="num">
                                      <p:cBhvr additive="base">
                                        <p:cTn id="29" dur="500"/>
                                        <p:tgtEl>
                                          <p:spTgt spid="193"/>
                                        </p:tgtEl>
                                        <p:attrNameLst>
                                          <p:attrName>ppt_y</p:attrName>
                                        </p:attrNameLst>
                                      </p:cBhvr>
                                      <p:tavLst>
                                        <p:tav tm="0">
                                          <p:val>
                                            <p:strVal val="#ppt_y+1"/>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92"/>
                                        </p:tgtEl>
                                        <p:attrNameLst>
                                          <p:attrName>style.visibility</p:attrName>
                                        </p:attrNameLst>
                                      </p:cBhvr>
                                      <p:to>
                                        <p:strVal val="visible"/>
                                      </p:to>
                                    </p:set>
                                    <p:anim calcmode="lin" valueType="num">
                                      <p:cBhvr additive="base">
                                        <p:cTn id="32" dur="500"/>
                                        <p:tgtEl>
                                          <p:spTgt spid="192"/>
                                        </p:tgtEl>
                                        <p:attrNameLst>
                                          <p:attrName>ppt_y</p:attrName>
                                        </p:attrNameLst>
                                      </p:cBhvr>
                                      <p:tavLst>
                                        <p:tav tm="0">
                                          <p:val>
                                            <p:strVal val="#ppt_y+1"/>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4"/>
                                        </p:tgtEl>
                                        <p:attrNameLst>
                                          <p:attrName>style.visibility</p:attrName>
                                        </p:attrNameLst>
                                      </p:cBhvr>
                                      <p:to>
                                        <p:strVal val="visible"/>
                                      </p:to>
                                    </p:set>
                                    <p:anim calcmode="lin" valueType="num">
                                      <p:cBhvr additive="base">
                                        <p:cTn id="35" dur="500"/>
                                        <p:tgtEl>
                                          <p:spTgt spid="19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96"/>
                                        </p:tgtEl>
                                        <p:attrNameLst>
                                          <p:attrName>style.visibility</p:attrName>
                                        </p:attrNameLst>
                                      </p:cBhvr>
                                      <p:to>
                                        <p:strVal val="visible"/>
                                      </p:to>
                                    </p:set>
                                    <p:anim calcmode="lin" valueType="num">
                                      <p:cBhvr additive="base">
                                        <p:cTn id="40" dur="500"/>
                                        <p:tgtEl>
                                          <p:spTgt spid="196"/>
                                        </p:tgtEl>
                                        <p:attrNameLst>
                                          <p:attrName>ppt_y</p:attrName>
                                        </p:attrNameLst>
                                      </p:cBhvr>
                                      <p:tavLst>
                                        <p:tav tm="0">
                                          <p:val>
                                            <p:strVal val="#ppt_y+1"/>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95"/>
                                        </p:tgtEl>
                                        <p:attrNameLst>
                                          <p:attrName>style.visibility</p:attrName>
                                        </p:attrNameLst>
                                      </p:cBhvr>
                                      <p:to>
                                        <p:strVal val="visible"/>
                                      </p:to>
                                    </p:set>
                                    <p:anim calcmode="lin" valueType="num">
                                      <p:cBhvr additive="base">
                                        <p:cTn id="43" dur="500"/>
                                        <p:tgtEl>
                                          <p:spTgt spid="195"/>
                                        </p:tgtEl>
                                        <p:attrNameLst>
                                          <p:attrName>ppt_y</p:attrName>
                                        </p:attrNameLst>
                                      </p:cBhvr>
                                      <p:tavLst>
                                        <p:tav tm="0">
                                          <p:val>
                                            <p:strVal val="#ppt_y+1"/>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97"/>
                                        </p:tgtEl>
                                        <p:attrNameLst>
                                          <p:attrName>style.visibility</p:attrName>
                                        </p:attrNameLst>
                                      </p:cBhvr>
                                      <p:to>
                                        <p:strVal val="visible"/>
                                      </p:to>
                                    </p:set>
                                    <p:anim calcmode="lin" valueType="num">
                                      <p:cBhvr additive="base">
                                        <p:cTn id="46" dur="500"/>
                                        <p:tgtEl>
                                          <p:spTgt spid="1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23"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01" name="Google Shape;301;p23"/>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SUMMARY</a:t>
            </a:r>
            <a:endParaRPr sz="1050">
              <a:solidFill>
                <a:schemeClr val="dk1"/>
              </a:solidFill>
              <a:latin typeface="Calibri"/>
              <a:ea typeface="Calibri"/>
              <a:cs typeface="Calibri"/>
              <a:sym typeface="Calibri"/>
            </a:endParaRPr>
          </a:p>
        </p:txBody>
      </p:sp>
      <p:sp>
        <p:nvSpPr>
          <p:cNvPr id="302" name="Google Shape;302;p23"/>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Key Takeaways from Today</a:t>
            </a:r>
            <a:endParaRPr sz="2500">
              <a:solidFill>
                <a:schemeClr val="dk1"/>
              </a:solidFill>
              <a:latin typeface="Calibri"/>
              <a:ea typeface="Calibri"/>
              <a:cs typeface="Calibri"/>
              <a:sym typeface="Calibri"/>
            </a:endParaRPr>
          </a:p>
        </p:txBody>
      </p:sp>
      <p:sp>
        <p:nvSpPr>
          <p:cNvPr id="303" name="Google Shape;303;p23"/>
          <p:cNvSpPr/>
          <p:nvPr/>
        </p:nvSpPr>
        <p:spPr>
          <a:xfrm>
            <a:off x="457200" y="1000125"/>
            <a:ext cx="8229600" cy="731520"/>
          </a:xfrm>
          <a:prstGeom prst="roundRect">
            <a:avLst>
              <a:gd name="adj" fmla="val 10000"/>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23"/>
          <p:cNvSpPr/>
          <p:nvPr/>
        </p:nvSpPr>
        <p:spPr>
          <a:xfrm>
            <a:off x="457200" y="1000125"/>
            <a:ext cx="73152" cy="731520"/>
          </a:xfrm>
          <a:prstGeom prst="rect">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23"/>
          <p:cNvSpPr/>
          <p:nvPr/>
        </p:nvSpPr>
        <p:spPr>
          <a:xfrm>
            <a:off x="777240" y="1000125"/>
            <a:ext cx="77724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Montserrat"/>
              <a:buNone/>
            </a:pPr>
            <a:r>
              <a:rPr lang="en-US" sz="1250" dirty="0">
                <a:solidFill>
                  <a:srgbClr val="1A1A1A"/>
                </a:solidFill>
                <a:latin typeface="Montserrat"/>
                <a:ea typeface="Montserrat"/>
                <a:cs typeface="Montserrat"/>
                <a:sym typeface="Montserrat"/>
              </a:rPr>
              <a:t>Strategy is deliberate direction the plans and policies that guide resources toward a goal</a:t>
            </a:r>
            <a:endParaRPr sz="1250" dirty="0">
              <a:solidFill>
                <a:schemeClr val="dk1"/>
              </a:solidFill>
              <a:latin typeface="Calibri"/>
              <a:ea typeface="Calibri"/>
              <a:cs typeface="Calibri"/>
              <a:sym typeface="Calibri"/>
            </a:endParaRPr>
          </a:p>
        </p:txBody>
      </p:sp>
      <p:sp>
        <p:nvSpPr>
          <p:cNvPr id="306" name="Google Shape;306;p23"/>
          <p:cNvSpPr/>
          <p:nvPr/>
        </p:nvSpPr>
        <p:spPr>
          <a:xfrm>
            <a:off x="457200" y="1850517"/>
            <a:ext cx="8229600" cy="731520"/>
          </a:xfrm>
          <a:prstGeom prst="roundRect">
            <a:avLst>
              <a:gd name="adj" fmla="val 10000"/>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23"/>
          <p:cNvSpPr/>
          <p:nvPr/>
        </p:nvSpPr>
        <p:spPr>
          <a:xfrm>
            <a:off x="457200" y="1850517"/>
            <a:ext cx="73152" cy="731520"/>
          </a:xfrm>
          <a:prstGeom prst="rect">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8" name="Google Shape;308;p23"/>
          <p:cNvSpPr/>
          <p:nvPr/>
        </p:nvSpPr>
        <p:spPr>
          <a:xfrm>
            <a:off x="777240" y="1850517"/>
            <a:ext cx="77724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Montserrat"/>
              <a:buNone/>
            </a:pPr>
            <a:r>
              <a:rPr lang="en-US" sz="1250">
                <a:solidFill>
                  <a:srgbClr val="1A1A1A"/>
                </a:solidFill>
                <a:latin typeface="Montserrat"/>
                <a:ea typeface="Montserrat"/>
                <a:cs typeface="Montserrat"/>
                <a:sym typeface="Montserrat"/>
              </a:rPr>
              <a:t>Haldiram's grew from one Bikaner shop through deliberate choices, not just hard work</a:t>
            </a:r>
            <a:endParaRPr sz="1250">
              <a:solidFill>
                <a:schemeClr val="dk1"/>
              </a:solidFill>
              <a:latin typeface="Calibri"/>
              <a:ea typeface="Calibri"/>
              <a:cs typeface="Calibri"/>
              <a:sym typeface="Calibri"/>
            </a:endParaRPr>
          </a:p>
        </p:txBody>
      </p:sp>
      <p:sp>
        <p:nvSpPr>
          <p:cNvPr id="309" name="Google Shape;309;p23"/>
          <p:cNvSpPr/>
          <p:nvPr/>
        </p:nvSpPr>
        <p:spPr>
          <a:xfrm>
            <a:off x="457200" y="2700909"/>
            <a:ext cx="8229600" cy="731520"/>
          </a:xfrm>
          <a:prstGeom prst="roundRect">
            <a:avLst>
              <a:gd name="adj" fmla="val 10000"/>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23"/>
          <p:cNvSpPr/>
          <p:nvPr/>
        </p:nvSpPr>
        <p:spPr>
          <a:xfrm>
            <a:off x="457200" y="2700909"/>
            <a:ext cx="73152" cy="731520"/>
          </a:xfrm>
          <a:prstGeom prst="rect">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23"/>
          <p:cNvSpPr/>
          <p:nvPr/>
        </p:nvSpPr>
        <p:spPr>
          <a:xfrm>
            <a:off x="777240" y="2700909"/>
            <a:ext cx="77724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Montserrat"/>
              <a:buNone/>
            </a:pPr>
            <a:r>
              <a:rPr lang="en-US" sz="1250">
                <a:solidFill>
                  <a:srgbClr val="1A1A1A"/>
                </a:solidFill>
                <a:latin typeface="Montserrat"/>
                <a:ea typeface="Montserrat"/>
                <a:cs typeface="Montserrat"/>
                <a:sym typeface="Montserrat"/>
              </a:rPr>
              <a:t>This course has four units: foundations, formulation, choice, and execution</a:t>
            </a:r>
            <a:endParaRPr sz="1250">
              <a:solidFill>
                <a:schemeClr val="dk1"/>
              </a:solidFill>
              <a:latin typeface="Calibri"/>
              <a:ea typeface="Calibri"/>
              <a:cs typeface="Calibri"/>
              <a:sym typeface="Calibri"/>
            </a:endParaRPr>
          </a:p>
        </p:txBody>
      </p:sp>
      <p:sp>
        <p:nvSpPr>
          <p:cNvPr id="312" name="Google Shape;312;p23"/>
          <p:cNvSpPr/>
          <p:nvPr/>
        </p:nvSpPr>
        <p:spPr>
          <a:xfrm>
            <a:off x="457200" y="3551301"/>
            <a:ext cx="8229600" cy="731520"/>
          </a:xfrm>
          <a:prstGeom prst="roundRect">
            <a:avLst>
              <a:gd name="adj" fmla="val 10000"/>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23"/>
          <p:cNvSpPr/>
          <p:nvPr/>
        </p:nvSpPr>
        <p:spPr>
          <a:xfrm>
            <a:off x="457200" y="3551301"/>
            <a:ext cx="73152" cy="731520"/>
          </a:xfrm>
          <a:prstGeom prst="rect">
            <a:avLst/>
          </a:prstGeom>
          <a:solidFill>
            <a:srgbClr val="B20E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23"/>
          <p:cNvSpPr/>
          <p:nvPr/>
        </p:nvSpPr>
        <p:spPr>
          <a:xfrm>
            <a:off x="777240" y="3551301"/>
            <a:ext cx="77724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Montserrat"/>
              <a:buNone/>
            </a:pPr>
            <a:r>
              <a:rPr lang="en-US" sz="1250">
                <a:solidFill>
                  <a:srgbClr val="1A1A1A"/>
                </a:solidFill>
                <a:latin typeface="Montserrat"/>
                <a:ea typeface="Montserrat"/>
                <a:cs typeface="Montserrat"/>
                <a:sym typeface="Montserrat"/>
              </a:rPr>
              <a:t>We'll follow Priya's Momos all week to see these ideas applied to a real, small business</a:t>
            </a:r>
            <a:endParaRPr sz="125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3107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4"/>
                                        </p:tgtEl>
                                        <p:attrNameLst>
                                          <p:attrName>style.visibility</p:attrName>
                                        </p:attrNameLst>
                                      </p:cBhvr>
                                      <p:to>
                                        <p:strVal val="visible"/>
                                      </p:to>
                                    </p:set>
                                    <p:animEffect transition="in" filter="fade">
                                      <p:cBhvr>
                                        <p:cTn id="7" dur="1000"/>
                                        <p:tgtEl>
                                          <p:spTgt spid="304"/>
                                        </p:tgtEl>
                                      </p:cBhvr>
                                    </p:animEffect>
                                  </p:childTnLst>
                                </p:cTn>
                              </p:par>
                              <p:par>
                                <p:cTn id="8" presetID="10" presetClass="entr" presetSubtype="0" fill="hold"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1000"/>
                                        <p:tgtEl>
                                          <p:spTgt spid="303"/>
                                        </p:tgtEl>
                                      </p:cBhvr>
                                    </p:animEffect>
                                  </p:childTnLst>
                                </p:cTn>
                              </p:par>
                              <p:par>
                                <p:cTn id="11" presetID="10" presetClass="entr" presetSubtype="0" fill="hold" nodeType="withEffect">
                                  <p:stCondLst>
                                    <p:cond delay="0"/>
                                  </p:stCondLst>
                                  <p:childTnLst>
                                    <p:set>
                                      <p:cBhvr>
                                        <p:cTn id="12" dur="1" fill="hold">
                                          <p:stCondLst>
                                            <p:cond delay="0"/>
                                          </p:stCondLst>
                                        </p:cTn>
                                        <p:tgtEl>
                                          <p:spTgt spid="305"/>
                                        </p:tgtEl>
                                        <p:attrNameLst>
                                          <p:attrName>style.visibility</p:attrName>
                                        </p:attrNameLst>
                                      </p:cBhvr>
                                      <p:to>
                                        <p:strVal val="visible"/>
                                      </p:to>
                                    </p:set>
                                    <p:animEffect transition="in" filter="fade">
                                      <p:cBhvr>
                                        <p:cTn id="13" dur="1000"/>
                                        <p:tgtEl>
                                          <p:spTgt spid="30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7"/>
                                        </p:tgtEl>
                                        <p:attrNameLst>
                                          <p:attrName>style.visibility</p:attrName>
                                        </p:attrNameLst>
                                      </p:cBhvr>
                                      <p:to>
                                        <p:strVal val="visible"/>
                                      </p:to>
                                    </p:set>
                                    <p:animEffect transition="in" filter="fade">
                                      <p:cBhvr>
                                        <p:cTn id="18" dur="1000"/>
                                        <p:tgtEl>
                                          <p:spTgt spid="307"/>
                                        </p:tgtEl>
                                      </p:cBhvr>
                                    </p:animEffect>
                                  </p:childTnLst>
                                </p:cTn>
                              </p:par>
                              <p:par>
                                <p:cTn id="19" presetID="10" presetClass="entr" presetSubtype="0" fill="hold" nodeType="withEffect">
                                  <p:stCondLst>
                                    <p:cond delay="0"/>
                                  </p:stCondLst>
                                  <p:childTnLst>
                                    <p:set>
                                      <p:cBhvr>
                                        <p:cTn id="20" dur="1" fill="hold">
                                          <p:stCondLst>
                                            <p:cond delay="0"/>
                                          </p:stCondLst>
                                        </p:cTn>
                                        <p:tgtEl>
                                          <p:spTgt spid="308"/>
                                        </p:tgtEl>
                                        <p:attrNameLst>
                                          <p:attrName>style.visibility</p:attrName>
                                        </p:attrNameLst>
                                      </p:cBhvr>
                                      <p:to>
                                        <p:strVal val="visible"/>
                                      </p:to>
                                    </p:set>
                                    <p:animEffect transition="in" filter="fade">
                                      <p:cBhvr>
                                        <p:cTn id="21" dur="1000"/>
                                        <p:tgtEl>
                                          <p:spTgt spid="308"/>
                                        </p:tgtEl>
                                      </p:cBhvr>
                                    </p:animEffect>
                                  </p:childTnLst>
                                </p:cTn>
                              </p:par>
                              <p:par>
                                <p:cTn id="22" presetID="10" presetClass="entr" presetSubtype="0" fill="hold" nodeType="withEffect">
                                  <p:stCondLst>
                                    <p:cond delay="0"/>
                                  </p:stCondLst>
                                  <p:childTnLst>
                                    <p:set>
                                      <p:cBhvr>
                                        <p:cTn id="23" dur="1" fill="hold">
                                          <p:stCondLst>
                                            <p:cond delay="0"/>
                                          </p:stCondLst>
                                        </p:cTn>
                                        <p:tgtEl>
                                          <p:spTgt spid="306"/>
                                        </p:tgtEl>
                                        <p:attrNameLst>
                                          <p:attrName>style.visibility</p:attrName>
                                        </p:attrNameLst>
                                      </p:cBhvr>
                                      <p:to>
                                        <p:strVal val="visible"/>
                                      </p:to>
                                    </p:set>
                                    <p:animEffect transition="in" filter="fade">
                                      <p:cBhvr>
                                        <p:cTn id="24" dur="1000"/>
                                        <p:tgtEl>
                                          <p:spTgt spid="30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10"/>
                                        </p:tgtEl>
                                        <p:attrNameLst>
                                          <p:attrName>style.visibility</p:attrName>
                                        </p:attrNameLst>
                                      </p:cBhvr>
                                      <p:to>
                                        <p:strVal val="visible"/>
                                      </p:to>
                                    </p:set>
                                    <p:animEffect transition="in" filter="fade">
                                      <p:cBhvr>
                                        <p:cTn id="29" dur="1000"/>
                                        <p:tgtEl>
                                          <p:spTgt spid="310"/>
                                        </p:tgtEl>
                                      </p:cBhvr>
                                    </p:animEffect>
                                  </p:childTnLst>
                                </p:cTn>
                              </p:par>
                              <p:par>
                                <p:cTn id="30" presetID="10" presetClass="entr" presetSubtype="0" fill="hold" nodeType="withEffect">
                                  <p:stCondLst>
                                    <p:cond delay="0"/>
                                  </p:stCondLst>
                                  <p:childTnLst>
                                    <p:set>
                                      <p:cBhvr>
                                        <p:cTn id="31" dur="1" fill="hold">
                                          <p:stCondLst>
                                            <p:cond delay="0"/>
                                          </p:stCondLst>
                                        </p:cTn>
                                        <p:tgtEl>
                                          <p:spTgt spid="311"/>
                                        </p:tgtEl>
                                        <p:attrNameLst>
                                          <p:attrName>style.visibility</p:attrName>
                                        </p:attrNameLst>
                                      </p:cBhvr>
                                      <p:to>
                                        <p:strVal val="visible"/>
                                      </p:to>
                                    </p:set>
                                    <p:animEffect transition="in" filter="fade">
                                      <p:cBhvr>
                                        <p:cTn id="32" dur="1000"/>
                                        <p:tgtEl>
                                          <p:spTgt spid="311"/>
                                        </p:tgtEl>
                                      </p:cBhvr>
                                    </p:animEffect>
                                  </p:childTnLst>
                                </p:cTn>
                              </p:par>
                              <p:par>
                                <p:cTn id="33" presetID="10" presetClass="entr" presetSubtype="0" fill="hold" nodeType="withEffect">
                                  <p:stCondLst>
                                    <p:cond delay="0"/>
                                  </p:stCondLst>
                                  <p:childTnLst>
                                    <p:set>
                                      <p:cBhvr>
                                        <p:cTn id="34" dur="1" fill="hold">
                                          <p:stCondLst>
                                            <p:cond delay="0"/>
                                          </p:stCondLst>
                                        </p:cTn>
                                        <p:tgtEl>
                                          <p:spTgt spid="309"/>
                                        </p:tgtEl>
                                        <p:attrNameLst>
                                          <p:attrName>style.visibility</p:attrName>
                                        </p:attrNameLst>
                                      </p:cBhvr>
                                      <p:to>
                                        <p:strVal val="visible"/>
                                      </p:to>
                                    </p:set>
                                    <p:animEffect transition="in" filter="fade">
                                      <p:cBhvr>
                                        <p:cTn id="35" dur="1000"/>
                                        <p:tgtEl>
                                          <p:spTgt spid="30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13"/>
                                        </p:tgtEl>
                                        <p:attrNameLst>
                                          <p:attrName>style.visibility</p:attrName>
                                        </p:attrNameLst>
                                      </p:cBhvr>
                                      <p:to>
                                        <p:strVal val="visible"/>
                                      </p:to>
                                    </p:set>
                                    <p:animEffect transition="in" filter="fade">
                                      <p:cBhvr>
                                        <p:cTn id="40" dur="1000"/>
                                        <p:tgtEl>
                                          <p:spTgt spid="313"/>
                                        </p:tgtEl>
                                      </p:cBhvr>
                                    </p:animEffect>
                                  </p:childTnLst>
                                </p:cTn>
                              </p:par>
                              <p:par>
                                <p:cTn id="41" presetID="10" presetClass="entr" presetSubtype="0" fill="hold" nodeType="withEffect">
                                  <p:stCondLst>
                                    <p:cond delay="0"/>
                                  </p:stCondLst>
                                  <p:childTnLst>
                                    <p:set>
                                      <p:cBhvr>
                                        <p:cTn id="42" dur="1" fill="hold">
                                          <p:stCondLst>
                                            <p:cond delay="0"/>
                                          </p:stCondLst>
                                        </p:cTn>
                                        <p:tgtEl>
                                          <p:spTgt spid="312"/>
                                        </p:tgtEl>
                                        <p:attrNameLst>
                                          <p:attrName>style.visibility</p:attrName>
                                        </p:attrNameLst>
                                      </p:cBhvr>
                                      <p:to>
                                        <p:strVal val="visible"/>
                                      </p:to>
                                    </p:set>
                                    <p:animEffect transition="in" filter="fade">
                                      <p:cBhvr>
                                        <p:cTn id="43" dur="1000"/>
                                        <p:tgtEl>
                                          <p:spTgt spid="312"/>
                                        </p:tgtEl>
                                      </p:cBhvr>
                                    </p:animEffect>
                                  </p:childTnLst>
                                </p:cTn>
                              </p:par>
                              <p:par>
                                <p:cTn id="44" presetID="10" presetClass="entr" presetSubtype="0" fill="hold" nodeType="withEffect">
                                  <p:stCondLst>
                                    <p:cond delay="0"/>
                                  </p:stCondLst>
                                  <p:childTnLst>
                                    <p:set>
                                      <p:cBhvr>
                                        <p:cTn id="45" dur="1" fill="hold">
                                          <p:stCondLst>
                                            <p:cond delay="0"/>
                                          </p:stCondLst>
                                        </p:cTn>
                                        <p:tgtEl>
                                          <p:spTgt spid="314"/>
                                        </p:tgtEl>
                                        <p:attrNameLst>
                                          <p:attrName>style.visibility</p:attrName>
                                        </p:attrNameLst>
                                      </p:cBhvr>
                                      <p:to>
                                        <p:strVal val="visible"/>
                                      </p:to>
                                    </p:set>
                                    <p:animEffect transition="in" filter="fade">
                                      <p:cBhvr>
                                        <p:cTn id="46" dur="1000"/>
                                        <p:tgtEl>
                                          <p:spTgt spid="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320" name="Google Shape;320;p24"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21" name="Google Shape;321;p24"/>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REFLECT</a:t>
            </a:r>
            <a:endParaRPr sz="1050">
              <a:solidFill>
                <a:schemeClr val="dk1"/>
              </a:solidFill>
              <a:latin typeface="Calibri"/>
              <a:ea typeface="Calibri"/>
              <a:cs typeface="Calibri"/>
              <a:sym typeface="Calibri"/>
            </a:endParaRPr>
          </a:p>
        </p:txBody>
      </p:sp>
      <p:sp>
        <p:nvSpPr>
          <p:cNvPr id="322" name="Google Shape;322;p24"/>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One-Minute Self-Check</a:t>
            </a:r>
            <a:endParaRPr sz="2500">
              <a:solidFill>
                <a:schemeClr val="dk1"/>
              </a:solidFill>
              <a:latin typeface="Calibri"/>
              <a:ea typeface="Calibri"/>
              <a:cs typeface="Calibri"/>
              <a:sym typeface="Calibri"/>
            </a:endParaRPr>
          </a:p>
        </p:txBody>
      </p:sp>
      <p:sp>
        <p:nvSpPr>
          <p:cNvPr id="323" name="Google Shape;323;p24"/>
          <p:cNvSpPr/>
          <p:nvPr/>
        </p:nvSpPr>
        <p:spPr>
          <a:xfrm>
            <a:off x="457200" y="1238250"/>
            <a:ext cx="8229600" cy="822960"/>
          </a:xfrm>
          <a:prstGeom prst="roundRect">
            <a:avLst>
              <a:gd name="adj" fmla="val 8889"/>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24"/>
          <p:cNvSpPr/>
          <p:nvPr/>
        </p:nvSpPr>
        <p:spPr>
          <a:xfrm>
            <a:off x="640080" y="1402842"/>
            <a:ext cx="457200" cy="457200"/>
          </a:xfrm>
          <a:prstGeom prst="ellipse">
            <a:avLst/>
          </a:prstGeom>
          <a:solidFill>
            <a:srgbClr val="FFFFFF"/>
          </a:solidFill>
          <a:ln w="25400" cap="flat" cmpd="sng">
            <a:solidFill>
              <a:srgbClr val="B20E3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24"/>
          <p:cNvSpPr/>
          <p:nvPr/>
        </p:nvSpPr>
        <p:spPr>
          <a:xfrm>
            <a:off x="1280160" y="1238250"/>
            <a:ext cx="72237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Montserrat"/>
              <a:buNone/>
            </a:pPr>
            <a:r>
              <a:rPr lang="en-US" sz="1300">
                <a:solidFill>
                  <a:srgbClr val="1A1A1A"/>
                </a:solidFill>
                <a:latin typeface="Montserrat"/>
                <a:ea typeface="Montserrat"/>
                <a:cs typeface="Montserrat"/>
                <a:sym typeface="Montserrat"/>
              </a:rPr>
              <a:t>Can I explain, in my own words, what “strategy” means?</a:t>
            </a:r>
            <a:endParaRPr sz="1300">
              <a:solidFill>
                <a:schemeClr val="dk1"/>
              </a:solidFill>
              <a:latin typeface="Calibri"/>
              <a:ea typeface="Calibri"/>
              <a:cs typeface="Calibri"/>
              <a:sym typeface="Calibri"/>
            </a:endParaRPr>
          </a:p>
        </p:txBody>
      </p:sp>
      <p:sp>
        <p:nvSpPr>
          <p:cNvPr id="329" name="Google Shape;329;p24"/>
          <p:cNvSpPr/>
          <p:nvPr/>
        </p:nvSpPr>
        <p:spPr>
          <a:xfrm>
            <a:off x="457200" y="3158490"/>
            <a:ext cx="8229600" cy="822960"/>
          </a:xfrm>
          <a:prstGeom prst="roundRect">
            <a:avLst>
              <a:gd name="adj" fmla="val 8889"/>
            </a:avLst>
          </a:prstGeom>
          <a:solidFill>
            <a:srgbClr val="FFFFFF">
              <a:alpha val="8784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24"/>
          <p:cNvSpPr/>
          <p:nvPr/>
        </p:nvSpPr>
        <p:spPr>
          <a:xfrm>
            <a:off x="640080" y="3323082"/>
            <a:ext cx="457200" cy="457200"/>
          </a:xfrm>
          <a:prstGeom prst="ellipse">
            <a:avLst/>
          </a:prstGeom>
          <a:solidFill>
            <a:srgbClr val="FFFFFF"/>
          </a:solidFill>
          <a:ln w="25400" cap="flat" cmpd="sng">
            <a:solidFill>
              <a:srgbClr val="B20E3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24"/>
          <p:cNvSpPr/>
          <p:nvPr/>
        </p:nvSpPr>
        <p:spPr>
          <a:xfrm>
            <a:off x="1280160" y="3158490"/>
            <a:ext cx="72237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Montserrat"/>
              <a:buNone/>
            </a:pPr>
            <a:r>
              <a:rPr lang="en-US" sz="1300">
                <a:solidFill>
                  <a:srgbClr val="1A1A1A"/>
                </a:solidFill>
                <a:latin typeface="Montserrat"/>
                <a:ea typeface="Montserrat"/>
                <a:cs typeface="Montserrat"/>
                <a:sym typeface="Montserrat"/>
              </a:rPr>
              <a:t>Can I think of one small business near me that seems to have a real strategy — and one that doesn't?</a:t>
            </a:r>
            <a:endParaRPr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3638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3"/>
                                        </p:tgtEl>
                                        <p:attrNameLst>
                                          <p:attrName>style.visibility</p:attrName>
                                        </p:attrNameLst>
                                      </p:cBhvr>
                                      <p:to>
                                        <p:strVal val="visible"/>
                                      </p:to>
                                    </p:set>
                                    <p:animEffect transition="in" filter="fade">
                                      <p:cBhvr>
                                        <p:cTn id="7" dur="1000"/>
                                        <p:tgtEl>
                                          <p:spTgt spid="323"/>
                                        </p:tgtEl>
                                      </p:cBhvr>
                                    </p:animEffect>
                                  </p:childTnLst>
                                </p:cTn>
                              </p:par>
                              <p:par>
                                <p:cTn id="8" presetID="10" presetClass="entr" presetSubtype="0" fill="hold" nodeType="withEffect">
                                  <p:stCondLst>
                                    <p:cond delay="0"/>
                                  </p:stCondLst>
                                  <p:childTnLst>
                                    <p:set>
                                      <p:cBhvr>
                                        <p:cTn id="9" dur="1" fill="hold">
                                          <p:stCondLst>
                                            <p:cond delay="0"/>
                                          </p:stCondLst>
                                        </p:cTn>
                                        <p:tgtEl>
                                          <p:spTgt spid="324"/>
                                        </p:tgtEl>
                                        <p:attrNameLst>
                                          <p:attrName>style.visibility</p:attrName>
                                        </p:attrNameLst>
                                      </p:cBhvr>
                                      <p:to>
                                        <p:strVal val="visible"/>
                                      </p:to>
                                    </p:set>
                                    <p:animEffect transition="in" filter="fade">
                                      <p:cBhvr>
                                        <p:cTn id="10" dur="1000"/>
                                        <p:tgtEl>
                                          <p:spTgt spid="324"/>
                                        </p:tgtEl>
                                      </p:cBhvr>
                                    </p:animEffect>
                                  </p:childTnLst>
                                </p:cTn>
                              </p:par>
                              <p:par>
                                <p:cTn id="11" presetID="10" presetClass="entr" presetSubtype="0" fill="hold" nodeType="withEffect">
                                  <p:stCondLst>
                                    <p:cond delay="0"/>
                                  </p:stCondLst>
                                  <p:childTnLst>
                                    <p:set>
                                      <p:cBhvr>
                                        <p:cTn id="12" dur="1" fill="hold">
                                          <p:stCondLst>
                                            <p:cond delay="0"/>
                                          </p:stCondLst>
                                        </p:cTn>
                                        <p:tgtEl>
                                          <p:spTgt spid="325"/>
                                        </p:tgtEl>
                                        <p:attrNameLst>
                                          <p:attrName>style.visibility</p:attrName>
                                        </p:attrNameLst>
                                      </p:cBhvr>
                                      <p:to>
                                        <p:strVal val="visible"/>
                                      </p:to>
                                    </p:set>
                                    <p:animEffect transition="in" filter="fade">
                                      <p:cBhvr>
                                        <p:cTn id="13" dur="1000"/>
                                        <p:tgtEl>
                                          <p:spTgt spid="325"/>
                                        </p:tgtEl>
                                      </p:cBhvr>
                                    </p:animEffect>
                                  </p:childTnLst>
                                </p:cTn>
                              </p:par>
                              <p:par>
                                <p:cTn id="14" presetID="10" presetClass="entr" presetSubtype="0" fill="hold" nodeType="withEffect">
                                  <p:stCondLst>
                                    <p:cond delay="0"/>
                                  </p:stCondLst>
                                  <p:childTnLst>
                                    <p:set>
                                      <p:cBhvr>
                                        <p:cTn id="15" dur="1" fill="hold">
                                          <p:stCondLst>
                                            <p:cond delay="0"/>
                                          </p:stCondLst>
                                        </p:cTn>
                                        <p:tgtEl>
                                          <p:spTgt spid="329"/>
                                        </p:tgtEl>
                                        <p:attrNameLst>
                                          <p:attrName>style.visibility</p:attrName>
                                        </p:attrNameLst>
                                      </p:cBhvr>
                                      <p:to>
                                        <p:strVal val="visible"/>
                                      </p:to>
                                    </p:set>
                                    <p:animEffect transition="in" filter="fade">
                                      <p:cBhvr>
                                        <p:cTn id="16" dur="1000"/>
                                        <p:tgtEl>
                                          <p:spTgt spid="329"/>
                                        </p:tgtEl>
                                      </p:cBhvr>
                                    </p:animEffect>
                                  </p:childTnLst>
                                </p:cTn>
                              </p:par>
                              <p:par>
                                <p:cTn id="17" presetID="10" presetClass="entr" presetSubtype="0" fill="hold" nodeType="withEffect">
                                  <p:stCondLst>
                                    <p:cond delay="0"/>
                                  </p:stCondLst>
                                  <p:childTnLst>
                                    <p:set>
                                      <p:cBhvr>
                                        <p:cTn id="18" dur="1" fill="hold">
                                          <p:stCondLst>
                                            <p:cond delay="0"/>
                                          </p:stCondLst>
                                        </p:cTn>
                                        <p:tgtEl>
                                          <p:spTgt spid="330"/>
                                        </p:tgtEl>
                                        <p:attrNameLst>
                                          <p:attrName>style.visibility</p:attrName>
                                        </p:attrNameLst>
                                      </p:cBhvr>
                                      <p:to>
                                        <p:strVal val="visible"/>
                                      </p:to>
                                    </p:set>
                                    <p:animEffect transition="in" filter="fade">
                                      <p:cBhvr>
                                        <p:cTn id="19" dur="1000"/>
                                        <p:tgtEl>
                                          <p:spTgt spid="330"/>
                                        </p:tgtEl>
                                      </p:cBhvr>
                                    </p:animEffect>
                                  </p:childTnLst>
                                </p:cTn>
                              </p:par>
                              <p:par>
                                <p:cTn id="20" presetID="10" presetClass="entr" presetSubtype="0" fill="hold" nodeType="withEffect">
                                  <p:stCondLst>
                                    <p:cond delay="0"/>
                                  </p:stCondLst>
                                  <p:childTnLst>
                                    <p:set>
                                      <p:cBhvr>
                                        <p:cTn id="21" dur="1" fill="hold">
                                          <p:stCondLst>
                                            <p:cond delay="0"/>
                                          </p:stCondLst>
                                        </p:cTn>
                                        <p:tgtEl>
                                          <p:spTgt spid="331"/>
                                        </p:tgtEl>
                                        <p:attrNameLst>
                                          <p:attrName>style.visibility</p:attrName>
                                        </p:attrNameLst>
                                      </p:cBhvr>
                                      <p:to>
                                        <p:strVal val="visible"/>
                                      </p:to>
                                    </p:set>
                                    <p:animEffect transition="in" filter="fade">
                                      <p:cBhvr>
                                        <p:cTn id="22" dur="10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336"/>
        <p:cNvGrpSpPr/>
        <p:nvPr/>
      </p:nvGrpSpPr>
      <p:grpSpPr>
        <a:xfrm>
          <a:off x="0" y="0"/>
          <a:ext cx="0" cy="0"/>
          <a:chOff x="0" y="0"/>
          <a:chExt cx="0" cy="0"/>
        </a:xfrm>
      </p:grpSpPr>
      <p:pic>
        <p:nvPicPr>
          <p:cNvPr id="337" name="Google Shape;337;p25"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38" name="Google Shape;338;p25"/>
          <p:cNvSpPr/>
          <p:nvPr/>
        </p:nvSpPr>
        <p:spPr>
          <a:xfrm>
            <a:off x="365760" y="54864"/>
            <a:ext cx="8412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C1030"/>
              </a:buClr>
              <a:buSzPts val="1050"/>
              <a:buFont typeface="Montserrat"/>
              <a:buNone/>
            </a:pPr>
            <a:r>
              <a:rPr lang="en-US" sz="1050" b="1">
                <a:solidFill>
                  <a:srgbClr val="8C1030"/>
                </a:solidFill>
                <a:latin typeface="Montserrat"/>
                <a:ea typeface="Montserrat"/>
                <a:cs typeface="Montserrat"/>
                <a:sym typeface="Montserrat"/>
              </a:rPr>
              <a:t>REFERENCES &amp; NEXT SESSION</a:t>
            </a:r>
            <a:endParaRPr sz="1050">
              <a:solidFill>
                <a:schemeClr val="dk1"/>
              </a:solidFill>
              <a:latin typeface="Calibri"/>
              <a:ea typeface="Calibri"/>
              <a:cs typeface="Calibri"/>
              <a:sym typeface="Calibri"/>
            </a:endParaRPr>
          </a:p>
        </p:txBody>
      </p:sp>
      <p:sp>
        <p:nvSpPr>
          <p:cNvPr id="339" name="Google Shape;339;p25"/>
          <p:cNvSpPr/>
          <p:nvPr/>
        </p:nvSpPr>
        <p:spPr>
          <a:xfrm>
            <a:off x="365760" y="256032"/>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Sources &amp; What's Coming Up</a:t>
            </a:r>
            <a:endParaRPr sz="2500">
              <a:solidFill>
                <a:schemeClr val="dk1"/>
              </a:solidFill>
              <a:latin typeface="Calibri"/>
              <a:ea typeface="Calibri"/>
              <a:cs typeface="Calibri"/>
              <a:sym typeface="Calibri"/>
            </a:endParaRPr>
          </a:p>
        </p:txBody>
      </p:sp>
      <p:sp>
        <p:nvSpPr>
          <p:cNvPr id="340" name="Google Shape;340;p25"/>
          <p:cNvSpPr/>
          <p:nvPr/>
        </p:nvSpPr>
        <p:spPr>
          <a:xfrm>
            <a:off x="457200" y="1188720"/>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300"/>
              <a:buFont typeface="Montserrat SemiBold"/>
              <a:buNone/>
            </a:pPr>
            <a:r>
              <a:rPr lang="en-US" sz="1300" b="1">
                <a:solidFill>
                  <a:srgbClr val="B20E38"/>
                </a:solidFill>
                <a:latin typeface="Montserrat SemiBold"/>
                <a:ea typeface="Montserrat SemiBold"/>
                <a:cs typeface="Montserrat SemiBold"/>
                <a:sym typeface="Montserrat SemiBold"/>
              </a:rPr>
              <a:t>Required Reading</a:t>
            </a:r>
            <a:endParaRPr sz="1300">
              <a:solidFill>
                <a:schemeClr val="dk1"/>
              </a:solidFill>
              <a:latin typeface="Calibri"/>
              <a:ea typeface="Calibri"/>
              <a:cs typeface="Calibri"/>
              <a:sym typeface="Calibri"/>
            </a:endParaRPr>
          </a:p>
        </p:txBody>
      </p:sp>
      <p:sp>
        <p:nvSpPr>
          <p:cNvPr id="341" name="Google Shape;341;p25"/>
          <p:cNvSpPr/>
          <p:nvPr/>
        </p:nvSpPr>
        <p:spPr>
          <a:xfrm>
            <a:off x="457200" y="1481328"/>
            <a:ext cx="3931920" cy="640080"/>
          </a:xfrm>
          <a:prstGeom prst="rect">
            <a:avLst/>
          </a:prstGeom>
          <a:noFill/>
          <a:ln>
            <a:noFill/>
          </a:ln>
        </p:spPr>
        <p:txBody>
          <a:bodyPr spcFirstLastPara="1" wrap="square" lIns="0" tIns="0" rIns="0" bIns="0" anchor="ctr" anchorCtr="0">
            <a:noAutofit/>
          </a:bodyPr>
          <a:lstStyle/>
          <a:p>
            <a:pPr marL="342900" marR="0" lvl="0" indent="-342900" algn="l" rtl="0">
              <a:lnSpc>
                <a:spcPct val="125000"/>
              </a:lnSpc>
              <a:spcBef>
                <a:spcPts val="0"/>
              </a:spcBef>
              <a:spcAft>
                <a:spcPts val="0"/>
              </a:spcAft>
              <a:buClr>
                <a:srgbClr val="1A1A1A"/>
              </a:buClr>
              <a:buSzPts val="1100"/>
              <a:buFont typeface="Montserrat"/>
              <a:buChar char="•"/>
            </a:pPr>
            <a:r>
              <a:rPr lang="en-US" sz="1100">
                <a:solidFill>
                  <a:srgbClr val="1A1A1A"/>
                </a:solidFill>
                <a:latin typeface="Montserrat"/>
                <a:ea typeface="Montserrat"/>
                <a:cs typeface="Montserrat"/>
                <a:sym typeface="Montserrat"/>
              </a:rPr>
              <a:t>A. Nag — Strategic Management: Analysis, Implementation and Control, Ch. 4</a:t>
            </a:r>
            <a:endParaRPr sz="1100">
              <a:solidFill>
                <a:schemeClr val="dk1"/>
              </a:solidFill>
              <a:latin typeface="Calibri"/>
              <a:ea typeface="Calibri"/>
              <a:cs typeface="Calibri"/>
              <a:sym typeface="Calibri"/>
            </a:endParaRPr>
          </a:p>
        </p:txBody>
      </p:sp>
      <p:sp>
        <p:nvSpPr>
          <p:cNvPr id="342" name="Google Shape;342;p25"/>
          <p:cNvSpPr/>
          <p:nvPr/>
        </p:nvSpPr>
        <p:spPr>
          <a:xfrm>
            <a:off x="457200" y="2240280"/>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300"/>
              <a:buFont typeface="Montserrat SemiBold"/>
              <a:buNone/>
            </a:pPr>
            <a:r>
              <a:rPr lang="en-US" sz="1300" b="1">
                <a:solidFill>
                  <a:srgbClr val="B20E38"/>
                </a:solidFill>
                <a:latin typeface="Montserrat SemiBold"/>
                <a:ea typeface="Montserrat SemiBold"/>
                <a:cs typeface="Montserrat SemiBold"/>
                <a:sym typeface="Montserrat SemiBold"/>
              </a:rPr>
              <a:t>Case &amp; History Sources</a:t>
            </a:r>
            <a:endParaRPr sz="1300">
              <a:solidFill>
                <a:schemeClr val="dk1"/>
              </a:solidFill>
              <a:latin typeface="Calibri"/>
              <a:ea typeface="Calibri"/>
              <a:cs typeface="Calibri"/>
              <a:sym typeface="Calibri"/>
            </a:endParaRPr>
          </a:p>
        </p:txBody>
      </p:sp>
      <p:sp>
        <p:nvSpPr>
          <p:cNvPr id="343" name="Google Shape;343;p25"/>
          <p:cNvSpPr/>
          <p:nvPr/>
        </p:nvSpPr>
        <p:spPr>
          <a:xfrm>
            <a:off x="457200" y="2532888"/>
            <a:ext cx="3931920" cy="914400"/>
          </a:xfrm>
          <a:prstGeom prst="rect">
            <a:avLst/>
          </a:prstGeom>
          <a:noFill/>
          <a:ln>
            <a:noFill/>
          </a:ln>
        </p:spPr>
        <p:txBody>
          <a:bodyPr spcFirstLastPara="1" wrap="square" lIns="0" tIns="0" rIns="0" bIns="0" anchor="ctr" anchorCtr="0">
            <a:noAutofit/>
          </a:bodyPr>
          <a:lstStyle/>
          <a:p>
            <a:pPr marL="342900" marR="0" lvl="0" indent="-342900" algn="l" rtl="0">
              <a:lnSpc>
                <a:spcPct val="125000"/>
              </a:lnSpc>
              <a:spcBef>
                <a:spcPts val="0"/>
              </a:spcBef>
              <a:spcAft>
                <a:spcPts val="0"/>
              </a:spcAft>
              <a:buClr>
                <a:srgbClr val="1A1A1A"/>
              </a:buClr>
              <a:buSzPts val="1100"/>
              <a:buFont typeface="Montserrat"/>
              <a:buChar char="•"/>
            </a:pPr>
            <a:r>
              <a:rPr lang="en-US" sz="1100">
                <a:solidFill>
                  <a:srgbClr val="1A1A1A"/>
                </a:solidFill>
                <a:latin typeface="Montserrat"/>
                <a:ea typeface="Montserrat"/>
                <a:cs typeface="Montserrat"/>
                <a:sym typeface="Montserrat"/>
              </a:rPr>
              <a:t>Publicly documented history of Haldiram's (founded 1937, Bikaner)</a:t>
            </a:r>
            <a:br>
              <a:rPr lang="en-US" sz="1100">
                <a:solidFill>
                  <a:srgbClr val="1A1A1A"/>
                </a:solidFill>
                <a:latin typeface="Montserrat"/>
                <a:ea typeface="Montserrat"/>
                <a:cs typeface="Montserrat"/>
                <a:sym typeface="Montserrat"/>
              </a:rPr>
            </a:br>
            <a:r>
              <a:rPr lang="en-US" sz="1100">
                <a:solidFill>
                  <a:srgbClr val="1A1A1A"/>
                </a:solidFill>
                <a:latin typeface="Montserrat"/>
                <a:ea typeface="Montserrat"/>
                <a:cs typeface="Montserrat"/>
                <a:sym typeface="Montserrat"/>
              </a:rPr>
              <a:t>Kazmi, A. — Business Policy and Strategic Management, Tata McGraw Hill</a:t>
            </a:r>
            <a:endParaRPr sz="1100">
              <a:solidFill>
                <a:schemeClr val="dk1"/>
              </a:solidFill>
              <a:latin typeface="Calibri"/>
              <a:ea typeface="Calibri"/>
              <a:cs typeface="Calibri"/>
              <a:sym typeface="Calibri"/>
            </a:endParaRPr>
          </a:p>
        </p:txBody>
      </p:sp>
      <p:sp>
        <p:nvSpPr>
          <p:cNvPr id="344" name="Google Shape;344;p25"/>
          <p:cNvSpPr/>
          <p:nvPr/>
        </p:nvSpPr>
        <p:spPr>
          <a:xfrm>
            <a:off x="4709160" y="1188720"/>
            <a:ext cx="3977640" cy="2880360"/>
          </a:xfrm>
          <a:prstGeom prst="roundRect">
            <a:avLst>
              <a:gd name="adj" fmla="val 3175"/>
            </a:avLst>
          </a:prstGeom>
          <a:solidFill>
            <a:srgbClr val="FFFFFF">
              <a:alpha val="90196"/>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25"/>
          <p:cNvSpPr/>
          <p:nvPr/>
        </p:nvSpPr>
        <p:spPr>
          <a:xfrm>
            <a:off x="4937760" y="1353312"/>
            <a:ext cx="35661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400"/>
              <a:buFont typeface="Montserrat SemiBold"/>
              <a:buNone/>
            </a:pPr>
            <a:r>
              <a:rPr lang="en-US" sz="1400" b="1">
                <a:solidFill>
                  <a:srgbClr val="B20E38"/>
                </a:solidFill>
                <a:latin typeface="Montserrat SemiBold"/>
                <a:ea typeface="Montserrat SemiBold"/>
                <a:cs typeface="Montserrat SemiBold"/>
                <a:sym typeface="Montserrat SemiBold"/>
              </a:rPr>
              <a:t>Coming Up — Session 2</a:t>
            </a:r>
            <a:endParaRPr sz="1400">
              <a:solidFill>
                <a:schemeClr val="dk1"/>
              </a:solidFill>
              <a:latin typeface="Calibri"/>
              <a:ea typeface="Calibri"/>
              <a:cs typeface="Calibri"/>
              <a:sym typeface="Calibri"/>
            </a:endParaRPr>
          </a:p>
        </p:txBody>
      </p:sp>
      <p:sp>
        <p:nvSpPr>
          <p:cNvPr id="346" name="Google Shape;346;p25"/>
          <p:cNvSpPr/>
          <p:nvPr/>
        </p:nvSpPr>
        <p:spPr>
          <a:xfrm>
            <a:off x="4937760" y="1691640"/>
            <a:ext cx="3566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Montserrat SemiBold"/>
              <a:buNone/>
            </a:pPr>
            <a:r>
              <a:rPr lang="en-US" sz="1500" b="1">
                <a:solidFill>
                  <a:srgbClr val="1A1A1A"/>
                </a:solidFill>
                <a:latin typeface="Montserrat SemiBold"/>
                <a:ea typeface="Montserrat SemiBold"/>
                <a:cs typeface="Montserrat SemiBold"/>
                <a:sym typeface="Montserrat SemiBold"/>
              </a:rPr>
              <a:t>Policy, Programs &amp; Procedures</a:t>
            </a:r>
            <a:endParaRPr sz="1500">
              <a:solidFill>
                <a:schemeClr val="dk1"/>
              </a:solidFill>
              <a:latin typeface="Calibri"/>
              <a:ea typeface="Calibri"/>
              <a:cs typeface="Calibri"/>
              <a:sym typeface="Calibri"/>
            </a:endParaRPr>
          </a:p>
        </p:txBody>
      </p:sp>
      <p:sp>
        <p:nvSpPr>
          <p:cNvPr id="347" name="Google Shape;347;p25"/>
          <p:cNvSpPr/>
          <p:nvPr/>
        </p:nvSpPr>
        <p:spPr>
          <a:xfrm>
            <a:off x="4937760" y="2212848"/>
            <a:ext cx="3566160" cy="64008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2A2A2A"/>
              </a:buClr>
              <a:buSzPts val="1200"/>
              <a:buFont typeface="Montserrat"/>
              <a:buNone/>
            </a:pPr>
            <a:r>
              <a:rPr lang="en-US" sz="1200" i="1">
                <a:solidFill>
                  <a:srgbClr val="2A2A2A"/>
                </a:solidFill>
                <a:latin typeface="Montserrat"/>
                <a:ea typeface="Montserrat"/>
                <a:cs typeface="Montserrat"/>
                <a:sym typeface="Montserrat"/>
              </a:rPr>
              <a:t>The first building blocks of a real business — and how Priya builds hers.</a:t>
            </a:r>
            <a:endParaRPr sz="1200">
              <a:solidFill>
                <a:schemeClr val="dk1"/>
              </a:solidFill>
              <a:latin typeface="Calibri"/>
              <a:ea typeface="Calibri"/>
              <a:cs typeface="Calibri"/>
              <a:sym typeface="Calibri"/>
            </a:endParaRPr>
          </a:p>
        </p:txBody>
      </p:sp>
      <p:sp>
        <p:nvSpPr>
          <p:cNvPr id="348" name="Google Shape;348;p25"/>
          <p:cNvSpPr/>
          <p:nvPr/>
        </p:nvSpPr>
        <p:spPr>
          <a:xfrm>
            <a:off x="4937760" y="3566160"/>
            <a:ext cx="35661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20E38"/>
              </a:buClr>
              <a:buSzPts val="1100"/>
              <a:buFont typeface="Montserrat"/>
              <a:buNone/>
            </a:pPr>
            <a:r>
              <a:rPr lang="en-US" sz="1100" b="1">
                <a:solidFill>
                  <a:srgbClr val="B20E38"/>
                </a:solidFill>
                <a:latin typeface="Montserrat"/>
                <a:ea typeface="Montserrat"/>
                <a:cs typeface="Montserrat"/>
                <a:sym typeface="Montserrat"/>
              </a:rPr>
              <a:t>No prep needed — just come curious.</a:t>
            </a:r>
            <a:endParaRPr sz="1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2"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62" name="Google Shape;162;p12"/>
          <p:cNvSpPr txBox="1"/>
          <p:nvPr/>
        </p:nvSpPr>
        <p:spPr>
          <a:xfrm>
            <a:off x="771525" y="1475450"/>
            <a:ext cx="1971675" cy="1910443"/>
          </a:xfrm>
          <a:prstGeom prst="rect">
            <a:avLst/>
          </a:prstGeom>
          <a:solidFill>
            <a:srgbClr val="375623"/>
          </a:solidFill>
          <a:ln>
            <a:noFill/>
          </a:ln>
        </p:spPr>
        <p:txBody>
          <a:bodyPr spcFirstLastPara="1" wrap="square" lIns="68575" tIns="34275" rIns="68575" bIns="34275" anchor="ctr" anchorCtr="0">
            <a:normAutofit/>
          </a:bodyPr>
          <a:lstStyle/>
          <a:p>
            <a:pPr marL="0" marR="0" lvl="0" indent="0" algn="ctr" rtl="0">
              <a:lnSpc>
                <a:spcPct val="90000"/>
              </a:lnSpc>
              <a:spcBef>
                <a:spcPts val="0"/>
              </a:spcBef>
              <a:spcAft>
                <a:spcPts val="0"/>
              </a:spcAft>
              <a:buNone/>
            </a:pPr>
            <a:r>
              <a:rPr lang="en-US" sz="2700" b="1">
                <a:solidFill>
                  <a:srgbClr val="FFFFFF"/>
                </a:solidFill>
                <a:latin typeface="Calibri"/>
                <a:ea typeface="Calibri"/>
                <a:cs typeface="Calibri"/>
                <a:sym typeface="Calibri"/>
              </a:rPr>
              <a:t>Resources</a:t>
            </a:r>
            <a:endParaRPr sz="2700" b="1">
              <a:solidFill>
                <a:srgbClr val="FFFFFF"/>
              </a:solidFill>
              <a:latin typeface="Calibri"/>
              <a:ea typeface="Calibri"/>
              <a:cs typeface="Calibri"/>
              <a:sym typeface="Calibri"/>
            </a:endParaRPr>
          </a:p>
        </p:txBody>
      </p:sp>
      <p:pic>
        <p:nvPicPr>
          <p:cNvPr id="163" name="Google Shape;163;p12"/>
          <p:cNvPicPr preferRelativeResize="0"/>
          <p:nvPr/>
        </p:nvPicPr>
        <p:blipFill rotWithShape="1">
          <a:blip r:embed="rId4">
            <a:alphaModFix/>
          </a:blip>
          <a:srcRect l="3840" t="61044" r="66250" b="11406"/>
          <a:stretch/>
        </p:blipFill>
        <p:spPr>
          <a:xfrm>
            <a:off x="3867150" y="1054629"/>
            <a:ext cx="4506953" cy="2770993"/>
          </a:xfrm>
          <a:prstGeom prst="rect">
            <a:avLst/>
          </a:prstGeom>
          <a:noFill/>
          <a:ln>
            <a:noFill/>
          </a:ln>
        </p:spPr>
      </p:pic>
    </p:spTree>
    <p:extLst>
      <p:ext uri="{BB962C8B-B14F-4D97-AF65-F5344CB8AC3E}">
        <p14:creationId xmlns:p14="http://schemas.microsoft.com/office/powerpoint/2010/main" val="4079484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Shape 137"/>
        <p:cNvGrpSpPr/>
        <p:nvPr/>
      </p:nvGrpSpPr>
      <p:grpSpPr>
        <a:xfrm>
          <a:off x="0" y="0"/>
          <a:ext cx="0" cy="0"/>
          <a:chOff x="0" y="0"/>
          <a:chExt cx="0" cy="0"/>
        </a:xfrm>
      </p:grpSpPr>
      <p:pic>
        <p:nvPicPr>
          <p:cNvPr id="138" name="Google Shape;138;p9" descr="/home/claude/assets/content_bg.png"/>
          <p:cNvPicPr preferRelativeResize="0"/>
          <p:nvPr/>
        </p:nvPicPr>
        <p:blipFill rotWithShape="1">
          <a:blip r:embed="rId3">
            <a:alphaModFix/>
          </a:blip>
          <a:srcRect/>
          <a:stretch/>
        </p:blipFill>
        <p:spPr>
          <a:xfrm>
            <a:off x="0" y="0"/>
            <a:ext cx="9144000" cy="5143500"/>
          </a:xfrm>
          <a:prstGeom prst="rect">
            <a:avLst/>
          </a:prstGeom>
          <a:noFill/>
          <a:ln>
            <a:noFill/>
          </a:ln>
        </p:spPr>
      </p:pic>
      <p:graphicFrame>
        <p:nvGraphicFramePr>
          <p:cNvPr id="139" name="Google Shape;139;p9"/>
          <p:cNvGraphicFramePr/>
          <p:nvPr/>
        </p:nvGraphicFramePr>
        <p:xfrm>
          <a:off x="470535" y="836294"/>
          <a:ext cx="7898125" cy="3810000"/>
        </p:xfrm>
        <a:graphic>
          <a:graphicData uri="http://schemas.openxmlformats.org/drawingml/2006/table">
            <a:tbl>
              <a:tblPr>
                <a:noFill/>
                <a:tableStyleId>{044479AA-C001-4957-BA26-486574868DD1}</a:tableStyleId>
              </a:tblPr>
              <a:tblGrid>
                <a:gridCol w="3936025">
                  <a:extLst>
                    <a:ext uri="{9D8B030D-6E8A-4147-A177-3AD203B41FA5}">
                      <a16:colId xmlns:a16="http://schemas.microsoft.com/office/drawing/2014/main" val="20000"/>
                    </a:ext>
                  </a:extLst>
                </a:gridCol>
                <a:gridCol w="1407600">
                  <a:extLst>
                    <a:ext uri="{9D8B030D-6E8A-4147-A177-3AD203B41FA5}">
                      <a16:colId xmlns:a16="http://schemas.microsoft.com/office/drawing/2014/main" val="20001"/>
                    </a:ext>
                  </a:extLst>
                </a:gridCol>
                <a:gridCol w="2554500">
                  <a:extLst>
                    <a:ext uri="{9D8B030D-6E8A-4147-A177-3AD203B41FA5}">
                      <a16:colId xmlns:a16="http://schemas.microsoft.com/office/drawing/2014/main" val="20002"/>
                    </a:ext>
                  </a:extLst>
                </a:gridCol>
              </a:tblGrid>
              <a:tr h="408025">
                <a:tc>
                  <a:txBody>
                    <a:bodyPr/>
                    <a:lstStyle/>
                    <a:p>
                      <a:pPr marL="0" marR="0" lvl="0" indent="0" algn="l" rtl="0">
                        <a:spcBef>
                          <a:spcPts val="0"/>
                        </a:spcBef>
                        <a:spcAft>
                          <a:spcPts val="0"/>
                        </a:spcAft>
                        <a:buClr>
                          <a:schemeClr val="dk1"/>
                        </a:buClr>
                        <a:buSzPts val="1800"/>
                        <a:buFont typeface="Calibri"/>
                        <a:buNone/>
                      </a:pPr>
                      <a:r>
                        <a:rPr lang="en-US" sz="1800" b="1" u="none" strike="noStrike" cap="none"/>
                        <a:t>Assessment Component</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a:t>Weightage</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b="1" u="none" strike="noStrike" cap="none"/>
                        <a:t>Timeline</a:t>
                      </a:r>
                      <a:endParaRPr sz="1800" u="none" strike="noStrike" cap="none">
                        <a:latin typeface="Google Sans"/>
                        <a:ea typeface="Google Sans"/>
                        <a:cs typeface="Google Sans"/>
                        <a:sym typeface="Google Sans"/>
                      </a:endParaRPr>
                    </a:p>
                  </a:txBody>
                  <a:tcPr marL="114300" marR="114300" marT="76200" marB="76200" anchor="ctr"/>
                </a:tc>
                <a:extLst>
                  <a:ext uri="{0D108BD9-81ED-4DB2-BD59-A6C34878D82A}">
                    <a16:rowId xmlns:a16="http://schemas.microsoft.com/office/drawing/2014/main" val="10000"/>
                  </a:ext>
                </a:extLst>
              </a:tr>
              <a:tr h="408025">
                <a:tc>
                  <a:txBody>
                    <a:bodyPr/>
                    <a:lstStyle/>
                    <a:p>
                      <a:pPr marL="0" marR="0" lvl="0" indent="0" algn="l" rtl="0">
                        <a:spcBef>
                          <a:spcPts val="0"/>
                        </a:spcBef>
                        <a:spcAft>
                          <a:spcPts val="0"/>
                        </a:spcAft>
                        <a:buClr>
                          <a:schemeClr val="dk1"/>
                        </a:buClr>
                        <a:buSzPts val="1800"/>
                        <a:buFont typeface="Calibri"/>
                        <a:buNone/>
                      </a:pPr>
                      <a:r>
                        <a:rPr lang="en-US" sz="1800" b="0" u="none" strike="noStrike" cap="none"/>
                        <a:t>Class Participation (CP)</a:t>
                      </a:r>
                      <a:endParaRPr sz="1800" b="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10%</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All Weeks </a:t>
                      </a:r>
                      <a:endParaRPr sz="1800" u="none" strike="noStrike" cap="none">
                        <a:latin typeface="Google Sans"/>
                        <a:ea typeface="Google Sans"/>
                        <a:cs typeface="Google Sans"/>
                        <a:sym typeface="Google Sans"/>
                      </a:endParaRPr>
                    </a:p>
                  </a:txBody>
                  <a:tcPr marL="114300" marR="114300" marT="76200" marB="76200" anchor="ctr"/>
                </a:tc>
                <a:extLst>
                  <a:ext uri="{0D108BD9-81ED-4DB2-BD59-A6C34878D82A}">
                    <a16:rowId xmlns:a16="http://schemas.microsoft.com/office/drawing/2014/main" val="10001"/>
                  </a:ext>
                </a:extLst>
              </a:tr>
              <a:tr h="670325">
                <a:tc>
                  <a:txBody>
                    <a:bodyPr/>
                    <a:lstStyle/>
                    <a:p>
                      <a:pPr marL="0" marR="0" lvl="0" indent="0" algn="l" rtl="0">
                        <a:spcBef>
                          <a:spcPts val="0"/>
                        </a:spcBef>
                        <a:spcAft>
                          <a:spcPts val="0"/>
                        </a:spcAft>
                        <a:buClr>
                          <a:schemeClr val="dk1"/>
                        </a:buClr>
                        <a:buSzPts val="1800"/>
                        <a:buFont typeface="Calibri"/>
                        <a:buNone/>
                      </a:pPr>
                      <a:r>
                        <a:rPr lang="en-US" sz="1800" b="0" u="none" strike="noStrike" cap="none"/>
                        <a:t>Individual Assessment I: Porter's Five Forces</a:t>
                      </a:r>
                      <a:endParaRPr sz="1800" b="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05%</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Session 13 </a:t>
                      </a:r>
                      <a:endParaRPr sz="1800" u="none" strike="noStrike" cap="none">
                        <a:latin typeface="Google Sans"/>
                        <a:ea typeface="Google Sans"/>
                        <a:cs typeface="Google Sans"/>
                        <a:sym typeface="Google Sans"/>
                      </a:endParaRPr>
                    </a:p>
                  </a:txBody>
                  <a:tcPr marL="114300" marR="114300" marT="76200" marB="76200" anchor="ctr"/>
                </a:tc>
                <a:extLst>
                  <a:ext uri="{0D108BD9-81ED-4DB2-BD59-A6C34878D82A}">
                    <a16:rowId xmlns:a16="http://schemas.microsoft.com/office/drawing/2014/main" val="10002"/>
                  </a:ext>
                </a:extLst>
              </a:tr>
              <a:tr h="670325">
                <a:tc>
                  <a:txBody>
                    <a:bodyPr/>
                    <a:lstStyle/>
                    <a:p>
                      <a:pPr marL="0" marR="0" lvl="0" indent="0" algn="l" rtl="0">
                        <a:spcBef>
                          <a:spcPts val="0"/>
                        </a:spcBef>
                        <a:spcAft>
                          <a:spcPts val="0"/>
                        </a:spcAft>
                        <a:buClr>
                          <a:schemeClr val="dk1"/>
                        </a:buClr>
                        <a:buSzPts val="1800"/>
                        <a:buFont typeface="Calibri"/>
                        <a:buNone/>
                      </a:pPr>
                      <a:r>
                        <a:rPr lang="en-US" sz="1800" b="0" u="none" strike="noStrike" cap="none"/>
                        <a:t>Individual Assessment II: Amazon Report</a:t>
                      </a:r>
                      <a:endParaRPr sz="1800" b="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05%</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Session 16 </a:t>
                      </a:r>
                      <a:endParaRPr sz="1800" u="none" strike="noStrike" cap="none">
                        <a:latin typeface="Google Sans"/>
                        <a:ea typeface="Google Sans"/>
                        <a:cs typeface="Google Sans"/>
                        <a:sym typeface="Google Sans"/>
                      </a:endParaRPr>
                    </a:p>
                  </a:txBody>
                  <a:tcPr marL="114300" marR="114300" marT="76200" marB="76200" anchor="ctr"/>
                </a:tc>
                <a:extLst>
                  <a:ext uri="{0D108BD9-81ED-4DB2-BD59-A6C34878D82A}">
                    <a16:rowId xmlns:a16="http://schemas.microsoft.com/office/drawing/2014/main" val="10003"/>
                  </a:ext>
                </a:extLst>
              </a:tr>
              <a:tr h="408025">
                <a:tc>
                  <a:txBody>
                    <a:bodyPr/>
                    <a:lstStyle/>
                    <a:p>
                      <a:pPr marL="0" marR="0" lvl="0" indent="0" algn="l" rtl="0">
                        <a:spcBef>
                          <a:spcPts val="0"/>
                        </a:spcBef>
                        <a:spcAft>
                          <a:spcPts val="0"/>
                        </a:spcAft>
                        <a:buClr>
                          <a:schemeClr val="dk1"/>
                        </a:buClr>
                        <a:buSzPts val="1800"/>
                        <a:buFont typeface="Calibri"/>
                        <a:buNone/>
                      </a:pPr>
                      <a:r>
                        <a:rPr lang="en-US" sz="1800" b="0" u="none" strike="noStrike" cap="none"/>
                        <a:t>Mid-Semester Test (MST)</a:t>
                      </a:r>
                      <a:endParaRPr sz="1800" b="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20%</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Session 26 </a:t>
                      </a:r>
                      <a:endParaRPr sz="1800" u="none" strike="noStrike" cap="none">
                        <a:latin typeface="Google Sans"/>
                        <a:ea typeface="Google Sans"/>
                        <a:cs typeface="Google Sans"/>
                        <a:sym typeface="Google Sans"/>
                      </a:endParaRPr>
                    </a:p>
                  </a:txBody>
                  <a:tcPr marL="114300" marR="114300" marT="76200" marB="76200" anchor="ctr"/>
                </a:tc>
                <a:extLst>
                  <a:ext uri="{0D108BD9-81ED-4DB2-BD59-A6C34878D82A}">
                    <a16:rowId xmlns:a16="http://schemas.microsoft.com/office/drawing/2014/main" val="10004"/>
                  </a:ext>
                </a:extLst>
              </a:tr>
              <a:tr h="609000">
                <a:tc>
                  <a:txBody>
                    <a:bodyPr/>
                    <a:lstStyle/>
                    <a:p>
                      <a:pPr marL="0" marR="0" lvl="0" indent="0" algn="l" rtl="0">
                        <a:spcBef>
                          <a:spcPts val="0"/>
                        </a:spcBef>
                        <a:spcAft>
                          <a:spcPts val="0"/>
                        </a:spcAft>
                        <a:buClr>
                          <a:schemeClr val="dk1"/>
                        </a:buClr>
                        <a:buSzPts val="1800"/>
                        <a:buFont typeface="Calibri"/>
                        <a:buNone/>
                      </a:pPr>
                      <a:r>
                        <a:rPr lang="en-US" sz="1800" b="0" u="none" strike="noStrike" cap="none"/>
                        <a:t>Quizzes (4 total) </a:t>
                      </a:r>
                      <a:r>
                        <a:rPr lang="en-US" sz="1800" u="none" strike="noStrike" cap="none">
                          <a:solidFill>
                            <a:schemeClr val="dk1"/>
                          </a:solidFill>
                          <a:latin typeface="Calibri"/>
                          <a:ea typeface="Calibri"/>
                          <a:cs typeface="Calibri"/>
                          <a:sym typeface="Calibri"/>
                        </a:rPr>
                        <a:t>(Best two; 4th quiz is compulsory)</a:t>
                      </a:r>
                      <a:r>
                        <a:rPr lang="en-US" sz="1800" u="none" strike="noStrike" cap="none"/>
                        <a:t> </a:t>
                      </a:r>
                      <a:endParaRPr sz="1800" b="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20%</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Sessions 17, 24, 44, &amp; 57 </a:t>
                      </a:r>
                      <a:endParaRPr sz="1800" u="none" strike="noStrike" cap="none">
                        <a:latin typeface="Google Sans"/>
                        <a:ea typeface="Google Sans"/>
                        <a:cs typeface="Google Sans"/>
                        <a:sym typeface="Google Sans"/>
                      </a:endParaRPr>
                    </a:p>
                  </a:txBody>
                  <a:tcPr marL="114300" marR="114300" marT="76200" marB="76200" anchor="ctr"/>
                </a:tc>
                <a:extLst>
                  <a:ext uri="{0D108BD9-81ED-4DB2-BD59-A6C34878D82A}">
                    <a16:rowId xmlns:a16="http://schemas.microsoft.com/office/drawing/2014/main" val="10005"/>
                  </a:ext>
                </a:extLst>
              </a:tr>
              <a:tr h="408025">
                <a:tc>
                  <a:txBody>
                    <a:bodyPr/>
                    <a:lstStyle/>
                    <a:p>
                      <a:pPr marL="0" marR="0" lvl="0" indent="0" algn="l" rtl="0">
                        <a:spcBef>
                          <a:spcPts val="0"/>
                        </a:spcBef>
                        <a:spcAft>
                          <a:spcPts val="0"/>
                        </a:spcAft>
                        <a:buClr>
                          <a:schemeClr val="dk1"/>
                        </a:buClr>
                        <a:buSzPts val="1800"/>
                        <a:buFont typeface="Calibri"/>
                        <a:buNone/>
                      </a:pPr>
                      <a:r>
                        <a:rPr lang="en-US" sz="1800" b="0" u="none" strike="noStrike" cap="none"/>
                        <a:t>End-Semester Examination</a:t>
                      </a:r>
                      <a:endParaRPr sz="1800" b="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40%</a:t>
                      </a:r>
                      <a:endParaRPr sz="1800" u="none" strike="noStrike" cap="none">
                        <a:latin typeface="Google Sans"/>
                        <a:ea typeface="Google Sans"/>
                        <a:cs typeface="Google Sans"/>
                        <a:sym typeface="Google Sans"/>
                      </a:endParaRPr>
                    </a:p>
                  </a:txBody>
                  <a:tcPr marL="114300" marR="114300" marT="76200" marB="76200" anchor="ctr"/>
                </a:tc>
                <a:tc>
                  <a:txBody>
                    <a:bodyPr/>
                    <a:lstStyle/>
                    <a:p>
                      <a:pPr marL="0" marR="0" lvl="0" indent="0" algn="l" rtl="0">
                        <a:spcBef>
                          <a:spcPts val="0"/>
                        </a:spcBef>
                        <a:spcAft>
                          <a:spcPts val="0"/>
                        </a:spcAft>
                        <a:buClr>
                          <a:schemeClr val="dk1"/>
                        </a:buClr>
                        <a:buSzPts val="1800"/>
                        <a:buFont typeface="Calibri"/>
                        <a:buNone/>
                      </a:pPr>
                      <a:r>
                        <a:rPr lang="en-US" sz="1800" u="none" strike="noStrike" cap="none"/>
                        <a:t>Final Exam Schedule </a:t>
                      </a:r>
                      <a:endParaRPr sz="1800" u="none" strike="noStrike" cap="none">
                        <a:latin typeface="Google Sans"/>
                        <a:ea typeface="Google Sans"/>
                        <a:cs typeface="Google Sans"/>
                        <a:sym typeface="Google Sans"/>
                      </a:endParaRPr>
                    </a:p>
                  </a:txBody>
                  <a:tcPr marL="114300" marR="114300" marT="76200" marB="76200" anchor="ctr"/>
                </a:tc>
                <a:extLst>
                  <a:ext uri="{0D108BD9-81ED-4DB2-BD59-A6C34878D82A}">
                    <a16:rowId xmlns:a16="http://schemas.microsoft.com/office/drawing/2014/main" val="10006"/>
                  </a:ext>
                </a:extLst>
              </a:tr>
            </a:tbl>
          </a:graphicData>
        </a:graphic>
      </p:graphicFrame>
      <p:sp>
        <p:nvSpPr>
          <p:cNvPr id="140" name="Google Shape;140;p9"/>
          <p:cNvSpPr txBox="1"/>
          <p:nvPr/>
        </p:nvSpPr>
        <p:spPr>
          <a:xfrm>
            <a:off x="365760" y="256771"/>
            <a:ext cx="4572000" cy="4770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B20E38"/>
              </a:buClr>
              <a:buSzPts val="2500"/>
              <a:buFont typeface="Montserrat SemiBold"/>
              <a:buNone/>
            </a:pPr>
            <a:r>
              <a:rPr lang="en-US" sz="2500" b="1">
                <a:solidFill>
                  <a:srgbClr val="B20E38"/>
                </a:solidFill>
                <a:latin typeface="Montserrat SemiBold"/>
                <a:ea typeface="Montserrat SemiBold"/>
                <a:cs typeface="Montserrat SemiBold"/>
                <a:sym typeface="Montserrat SemiBold"/>
              </a:rPr>
              <a:t>Assessment Scheme</a:t>
            </a:r>
            <a:endParaRPr sz="25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986</Words>
  <Application>Microsoft Office PowerPoint</Application>
  <PresentationFormat>On-screen Show (16:9)</PresentationFormat>
  <Paragraphs>118</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Montserrat</vt:lpstr>
      <vt:lpstr>Arial</vt:lpstr>
      <vt:lpstr>Google Sans</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PptxGenJS</dc:creator>
  <cp:lastModifiedBy>Shridhar samant</cp:lastModifiedBy>
  <cp:revision>5</cp:revision>
  <dcterms:created xsi:type="dcterms:W3CDTF">2026-07-31T08:35:16Z</dcterms:created>
  <dcterms:modified xsi:type="dcterms:W3CDTF">2026-08-24T19:19:35Z</dcterms:modified>
</cp:coreProperties>
</file>