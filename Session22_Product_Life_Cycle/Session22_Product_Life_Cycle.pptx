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72" r:id="rId4"/>
    <p:sldId id="258" r:id="rId5"/>
    <p:sldId id="273" r:id="rId6"/>
    <p:sldId id="274" r:id="rId7"/>
    <p:sldId id="259" r:id="rId8"/>
    <p:sldId id="260" r:id="rId9"/>
    <p:sldId id="275" r:id="rId10"/>
    <p:sldId id="261" r:id="rId11"/>
    <p:sldId id="276" r:id="rId12"/>
    <p:sldId id="262" r:id="rId13"/>
    <p:sldId id="277" r:id="rId14"/>
    <p:sldId id="263" r:id="rId15"/>
    <p:sldId id="278" r:id="rId16"/>
    <p:sldId id="264" r:id="rId17"/>
    <p:sldId id="279" r:id="rId18"/>
    <p:sldId id="265" r:id="rId19"/>
    <p:sldId id="266" r:id="rId20"/>
    <p:sldId id="280" r:id="rId21"/>
    <p:sldId id="267" r:id="rId22"/>
    <p:sldId id="282" r:id="rId23"/>
    <p:sldId id="281" r:id="rId24"/>
    <p:sldId id="283" r:id="rId25"/>
    <p:sldId id="268" r:id="rId26"/>
    <p:sldId id="269" r:id="rId27"/>
    <p:sldId id="270" r:id="rId28"/>
    <p:sldId id="284" r:id="rId29"/>
    <p:sldId id="286" r:id="rId30"/>
    <p:sldId id="285" r:id="rId31"/>
    <p:sldId id="271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580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4608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33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93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13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98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42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526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416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844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335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80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446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D657-8664-0754-47C8-8B87E5566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1A120-A12A-A4D3-A335-BFE20B06E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B0CCA-C09A-37A8-01AD-83C9179C2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A3B6E-D9DF-DC35-21E7-58859F4FEC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814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D657-8664-0754-47C8-8B87E5566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1A120-A12A-A4D3-A335-BFE20B06E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B0CCA-C09A-37A8-01AD-83C9179C2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A3B6E-D9DF-DC35-21E7-58859F4FEC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056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3F08-C551-769F-987C-6F4C5010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B9456-7C70-A6C5-1E32-04E0D38CE4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122366-3E7A-BDED-B6A7-42D82B06C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2C16-E32B-CA5E-208E-F1604376F5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61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STRATEGIES FOR BUSINESS GROWTH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21945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Product Life Cycle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6 · Session 22 · How Products Age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 &amp; BRIDGE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Missing Dimension: Time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 &amp; BRIDGE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Missing Dimension: Time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BCG matrix gives you a snapshot — where a business sits right now.
</a:t>
            </a:r>
            <a:r>
              <a:rPr lang="en-US" sz="15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But businesses move. </a:t>
            </a: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Question Mark can become a Star. A Star eventually becomes a Cash Cow. A Cash Cow can slide into a Dog.
The Product Life Cycle (PLC) explains exactly how and why that movement happens.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15026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the Product Life Cycle?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the Product Life Cycle?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product moves through a predictable sequence of stages from launch to eventual decline — </a:t>
            </a:r>
            <a:r>
              <a:rPr lang="en-US" sz="15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Introduction, Growth, Maturity, and Decline.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and profit behave differently at each stage, and so should your strategy — pricing, marketing, and competitive response all need to shift as a product ages.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956537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FOUR STAGES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Introduction, Growth, Maturity, Decline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1. Introduction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2. Growth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3. Maturity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4. Decline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0744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FOUR STAGES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Introduction, Growth, Maturity, Decline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1. Introduction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just launched. Sales are low, costs are high, and awareness is still building.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2. Growth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accelerate fast. Competitors start noticing and entering the market.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3. Maturity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peak and flatten. The market is saturated; growth slows to near zero.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4. Decline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fall as demand fades, tastes shift, or newer alternatives take over.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Ola Electric Scooters: Just Getting Started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Ola Electric Scooters: Just Getting Started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Ola launched its electric scooters into a market still forming, with low overall EV two-wheeler penetration in India.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2494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it looks like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Heavy marketing spend, aggressive pricing to build trial, and a focus on awareness over profit.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136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strategic task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655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 early adopters on board and prove the category works, even at a loss  profit isn't the goal yet.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52143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04673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UPI Payments: The Growth Years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04673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UPI Payments: The Growth Years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Between roughly 2018 and 2021, UPI transaction volumes grew explosively as PhonePe, Google Pay, and Paytm all raced for share.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2494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it looks like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Rapid adoption, new competitors entering monthly, and heavy feature-matching between rivals.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136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strategic task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655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Grab share fast, because your growth-stage position often determines your maturity-stage position later.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83576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Parle-G: Decades in Maturity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Parle-G: Decades in Maturity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Parle-G biscuits have held a stable, dominant position in India's glucose-biscuit category for decades.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1854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it looks like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are large but roughly flat year over year; competition is about defending share, not growing the category.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0723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strategic task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0156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 margins, defend distribution, and look for small line extensions rather than expecting big new growth.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8193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Nokia Feature Phones: A Long, Slow Decline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Nokia Feature Phones: A Long, Slow Decline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Once dominant, Nokia's classic feature phones lost relevance as smartphones took over the market after 2010.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1854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it looks like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Falling sales, shrinking retailer interest, and shrinking investment in the product line.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0266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strategic task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3558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 whether to milk remaining demand for cash, or exit the category entirely — Nokia largely exited.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31478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CONNECTING THE DOTS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PLC and BCG, Side by Side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two frameworks describe the same journey from different angles:
</a:t>
            </a:r>
            <a:r>
              <a:rPr lang="en-US" sz="145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</a:t>
            </a: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        </a:t>
            </a:r>
            <a:r>
              <a:rPr lang="en-US" sz="145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</a:t>
            </a: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
</a:t>
            </a:r>
            <a:r>
              <a:rPr lang="en-US" sz="145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Maturity </a:t>
            </a: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        </a:t>
            </a:r>
            <a:r>
              <a:rPr lang="en-US" sz="145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Decline </a:t>
            </a:r>
            <a:r>
              <a:rPr lang="en-US" sz="14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
</a:t>
            </a: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PLC explains the movement between BCG quadrants over time.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Boncho’s</a:t>
            </a: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Momos — Her Products on the PLC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Growth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Maturity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Decline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70326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 err="1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Boncho’s</a:t>
            </a: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Momos — Her Products on the PLC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 new fusion-momos menu, launched just a few months ago.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Growth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 catering-for-events line, picking up fast word-of-mouth demand.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Maturity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 original steamed momos — steady, reliable, well-known locally.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06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Decline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old snack item she's phasing out due to falling demand.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RESPONSE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Extending the Life Cycle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RESPONSE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Extending the Life Cycle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Maturity doesn't have to mean the end. Companies often </a:t>
            </a:r>
            <a:r>
              <a:rPr lang="en-US" sz="15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extend</a:t>
            </a:r>
            <a:r>
              <a:rPr lang="en-US" sz="15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product's life through relaunches, new variants, or new uses.
Maggi has repeatedly added variants (Atta Noodles, Cuppa Noodles) to keep a decades-old product feeling fresh, rather than letting it slide into decline.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80980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Limitations of the Product Life Cycle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Limitations of the Product Life Cycle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Not every product follows a neat curve some skip stages or jump straight to decline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488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It's easier to identify a stage in hindsight than to predict it in advance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0632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Category-level cycles don't always match individual brand performance within that category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External shocks (a new technology, a pandemic) can override the natural curve entirely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/ 16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57132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RESPONSE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Extending the Life Cycle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16</a:t>
            </a:r>
            <a:endParaRPr lang="en-US" sz="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49193F-F072-4531-B402-DCDCDF37C4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65384"/>
              </p:ext>
            </p:extLst>
          </p:nvPr>
        </p:nvGraphicFramePr>
        <p:xfrm>
          <a:off x="440012" y="983152"/>
          <a:ext cx="8098971" cy="3571842"/>
        </p:xfrm>
        <a:graphic>
          <a:graphicData uri="http://schemas.openxmlformats.org/drawingml/2006/table">
            <a:tbl>
              <a:tblPr/>
              <a:tblGrid>
                <a:gridCol w="2227561">
                  <a:extLst>
                    <a:ext uri="{9D8B030D-6E8A-4147-A177-3AD203B41FA5}">
                      <a16:colId xmlns:a16="http://schemas.microsoft.com/office/drawing/2014/main" val="3407646306"/>
                    </a:ext>
                  </a:extLst>
                </a:gridCol>
                <a:gridCol w="1519416">
                  <a:extLst>
                    <a:ext uri="{9D8B030D-6E8A-4147-A177-3AD203B41FA5}">
                      <a16:colId xmlns:a16="http://schemas.microsoft.com/office/drawing/2014/main" val="2859360676"/>
                    </a:ext>
                  </a:extLst>
                </a:gridCol>
                <a:gridCol w="4351994">
                  <a:extLst>
                    <a:ext uri="{9D8B030D-6E8A-4147-A177-3AD203B41FA5}">
                      <a16:colId xmlns:a16="http://schemas.microsoft.com/office/drawing/2014/main" val="4142926920"/>
                    </a:ext>
                  </a:extLst>
                </a:gridCol>
              </a:tblGrid>
              <a:tr h="107028">
                <a:tc>
                  <a:txBody>
                    <a:bodyPr/>
                    <a:lstStyle/>
                    <a:p>
                      <a:r>
                        <a:rPr lang="en-IN" sz="1000"/>
                        <a:t>Pattern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Example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971281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 dirty="0"/>
                        <a:t>Introduction → Decline</a:t>
                      </a:r>
                      <a:endParaRPr lang="en-IN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/>
                        <a:t>Google Glass</a:t>
                      </a:r>
                      <a:endParaRPr lang="en-IN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3443537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/>
                        <a:t>Introduction → Growth (very rapidly)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ChatGPT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91477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/>
                        <a:t>Growth → Decline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BlackBerry smartphones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21628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/>
                        <a:t>Maturity → New Growth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LEGO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274101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/>
                        <a:t>Decline → Revival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Nokia 3310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6957318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/>
                        <a:t>Long Maturity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Coca-Cola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90881"/>
                  </a:ext>
                </a:extLst>
              </a:tr>
              <a:tr h="481494">
                <a:tc>
                  <a:txBody>
                    <a:bodyPr/>
                    <a:lstStyle/>
                    <a:p>
                      <a:r>
                        <a:rPr lang="en-US" sz="1000" b="1"/>
                        <a:t>Stage skipped / never achieved scale</a:t>
                      </a:r>
                      <a:endParaRPr lang="en-US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3D TV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205537"/>
                  </a:ext>
                </a:extLst>
              </a:tr>
              <a:tr h="481494">
                <a:tc>
                  <a:txBody>
                    <a:bodyPr/>
                    <a:lstStyle/>
                    <a:p>
                      <a:r>
                        <a:rPr lang="en-IN" sz="1000" b="1"/>
                        <a:t>Disrupted before maturity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DVD players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48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6836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RESPONSE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Extending the Life Cycle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16</a:t>
            </a:r>
            <a:endParaRPr lang="en-US" sz="8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49193F-F072-4531-B402-DCDCDF37C4EC}"/>
              </a:ext>
            </a:extLst>
          </p:cNvPr>
          <p:cNvGraphicFramePr>
            <a:graphicFrameLocks noGrp="1"/>
          </p:cNvGraphicFramePr>
          <p:nvPr/>
        </p:nvGraphicFramePr>
        <p:xfrm>
          <a:off x="440012" y="983152"/>
          <a:ext cx="8098971" cy="3571842"/>
        </p:xfrm>
        <a:graphic>
          <a:graphicData uri="http://schemas.openxmlformats.org/drawingml/2006/table">
            <a:tbl>
              <a:tblPr/>
              <a:tblGrid>
                <a:gridCol w="2227561">
                  <a:extLst>
                    <a:ext uri="{9D8B030D-6E8A-4147-A177-3AD203B41FA5}">
                      <a16:colId xmlns:a16="http://schemas.microsoft.com/office/drawing/2014/main" val="3407646306"/>
                    </a:ext>
                  </a:extLst>
                </a:gridCol>
                <a:gridCol w="1519416">
                  <a:extLst>
                    <a:ext uri="{9D8B030D-6E8A-4147-A177-3AD203B41FA5}">
                      <a16:colId xmlns:a16="http://schemas.microsoft.com/office/drawing/2014/main" val="2859360676"/>
                    </a:ext>
                  </a:extLst>
                </a:gridCol>
                <a:gridCol w="4351994">
                  <a:extLst>
                    <a:ext uri="{9D8B030D-6E8A-4147-A177-3AD203B41FA5}">
                      <a16:colId xmlns:a16="http://schemas.microsoft.com/office/drawing/2014/main" val="4142926920"/>
                    </a:ext>
                  </a:extLst>
                </a:gridCol>
              </a:tblGrid>
              <a:tr h="107028">
                <a:tc>
                  <a:txBody>
                    <a:bodyPr/>
                    <a:lstStyle/>
                    <a:p>
                      <a:r>
                        <a:rPr lang="en-IN" sz="1000"/>
                        <a:t>Pattern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Example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/>
                        <a:t>What happened?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971281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 dirty="0"/>
                        <a:t>Introduction → Decline</a:t>
                      </a:r>
                      <a:endParaRPr lang="en-IN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dirty="0"/>
                        <a:t>Google Glass</a:t>
                      </a:r>
                      <a:endParaRPr lang="en-IN" sz="1000" dirty="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Launched with huge expectations but failed to gain mainstream consumer acceptance and quickly declined.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3443537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/>
                        <a:t>Introduction → Growth (very rapidly)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ChatGPT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Adoption grew extraordinarily quickly after launch, with little conventional “slow introduction” phase.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91477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/>
                        <a:t>Growth → Decline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BlackBerry smartphones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Strong growth and maturity, followed by a rapid decline when iPhone/Android changed the market.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521628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/>
                        <a:t>Maturity → New Growth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LEGO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Faced decline/near-crisis, then revived through new product lines, partnerships and stronger customer engagement.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274101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/>
                        <a:t>Decline → Revival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Nokia 3310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The original product declined, but the brand revived the product concept with a redesigned version.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6957318"/>
                  </a:ext>
                </a:extLst>
              </a:tr>
              <a:tr h="405469">
                <a:tc>
                  <a:txBody>
                    <a:bodyPr/>
                    <a:lstStyle/>
                    <a:p>
                      <a:r>
                        <a:rPr lang="en-IN" sz="1000" b="1"/>
                        <a:t>Long Maturity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Coca-Cola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Has remained a mature product for decades through continuous marketing, distribution and product variations.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90881"/>
                  </a:ext>
                </a:extLst>
              </a:tr>
              <a:tr h="481494">
                <a:tc>
                  <a:txBody>
                    <a:bodyPr/>
                    <a:lstStyle/>
                    <a:p>
                      <a:r>
                        <a:rPr lang="en-US" sz="1000" b="1"/>
                        <a:t>Stage skipped / never achieved scale</a:t>
                      </a:r>
                      <a:endParaRPr lang="en-US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3D TV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Introduced with considerable industry interest but never achieved mass-market growth and moved toward decline.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205537"/>
                  </a:ext>
                </a:extLst>
              </a:tr>
              <a:tr h="481494">
                <a:tc>
                  <a:txBody>
                    <a:bodyPr/>
                    <a:lstStyle/>
                    <a:p>
                      <a:r>
                        <a:rPr lang="en-IN" sz="1000" b="1"/>
                        <a:t>Disrupted before maturity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/>
                        <a:t>DVD players</a:t>
                      </a:r>
                      <a:endParaRPr lang="en-IN" sz="1000"/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Digital streaming and smartphones accelerated decline before the product could enjoy a prolonged maturity period.</a:t>
                      </a:r>
                    </a:p>
                  </a:txBody>
                  <a:tcPr marL="23640" marR="23640" marT="11820" marB="11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48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5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Common Pitfalls When Using the PLC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Assuming maturity always means decline is coming soon  some products stay mature for decades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1488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Applying growth-stage marketing spend to a product that's already mature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0632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Ignoring how competitors' stage differs from your own, even in the same category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Forgetting that relaunches and line extensions can reset part of the curve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EXERCISE · 5-7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Live Build: Name the Stage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I'll name a real Indian product or category PLC stage 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Key Takeaways from Today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3444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product moves through Introduction, Growth, Maturity, and Decline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842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needs to change at each stage what works in Growth can fail in Maturity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3405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2734056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PLC and BCG describe the same journey: stages roughly map to quadrants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8386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483864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Products can be extended past Maturity through relaunches and new variants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F2522-50E7-9445-79C1-BC82C3D6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>
            <a:extLst>
              <a:ext uri="{FF2B5EF4-FFF2-40B4-BE49-F238E27FC236}">
                <a16:creationId xmlns:a16="http://schemas.microsoft.com/office/drawing/2014/main" id="{2BBEDA3C-8715-23FC-3F75-EF242E008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4E43B89-D44E-6CEB-40C5-FF32916434A1}"/>
              </a:ext>
            </a:extLst>
          </p:cNvPr>
          <p:cNvSpPr/>
          <p:nvPr/>
        </p:nvSpPr>
        <p:spPr>
          <a:xfrm>
            <a:off x="378381" y="24003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3F168E6-B4AF-6359-DE08-DF149F9A1B70}"/>
              </a:ext>
            </a:extLst>
          </p:cNvPr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Madman Theory</a:t>
            </a:r>
            <a:endParaRPr lang="en-US" sz="2550" dirty="0"/>
          </a:p>
        </p:txBody>
      </p:sp>
    </p:spTree>
    <p:extLst>
      <p:ext uri="{BB962C8B-B14F-4D97-AF65-F5344CB8AC3E}">
        <p14:creationId xmlns:p14="http://schemas.microsoft.com/office/powerpoint/2010/main" val="1086696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F2522-50E7-9445-79C1-BC82C3D6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>
            <a:extLst>
              <a:ext uri="{FF2B5EF4-FFF2-40B4-BE49-F238E27FC236}">
                <a16:creationId xmlns:a16="http://schemas.microsoft.com/office/drawing/2014/main" id="{2BBEDA3C-8715-23FC-3F75-EF242E008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4E43B89-D44E-6CEB-40C5-FF32916434A1}"/>
              </a:ext>
            </a:extLst>
          </p:cNvPr>
          <p:cNvSpPr/>
          <p:nvPr/>
        </p:nvSpPr>
        <p:spPr>
          <a:xfrm>
            <a:off x="378381" y="24003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3F168E6-B4AF-6359-DE08-DF149F9A1B70}"/>
              </a:ext>
            </a:extLst>
          </p:cNvPr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Madman Theory</a:t>
            </a:r>
            <a:endParaRPr lang="en-US" sz="25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CC8DB87-0084-3378-8A3B-C515D1833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238" y="1682464"/>
            <a:ext cx="4214289" cy="280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654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FA3E5-0A10-40D3-68E6-0953B2C57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>
            <a:extLst>
              <a:ext uri="{FF2B5EF4-FFF2-40B4-BE49-F238E27FC236}">
                <a16:creationId xmlns:a16="http://schemas.microsoft.com/office/drawing/2014/main" id="{816E633B-D35D-C94A-A335-36A5A7480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2D08C68-E9F9-8558-02C1-34049DFA0C91}"/>
              </a:ext>
            </a:extLst>
          </p:cNvPr>
          <p:cNvSpPr/>
          <p:nvPr/>
        </p:nvSpPr>
        <p:spPr>
          <a:xfrm>
            <a:off x="378381" y="24003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3905CF3-F990-10EF-CB0B-AEF88DF1CFBB}"/>
              </a:ext>
            </a:extLst>
          </p:cNvPr>
          <p:cNvSpPr/>
          <p:nvPr/>
        </p:nvSpPr>
        <p:spPr>
          <a:xfrm>
            <a:off x="378381" y="651510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255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Madman Theory</a:t>
            </a:r>
            <a:endParaRPr lang="en-US" sz="25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8AF388F-C0DC-A2E5-A598-4A3A42EDA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81" y="1474471"/>
            <a:ext cx="2043732" cy="13624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CB6437-2AA2-523E-C9E6-B78C9F8C3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1611" y="1234440"/>
            <a:ext cx="5148668" cy="3432445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B861F59D-E17D-4393-D730-DEC4A32188C0}"/>
              </a:ext>
            </a:extLst>
          </p:cNvPr>
          <p:cNvSpPr/>
          <p:nvPr/>
        </p:nvSpPr>
        <p:spPr>
          <a:xfrm>
            <a:off x="3126749" y="1470169"/>
            <a:ext cx="2159343" cy="3132437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127889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 &amp; NEXT SESSION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Sources &amp; What's Coming Up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Required Reading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Levitt, T. (1965). "Exploit the Product Life Cycle." Harvard Business Review.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Case &amp; History Sources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8775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Public accounts of Ola Electric, UPI payment apps' growth phase, Parle-G, and Nokia's feature-phone decline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4114800" cy="2834640"/>
          </a:xfrm>
          <a:prstGeom prst="roundRect">
            <a:avLst>
              <a:gd name="adj" fmla="val 193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Coming Up — Session 23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GAP Analysis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377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A2A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We'll look at how to measure the distance between where a business is headed and where it wants to be — and how to close that gap.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No prep needed — just come ready to build.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1456</Words>
  <Application>Microsoft Office PowerPoint</Application>
  <PresentationFormat>On-screen Show (16:9)</PresentationFormat>
  <Paragraphs>242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Shridhar samant</cp:lastModifiedBy>
  <cp:revision>3</cp:revision>
  <dcterms:created xsi:type="dcterms:W3CDTF">2026-09-08T14:45:25Z</dcterms:created>
  <dcterms:modified xsi:type="dcterms:W3CDTF">2026-09-16T04:07:32Z</dcterms:modified>
</cp:coreProperties>
</file>