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8" r:id="rId3"/>
    <p:sldId id="259" r:id="rId4"/>
    <p:sldId id="276" r:id="rId5"/>
    <p:sldId id="260" r:id="rId6"/>
    <p:sldId id="277" r:id="rId7"/>
    <p:sldId id="261" r:id="rId8"/>
    <p:sldId id="278" r:id="rId9"/>
    <p:sldId id="263" r:id="rId10"/>
    <p:sldId id="291" r:id="rId11"/>
    <p:sldId id="264" r:id="rId12"/>
    <p:sldId id="265" r:id="rId13"/>
    <p:sldId id="266" r:id="rId14"/>
    <p:sldId id="267" r:id="rId15"/>
    <p:sldId id="268" r:id="rId16"/>
    <p:sldId id="269" r:id="rId17"/>
    <p:sldId id="270" r:id="rId18"/>
    <p:sldId id="271" r:id="rId19"/>
    <p:sldId id="279" r:id="rId20"/>
    <p:sldId id="280" r:id="rId21"/>
    <p:sldId id="292" r:id="rId22"/>
    <p:sldId id="281" r:id="rId23"/>
    <p:sldId id="282" r:id="rId24"/>
    <p:sldId id="262" r:id="rId25"/>
    <p:sldId id="283" r:id="rId26"/>
    <p:sldId id="284" r:id="rId27"/>
    <p:sldId id="285" r:id="rId28"/>
    <p:sldId id="286" r:id="rId29"/>
    <p:sldId id="287" r:id="rId30"/>
    <p:sldId id="288" r:id="rId31"/>
    <p:sldId id="289" r:id="rId32"/>
    <p:sldId id="290" r:id="rId33"/>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8" d="100"/>
          <a:sy n="78" d="100"/>
        </p:scale>
        <p:origin x="545" y="4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28548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765256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4342326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36503656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8630906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2346245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86414812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EDD2"/>
        </a:solidFill>
        <a:effectLst/>
      </p:bgPr>
    </p:bg>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731520" y="2286000"/>
            <a:ext cx="10698480" cy="914400"/>
          </a:xfrm>
          <a:prstGeom prst="rect">
            <a:avLst/>
          </a:prstGeom>
          <a:noFill/>
          <a:ln/>
        </p:spPr>
        <p:txBody>
          <a:bodyPr wrap="square" lIns="0" tIns="0" rIns="0" bIns="0" rtlCol="0" anchor="ctr"/>
          <a:lstStyle/>
          <a:p>
            <a:pPr marL="0" indent="0" algn="ctr">
              <a:buNone/>
            </a:pPr>
            <a:r>
              <a:rPr lang="en-US" sz="3800" b="1" dirty="0">
                <a:solidFill>
                  <a:srgbClr val="1A1A1A"/>
                </a:solidFill>
                <a:latin typeface="Montserrat SemiBold" pitchFamily="34" charset="0"/>
                <a:ea typeface="Montserrat SemiBold" pitchFamily="34" charset="-122"/>
                <a:cs typeface="Montserrat SemiBold" pitchFamily="34" charset="-120"/>
              </a:rPr>
              <a:t>Strategies for Business Growth</a:t>
            </a:r>
            <a:endParaRPr lang="en-US" sz="3800" dirty="0"/>
          </a:p>
        </p:txBody>
      </p:sp>
      <p:sp>
        <p:nvSpPr>
          <p:cNvPr id="6" name="Text 4"/>
          <p:cNvSpPr/>
          <p:nvPr/>
        </p:nvSpPr>
        <p:spPr>
          <a:xfrm>
            <a:off x="731520" y="3108960"/>
            <a:ext cx="10698480" cy="548640"/>
          </a:xfrm>
          <a:prstGeom prst="rect">
            <a:avLst/>
          </a:prstGeom>
          <a:noFill/>
          <a:ln/>
        </p:spPr>
        <p:txBody>
          <a:bodyPr wrap="square" lIns="0" tIns="0" rIns="0" bIns="0" rtlCol="0" anchor="ctr"/>
          <a:lstStyle/>
          <a:p>
            <a:pPr marL="0" indent="0" algn="ctr">
              <a:buNone/>
            </a:pPr>
            <a:r>
              <a:rPr lang="en-US" sz="2200" b="1" dirty="0">
                <a:solidFill>
                  <a:srgbClr val="B20E38"/>
                </a:solidFill>
                <a:latin typeface="Montserrat SemiBold" pitchFamily="34" charset="0"/>
                <a:ea typeface="Montserrat SemiBold" pitchFamily="34" charset="-122"/>
                <a:cs typeface="Montserrat SemiBold" pitchFamily="34" charset="-120"/>
              </a:rPr>
              <a:t>Week 7 · Session 26 &amp; 27</a:t>
            </a:r>
            <a:endParaRPr lang="en-US" sz="2200" dirty="0"/>
          </a:p>
        </p:txBody>
      </p:sp>
      <p:sp>
        <p:nvSpPr>
          <p:cNvPr id="7" name="Text 5"/>
          <p:cNvSpPr/>
          <p:nvPr/>
        </p:nvSpPr>
        <p:spPr>
          <a:xfrm>
            <a:off x="731520" y="3703320"/>
            <a:ext cx="10698480" cy="548640"/>
          </a:xfrm>
          <a:prstGeom prst="rect">
            <a:avLst/>
          </a:prstGeom>
          <a:noFill/>
          <a:ln/>
        </p:spPr>
        <p:txBody>
          <a:bodyPr wrap="square" lIns="0" tIns="0" rIns="0" bIns="0" rtlCol="0" anchor="ctr"/>
          <a:lstStyle/>
          <a:p>
            <a:pPr marL="0" indent="0" algn="ctr">
              <a:buNone/>
            </a:pPr>
            <a:r>
              <a:rPr lang="en-US" sz="2000" i="1" dirty="0">
                <a:solidFill>
                  <a:srgbClr val="2A2A2A"/>
                </a:solidFill>
                <a:latin typeface="Montserrat" pitchFamily="34" charset="0"/>
                <a:ea typeface="Montserrat" pitchFamily="34" charset="-122"/>
                <a:cs typeface="Montserrat" pitchFamily="34" charset="-120"/>
              </a:rPr>
              <a:t>Porter's Generic Competitive Strategies, Blue &amp; Red Ocean</a:t>
            </a:r>
            <a:endParaRPr lang="en-US" sz="2000" dirty="0"/>
          </a:p>
        </p:txBody>
      </p:sp>
      <p:sp>
        <p:nvSpPr>
          <p:cNvPr id="8" name="Text 6"/>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1 / 20</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EDD2"/>
        </a:solidFill>
        <a:effectLst/>
      </p:bgPr>
    </p:bg>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Core Concept</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Three Ways to Win, and Nothing In Between</a:t>
            </a:r>
            <a:endParaRPr lang="en-US" sz="3200" dirty="0"/>
          </a:p>
        </p:txBody>
      </p:sp>
      <p:sp>
        <p:nvSpPr>
          <p:cNvPr id="8" name="Shape 6"/>
          <p:cNvSpPr/>
          <p:nvPr/>
        </p:nvSpPr>
        <p:spPr>
          <a:xfrm>
            <a:off x="731520" y="2286000"/>
            <a:ext cx="3429000" cy="3291840"/>
          </a:xfrm>
          <a:prstGeom prst="roundRect">
            <a:avLst>
              <a:gd name="adj" fmla="val 2222"/>
            </a:avLst>
          </a:prstGeom>
          <a:solidFill>
            <a:srgbClr val="FFFFFF">
              <a:alpha val="70000"/>
            </a:srgbClr>
          </a:solidFill>
          <a:ln/>
        </p:spPr>
      </p:sp>
      <p:sp>
        <p:nvSpPr>
          <p:cNvPr id="9" name="Text 7"/>
          <p:cNvSpPr/>
          <p:nvPr/>
        </p:nvSpPr>
        <p:spPr>
          <a:xfrm>
            <a:off x="914400" y="2468880"/>
            <a:ext cx="3063240" cy="640080"/>
          </a:xfrm>
          <a:prstGeom prst="rect">
            <a:avLst/>
          </a:prstGeom>
          <a:noFill/>
          <a:ln/>
        </p:spPr>
        <p:txBody>
          <a:bodyPr wrap="square" lIns="0" tIns="0" rIns="0" bIns="0" rtlCol="0" anchor="ctr"/>
          <a:lstStyle/>
          <a:p>
            <a:pPr marL="0" indent="0" algn="ctr">
              <a:buNone/>
            </a:pPr>
            <a:r>
              <a:rPr lang="en-US" sz="1700" b="1" dirty="0">
                <a:solidFill>
                  <a:srgbClr val="B20E38"/>
                </a:solidFill>
                <a:latin typeface="Montserrat SemiBold" pitchFamily="34" charset="0"/>
                <a:ea typeface="Montserrat SemiBold" pitchFamily="34" charset="-122"/>
                <a:cs typeface="Montserrat SemiBold" pitchFamily="34" charset="-120"/>
              </a:rPr>
              <a:t>Cost Leadership</a:t>
            </a:r>
            <a:endParaRPr lang="en-US" sz="1700" dirty="0"/>
          </a:p>
        </p:txBody>
      </p:sp>
      <p:sp>
        <p:nvSpPr>
          <p:cNvPr id="10" name="Text 8"/>
          <p:cNvSpPr/>
          <p:nvPr/>
        </p:nvSpPr>
        <p:spPr>
          <a:xfrm>
            <a:off x="914400" y="3200400"/>
            <a:ext cx="3063240" cy="2194560"/>
          </a:xfrm>
          <a:prstGeom prst="rect">
            <a:avLst/>
          </a:prstGeom>
          <a:noFill/>
          <a:ln/>
        </p:spPr>
        <p:txBody>
          <a:bodyPr wrap="square" lIns="0" tIns="0" rIns="0" bIns="0" rtlCol="0" anchor="ctr"/>
          <a:lstStyle/>
          <a:p>
            <a:pPr marL="0" indent="0" algn="ctr">
              <a:lnSpc>
                <a:spcPct val="135000"/>
              </a:lnSpc>
              <a:buNone/>
            </a:pPr>
            <a:r>
              <a:rPr lang="en-US" sz="1350" dirty="0">
                <a:solidFill>
                  <a:srgbClr val="1A1A1A"/>
                </a:solidFill>
                <a:latin typeface="Montserrat" pitchFamily="34" charset="0"/>
                <a:ea typeface="Montserrat" pitchFamily="34" charset="-122"/>
                <a:cs typeface="Montserrat" pitchFamily="34" charset="-120"/>
              </a:rPr>
              <a:t>Be the lowest-cost producer in the industry, broad market</a:t>
            </a:r>
            <a:endParaRPr lang="en-US" sz="1350" dirty="0"/>
          </a:p>
        </p:txBody>
      </p:sp>
      <p:sp>
        <p:nvSpPr>
          <p:cNvPr id="11" name="Shape 9"/>
          <p:cNvSpPr/>
          <p:nvPr/>
        </p:nvSpPr>
        <p:spPr>
          <a:xfrm>
            <a:off x="4343400" y="2286000"/>
            <a:ext cx="3429000" cy="3291840"/>
          </a:xfrm>
          <a:prstGeom prst="roundRect">
            <a:avLst>
              <a:gd name="adj" fmla="val 2222"/>
            </a:avLst>
          </a:prstGeom>
          <a:solidFill>
            <a:srgbClr val="FFFFFF">
              <a:alpha val="70000"/>
            </a:srgbClr>
          </a:solidFill>
          <a:ln/>
        </p:spPr>
      </p:sp>
      <p:sp>
        <p:nvSpPr>
          <p:cNvPr id="12" name="Text 10"/>
          <p:cNvSpPr/>
          <p:nvPr/>
        </p:nvSpPr>
        <p:spPr>
          <a:xfrm>
            <a:off x="4526280" y="2468880"/>
            <a:ext cx="3063240" cy="640080"/>
          </a:xfrm>
          <a:prstGeom prst="rect">
            <a:avLst/>
          </a:prstGeom>
          <a:noFill/>
          <a:ln/>
        </p:spPr>
        <p:txBody>
          <a:bodyPr wrap="square" lIns="0" tIns="0" rIns="0" bIns="0" rtlCol="0" anchor="ctr"/>
          <a:lstStyle/>
          <a:p>
            <a:pPr marL="0" indent="0" algn="ctr">
              <a:buNone/>
            </a:pPr>
            <a:r>
              <a:rPr lang="en-US" sz="1700" b="1" dirty="0">
                <a:solidFill>
                  <a:srgbClr val="B20E38"/>
                </a:solidFill>
                <a:latin typeface="Montserrat SemiBold" pitchFamily="34" charset="0"/>
                <a:ea typeface="Montserrat SemiBold" pitchFamily="34" charset="-122"/>
                <a:cs typeface="Montserrat SemiBold" pitchFamily="34" charset="-120"/>
              </a:rPr>
              <a:t>Differentiation</a:t>
            </a:r>
            <a:endParaRPr lang="en-US" sz="1700" dirty="0"/>
          </a:p>
        </p:txBody>
      </p:sp>
      <p:sp>
        <p:nvSpPr>
          <p:cNvPr id="13" name="Text 11"/>
          <p:cNvSpPr/>
          <p:nvPr/>
        </p:nvSpPr>
        <p:spPr>
          <a:xfrm>
            <a:off x="4526280" y="3200400"/>
            <a:ext cx="3063240" cy="2194560"/>
          </a:xfrm>
          <a:prstGeom prst="rect">
            <a:avLst/>
          </a:prstGeom>
          <a:noFill/>
          <a:ln/>
        </p:spPr>
        <p:txBody>
          <a:bodyPr wrap="square" lIns="0" tIns="0" rIns="0" bIns="0" rtlCol="0" anchor="ctr"/>
          <a:lstStyle/>
          <a:p>
            <a:pPr marL="0" indent="0" algn="ctr">
              <a:lnSpc>
                <a:spcPct val="135000"/>
              </a:lnSpc>
              <a:buNone/>
            </a:pPr>
            <a:r>
              <a:rPr lang="en-US" sz="1350" dirty="0">
                <a:solidFill>
                  <a:srgbClr val="1A1A1A"/>
                </a:solidFill>
                <a:latin typeface="Montserrat" pitchFamily="34" charset="0"/>
                <a:ea typeface="Montserrat" pitchFamily="34" charset="-122"/>
                <a:cs typeface="Montserrat" pitchFamily="34" charset="-120"/>
              </a:rPr>
              <a:t>Be genuinely unique on something customers value, broad market</a:t>
            </a:r>
            <a:endParaRPr lang="en-US" sz="1350" dirty="0"/>
          </a:p>
        </p:txBody>
      </p:sp>
      <p:sp>
        <p:nvSpPr>
          <p:cNvPr id="14" name="Shape 12"/>
          <p:cNvSpPr/>
          <p:nvPr/>
        </p:nvSpPr>
        <p:spPr>
          <a:xfrm>
            <a:off x="7955280" y="2286000"/>
            <a:ext cx="3429000" cy="3291840"/>
          </a:xfrm>
          <a:prstGeom prst="roundRect">
            <a:avLst>
              <a:gd name="adj" fmla="val 2222"/>
            </a:avLst>
          </a:prstGeom>
          <a:solidFill>
            <a:srgbClr val="FFFFFF">
              <a:alpha val="70000"/>
            </a:srgbClr>
          </a:solidFill>
          <a:ln/>
        </p:spPr>
      </p:sp>
      <p:sp>
        <p:nvSpPr>
          <p:cNvPr id="15" name="Text 13"/>
          <p:cNvSpPr/>
          <p:nvPr/>
        </p:nvSpPr>
        <p:spPr>
          <a:xfrm>
            <a:off x="8138160" y="2468880"/>
            <a:ext cx="3063240" cy="640080"/>
          </a:xfrm>
          <a:prstGeom prst="rect">
            <a:avLst/>
          </a:prstGeom>
          <a:noFill/>
          <a:ln/>
        </p:spPr>
        <p:txBody>
          <a:bodyPr wrap="square" lIns="0" tIns="0" rIns="0" bIns="0" rtlCol="0" anchor="ctr"/>
          <a:lstStyle/>
          <a:p>
            <a:pPr marL="0" indent="0" algn="ctr">
              <a:buNone/>
            </a:pPr>
            <a:r>
              <a:rPr lang="en-US" sz="1700" b="1" dirty="0">
                <a:solidFill>
                  <a:srgbClr val="B20E38"/>
                </a:solidFill>
                <a:latin typeface="Montserrat SemiBold" pitchFamily="34" charset="0"/>
                <a:ea typeface="Montserrat SemiBold" pitchFamily="34" charset="-122"/>
                <a:cs typeface="Montserrat SemiBold" pitchFamily="34" charset="-120"/>
              </a:rPr>
              <a:t>Focus</a:t>
            </a:r>
            <a:endParaRPr lang="en-US" sz="1700" dirty="0"/>
          </a:p>
        </p:txBody>
      </p:sp>
      <p:sp>
        <p:nvSpPr>
          <p:cNvPr id="16" name="Text 14"/>
          <p:cNvSpPr/>
          <p:nvPr/>
        </p:nvSpPr>
        <p:spPr>
          <a:xfrm>
            <a:off x="8138160" y="3200400"/>
            <a:ext cx="3063240" cy="2194560"/>
          </a:xfrm>
          <a:prstGeom prst="rect">
            <a:avLst/>
          </a:prstGeom>
          <a:noFill/>
          <a:ln/>
        </p:spPr>
        <p:txBody>
          <a:bodyPr wrap="square" lIns="0" tIns="0" rIns="0" bIns="0" rtlCol="0" anchor="ctr"/>
          <a:lstStyle/>
          <a:p>
            <a:pPr marL="0" indent="0" algn="ctr">
              <a:lnSpc>
                <a:spcPct val="135000"/>
              </a:lnSpc>
              <a:buNone/>
            </a:pPr>
            <a:r>
              <a:rPr lang="en-US" sz="1350" dirty="0">
                <a:solidFill>
                  <a:srgbClr val="1A1A1A"/>
                </a:solidFill>
                <a:latin typeface="Montserrat" pitchFamily="34" charset="0"/>
                <a:ea typeface="Montserrat" pitchFamily="34" charset="-122"/>
                <a:cs typeface="Montserrat" pitchFamily="34" charset="-120"/>
              </a:rPr>
              <a:t>Serve one narrow segment better than any generalist can, either through cost or differentiation</a:t>
            </a:r>
            <a:endParaRPr lang="en-US" sz="1350" dirty="0"/>
          </a:p>
        </p:txBody>
      </p:sp>
      <p:sp>
        <p:nvSpPr>
          <p:cNvPr id="17" name="Text 15"/>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3 / 20</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EDD2"/>
        </a:solidFill>
        <a:effectLst/>
      </p:bgPr>
    </p:bg>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Strategy 1 of 3</a:t>
            </a:r>
            <a:endParaRPr lang="en-US" sz="18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Cost Leadership: Win on Price, Sustainably</a:t>
            </a:r>
            <a:endParaRPr lang="en-US" sz="3200" dirty="0"/>
          </a:p>
        </p:txBody>
      </p:sp>
      <p:sp>
        <p:nvSpPr>
          <p:cNvPr id="8" name="Shape 6"/>
          <p:cNvSpPr/>
          <p:nvPr/>
        </p:nvSpPr>
        <p:spPr>
          <a:xfrm>
            <a:off x="731520" y="2011680"/>
            <a:ext cx="10698480" cy="4114800"/>
          </a:xfrm>
          <a:prstGeom prst="roundRect">
            <a:avLst>
              <a:gd name="adj" fmla="val 1778"/>
            </a:avLst>
          </a:prstGeom>
          <a:solidFill>
            <a:srgbClr val="FFFFFF">
              <a:alpha val="70000"/>
            </a:srgbClr>
          </a:solidFill>
          <a:ln/>
        </p:spPr>
      </p:sp>
      <p:sp>
        <p:nvSpPr>
          <p:cNvPr id="12" name="Text 10"/>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4 / 20</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Strategy 1 of 3</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Cost Leadership: Win on Price, Sustainably</a:t>
            </a:r>
            <a:endParaRPr lang="en-US" sz="3200" dirty="0"/>
          </a:p>
        </p:txBody>
      </p:sp>
      <p:sp>
        <p:nvSpPr>
          <p:cNvPr id="8" name="Shape 6"/>
          <p:cNvSpPr/>
          <p:nvPr/>
        </p:nvSpPr>
        <p:spPr>
          <a:xfrm>
            <a:off x="731520" y="2011680"/>
            <a:ext cx="10698480" cy="4114800"/>
          </a:xfrm>
          <a:prstGeom prst="roundRect">
            <a:avLst>
              <a:gd name="adj" fmla="val 1778"/>
            </a:avLst>
          </a:prstGeom>
          <a:solidFill>
            <a:srgbClr val="FFFFFF">
              <a:alpha val="70000"/>
            </a:srgbClr>
          </a:solidFill>
          <a:ln/>
        </p:spPr>
      </p:sp>
      <p:sp>
        <p:nvSpPr>
          <p:cNvPr id="9" name="Text 7"/>
          <p:cNvSpPr/>
          <p:nvPr/>
        </p:nvSpPr>
        <p:spPr>
          <a:xfrm>
            <a:off x="1005840" y="2286000"/>
            <a:ext cx="10149840" cy="1005840"/>
          </a:xfrm>
          <a:prstGeom prst="rect">
            <a:avLst/>
          </a:prstGeom>
          <a:noFill/>
          <a:ln/>
        </p:spPr>
        <p:txBody>
          <a:bodyPr wrap="square" lIns="0" tIns="0" rIns="0" bIns="0" rtlCol="0" anchor="ctr"/>
          <a:lstStyle/>
          <a:p>
            <a:pPr marL="0" indent="0">
              <a:lnSpc>
                <a:spcPct val="130000"/>
              </a:lnSpc>
              <a:buNone/>
            </a:pPr>
            <a:r>
              <a:rPr lang="en-US" sz="1600" dirty="0">
                <a:solidFill>
                  <a:srgbClr val="1A1A1A"/>
                </a:solidFill>
                <a:latin typeface="Montserrat" pitchFamily="34" charset="0"/>
                <a:ea typeface="Montserrat" pitchFamily="34" charset="-122"/>
                <a:cs typeface="Montserrat" pitchFamily="34" charset="-120"/>
              </a:rPr>
              <a:t>Not just charging less, that's a tactic anyone can copy for a week. </a:t>
            </a:r>
            <a:r>
              <a:rPr lang="en-US" sz="1600" b="1" dirty="0">
                <a:solidFill>
                  <a:srgbClr val="1A1A1A"/>
                </a:solidFill>
                <a:latin typeface="Montserrat" pitchFamily="34" charset="0"/>
                <a:ea typeface="Montserrat" pitchFamily="34" charset="-122"/>
                <a:cs typeface="Montserrat" pitchFamily="34" charset="-120"/>
              </a:rPr>
              <a:t>Real cost leadership means structurally lower costs, through scale, process discipline, or a fundamentally different operating model.</a:t>
            </a:r>
            <a:endParaRPr lang="en-US" sz="1600" b="1" dirty="0"/>
          </a:p>
        </p:txBody>
      </p:sp>
      <p:sp>
        <p:nvSpPr>
          <p:cNvPr id="10" name="Text 8"/>
          <p:cNvSpPr/>
          <p:nvPr/>
        </p:nvSpPr>
        <p:spPr>
          <a:xfrm>
            <a:off x="1005840" y="3337560"/>
            <a:ext cx="10149840" cy="365760"/>
          </a:xfrm>
          <a:prstGeom prst="rect">
            <a:avLst/>
          </a:prstGeom>
          <a:noFill/>
          <a:ln/>
        </p:spPr>
        <p:txBody>
          <a:bodyPr wrap="square" lIns="0" tIns="0" rIns="0" bIns="0" rtlCol="0" anchor="ctr"/>
          <a:lstStyle/>
          <a:p>
            <a:pPr marL="0" indent="0">
              <a:buNone/>
            </a:pPr>
            <a:r>
              <a:rPr lang="en-US" sz="1600" b="1" dirty="0">
                <a:solidFill>
                  <a:srgbClr val="B20E38"/>
                </a:solidFill>
                <a:latin typeface="Montserrat SemiBold" pitchFamily="34" charset="0"/>
                <a:ea typeface="Montserrat SemiBold" pitchFamily="34" charset="-122"/>
                <a:cs typeface="Montserrat SemiBold" pitchFamily="34" charset="-120"/>
              </a:rPr>
              <a:t>IndiGo Airlines</a:t>
            </a:r>
            <a:endParaRPr lang="en-US" sz="1600" dirty="0"/>
          </a:p>
        </p:txBody>
      </p:sp>
      <p:sp>
        <p:nvSpPr>
          <p:cNvPr id="11" name="Text 9"/>
          <p:cNvSpPr/>
          <p:nvPr/>
        </p:nvSpPr>
        <p:spPr>
          <a:xfrm>
            <a:off x="1005840" y="3703320"/>
            <a:ext cx="10149840" cy="2011680"/>
          </a:xfrm>
          <a:prstGeom prst="rect">
            <a:avLst/>
          </a:prstGeom>
          <a:noFill/>
          <a:ln/>
        </p:spPr>
        <p:txBody>
          <a:bodyPr wrap="square" lIns="0" tIns="0" rIns="0" bIns="0" rtlCol="0" anchor="ctr"/>
          <a:lstStyle/>
          <a:p>
            <a:pPr marL="0" indent="0">
              <a:lnSpc>
                <a:spcPct val="135000"/>
              </a:lnSpc>
              <a:buNone/>
            </a:pPr>
            <a:r>
              <a:rPr lang="en-US" sz="1500" dirty="0">
                <a:solidFill>
                  <a:srgbClr val="1A1A1A"/>
                </a:solidFill>
                <a:latin typeface="Montserrat" pitchFamily="34" charset="0"/>
                <a:ea typeface="Montserrat" pitchFamily="34" charset="-122"/>
                <a:cs typeface="Montserrat" pitchFamily="34" charset="-120"/>
              </a:rPr>
              <a:t>A single aircraft type (simpler maintenance and training), fast 30-minute turnarounds, no free meals, and disciplined route selection. The result: India's most consistently profitable airline in an industry where most competitors have struggled or collapsed.</a:t>
            </a:r>
            <a:endParaRPr lang="en-US" sz="1500" dirty="0"/>
          </a:p>
        </p:txBody>
      </p:sp>
      <p:sp>
        <p:nvSpPr>
          <p:cNvPr id="12" name="Text 10"/>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4 / 20</a:t>
            </a:r>
            <a:endParaRPr lang="en-US" sz="1400" dirty="0"/>
          </a:p>
        </p:txBody>
      </p:sp>
    </p:spTree>
    <p:extLst>
      <p:ext uri="{BB962C8B-B14F-4D97-AF65-F5344CB8AC3E}">
        <p14:creationId xmlns:p14="http://schemas.microsoft.com/office/powerpoint/2010/main" val="2204731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EDD2"/>
        </a:solidFill>
        <a:effectLst/>
      </p:bgPr>
    </p:bg>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Strategy 2 of 3</a:t>
            </a:r>
            <a:endParaRPr lang="en-US" sz="18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Differentiation: Win on Being Genuinely Different</a:t>
            </a:r>
            <a:endParaRPr lang="en-US" sz="3200" dirty="0"/>
          </a:p>
        </p:txBody>
      </p:sp>
      <p:sp>
        <p:nvSpPr>
          <p:cNvPr id="12" name="Text 10"/>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5 / 20</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Strategy 2 of 3</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Differentiation: Win on Being Genuinely Different</a:t>
            </a:r>
            <a:endParaRPr lang="en-US" sz="3200" dirty="0"/>
          </a:p>
        </p:txBody>
      </p:sp>
      <p:sp>
        <p:nvSpPr>
          <p:cNvPr id="8" name="Shape 6"/>
          <p:cNvSpPr/>
          <p:nvPr/>
        </p:nvSpPr>
        <p:spPr>
          <a:xfrm>
            <a:off x="731520" y="2011680"/>
            <a:ext cx="10698480" cy="4114800"/>
          </a:xfrm>
          <a:prstGeom prst="roundRect">
            <a:avLst>
              <a:gd name="adj" fmla="val 1778"/>
            </a:avLst>
          </a:prstGeom>
          <a:solidFill>
            <a:srgbClr val="FFFFFF">
              <a:alpha val="70000"/>
            </a:srgbClr>
          </a:solidFill>
          <a:ln/>
        </p:spPr>
      </p:sp>
      <p:sp>
        <p:nvSpPr>
          <p:cNvPr id="9" name="Text 7"/>
          <p:cNvSpPr/>
          <p:nvPr/>
        </p:nvSpPr>
        <p:spPr>
          <a:xfrm>
            <a:off x="1005840" y="2286000"/>
            <a:ext cx="10149840" cy="1005840"/>
          </a:xfrm>
          <a:prstGeom prst="rect">
            <a:avLst/>
          </a:prstGeom>
          <a:noFill/>
          <a:ln/>
        </p:spPr>
        <p:txBody>
          <a:bodyPr wrap="square" lIns="0" tIns="0" rIns="0" bIns="0" rtlCol="0" anchor="ctr"/>
          <a:lstStyle/>
          <a:p>
            <a:pPr marL="0" indent="0">
              <a:lnSpc>
                <a:spcPct val="130000"/>
              </a:lnSpc>
              <a:buNone/>
            </a:pPr>
            <a:r>
              <a:rPr lang="en-US" sz="1600" dirty="0">
                <a:solidFill>
                  <a:srgbClr val="1A1A1A"/>
                </a:solidFill>
                <a:latin typeface="Montserrat" pitchFamily="34" charset="0"/>
                <a:ea typeface="Montserrat" pitchFamily="34" charset="-122"/>
                <a:cs typeface="Montserrat" pitchFamily="34" charset="-120"/>
              </a:rPr>
              <a:t>Customers pay a premium for something they can't easily get elsewhere, real quality, design, service, or trust. Differentiation only works if customers actually value the difference enough to pay for it.</a:t>
            </a:r>
            <a:endParaRPr lang="en-US" sz="1600" dirty="0"/>
          </a:p>
        </p:txBody>
      </p:sp>
      <p:sp>
        <p:nvSpPr>
          <p:cNvPr id="10" name="Text 8"/>
          <p:cNvSpPr/>
          <p:nvPr/>
        </p:nvSpPr>
        <p:spPr>
          <a:xfrm>
            <a:off x="1005840" y="3337560"/>
            <a:ext cx="10149840" cy="365760"/>
          </a:xfrm>
          <a:prstGeom prst="rect">
            <a:avLst/>
          </a:prstGeom>
          <a:noFill/>
          <a:ln/>
        </p:spPr>
        <p:txBody>
          <a:bodyPr wrap="square" lIns="0" tIns="0" rIns="0" bIns="0" rtlCol="0" anchor="ctr"/>
          <a:lstStyle/>
          <a:p>
            <a:pPr marL="0" indent="0">
              <a:buNone/>
            </a:pPr>
            <a:r>
              <a:rPr lang="en-US" sz="1600" b="1" dirty="0">
                <a:solidFill>
                  <a:srgbClr val="B20E38"/>
                </a:solidFill>
                <a:latin typeface="Montserrat SemiBold" pitchFamily="34" charset="0"/>
                <a:ea typeface="Montserrat SemiBold" pitchFamily="34" charset="-122"/>
                <a:cs typeface="Montserrat SemiBold" pitchFamily="34" charset="-120"/>
              </a:rPr>
              <a:t>Tanishq</a:t>
            </a:r>
            <a:endParaRPr lang="en-US" sz="1600" dirty="0"/>
          </a:p>
        </p:txBody>
      </p:sp>
      <p:sp>
        <p:nvSpPr>
          <p:cNvPr id="11" name="Text 9"/>
          <p:cNvSpPr/>
          <p:nvPr/>
        </p:nvSpPr>
        <p:spPr>
          <a:xfrm>
            <a:off x="1005840" y="3703320"/>
            <a:ext cx="10149840" cy="2011680"/>
          </a:xfrm>
          <a:prstGeom prst="rect">
            <a:avLst/>
          </a:prstGeom>
          <a:noFill/>
          <a:ln/>
        </p:spPr>
        <p:txBody>
          <a:bodyPr wrap="square" lIns="0" tIns="0" rIns="0" bIns="0" rtlCol="0" anchor="ctr"/>
          <a:lstStyle/>
          <a:p>
            <a:pPr marL="0" indent="0">
              <a:lnSpc>
                <a:spcPct val="135000"/>
              </a:lnSpc>
              <a:buNone/>
            </a:pPr>
            <a:r>
              <a:rPr lang="en-US" sz="1500" dirty="0">
                <a:solidFill>
                  <a:srgbClr val="1A1A1A"/>
                </a:solidFill>
                <a:latin typeface="Montserrat" pitchFamily="34" charset="0"/>
                <a:ea typeface="Montserrat" pitchFamily="34" charset="-122"/>
                <a:cs typeface="Montserrat" pitchFamily="34" charset="-120"/>
              </a:rPr>
              <a:t>In a jewellery market historically built on unbranded, trust-your-local-jeweller purchases, Tanishq differentiated on hallmarked purity and certified craftsmanship, charging a real premium for guaranteed trust, and winning customers willing to pay for it.</a:t>
            </a:r>
            <a:endParaRPr lang="en-US" sz="1500" dirty="0"/>
          </a:p>
        </p:txBody>
      </p:sp>
      <p:sp>
        <p:nvSpPr>
          <p:cNvPr id="12" name="Text 10"/>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5 / 20</a:t>
            </a:r>
            <a:endParaRPr lang="en-US" sz="1400" dirty="0"/>
          </a:p>
        </p:txBody>
      </p:sp>
    </p:spTree>
    <p:extLst>
      <p:ext uri="{BB962C8B-B14F-4D97-AF65-F5344CB8AC3E}">
        <p14:creationId xmlns:p14="http://schemas.microsoft.com/office/powerpoint/2010/main" val="43340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FEDD2"/>
        </a:solidFill>
        <a:effectLst/>
      </p:bgPr>
    </p:bg>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Strategy 3 of 3</a:t>
            </a:r>
            <a:endParaRPr lang="en-US" sz="18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Focus: Win by Refusing to Serve Everyone</a:t>
            </a:r>
            <a:endParaRPr lang="en-US" sz="3200" dirty="0"/>
          </a:p>
        </p:txBody>
      </p:sp>
      <p:sp>
        <p:nvSpPr>
          <p:cNvPr id="12" name="Text 10"/>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6 / 20</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Strategy 3 of 3</a:t>
            </a:r>
            <a:endParaRPr lang="en-US" sz="18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Focus: Win by Refusing to Serve Everyone</a:t>
            </a:r>
            <a:endParaRPr lang="en-US" sz="3200" dirty="0"/>
          </a:p>
        </p:txBody>
      </p:sp>
      <p:sp>
        <p:nvSpPr>
          <p:cNvPr id="8" name="Shape 6"/>
          <p:cNvSpPr/>
          <p:nvPr/>
        </p:nvSpPr>
        <p:spPr>
          <a:xfrm>
            <a:off x="731520" y="2011680"/>
            <a:ext cx="10698480" cy="4114800"/>
          </a:xfrm>
          <a:prstGeom prst="roundRect">
            <a:avLst>
              <a:gd name="adj" fmla="val 1778"/>
            </a:avLst>
          </a:prstGeom>
          <a:solidFill>
            <a:srgbClr val="FFFFFF">
              <a:alpha val="70000"/>
            </a:srgbClr>
          </a:solidFill>
          <a:ln/>
        </p:spPr>
      </p:sp>
      <p:sp>
        <p:nvSpPr>
          <p:cNvPr id="9" name="Text 7"/>
          <p:cNvSpPr/>
          <p:nvPr/>
        </p:nvSpPr>
        <p:spPr>
          <a:xfrm>
            <a:off x="1005840" y="2286000"/>
            <a:ext cx="10149840" cy="1005840"/>
          </a:xfrm>
          <a:prstGeom prst="rect">
            <a:avLst/>
          </a:prstGeom>
          <a:noFill/>
          <a:ln/>
        </p:spPr>
        <p:txBody>
          <a:bodyPr wrap="square" lIns="0" tIns="0" rIns="0" bIns="0" rtlCol="0" anchor="ctr"/>
          <a:lstStyle/>
          <a:p>
            <a:pPr marL="0" indent="0">
              <a:lnSpc>
                <a:spcPct val="130000"/>
              </a:lnSpc>
              <a:buNone/>
            </a:pPr>
            <a:r>
              <a:rPr lang="en-US" sz="1600" dirty="0">
                <a:solidFill>
                  <a:srgbClr val="1A1A1A"/>
                </a:solidFill>
                <a:latin typeface="Montserrat" pitchFamily="34" charset="0"/>
                <a:ea typeface="Montserrat" pitchFamily="34" charset="-122"/>
                <a:cs typeface="Montserrat" pitchFamily="34" charset="-120"/>
              </a:rPr>
              <a:t>Deliberately narrow the target, one segment, one need, one geography, and serve it better than a broad generalist ever could. Focus is really cost leadership or differentiation applied to a smaller battlefield.</a:t>
            </a:r>
            <a:endParaRPr lang="en-US" sz="1600" dirty="0"/>
          </a:p>
        </p:txBody>
      </p:sp>
      <p:sp>
        <p:nvSpPr>
          <p:cNvPr id="10" name="Text 8"/>
          <p:cNvSpPr/>
          <p:nvPr/>
        </p:nvSpPr>
        <p:spPr>
          <a:xfrm>
            <a:off x="1005840" y="3337560"/>
            <a:ext cx="10149840" cy="365760"/>
          </a:xfrm>
          <a:prstGeom prst="rect">
            <a:avLst/>
          </a:prstGeom>
          <a:noFill/>
          <a:ln/>
        </p:spPr>
        <p:txBody>
          <a:bodyPr wrap="square" lIns="0" tIns="0" rIns="0" bIns="0" rtlCol="0" anchor="ctr"/>
          <a:lstStyle/>
          <a:p>
            <a:pPr marL="0" indent="0">
              <a:buNone/>
            </a:pPr>
            <a:r>
              <a:rPr lang="en-US" sz="1600" b="1" dirty="0">
                <a:solidFill>
                  <a:srgbClr val="B20E38"/>
                </a:solidFill>
                <a:latin typeface="Montserrat SemiBold" pitchFamily="34" charset="0"/>
                <a:ea typeface="Montserrat SemiBold" pitchFamily="34" charset="-122"/>
                <a:cs typeface="Montserrat SemiBold" pitchFamily="34" charset="-120"/>
              </a:rPr>
              <a:t>Nykaa</a:t>
            </a:r>
            <a:endParaRPr lang="en-US" sz="1600" dirty="0"/>
          </a:p>
        </p:txBody>
      </p:sp>
      <p:sp>
        <p:nvSpPr>
          <p:cNvPr id="11" name="Text 9"/>
          <p:cNvSpPr/>
          <p:nvPr/>
        </p:nvSpPr>
        <p:spPr>
          <a:xfrm>
            <a:off x="1005840" y="3703320"/>
            <a:ext cx="10149840" cy="2011680"/>
          </a:xfrm>
          <a:prstGeom prst="rect">
            <a:avLst/>
          </a:prstGeom>
          <a:noFill/>
          <a:ln/>
        </p:spPr>
        <p:txBody>
          <a:bodyPr wrap="square" lIns="0" tIns="0" rIns="0" bIns="0" rtlCol="0" anchor="ctr"/>
          <a:lstStyle/>
          <a:p>
            <a:pPr marL="0" indent="0">
              <a:lnSpc>
                <a:spcPct val="135000"/>
              </a:lnSpc>
              <a:buNone/>
            </a:pPr>
            <a:r>
              <a:rPr lang="en-US" sz="1500" dirty="0">
                <a:solidFill>
                  <a:srgbClr val="1A1A1A"/>
                </a:solidFill>
                <a:latin typeface="Montserrat" pitchFamily="34" charset="0"/>
                <a:ea typeface="Montserrat" pitchFamily="34" charset="-122"/>
                <a:cs typeface="Montserrat" pitchFamily="34" charset="-120"/>
              </a:rPr>
              <a:t>Rather than competing with Amazon and Flipkart's everything-stores, Nykaa focused narrowly on beauty and personal care, curated selection, expert content, and a shopping experience generalist marketplaces couldn't replicate for that specific category.</a:t>
            </a:r>
            <a:endParaRPr lang="en-US" sz="1500" dirty="0"/>
          </a:p>
        </p:txBody>
      </p:sp>
      <p:sp>
        <p:nvSpPr>
          <p:cNvPr id="12" name="Text 10"/>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6 / 20</a:t>
            </a:r>
            <a:endParaRPr lang="en-US" sz="1400" dirty="0"/>
          </a:p>
        </p:txBody>
      </p:sp>
    </p:spTree>
    <p:extLst>
      <p:ext uri="{BB962C8B-B14F-4D97-AF65-F5344CB8AC3E}">
        <p14:creationId xmlns:p14="http://schemas.microsoft.com/office/powerpoint/2010/main" val="1533757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FEDD2"/>
        </a:solidFill>
        <a:effectLst/>
      </p:bgPr>
    </p:bg>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Connecting Back</a:t>
            </a:r>
            <a:endParaRPr lang="en-US" sz="18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Was Jet Airways Stuck in the Middle?</a:t>
            </a:r>
            <a:endParaRPr lang="en-US" sz="3200" dirty="0"/>
          </a:p>
        </p:txBody>
      </p:sp>
      <p:sp>
        <p:nvSpPr>
          <p:cNvPr id="11" name="Text 9"/>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8 / 20</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EDD2"/>
        </a:solidFill>
        <a:effectLst/>
      </p:bgPr>
    </p:bg>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Connecting Back</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Was Jet Airways Stuck in the Middle?</a:t>
            </a:r>
            <a:endParaRPr lang="en-US" sz="3200" dirty="0"/>
          </a:p>
        </p:txBody>
      </p:sp>
      <p:sp>
        <p:nvSpPr>
          <p:cNvPr id="8" name="Shape 6"/>
          <p:cNvSpPr/>
          <p:nvPr/>
        </p:nvSpPr>
        <p:spPr>
          <a:xfrm>
            <a:off x="731520" y="2103120"/>
            <a:ext cx="10698480" cy="3931920"/>
          </a:xfrm>
          <a:prstGeom prst="roundRect">
            <a:avLst>
              <a:gd name="adj" fmla="val 1860"/>
            </a:avLst>
          </a:prstGeom>
          <a:solidFill>
            <a:srgbClr val="FFFFFF">
              <a:alpha val="70000"/>
            </a:srgbClr>
          </a:solidFill>
          <a:ln/>
        </p:spPr>
      </p:sp>
      <p:sp>
        <p:nvSpPr>
          <p:cNvPr id="9" name="Text 7"/>
          <p:cNvSpPr/>
          <p:nvPr/>
        </p:nvSpPr>
        <p:spPr>
          <a:xfrm>
            <a:off x="1005840" y="2423160"/>
            <a:ext cx="10149840" cy="640080"/>
          </a:xfrm>
          <a:prstGeom prst="rect">
            <a:avLst/>
          </a:prstGeom>
          <a:noFill/>
          <a:ln/>
        </p:spPr>
        <p:txBody>
          <a:bodyPr wrap="square" lIns="0" tIns="0" rIns="0" bIns="0" rtlCol="0" anchor="ctr"/>
          <a:lstStyle/>
          <a:p>
            <a:pPr marL="0" indent="0">
              <a:lnSpc>
                <a:spcPct val="130000"/>
              </a:lnSpc>
              <a:buNone/>
            </a:pPr>
            <a:r>
              <a:rPr lang="en-US" sz="1700" b="1" dirty="0">
                <a:solidFill>
                  <a:srgbClr val="B20E38"/>
                </a:solidFill>
                <a:latin typeface="Montserrat SemiBold" pitchFamily="34" charset="0"/>
                <a:ea typeface="Montserrat SemiBold" pitchFamily="34" charset="-122"/>
                <a:cs typeface="Montserrat SemiBold" pitchFamily="34" charset="-120"/>
              </a:rPr>
              <a:t>You met Jet Airways in Week 5 as a retrenchment story. Look at it again through this lens.</a:t>
            </a:r>
            <a:endParaRPr lang="en-US" sz="1700" dirty="0"/>
          </a:p>
        </p:txBody>
      </p:sp>
      <p:sp>
        <p:nvSpPr>
          <p:cNvPr id="10" name="Text 8"/>
          <p:cNvSpPr/>
          <p:nvPr/>
        </p:nvSpPr>
        <p:spPr>
          <a:xfrm>
            <a:off x="1005840" y="3154680"/>
            <a:ext cx="10149840" cy="2651760"/>
          </a:xfrm>
          <a:prstGeom prst="rect">
            <a:avLst/>
          </a:prstGeom>
          <a:noFill/>
          <a:ln/>
        </p:spPr>
        <p:txBody>
          <a:bodyPr wrap="square" lIns="0" tIns="0" rIns="0" bIns="0" rtlCol="0" anchor="ctr"/>
          <a:lstStyle/>
          <a:p>
            <a:pPr marL="0" indent="0">
              <a:lnSpc>
                <a:spcPct val="140000"/>
              </a:lnSpc>
              <a:buNone/>
            </a:pPr>
            <a:r>
              <a:rPr lang="en-US" sz="1550" dirty="0">
                <a:solidFill>
                  <a:srgbClr val="1A1A1A"/>
                </a:solidFill>
                <a:latin typeface="Montserrat" pitchFamily="34" charset="0"/>
                <a:ea typeface="Montserrat" pitchFamily="34" charset="-122"/>
                <a:cs typeface="Montserrat" pitchFamily="34" charset="-120"/>
              </a:rPr>
              <a:t>Jet offered full service, meals, better legroom, a premium brand feel, but at prices that had to compete with IndiGo's genuinely lower cost base. Not cheap enough to win on price, and arguably not different enough from other full-service rivals to justify the premium. A textbook case of being caught between two clear strategies.</a:t>
            </a:r>
            <a:endParaRPr lang="en-US" sz="1550" dirty="0"/>
          </a:p>
        </p:txBody>
      </p:sp>
      <p:sp>
        <p:nvSpPr>
          <p:cNvPr id="11" name="Text 9"/>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8 / 20</a:t>
            </a:r>
            <a:endParaRPr lang="en-US" sz="1400" dirty="0"/>
          </a:p>
        </p:txBody>
      </p:sp>
    </p:spTree>
    <p:extLst>
      <p:ext uri="{BB962C8B-B14F-4D97-AF65-F5344CB8AC3E}">
        <p14:creationId xmlns:p14="http://schemas.microsoft.com/office/powerpoint/2010/main" val="41420246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FEDD2"/>
        </a:solidFill>
        <a:effectLst/>
      </p:bgPr>
    </p:bg>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How the Choice Gets Made</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What Should Actually Drive the Choice?</a:t>
            </a:r>
            <a:endParaRPr lang="en-US" sz="3200" dirty="0"/>
          </a:p>
        </p:txBody>
      </p:sp>
      <p:sp>
        <p:nvSpPr>
          <p:cNvPr id="8" name="Shape 6"/>
          <p:cNvSpPr/>
          <p:nvPr/>
        </p:nvSpPr>
        <p:spPr>
          <a:xfrm>
            <a:off x="731520" y="2194560"/>
            <a:ext cx="10698480" cy="868680"/>
          </a:xfrm>
          <a:prstGeom prst="roundRect">
            <a:avLst>
              <a:gd name="adj" fmla="val 8421"/>
            </a:avLst>
          </a:prstGeom>
          <a:solidFill>
            <a:srgbClr val="FFFFFF">
              <a:alpha val="70000"/>
            </a:srgbClr>
          </a:solidFill>
          <a:ln/>
        </p:spPr>
      </p:sp>
      <p:sp>
        <p:nvSpPr>
          <p:cNvPr id="9" name="Shape 7"/>
          <p:cNvSpPr/>
          <p:nvPr/>
        </p:nvSpPr>
        <p:spPr>
          <a:xfrm>
            <a:off x="914400" y="2377440"/>
            <a:ext cx="457200" cy="457200"/>
          </a:xfrm>
          <a:prstGeom prst="ellipse">
            <a:avLst/>
          </a:prstGeom>
          <a:solidFill>
            <a:srgbClr val="B20E38"/>
          </a:solidFill>
          <a:ln/>
        </p:spPr>
      </p:sp>
      <p:sp>
        <p:nvSpPr>
          <p:cNvPr id="10" name="Text 8"/>
          <p:cNvSpPr/>
          <p:nvPr/>
        </p:nvSpPr>
        <p:spPr>
          <a:xfrm>
            <a:off x="914400" y="2377440"/>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1</a:t>
            </a:r>
            <a:endParaRPr lang="en-US" sz="1700" dirty="0"/>
          </a:p>
        </p:txBody>
      </p:sp>
      <p:sp>
        <p:nvSpPr>
          <p:cNvPr id="11" name="Text 9"/>
          <p:cNvSpPr/>
          <p:nvPr/>
        </p:nvSpPr>
        <p:spPr>
          <a:xfrm>
            <a:off x="1600200" y="2194560"/>
            <a:ext cx="9509760" cy="868680"/>
          </a:xfrm>
          <a:prstGeom prst="rect">
            <a:avLst/>
          </a:prstGeom>
          <a:noFill/>
          <a:ln/>
        </p:spPr>
        <p:txBody>
          <a:bodyPr wrap="square" lIns="0" tIns="0" rIns="0" bIns="0" rtlCol="0" anchor="ctr"/>
          <a:lstStyle/>
          <a:p>
            <a:pPr marL="0" indent="0">
              <a:lnSpc>
                <a:spcPct val="120000"/>
              </a:lnSpc>
              <a:buNone/>
            </a:pPr>
            <a:r>
              <a:rPr lang="en-US" sz="1400" dirty="0">
                <a:solidFill>
                  <a:srgbClr val="1A1A1A"/>
                </a:solidFill>
                <a:latin typeface="Montserrat" pitchFamily="34" charset="0"/>
                <a:ea typeface="Montserrat" pitchFamily="34" charset="-122"/>
                <a:cs typeface="Montserrat" pitchFamily="34" charset="-120"/>
              </a:rPr>
              <a:t>Your real cost structure, do you genuinely have a path to being the lowest-cost player?</a:t>
            </a:r>
            <a:endParaRPr lang="en-US" sz="1400" dirty="0"/>
          </a:p>
        </p:txBody>
      </p:sp>
      <p:sp>
        <p:nvSpPr>
          <p:cNvPr id="12" name="Shape 10"/>
          <p:cNvSpPr/>
          <p:nvPr/>
        </p:nvSpPr>
        <p:spPr>
          <a:xfrm>
            <a:off x="731520" y="3182112"/>
            <a:ext cx="10698480" cy="868680"/>
          </a:xfrm>
          <a:prstGeom prst="roundRect">
            <a:avLst>
              <a:gd name="adj" fmla="val 8421"/>
            </a:avLst>
          </a:prstGeom>
          <a:solidFill>
            <a:srgbClr val="FFFFFF">
              <a:alpha val="70000"/>
            </a:srgbClr>
          </a:solidFill>
          <a:ln/>
        </p:spPr>
      </p:sp>
      <p:sp>
        <p:nvSpPr>
          <p:cNvPr id="13" name="Shape 11"/>
          <p:cNvSpPr/>
          <p:nvPr/>
        </p:nvSpPr>
        <p:spPr>
          <a:xfrm>
            <a:off x="914400" y="3364992"/>
            <a:ext cx="457200" cy="457200"/>
          </a:xfrm>
          <a:prstGeom prst="ellipse">
            <a:avLst/>
          </a:prstGeom>
          <a:solidFill>
            <a:srgbClr val="B20E38"/>
          </a:solidFill>
          <a:ln/>
        </p:spPr>
      </p:sp>
      <p:sp>
        <p:nvSpPr>
          <p:cNvPr id="14" name="Text 12"/>
          <p:cNvSpPr/>
          <p:nvPr/>
        </p:nvSpPr>
        <p:spPr>
          <a:xfrm>
            <a:off x="914400" y="3364992"/>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2</a:t>
            </a:r>
            <a:endParaRPr lang="en-US" sz="1700" dirty="0"/>
          </a:p>
        </p:txBody>
      </p:sp>
      <p:sp>
        <p:nvSpPr>
          <p:cNvPr id="15" name="Text 13"/>
          <p:cNvSpPr/>
          <p:nvPr/>
        </p:nvSpPr>
        <p:spPr>
          <a:xfrm>
            <a:off x="1600200" y="3182112"/>
            <a:ext cx="9509760" cy="868680"/>
          </a:xfrm>
          <a:prstGeom prst="rect">
            <a:avLst/>
          </a:prstGeom>
          <a:noFill/>
          <a:ln/>
        </p:spPr>
        <p:txBody>
          <a:bodyPr wrap="square" lIns="0" tIns="0" rIns="0" bIns="0" rtlCol="0" anchor="ctr"/>
          <a:lstStyle/>
          <a:p>
            <a:pPr marL="0" indent="0">
              <a:lnSpc>
                <a:spcPct val="120000"/>
              </a:lnSpc>
              <a:buNone/>
            </a:pPr>
            <a:r>
              <a:rPr lang="en-US" sz="1400" dirty="0">
                <a:solidFill>
                  <a:srgbClr val="1A1A1A"/>
                </a:solidFill>
                <a:latin typeface="Montserrat" pitchFamily="34" charset="0"/>
                <a:ea typeface="Montserrat" pitchFamily="34" charset="-122"/>
                <a:cs typeface="Montserrat" pitchFamily="34" charset="-120"/>
              </a:rPr>
              <a:t>Your resources and distinctive competence, from Week 4, what can you defensibly do that rivals can't?</a:t>
            </a:r>
            <a:endParaRPr lang="en-US" sz="1400" dirty="0"/>
          </a:p>
        </p:txBody>
      </p:sp>
      <p:sp>
        <p:nvSpPr>
          <p:cNvPr id="16" name="Shape 14"/>
          <p:cNvSpPr/>
          <p:nvPr/>
        </p:nvSpPr>
        <p:spPr>
          <a:xfrm>
            <a:off x="731520" y="4169664"/>
            <a:ext cx="10698480" cy="868680"/>
          </a:xfrm>
          <a:prstGeom prst="roundRect">
            <a:avLst>
              <a:gd name="adj" fmla="val 8421"/>
            </a:avLst>
          </a:prstGeom>
          <a:solidFill>
            <a:srgbClr val="FFFFFF">
              <a:alpha val="70000"/>
            </a:srgbClr>
          </a:solidFill>
          <a:ln/>
        </p:spPr>
      </p:sp>
      <p:sp>
        <p:nvSpPr>
          <p:cNvPr id="17" name="Shape 15"/>
          <p:cNvSpPr/>
          <p:nvPr/>
        </p:nvSpPr>
        <p:spPr>
          <a:xfrm>
            <a:off x="914400" y="4352544"/>
            <a:ext cx="457200" cy="457200"/>
          </a:xfrm>
          <a:prstGeom prst="ellipse">
            <a:avLst/>
          </a:prstGeom>
          <a:solidFill>
            <a:srgbClr val="B20E38"/>
          </a:solidFill>
          <a:ln/>
        </p:spPr>
      </p:sp>
      <p:sp>
        <p:nvSpPr>
          <p:cNvPr id="18" name="Text 16"/>
          <p:cNvSpPr/>
          <p:nvPr/>
        </p:nvSpPr>
        <p:spPr>
          <a:xfrm>
            <a:off x="914400" y="4352544"/>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3</a:t>
            </a:r>
            <a:endParaRPr lang="en-US" sz="1700" dirty="0"/>
          </a:p>
        </p:txBody>
      </p:sp>
      <p:sp>
        <p:nvSpPr>
          <p:cNvPr id="19" name="Text 17"/>
          <p:cNvSpPr/>
          <p:nvPr/>
        </p:nvSpPr>
        <p:spPr>
          <a:xfrm>
            <a:off x="1600200" y="4169664"/>
            <a:ext cx="9509760" cy="868680"/>
          </a:xfrm>
          <a:prstGeom prst="rect">
            <a:avLst/>
          </a:prstGeom>
          <a:noFill/>
          <a:ln/>
        </p:spPr>
        <p:txBody>
          <a:bodyPr wrap="square" lIns="0" tIns="0" rIns="0" bIns="0" rtlCol="0" anchor="ctr"/>
          <a:lstStyle/>
          <a:p>
            <a:pPr marL="0" indent="0">
              <a:lnSpc>
                <a:spcPct val="120000"/>
              </a:lnSpc>
              <a:buNone/>
            </a:pPr>
            <a:r>
              <a:rPr lang="en-US" sz="1400" dirty="0">
                <a:solidFill>
                  <a:srgbClr val="1A1A1A"/>
                </a:solidFill>
                <a:latin typeface="Montserrat" pitchFamily="34" charset="0"/>
                <a:ea typeface="Montserrat" pitchFamily="34" charset="-122"/>
                <a:cs typeface="Montserrat" pitchFamily="34" charset="-120"/>
              </a:rPr>
              <a:t>How price-sensitive your customers actually are, versus how much they'd pay for something better</a:t>
            </a:r>
            <a:endParaRPr lang="en-US" sz="1400" dirty="0"/>
          </a:p>
        </p:txBody>
      </p:sp>
      <p:sp>
        <p:nvSpPr>
          <p:cNvPr id="20" name="Shape 18"/>
          <p:cNvSpPr/>
          <p:nvPr/>
        </p:nvSpPr>
        <p:spPr>
          <a:xfrm>
            <a:off x="731520" y="5157216"/>
            <a:ext cx="10698480" cy="868680"/>
          </a:xfrm>
          <a:prstGeom prst="roundRect">
            <a:avLst>
              <a:gd name="adj" fmla="val 8421"/>
            </a:avLst>
          </a:prstGeom>
          <a:solidFill>
            <a:srgbClr val="FFFFFF">
              <a:alpha val="70000"/>
            </a:srgbClr>
          </a:solidFill>
          <a:ln/>
        </p:spPr>
      </p:sp>
      <p:sp>
        <p:nvSpPr>
          <p:cNvPr id="21" name="Shape 19"/>
          <p:cNvSpPr/>
          <p:nvPr/>
        </p:nvSpPr>
        <p:spPr>
          <a:xfrm>
            <a:off x="914400" y="5340096"/>
            <a:ext cx="457200" cy="457200"/>
          </a:xfrm>
          <a:prstGeom prst="ellipse">
            <a:avLst/>
          </a:prstGeom>
          <a:solidFill>
            <a:srgbClr val="B20E38"/>
          </a:solidFill>
          <a:ln/>
        </p:spPr>
      </p:sp>
      <p:sp>
        <p:nvSpPr>
          <p:cNvPr id="22" name="Text 20"/>
          <p:cNvSpPr/>
          <p:nvPr/>
        </p:nvSpPr>
        <p:spPr>
          <a:xfrm>
            <a:off x="914400" y="5340096"/>
            <a:ext cx="457200" cy="457200"/>
          </a:xfrm>
          <a:prstGeom prst="rect">
            <a:avLst/>
          </a:prstGeom>
          <a:noFill/>
          <a:ln/>
        </p:spPr>
        <p:txBody>
          <a:bodyPr wrap="square" lIns="0" tIns="0" rIns="0" bIns="0" rtlCol="0" anchor="ctr"/>
          <a:lstStyle/>
          <a:p>
            <a:pPr marL="0" indent="0" algn="ctr">
              <a:buNone/>
            </a:pPr>
            <a:r>
              <a:rPr lang="en-US" sz="1700" b="1" dirty="0">
                <a:solidFill>
                  <a:srgbClr val="FFFFFF"/>
                </a:solidFill>
                <a:latin typeface="Montserrat SemiBold" pitchFamily="34" charset="0"/>
                <a:ea typeface="Montserrat SemiBold" pitchFamily="34" charset="-122"/>
                <a:cs typeface="Montserrat SemiBold" pitchFamily="34" charset="-120"/>
              </a:rPr>
              <a:t>4</a:t>
            </a:r>
            <a:endParaRPr lang="en-US" sz="1700" dirty="0"/>
          </a:p>
        </p:txBody>
      </p:sp>
      <p:sp>
        <p:nvSpPr>
          <p:cNvPr id="23" name="Text 21"/>
          <p:cNvSpPr/>
          <p:nvPr/>
        </p:nvSpPr>
        <p:spPr>
          <a:xfrm>
            <a:off x="1600200" y="5157216"/>
            <a:ext cx="9509760" cy="868680"/>
          </a:xfrm>
          <a:prstGeom prst="rect">
            <a:avLst/>
          </a:prstGeom>
          <a:noFill/>
          <a:ln/>
        </p:spPr>
        <p:txBody>
          <a:bodyPr wrap="square" lIns="0" tIns="0" rIns="0" bIns="0" rtlCol="0" anchor="ctr"/>
          <a:lstStyle/>
          <a:p>
            <a:pPr marL="0" indent="0">
              <a:lnSpc>
                <a:spcPct val="120000"/>
              </a:lnSpc>
              <a:buNone/>
            </a:pPr>
            <a:r>
              <a:rPr lang="en-US" sz="1400" dirty="0">
                <a:solidFill>
                  <a:srgbClr val="1A1A1A"/>
                </a:solidFill>
                <a:latin typeface="Montserrat" pitchFamily="34" charset="0"/>
                <a:ea typeface="Montserrat" pitchFamily="34" charset="-122"/>
                <a:cs typeface="Montserrat" pitchFamily="34" charset="-120"/>
              </a:rPr>
              <a:t>How big a segment you can profitably serve if you choose Focus</a:t>
            </a:r>
            <a:endParaRPr lang="en-US" sz="1400" dirty="0"/>
          </a:p>
        </p:txBody>
      </p:sp>
      <p:sp>
        <p:nvSpPr>
          <p:cNvPr id="24" name="Text 22"/>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9 / 20</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bg>
      <p:bgPr>
        <a:solidFill>
          <a:srgbClr val="FFEDD2"/>
        </a:solidFill>
        <a:effectLst/>
      </p:bgPr>
    </p:bg>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Discussion · 2 Minutes</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000" b="1" dirty="0">
                <a:solidFill>
                  <a:srgbClr val="B20E38"/>
                </a:solidFill>
                <a:latin typeface="Montserrat SemiBold" pitchFamily="34" charset="0"/>
                <a:ea typeface="Montserrat SemiBold" pitchFamily="34" charset="-122"/>
                <a:cs typeface="Montserrat SemiBold" pitchFamily="34" charset="-120"/>
              </a:rPr>
              <a:t>Which Strategy for </a:t>
            </a:r>
            <a:r>
              <a:rPr lang="en-US" sz="3000" b="1" dirty="0" err="1">
                <a:solidFill>
                  <a:srgbClr val="B20E38"/>
                </a:solidFill>
                <a:latin typeface="Montserrat SemiBold" pitchFamily="34" charset="0"/>
                <a:ea typeface="Montserrat SemiBold" pitchFamily="34" charset="-122"/>
                <a:cs typeface="Montserrat SemiBold" pitchFamily="34" charset="-120"/>
              </a:rPr>
              <a:t>Boncho's</a:t>
            </a:r>
            <a:r>
              <a:rPr lang="en-US" sz="3000" b="1" dirty="0">
                <a:solidFill>
                  <a:srgbClr val="B20E38"/>
                </a:solidFill>
                <a:latin typeface="Montserrat SemiBold" pitchFamily="34" charset="0"/>
                <a:ea typeface="Montserrat SemiBold" pitchFamily="34" charset="-122"/>
                <a:cs typeface="Montserrat SemiBold" pitchFamily="34" charset="-120"/>
              </a:rPr>
              <a:t> Momos?</a:t>
            </a:r>
            <a:endParaRPr lang="en-US" sz="3000" dirty="0"/>
          </a:p>
        </p:txBody>
      </p:sp>
      <p:sp>
        <p:nvSpPr>
          <p:cNvPr id="8" name="Shape 6"/>
          <p:cNvSpPr/>
          <p:nvPr/>
        </p:nvSpPr>
        <p:spPr>
          <a:xfrm>
            <a:off x="731520" y="2286000"/>
            <a:ext cx="10698480" cy="3291840"/>
          </a:xfrm>
          <a:prstGeom prst="roundRect">
            <a:avLst>
              <a:gd name="adj" fmla="val 2222"/>
            </a:avLst>
          </a:prstGeom>
          <a:solidFill>
            <a:srgbClr val="FFFFFF">
              <a:alpha val="70000"/>
            </a:srgbClr>
          </a:solidFill>
          <a:ln/>
        </p:spPr>
      </p:sp>
      <p:sp>
        <p:nvSpPr>
          <p:cNvPr id="9" name="Text 7"/>
          <p:cNvSpPr/>
          <p:nvPr/>
        </p:nvSpPr>
        <p:spPr>
          <a:xfrm>
            <a:off x="1005840" y="2606040"/>
            <a:ext cx="10149840" cy="1097280"/>
          </a:xfrm>
          <a:prstGeom prst="rect">
            <a:avLst/>
          </a:prstGeom>
          <a:noFill/>
          <a:ln/>
        </p:spPr>
        <p:txBody>
          <a:bodyPr wrap="square" lIns="0" tIns="0" rIns="0" bIns="0" rtlCol="0" anchor="ctr"/>
          <a:lstStyle/>
          <a:p>
            <a:pPr marL="0" indent="0">
              <a:lnSpc>
                <a:spcPct val="130000"/>
              </a:lnSpc>
              <a:buNone/>
            </a:pPr>
            <a:r>
              <a:rPr lang="en-US" sz="1700" b="1" dirty="0">
                <a:solidFill>
                  <a:srgbClr val="B20E38"/>
                </a:solidFill>
                <a:latin typeface="Montserrat SemiBold" pitchFamily="34" charset="0"/>
                <a:ea typeface="Montserrat SemiBold" pitchFamily="34" charset="-122"/>
                <a:cs typeface="Montserrat SemiBold" pitchFamily="34" charset="-120"/>
              </a:rPr>
              <a:t>The cloud kitchen two streets away is undercutting on price. Priya's chutney recipe is genuinely better, but she can't out-discount a bigger operation forever.</a:t>
            </a:r>
            <a:endParaRPr lang="en-US" sz="1700" dirty="0"/>
          </a:p>
        </p:txBody>
      </p:sp>
      <p:sp>
        <p:nvSpPr>
          <p:cNvPr id="10" name="Text 8"/>
          <p:cNvSpPr/>
          <p:nvPr/>
        </p:nvSpPr>
        <p:spPr>
          <a:xfrm>
            <a:off x="1005840" y="3794760"/>
            <a:ext cx="10149840" cy="914400"/>
          </a:xfrm>
          <a:prstGeom prst="rect">
            <a:avLst/>
          </a:prstGeom>
          <a:noFill/>
          <a:ln/>
        </p:spPr>
        <p:txBody>
          <a:bodyPr wrap="square" lIns="0" tIns="0" rIns="0" bIns="0" rtlCol="0" anchor="ctr"/>
          <a:lstStyle/>
          <a:p>
            <a:pPr marL="0" indent="0">
              <a:lnSpc>
                <a:spcPct val="135000"/>
              </a:lnSpc>
              <a:buNone/>
            </a:pPr>
            <a:r>
              <a:rPr lang="en-US" sz="1600" dirty="0">
                <a:solidFill>
                  <a:srgbClr val="1A1A1A"/>
                </a:solidFill>
                <a:latin typeface="Montserrat" pitchFamily="34" charset="0"/>
                <a:ea typeface="Montserrat" pitchFamily="34" charset="-122"/>
                <a:cs typeface="Montserrat" pitchFamily="34" charset="-120"/>
              </a:rPr>
              <a:t>In pairs: should </a:t>
            </a:r>
            <a:r>
              <a:rPr lang="en-US" sz="1600" dirty="0" err="1">
                <a:solidFill>
                  <a:srgbClr val="1A1A1A"/>
                </a:solidFill>
                <a:latin typeface="Montserrat" pitchFamily="34" charset="0"/>
                <a:ea typeface="Montserrat" pitchFamily="34" charset="-122"/>
                <a:cs typeface="Montserrat" pitchFamily="34" charset="-120"/>
              </a:rPr>
              <a:t>Boncho</a:t>
            </a:r>
            <a:r>
              <a:rPr lang="en-US" sz="1600" dirty="0">
                <a:solidFill>
                  <a:srgbClr val="1A1A1A"/>
                </a:solidFill>
                <a:latin typeface="Montserrat" pitchFamily="34" charset="0"/>
                <a:ea typeface="Montserrat" pitchFamily="34" charset="-122"/>
                <a:cs typeface="Montserrat" pitchFamily="34" charset="-120"/>
              </a:rPr>
              <a:t> compete on Cost Leadership, Differentiation, or Focus? Defend your choice in one sentence.</a:t>
            </a:r>
            <a:endParaRPr lang="en-US" sz="1600" dirty="0"/>
          </a:p>
        </p:txBody>
      </p:sp>
      <p:sp>
        <p:nvSpPr>
          <p:cNvPr id="11" name="Text 9"/>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10 / 20</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EDD2"/>
        </a:solidFill>
        <a:effectLst/>
      </p:bgPr>
    </p:bg>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Activity · Groups of 4–5 · 12 Minutes</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Spot the Strategy</a:t>
            </a:r>
            <a:endParaRPr lang="en-US" sz="3200" dirty="0"/>
          </a:p>
        </p:txBody>
      </p:sp>
      <p:sp>
        <p:nvSpPr>
          <p:cNvPr id="8" name="Shape 6"/>
          <p:cNvSpPr/>
          <p:nvPr/>
        </p:nvSpPr>
        <p:spPr>
          <a:xfrm>
            <a:off x="731520" y="2103120"/>
            <a:ext cx="10698480" cy="3931920"/>
          </a:xfrm>
          <a:prstGeom prst="roundRect">
            <a:avLst>
              <a:gd name="adj" fmla="val 1860"/>
            </a:avLst>
          </a:prstGeom>
          <a:solidFill>
            <a:srgbClr val="FFFFFF">
              <a:alpha val="70000"/>
            </a:srgbClr>
          </a:solidFill>
          <a:ln/>
        </p:spPr>
      </p:sp>
      <p:sp>
        <p:nvSpPr>
          <p:cNvPr id="9" name="Shape 7"/>
          <p:cNvSpPr/>
          <p:nvPr/>
        </p:nvSpPr>
        <p:spPr>
          <a:xfrm>
            <a:off x="1005840" y="2441448"/>
            <a:ext cx="384048" cy="384048"/>
          </a:xfrm>
          <a:prstGeom prst="ellipse">
            <a:avLst/>
          </a:prstGeom>
          <a:solidFill>
            <a:srgbClr val="B20E38"/>
          </a:solidFill>
          <a:ln/>
        </p:spPr>
      </p:sp>
      <p:sp>
        <p:nvSpPr>
          <p:cNvPr id="10" name="Text 8"/>
          <p:cNvSpPr/>
          <p:nvPr/>
        </p:nvSpPr>
        <p:spPr>
          <a:xfrm>
            <a:off x="1005840" y="2441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1</a:t>
            </a:r>
            <a:endParaRPr lang="en-US" sz="1500" dirty="0"/>
          </a:p>
        </p:txBody>
      </p:sp>
      <p:sp>
        <p:nvSpPr>
          <p:cNvPr id="11" name="Text 9"/>
          <p:cNvSpPr/>
          <p:nvPr/>
        </p:nvSpPr>
        <p:spPr>
          <a:xfrm>
            <a:off x="1554480" y="2423160"/>
            <a:ext cx="9509760" cy="822960"/>
          </a:xfrm>
          <a:prstGeom prst="rect">
            <a:avLst/>
          </a:prstGeom>
          <a:noFill/>
          <a:ln/>
        </p:spPr>
        <p:txBody>
          <a:bodyPr wrap="square" lIns="0" tIns="0" rIns="0" bIns="0" rtlCol="0" anchor="ctr"/>
          <a:lstStyle/>
          <a:p>
            <a:pPr marL="0" indent="0">
              <a:lnSpc>
                <a:spcPct val="125000"/>
              </a:lnSpc>
              <a:buNone/>
            </a:pPr>
            <a:r>
              <a:rPr lang="en-US" sz="1600" dirty="0">
                <a:solidFill>
                  <a:srgbClr val="1A1A1A"/>
                </a:solidFill>
                <a:latin typeface="Montserrat" pitchFamily="34" charset="0"/>
                <a:ea typeface="Montserrat" pitchFamily="34" charset="-122"/>
                <a:cs typeface="Montserrat" pitchFamily="34" charset="-120"/>
              </a:rPr>
              <a:t>Your group will get 4 real Indian brands, without being told which strategy each uses.</a:t>
            </a:r>
            <a:endParaRPr lang="en-US" sz="1600" dirty="0"/>
          </a:p>
        </p:txBody>
      </p:sp>
      <p:sp>
        <p:nvSpPr>
          <p:cNvPr id="12" name="Shape 10"/>
          <p:cNvSpPr/>
          <p:nvPr/>
        </p:nvSpPr>
        <p:spPr>
          <a:xfrm>
            <a:off x="1005840" y="3401568"/>
            <a:ext cx="384048" cy="384048"/>
          </a:xfrm>
          <a:prstGeom prst="ellipse">
            <a:avLst/>
          </a:prstGeom>
          <a:solidFill>
            <a:srgbClr val="B20E38"/>
          </a:solidFill>
          <a:ln/>
        </p:spPr>
      </p:sp>
      <p:sp>
        <p:nvSpPr>
          <p:cNvPr id="13" name="Text 11"/>
          <p:cNvSpPr/>
          <p:nvPr/>
        </p:nvSpPr>
        <p:spPr>
          <a:xfrm>
            <a:off x="1005840" y="34015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2</a:t>
            </a:r>
            <a:endParaRPr lang="en-US" sz="1500" dirty="0"/>
          </a:p>
        </p:txBody>
      </p:sp>
      <p:sp>
        <p:nvSpPr>
          <p:cNvPr id="14" name="Text 12"/>
          <p:cNvSpPr/>
          <p:nvPr/>
        </p:nvSpPr>
        <p:spPr>
          <a:xfrm>
            <a:off x="1554480" y="3383280"/>
            <a:ext cx="9509760" cy="822960"/>
          </a:xfrm>
          <a:prstGeom prst="rect">
            <a:avLst/>
          </a:prstGeom>
          <a:noFill/>
          <a:ln/>
        </p:spPr>
        <p:txBody>
          <a:bodyPr wrap="square" lIns="0" tIns="0" rIns="0" bIns="0" rtlCol="0" anchor="ctr"/>
          <a:lstStyle/>
          <a:p>
            <a:pPr marL="0" indent="0">
              <a:lnSpc>
                <a:spcPct val="125000"/>
              </a:lnSpc>
              <a:buNone/>
            </a:pPr>
            <a:r>
              <a:rPr lang="en-US" sz="1600" dirty="0">
                <a:solidFill>
                  <a:srgbClr val="1A1A1A"/>
                </a:solidFill>
                <a:latin typeface="Montserrat" pitchFamily="34" charset="0"/>
                <a:ea typeface="Montserrat" pitchFamily="34" charset="-122"/>
                <a:cs typeface="Montserrat" pitchFamily="34" charset="-120"/>
              </a:rPr>
              <a:t>For each, decide: Cost Leadership, Differentiation, Focus, or genuinely Stuck in the Middle.</a:t>
            </a:r>
            <a:endParaRPr lang="en-US" sz="1600" dirty="0"/>
          </a:p>
        </p:txBody>
      </p:sp>
      <p:sp>
        <p:nvSpPr>
          <p:cNvPr id="15" name="Shape 13"/>
          <p:cNvSpPr/>
          <p:nvPr/>
        </p:nvSpPr>
        <p:spPr>
          <a:xfrm>
            <a:off x="1005840" y="4361688"/>
            <a:ext cx="384048" cy="384048"/>
          </a:xfrm>
          <a:prstGeom prst="ellipse">
            <a:avLst/>
          </a:prstGeom>
          <a:solidFill>
            <a:srgbClr val="B20E38"/>
          </a:solidFill>
          <a:ln/>
        </p:spPr>
      </p:sp>
      <p:sp>
        <p:nvSpPr>
          <p:cNvPr id="16" name="Text 14"/>
          <p:cNvSpPr/>
          <p:nvPr/>
        </p:nvSpPr>
        <p:spPr>
          <a:xfrm>
            <a:off x="1005840" y="436168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3</a:t>
            </a:r>
            <a:endParaRPr lang="en-US" sz="1500" dirty="0"/>
          </a:p>
        </p:txBody>
      </p:sp>
      <p:sp>
        <p:nvSpPr>
          <p:cNvPr id="17" name="Text 15"/>
          <p:cNvSpPr/>
          <p:nvPr/>
        </p:nvSpPr>
        <p:spPr>
          <a:xfrm>
            <a:off x="1554480" y="4343400"/>
            <a:ext cx="9509760" cy="822960"/>
          </a:xfrm>
          <a:prstGeom prst="rect">
            <a:avLst/>
          </a:prstGeom>
          <a:noFill/>
          <a:ln/>
        </p:spPr>
        <p:txBody>
          <a:bodyPr wrap="square" lIns="0" tIns="0" rIns="0" bIns="0" rtlCol="0" anchor="ctr"/>
          <a:lstStyle/>
          <a:p>
            <a:pPr marL="0" indent="0">
              <a:lnSpc>
                <a:spcPct val="125000"/>
              </a:lnSpc>
              <a:buNone/>
            </a:pPr>
            <a:r>
              <a:rPr lang="en-US" sz="1600" dirty="0">
                <a:solidFill>
                  <a:srgbClr val="1A1A1A"/>
                </a:solidFill>
                <a:latin typeface="Montserrat" pitchFamily="34" charset="0"/>
                <a:ea typeface="Montserrat" pitchFamily="34" charset="-122"/>
                <a:cs typeface="Montserrat" pitchFamily="34" charset="-120"/>
              </a:rPr>
              <a:t>Be ready to defend your call for at least one brand with a specific piece of evidence.</a:t>
            </a:r>
            <a:endParaRPr lang="en-US" sz="1600" dirty="0"/>
          </a:p>
        </p:txBody>
      </p:sp>
      <p:sp>
        <p:nvSpPr>
          <p:cNvPr id="18" name="Text 16"/>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11 / 20</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EDD2"/>
        </a:solidFill>
        <a:effectLst/>
      </p:bgPr>
    </p:bg>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Activity · The Four Brands</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Pick Up Your Set</a:t>
            </a:r>
            <a:endParaRPr lang="en-US" sz="3200" dirty="0"/>
          </a:p>
        </p:txBody>
      </p:sp>
      <p:sp>
        <p:nvSpPr>
          <p:cNvPr id="8" name="Shape 6"/>
          <p:cNvSpPr/>
          <p:nvPr/>
        </p:nvSpPr>
        <p:spPr>
          <a:xfrm>
            <a:off x="731520" y="2377440"/>
            <a:ext cx="2514600" cy="3108960"/>
          </a:xfrm>
          <a:prstGeom prst="roundRect">
            <a:avLst>
              <a:gd name="adj" fmla="val 2909"/>
            </a:avLst>
          </a:prstGeom>
          <a:solidFill>
            <a:srgbClr val="FFFFFF">
              <a:alpha val="70000"/>
            </a:srgbClr>
          </a:solidFill>
          <a:ln/>
        </p:spPr>
      </p:sp>
      <p:sp>
        <p:nvSpPr>
          <p:cNvPr id="9" name="Text 7"/>
          <p:cNvSpPr/>
          <p:nvPr/>
        </p:nvSpPr>
        <p:spPr>
          <a:xfrm>
            <a:off x="868680" y="2377440"/>
            <a:ext cx="2240280" cy="3108960"/>
          </a:xfrm>
          <a:prstGeom prst="rect">
            <a:avLst/>
          </a:prstGeom>
          <a:noFill/>
          <a:ln/>
        </p:spPr>
        <p:txBody>
          <a:bodyPr wrap="square" lIns="0" tIns="0" rIns="0" bIns="0" rtlCol="0" anchor="ctr"/>
          <a:lstStyle/>
          <a:p>
            <a:pPr marL="0" indent="0" algn="ctr">
              <a:lnSpc>
                <a:spcPct val="130000"/>
              </a:lnSpc>
              <a:buNone/>
            </a:pPr>
            <a:r>
              <a:rPr lang="en-US" sz="1500" b="1" dirty="0">
                <a:solidFill>
                  <a:srgbClr val="B20E38"/>
                </a:solidFill>
                <a:latin typeface="Montserrat SemiBold" pitchFamily="34" charset="0"/>
                <a:ea typeface="Montserrat SemiBold" pitchFamily="34" charset="-122"/>
                <a:cs typeface="Montserrat SemiBold" pitchFamily="34" charset="-120"/>
              </a:rPr>
              <a:t>DMart</a:t>
            </a:r>
            <a:endParaRPr lang="en-US" sz="1500" dirty="0"/>
          </a:p>
          <a:p>
            <a:pPr marL="0" indent="0" algn="ctr">
              <a:lnSpc>
                <a:spcPct val="130000"/>
              </a:lnSpc>
              <a:buNone/>
            </a:pPr>
            <a:r>
              <a:rPr lang="en-US" sz="1500" b="1" dirty="0">
                <a:solidFill>
                  <a:srgbClr val="B20E38"/>
                </a:solidFill>
                <a:latin typeface="Montserrat SemiBold" pitchFamily="34" charset="0"/>
                <a:ea typeface="Montserrat SemiBold" pitchFamily="34" charset="-122"/>
                <a:cs typeface="Montserrat SemiBold" pitchFamily="34" charset="-120"/>
              </a:rPr>
              <a:t>(retail)</a:t>
            </a:r>
            <a:endParaRPr lang="en-US" sz="1500" dirty="0"/>
          </a:p>
        </p:txBody>
      </p:sp>
      <p:sp>
        <p:nvSpPr>
          <p:cNvPr id="10" name="Shape 8"/>
          <p:cNvSpPr/>
          <p:nvPr/>
        </p:nvSpPr>
        <p:spPr>
          <a:xfrm>
            <a:off x="3429000" y="2377440"/>
            <a:ext cx="2514600" cy="3108960"/>
          </a:xfrm>
          <a:prstGeom prst="roundRect">
            <a:avLst>
              <a:gd name="adj" fmla="val 2909"/>
            </a:avLst>
          </a:prstGeom>
          <a:solidFill>
            <a:srgbClr val="FFFFFF">
              <a:alpha val="70000"/>
            </a:srgbClr>
          </a:solidFill>
          <a:ln/>
        </p:spPr>
      </p:sp>
      <p:sp>
        <p:nvSpPr>
          <p:cNvPr id="11" name="Text 9"/>
          <p:cNvSpPr/>
          <p:nvPr/>
        </p:nvSpPr>
        <p:spPr>
          <a:xfrm>
            <a:off x="3566160" y="2377440"/>
            <a:ext cx="2240280" cy="3108960"/>
          </a:xfrm>
          <a:prstGeom prst="rect">
            <a:avLst/>
          </a:prstGeom>
          <a:noFill/>
          <a:ln/>
        </p:spPr>
        <p:txBody>
          <a:bodyPr wrap="square" lIns="0" tIns="0" rIns="0" bIns="0" rtlCol="0" anchor="ctr"/>
          <a:lstStyle/>
          <a:p>
            <a:pPr marL="0" indent="0" algn="ctr">
              <a:lnSpc>
                <a:spcPct val="130000"/>
              </a:lnSpc>
              <a:buNone/>
            </a:pPr>
            <a:r>
              <a:rPr lang="en-US" sz="1500" b="1" dirty="0">
                <a:solidFill>
                  <a:srgbClr val="B20E38"/>
                </a:solidFill>
                <a:latin typeface="Montserrat SemiBold" pitchFamily="34" charset="0"/>
                <a:ea typeface="Montserrat SemiBold" pitchFamily="34" charset="-122"/>
                <a:cs typeface="Montserrat SemiBold" pitchFamily="34" charset="-120"/>
              </a:rPr>
              <a:t>FabIndia</a:t>
            </a:r>
            <a:endParaRPr lang="en-US" sz="1500" dirty="0"/>
          </a:p>
          <a:p>
            <a:pPr marL="0" indent="0" algn="ctr">
              <a:lnSpc>
                <a:spcPct val="130000"/>
              </a:lnSpc>
              <a:buNone/>
            </a:pPr>
            <a:r>
              <a:rPr lang="en-US" sz="1500" b="1" dirty="0">
                <a:solidFill>
                  <a:srgbClr val="B20E38"/>
                </a:solidFill>
                <a:latin typeface="Montserrat SemiBold" pitchFamily="34" charset="0"/>
                <a:ea typeface="Montserrat SemiBold" pitchFamily="34" charset="-122"/>
                <a:cs typeface="Montserrat SemiBold" pitchFamily="34" charset="-120"/>
              </a:rPr>
              <a:t>(apparel)</a:t>
            </a:r>
            <a:endParaRPr lang="en-US" sz="1500" dirty="0"/>
          </a:p>
        </p:txBody>
      </p:sp>
      <p:sp>
        <p:nvSpPr>
          <p:cNvPr id="12" name="Shape 10"/>
          <p:cNvSpPr/>
          <p:nvPr/>
        </p:nvSpPr>
        <p:spPr>
          <a:xfrm>
            <a:off x="6126480" y="2377440"/>
            <a:ext cx="2514600" cy="3108960"/>
          </a:xfrm>
          <a:prstGeom prst="roundRect">
            <a:avLst>
              <a:gd name="adj" fmla="val 2909"/>
            </a:avLst>
          </a:prstGeom>
          <a:solidFill>
            <a:srgbClr val="FFFFFF">
              <a:alpha val="70000"/>
            </a:srgbClr>
          </a:solidFill>
          <a:ln/>
        </p:spPr>
      </p:sp>
      <p:sp>
        <p:nvSpPr>
          <p:cNvPr id="13" name="Text 11"/>
          <p:cNvSpPr/>
          <p:nvPr/>
        </p:nvSpPr>
        <p:spPr>
          <a:xfrm>
            <a:off x="6263640" y="2377440"/>
            <a:ext cx="2240280" cy="3108960"/>
          </a:xfrm>
          <a:prstGeom prst="rect">
            <a:avLst/>
          </a:prstGeom>
          <a:noFill/>
          <a:ln/>
        </p:spPr>
        <p:txBody>
          <a:bodyPr wrap="square" lIns="0" tIns="0" rIns="0" bIns="0" rtlCol="0" anchor="ctr"/>
          <a:lstStyle/>
          <a:p>
            <a:pPr marL="0" indent="0" algn="ctr">
              <a:lnSpc>
                <a:spcPct val="130000"/>
              </a:lnSpc>
              <a:buNone/>
            </a:pPr>
            <a:r>
              <a:rPr lang="en-US" sz="1500" b="1" dirty="0">
                <a:solidFill>
                  <a:srgbClr val="B20E38"/>
                </a:solidFill>
                <a:latin typeface="Montserrat SemiBold" pitchFamily="34" charset="0"/>
                <a:ea typeface="Montserrat SemiBold" pitchFamily="34" charset="-122"/>
                <a:cs typeface="Montserrat SemiBold" pitchFamily="34" charset="-120"/>
              </a:rPr>
              <a:t>OYO</a:t>
            </a:r>
            <a:endParaRPr lang="en-US" sz="1500" dirty="0"/>
          </a:p>
          <a:p>
            <a:pPr marL="0" indent="0" algn="ctr">
              <a:lnSpc>
                <a:spcPct val="130000"/>
              </a:lnSpc>
              <a:buNone/>
            </a:pPr>
            <a:r>
              <a:rPr lang="en-US" sz="1500" b="1" dirty="0">
                <a:solidFill>
                  <a:srgbClr val="B20E38"/>
                </a:solidFill>
                <a:latin typeface="Montserrat SemiBold" pitchFamily="34" charset="0"/>
                <a:ea typeface="Montserrat SemiBold" pitchFamily="34" charset="-122"/>
                <a:cs typeface="Montserrat SemiBold" pitchFamily="34" charset="-120"/>
              </a:rPr>
              <a:t>(hospitality)</a:t>
            </a:r>
            <a:endParaRPr lang="en-US" sz="1500" dirty="0"/>
          </a:p>
        </p:txBody>
      </p:sp>
      <p:sp>
        <p:nvSpPr>
          <p:cNvPr id="14" name="Shape 12"/>
          <p:cNvSpPr/>
          <p:nvPr/>
        </p:nvSpPr>
        <p:spPr>
          <a:xfrm>
            <a:off x="8823960" y="2377440"/>
            <a:ext cx="2514600" cy="3108960"/>
          </a:xfrm>
          <a:prstGeom prst="roundRect">
            <a:avLst>
              <a:gd name="adj" fmla="val 2909"/>
            </a:avLst>
          </a:prstGeom>
          <a:solidFill>
            <a:srgbClr val="FFFFFF">
              <a:alpha val="70000"/>
            </a:srgbClr>
          </a:solidFill>
          <a:ln/>
        </p:spPr>
      </p:sp>
      <p:sp>
        <p:nvSpPr>
          <p:cNvPr id="15" name="Text 13"/>
          <p:cNvSpPr/>
          <p:nvPr/>
        </p:nvSpPr>
        <p:spPr>
          <a:xfrm>
            <a:off x="8961120" y="2377440"/>
            <a:ext cx="2240280" cy="3108960"/>
          </a:xfrm>
          <a:prstGeom prst="rect">
            <a:avLst/>
          </a:prstGeom>
          <a:noFill/>
          <a:ln/>
        </p:spPr>
        <p:txBody>
          <a:bodyPr wrap="square" lIns="0" tIns="0" rIns="0" bIns="0" rtlCol="0" anchor="ctr"/>
          <a:lstStyle/>
          <a:p>
            <a:pPr marL="0" indent="0" algn="ctr">
              <a:lnSpc>
                <a:spcPct val="130000"/>
              </a:lnSpc>
              <a:buNone/>
            </a:pPr>
            <a:r>
              <a:rPr lang="en-US" sz="1500" b="1" dirty="0">
                <a:solidFill>
                  <a:srgbClr val="B20E38"/>
                </a:solidFill>
                <a:latin typeface="Montserrat SemiBold" pitchFamily="34" charset="0"/>
                <a:ea typeface="Montserrat SemiBold" pitchFamily="34" charset="-122"/>
                <a:cs typeface="Montserrat SemiBold" pitchFamily="34" charset="-120"/>
              </a:rPr>
              <a:t>Vertoz / a niche B2B SaaS tool</a:t>
            </a:r>
            <a:endParaRPr lang="en-US" sz="1500" dirty="0"/>
          </a:p>
          <a:p>
            <a:pPr marL="0" indent="0" algn="ctr">
              <a:lnSpc>
                <a:spcPct val="130000"/>
              </a:lnSpc>
              <a:buNone/>
            </a:pPr>
            <a:r>
              <a:rPr lang="en-US" sz="1500" b="1" dirty="0">
                <a:solidFill>
                  <a:srgbClr val="B20E38"/>
                </a:solidFill>
                <a:latin typeface="Montserrat SemiBold" pitchFamily="34" charset="0"/>
                <a:ea typeface="Montserrat SemiBold" pitchFamily="34" charset="-122"/>
                <a:cs typeface="Montserrat SemiBold" pitchFamily="34" charset="-120"/>
              </a:rPr>
              <a:t>(your group's choice)</a:t>
            </a:r>
            <a:endParaRPr lang="en-US" sz="1500" dirty="0"/>
          </a:p>
        </p:txBody>
      </p:sp>
      <p:sp>
        <p:nvSpPr>
          <p:cNvPr id="16" name="Text 14"/>
          <p:cNvSpPr/>
          <p:nvPr/>
        </p:nvSpPr>
        <p:spPr>
          <a:xfrm>
            <a:off x="731520" y="5760720"/>
            <a:ext cx="10698480" cy="457200"/>
          </a:xfrm>
          <a:prstGeom prst="rect">
            <a:avLst/>
          </a:prstGeom>
          <a:noFill/>
          <a:ln/>
        </p:spPr>
        <p:txBody>
          <a:bodyPr wrap="square" lIns="0" tIns="0" rIns="0" bIns="0" rtlCol="0" anchor="ctr"/>
          <a:lstStyle/>
          <a:p>
            <a:pPr marL="0" indent="0" algn="ctr">
              <a:buNone/>
            </a:pPr>
            <a:r>
              <a:rPr lang="en-US" sz="1250" i="1" dirty="0">
                <a:solidFill>
                  <a:srgbClr val="8A6A55"/>
                </a:solidFill>
                <a:latin typeface="Montserrat" pitchFamily="34" charset="0"/>
                <a:ea typeface="Montserrat" pitchFamily="34" charset="-122"/>
                <a:cs typeface="Montserrat" pitchFamily="34" charset="-120"/>
              </a:rPr>
              <a:t>Facilitator note: swap in any 4 well-known brands your students will recognise; the exercise works with any real set.</a:t>
            </a:r>
            <a:endParaRPr lang="en-US" sz="1250" dirty="0"/>
          </a:p>
        </p:txBody>
      </p:sp>
      <p:sp>
        <p:nvSpPr>
          <p:cNvPr id="17" name="Text 15"/>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12 / 20</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EDD2"/>
        </a:solidFill>
        <a:effectLst/>
      </p:bgPr>
    </p:bg>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Debrief</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What Did We Notice?</a:t>
            </a:r>
            <a:endParaRPr lang="en-US" sz="3200" dirty="0"/>
          </a:p>
        </p:txBody>
      </p:sp>
      <p:sp>
        <p:nvSpPr>
          <p:cNvPr id="8" name="Shape 6"/>
          <p:cNvSpPr/>
          <p:nvPr/>
        </p:nvSpPr>
        <p:spPr>
          <a:xfrm>
            <a:off x="731520" y="2194560"/>
            <a:ext cx="10698480" cy="3840480"/>
          </a:xfrm>
          <a:prstGeom prst="roundRect">
            <a:avLst>
              <a:gd name="adj" fmla="val 1905"/>
            </a:avLst>
          </a:prstGeom>
          <a:solidFill>
            <a:srgbClr val="FFFFFF">
              <a:alpha val="70000"/>
            </a:srgbClr>
          </a:solidFill>
          <a:ln/>
        </p:spPr>
      </p:sp>
      <p:sp>
        <p:nvSpPr>
          <p:cNvPr id="9" name="Shape 7"/>
          <p:cNvSpPr/>
          <p:nvPr/>
        </p:nvSpPr>
        <p:spPr>
          <a:xfrm>
            <a:off x="1005840" y="2532888"/>
            <a:ext cx="365760" cy="365760"/>
          </a:xfrm>
          <a:prstGeom prst="ellipse">
            <a:avLst/>
          </a:prstGeom>
          <a:solidFill>
            <a:srgbClr val="B20E38"/>
          </a:solidFill>
          <a:ln/>
        </p:spPr>
      </p:sp>
      <p:sp>
        <p:nvSpPr>
          <p:cNvPr id="10" name="Text 8"/>
          <p:cNvSpPr/>
          <p:nvPr/>
        </p:nvSpPr>
        <p:spPr>
          <a:xfrm>
            <a:off x="1005840" y="253288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SemiBold" pitchFamily="34" charset="0"/>
                <a:ea typeface="Montserrat SemiBold" pitchFamily="34" charset="-122"/>
                <a:cs typeface="Montserrat SemiBold" pitchFamily="34" charset="-120"/>
              </a:rPr>
              <a:t>1</a:t>
            </a:r>
            <a:endParaRPr lang="en-US" sz="1400" dirty="0"/>
          </a:p>
        </p:txBody>
      </p:sp>
      <p:sp>
        <p:nvSpPr>
          <p:cNvPr id="11" name="Text 9"/>
          <p:cNvSpPr/>
          <p:nvPr/>
        </p:nvSpPr>
        <p:spPr>
          <a:xfrm>
            <a:off x="1508760" y="2514600"/>
            <a:ext cx="9692640" cy="777240"/>
          </a:xfrm>
          <a:prstGeom prst="rect">
            <a:avLst/>
          </a:prstGeom>
          <a:noFill/>
          <a:ln/>
        </p:spPr>
        <p:txBody>
          <a:bodyPr wrap="square" lIns="0" tIns="0" rIns="0" bIns="0" rtlCol="0" anchor="ctr"/>
          <a:lstStyle/>
          <a:p>
            <a:pPr marL="0" indent="0">
              <a:lnSpc>
                <a:spcPct val="125000"/>
              </a:lnSpc>
              <a:buNone/>
            </a:pPr>
            <a:r>
              <a:rPr lang="en-US" sz="1550" dirty="0">
                <a:solidFill>
                  <a:srgbClr val="1A1A1A"/>
                </a:solidFill>
                <a:latin typeface="Montserrat" pitchFamily="34" charset="0"/>
                <a:ea typeface="Montserrat" pitchFamily="34" charset="-122"/>
                <a:cs typeface="Montserrat" pitchFamily="34" charset="-120"/>
              </a:rPr>
              <a:t>Did any group disagree on the same brand? What evidence made the difference?</a:t>
            </a:r>
            <a:endParaRPr lang="en-US" sz="1550" dirty="0"/>
          </a:p>
        </p:txBody>
      </p:sp>
      <p:sp>
        <p:nvSpPr>
          <p:cNvPr id="12" name="Shape 10"/>
          <p:cNvSpPr/>
          <p:nvPr/>
        </p:nvSpPr>
        <p:spPr>
          <a:xfrm>
            <a:off x="1005840" y="3447288"/>
            <a:ext cx="365760" cy="365760"/>
          </a:xfrm>
          <a:prstGeom prst="ellipse">
            <a:avLst/>
          </a:prstGeom>
          <a:solidFill>
            <a:srgbClr val="B20E38"/>
          </a:solidFill>
          <a:ln/>
        </p:spPr>
      </p:sp>
      <p:sp>
        <p:nvSpPr>
          <p:cNvPr id="13" name="Text 11"/>
          <p:cNvSpPr/>
          <p:nvPr/>
        </p:nvSpPr>
        <p:spPr>
          <a:xfrm>
            <a:off x="1005840" y="344728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SemiBold" pitchFamily="34" charset="0"/>
                <a:ea typeface="Montserrat SemiBold" pitchFamily="34" charset="-122"/>
                <a:cs typeface="Montserrat SemiBold" pitchFamily="34" charset="-120"/>
              </a:rPr>
              <a:t>2</a:t>
            </a:r>
            <a:endParaRPr lang="en-US" sz="1400" dirty="0"/>
          </a:p>
        </p:txBody>
      </p:sp>
      <p:sp>
        <p:nvSpPr>
          <p:cNvPr id="14" name="Text 12"/>
          <p:cNvSpPr/>
          <p:nvPr/>
        </p:nvSpPr>
        <p:spPr>
          <a:xfrm>
            <a:off x="1508760" y="3429000"/>
            <a:ext cx="9692640" cy="777240"/>
          </a:xfrm>
          <a:prstGeom prst="rect">
            <a:avLst/>
          </a:prstGeom>
          <a:noFill/>
          <a:ln/>
        </p:spPr>
        <p:txBody>
          <a:bodyPr wrap="square" lIns="0" tIns="0" rIns="0" bIns="0" rtlCol="0" anchor="ctr"/>
          <a:lstStyle/>
          <a:p>
            <a:pPr marL="0" indent="0">
              <a:lnSpc>
                <a:spcPct val="125000"/>
              </a:lnSpc>
              <a:buNone/>
            </a:pPr>
            <a:r>
              <a:rPr lang="en-US" sz="1550" dirty="0">
                <a:solidFill>
                  <a:srgbClr val="1A1A1A"/>
                </a:solidFill>
                <a:latin typeface="Montserrat" pitchFamily="34" charset="0"/>
                <a:ea typeface="Montserrat" pitchFamily="34" charset="-122"/>
                <a:cs typeface="Montserrat" pitchFamily="34" charset="-120"/>
              </a:rPr>
              <a:t>Was any brand genuinely hard to place, and could that mean it's stuck in the middle?</a:t>
            </a:r>
            <a:endParaRPr lang="en-US" sz="1550" dirty="0"/>
          </a:p>
        </p:txBody>
      </p:sp>
      <p:sp>
        <p:nvSpPr>
          <p:cNvPr id="15" name="Shape 13"/>
          <p:cNvSpPr/>
          <p:nvPr/>
        </p:nvSpPr>
        <p:spPr>
          <a:xfrm>
            <a:off x="1005840" y="4361688"/>
            <a:ext cx="365760" cy="365760"/>
          </a:xfrm>
          <a:prstGeom prst="ellipse">
            <a:avLst/>
          </a:prstGeom>
          <a:solidFill>
            <a:srgbClr val="B20E38"/>
          </a:solidFill>
          <a:ln/>
        </p:spPr>
      </p:sp>
      <p:sp>
        <p:nvSpPr>
          <p:cNvPr id="16" name="Text 14"/>
          <p:cNvSpPr/>
          <p:nvPr/>
        </p:nvSpPr>
        <p:spPr>
          <a:xfrm>
            <a:off x="1005840" y="436168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Montserrat SemiBold" pitchFamily="34" charset="0"/>
                <a:ea typeface="Montserrat SemiBold" pitchFamily="34" charset="-122"/>
                <a:cs typeface="Montserrat SemiBold" pitchFamily="34" charset="-120"/>
              </a:rPr>
              <a:t>3</a:t>
            </a:r>
            <a:endParaRPr lang="en-US" sz="1400" dirty="0"/>
          </a:p>
        </p:txBody>
      </p:sp>
      <p:sp>
        <p:nvSpPr>
          <p:cNvPr id="17" name="Text 15"/>
          <p:cNvSpPr/>
          <p:nvPr/>
        </p:nvSpPr>
        <p:spPr>
          <a:xfrm>
            <a:off x="1508760" y="4343400"/>
            <a:ext cx="9692640" cy="777240"/>
          </a:xfrm>
          <a:prstGeom prst="rect">
            <a:avLst/>
          </a:prstGeom>
          <a:noFill/>
          <a:ln/>
        </p:spPr>
        <p:txBody>
          <a:bodyPr wrap="square" lIns="0" tIns="0" rIns="0" bIns="0" rtlCol="0" anchor="ctr"/>
          <a:lstStyle/>
          <a:p>
            <a:pPr marL="0" indent="0">
              <a:lnSpc>
                <a:spcPct val="125000"/>
              </a:lnSpc>
              <a:buNone/>
            </a:pPr>
            <a:r>
              <a:rPr lang="en-US" sz="1550" dirty="0">
                <a:solidFill>
                  <a:srgbClr val="1A1A1A"/>
                </a:solidFill>
                <a:latin typeface="Montserrat" pitchFamily="34" charset="0"/>
                <a:ea typeface="Montserrat" pitchFamily="34" charset="-122"/>
                <a:cs typeface="Montserrat" pitchFamily="34" charset="-120"/>
              </a:rPr>
              <a:t>Which strategy, on balance, felt hardest to sustain over many years?</a:t>
            </a:r>
            <a:endParaRPr lang="en-US" sz="1550" dirty="0"/>
          </a:p>
        </p:txBody>
      </p:sp>
      <p:sp>
        <p:nvSpPr>
          <p:cNvPr id="18" name="Text 16"/>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13 / 20</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4">
    <p:bg>
      <p:bgPr>
        <a:solidFill>
          <a:srgbClr val="FFEDD2"/>
        </a:solidFill>
        <a:effectLst/>
      </p:bgPr>
    </p:bg>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From the Art of War</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“Do Not Repeat the Tactics Which Have Gained You One Victory”</a:t>
            </a:r>
            <a:endParaRPr lang="en-US" sz="3200" dirty="0"/>
          </a:p>
        </p:txBody>
      </p:sp>
      <p:sp>
        <p:nvSpPr>
          <p:cNvPr id="8" name="Shape 6"/>
          <p:cNvSpPr/>
          <p:nvPr/>
        </p:nvSpPr>
        <p:spPr>
          <a:xfrm>
            <a:off x="731520" y="2194560"/>
            <a:ext cx="10698480" cy="3840480"/>
          </a:xfrm>
          <a:prstGeom prst="roundRect">
            <a:avLst>
              <a:gd name="adj" fmla="val 1905"/>
            </a:avLst>
          </a:prstGeom>
          <a:solidFill>
            <a:srgbClr val="FFFFFF">
              <a:alpha val="70000"/>
            </a:srgbClr>
          </a:solidFill>
          <a:ln/>
        </p:spPr>
      </p:sp>
      <p:sp>
        <p:nvSpPr>
          <p:cNvPr id="9" name="Text 7"/>
          <p:cNvSpPr/>
          <p:nvPr/>
        </p:nvSpPr>
        <p:spPr>
          <a:xfrm>
            <a:off x="1005840" y="2514600"/>
            <a:ext cx="10149840" cy="1097280"/>
          </a:xfrm>
          <a:prstGeom prst="rect">
            <a:avLst/>
          </a:prstGeom>
          <a:noFill/>
          <a:ln/>
        </p:spPr>
        <p:txBody>
          <a:bodyPr wrap="square" lIns="0" tIns="0" rIns="0" bIns="0" rtlCol="0" anchor="ctr"/>
          <a:lstStyle/>
          <a:p>
            <a:pPr marL="0" indent="0">
              <a:lnSpc>
                <a:spcPct val="140000"/>
              </a:lnSpc>
              <a:buNone/>
            </a:pPr>
            <a:r>
              <a:rPr lang="en-US" sz="1700" i="1" dirty="0">
                <a:solidFill>
                  <a:srgbClr val="2A2A2A"/>
                </a:solidFill>
                <a:latin typeface="Montserrat" pitchFamily="34" charset="0"/>
                <a:ea typeface="Montserrat" pitchFamily="34" charset="-122"/>
                <a:cs typeface="Montserrat" pitchFamily="34" charset="-120"/>
              </a:rPr>
              <a:t>Sun Tzu warned against mechanically repeating a winning tactic, because circumstances change and rivals adapt to what worked before.</a:t>
            </a:r>
            <a:endParaRPr lang="en-US" sz="1700" dirty="0"/>
          </a:p>
        </p:txBody>
      </p:sp>
      <p:sp>
        <p:nvSpPr>
          <p:cNvPr id="10" name="Shape 8"/>
          <p:cNvSpPr/>
          <p:nvPr/>
        </p:nvSpPr>
        <p:spPr>
          <a:xfrm>
            <a:off x="1005840" y="3703320"/>
            <a:ext cx="10149840" cy="1965960"/>
          </a:xfrm>
          <a:prstGeom prst="roundRect">
            <a:avLst>
              <a:gd name="adj" fmla="val 3721"/>
            </a:avLst>
          </a:prstGeom>
          <a:solidFill>
            <a:srgbClr val="B20E38"/>
          </a:solidFill>
          <a:ln/>
        </p:spPr>
      </p:sp>
      <p:sp>
        <p:nvSpPr>
          <p:cNvPr id="11" name="Text 9"/>
          <p:cNvSpPr/>
          <p:nvPr/>
        </p:nvSpPr>
        <p:spPr>
          <a:xfrm>
            <a:off x="1280160" y="3703320"/>
            <a:ext cx="9601200" cy="1965960"/>
          </a:xfrm>
          <a:prstGeom prst="rect">
            <a:avLst/>
          </a:prstGeom>
          <a:noFill/>
          <a:ln/>
        </p:spPr>
        <p:txBody>
          <a:bodyPr wrap="square" lIns="0" tIns="0" rIns="0" bIns="0" rtlCol="0" anchor="ctr"/>
          <a:lstStyle/>
          <a:p>
            <a:pPr marL="0" indent="0">
              <a:lnSpc>
                <a:spcPct val="130000"/>
              </a:lnSpc>
              <a:buNone/>
            </a:pPr>
            <a:r>
              <a:rPr lang="en-US" sz="1550" b="1" i="1" dirty="0">
                <a:solidFill>
                  <a:srgbClr val="FFFFFF"/>
                </a:solidFill>
                <a:latin typeface="Montserrat" pitchFamily="34" charset="0"/>
                <a:ea typeface="Montserrat" pitchFamily="34" charset="-122"/>
                <a:cs typeface="Montserrat" pitchFamily="34" charset="-120"/>
              </a:rPr>
              <a:t>A generic strategy is not a tactic to copy once, it's a discipline to sustain. Cost leaders must keep finding new efficiencies; differentiators must keep the gap from closing as rivals catch up.</a:t>
            </a:r>
            <a:endParaRPr lang="en-US" sz="1550" dirty="0"/>
          </a:p>
        </p:txBody>
      </p:sp>
      <p:sp>
        <p:nvSpPr>
          <p:cNvPr id="12" name="Text 10"/>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14 / 20</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FFEDD2"/>
        </a:solidFill>
        <a:effectLst/>
      </p:bgPr>
    </p:bg>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A Common Mistake</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Confusing a Low Price with Cost Leadership</a:t>
            </a:r>
            <a:endParaRPr lang="en-US" sz="3200" dirty="0"/>
          </a:p>
        </p:txBody>
      </p:sp>
      <p:sp>
        <p:nvSpPr>
          <p:cNvPr id="8" name="Shape 6"/>
          <p:cNvSpPr/>
          <p:nvPr/>
        </p:nvSpPr>
        <p:spPr>
          <a:xfrm>
            <a:off x="731520" y="2103120"/>
            <a:ext cx="10698480" cy="3931920"/>
          </a:xfrm>
          <a:prstGeom prst="roundRect">
            <a:avLst>
              <a:gd name="adj" fmla="val 1860"/>
            </a:avLst>
          </a:prstGeom>
          <a:solidFill>
            <a:srgbClr val="FFFFFF">
              <a:alpha val="70000"/>
            </a:srgbClr>
          </a:solidFill>
          <a:ln/>
        </p:spPr>
      </p:sp>
      <p:sp>
        <p:nvSpPr>
          <p:cNvPr id="9" name="Text 7"/>
          <p:cNvSpPr/>
          <p:nvPr/>
        </p:nvSpPr>
        <p:spPr>
          <a:xfrm>
            <a:off x="1005840" y="2468880"/>
            <a:ext cx="10149840" cy="1371600"/>
          </a:xfrm>
          <a:prstGeom prst="rect">
            <a:avLst/>
          </a:prstGeom>
          <a:noFill/>
          <a:ln/>
        </p:spPr>
        <p:txBody>
          <a:bodyPr wrap="square" lIns="0" tIns="0" rIns="0" bIns="0" rtlCol="0" anchor="ctr"/>
          <a:lstStyle/>
          <a:p>
            <a:pPr marL="0" indent="0">
              <a:lnSpc>
                <a:spcPct val="140000"/>
              </a:lnSpc>
              <a:buNone/>
            </a:pPr>
            <a:r>
              <a:rPr lang="en-US" sz="1700" dirty="0">
                <a:solidFill>
                  <a:srgbClr val="1A1A1A"/>
                </a:solidFill>
                <a:latin typeface="Montserrat" pitchFamily="34" charset="0"/>
                <a:ea typeface="Montserrat" pitchFamily="34" charset="-122"/>
                <a:cs typeface="Montserrat" pitchFamily="34" charset="-120"/>
              </a:rPr>
              <a:t>Discounting is easy to copy. A rival can match your price tomorrow. Real cost leadership means your rival literally cannot match your price without losing money, because your cost structure is genuinely, structurally lower.</a:t>
            </a:r>
            <a:endParaRPr lang="en-US" sz="1700" dirty="0"/>
          </a:p>
        </p:txBody>
      </p:sp>
      <p:sp>
        <p:nvSpPr>
          <p:cNvPr id="10" name="Text 8"/>
          <p:cNvSpPr/>
          <p:nvPr/>
        </p:nvSpPr>
        <p:spPr>
          <a:xfrm>
            <a:off x="1005840" y="4023360"/>
            <a:ext cx="10149840" cy="1371600"/>
          </a:xfrm>
          <a:prstGeom prst="rect">
            <a:avLst/>
          </a:prstGeom>
          <a:noFill/>
          <a:ln/>
        </p:spPr>
        <p:txBody>
          <a:bodyPr wrap="square" lIns="0" tIns="0" rIns="0" bIns="0" rtlCol="0" anchor="ctr"/>
          <a:lstStyle/>
          <a:p>
            <a:pPr marL="0" indent="0">
              <a:lnSpc>
                <a:spcPct val="135000"/>
              </a:lnSpc>
              <a:buNone/>
            </a:pPr>
            <a:r>
              <a:rPr lang="en-US" sz="1600" i="1" dirty="0">
                <a:solidFill>
                  <a:srgbClr val="2A2A2A"/>
                </a:solidFill>
                <a:latin typeface="Montserrat" pitchFamily="34" charset="0"/>
                <a:ea typeface="Montserrat" pitchFamily="34" charset="-122"/>
                <a:cs typeface="Montserrat" pitchFamily="34" charset="-120"/>
              </a:rPr>
              <a:t>If a rival can copy your price without pain, you don't have a cost leadership strategy, you have a temporary promotion.</a:t>
            </a:r>
            <a:endParaRPr lang="en-US" sz="1600" dirty="0"/>
          </a:p>
        </p:txBody>
      </p:sp>
      <p:sp>
        <p:nvSpPr>
          <p:cNvPr id="11" name="Text 9"/>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15 / 20</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EDD2"/>
        </a:solidFill>
        <a:effectLst/>
      </p:bgPr>
    </p:bg>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Takeaways</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Key Takeaways from Today</a:t>
            </a:r>
            <a:endParaRPr lang="en-US" sz="3200" dirty="0"/>
          </a:p>
        </p:txBody>
      </p:sp>
      <p:sp>
        <p:nvSpPr>
          <p:cNvPr id="8" name="Shape 6"/>
          <p:cNvSpPr/>
          <p:nvPr/>
        </p:nvSpPr>
        <p:spPr>
          <a:xfrm>
            <a:off x="731520" y="2194560"/>
            <a:ext cx="10698480" cy="914400"/>
          </a:xfrm>
          <a:prstGeom prst="roundRect">
            <a:avLst>
              <a:gd name="adj" fmla="val 8000"/>
            </a:avLst>
          </a:prstGeom>
          <a:solidFill>
            <a:srgbClr val="FFFFFF">
              <a:alpha val="70000"/>
            </a:srgbClr>
          </a:solidFill>
          <a:ln/>
        </p:spPr>
      </p:sp>
      <p:sp>
        <p:nvSpPr>
          <p:cNvPr id="9" name="Shape 7"/>
          <p:cNvSpPr/>
          <p:nvPr/>
        </p:nvSpPr>
        <p:spPr>
          <a:xfrm>
            <a:off x="731520" y="2194560"/>
            <a:ext cx="91440" cy="914400"/>
          </a:xfrm>
          <a:prstGeom prst="rect">
            <a:avLst/>
          </a:prstGeom>
          <a:solidFill>
            <a:srgbClr val="B20E38"/>
          </a:solidFill>
          <a:ln/>
        </p:spPr>
      </p:sp>
      <p:sp>
        <p:nvSpPr>
          <p:cNvPr id="10" name="Text 8"/>
          <p:cNvSpPr/>
          <p:nvPr/>
        </p:nvSpPr>
        <p:spPr>
          <a:xfrm>
            <a:off x="1051560" y="2194560"/>
            <a:ext cx="10241280" cy="914400"/>
          </a:xfrm>
          <a:prstGeom prst="rect">
            <a:avLst/>
          </a:prstGeom>
          <a:noFill/>
          <a:ln/>
        </p:spPr>
        <p:txBody>
          <a:bodyPr wrap="square" lIns="0" tIns="0" rIns="0" bIns="0" rtlCol="0" anchor="ctr"/>
          <a:lstStyle/>
          <a:p>
            <a:pPr marL="0" indent="0">
              <a:lnSpc>
                <a:spcPct val="115000"/>
              </a:lnSpc>
              <a:buNone/>
            </a:pPr>
            <a:r>
              <a:rPr lang="en-US" sz="1400" dirty="0">
                <a:solidFill>
                  <a:srgbClr val="1A1A1A"/>
                </a:solidFill>
                <a:latin typeface="Montserrat" pitchFamily="34" charset="0"/>
                <a:ea typeface="Montserrat" pitchFamily="34" charset="-122"/>
                <a:cs typeface="Montserrat" pitchFamily="34" charset="-120"/>
              </a:rPr>
              <a:t>Porter's three generic strategies are Cost Leadership, Differentiation, and Focus, and trying to do all three usually means winning at none</a:t>
            </a:r>
            <a:endParaRPr lang="en-US" sz="1400" dirty="0"/>
          </a:p>
        </p:txBody>
      </p:sp>
      <p:sp>
        <p:nvSpPr>
          <p:cNvPr id="11" name="Shape 9"/>
          <p:cNvSpPr/>
          <p:nvPr/>
        </p:nvSpPr>
        <p:spPr>
          <a:xfrm>
            <a:off x="731520" y="3246120"/>
            <a:ext cx="10698480" cy="914400"/>
          </a:xfrm>
          <a:prstGeom prst="roundRect">
            <a:avLst>
              <a:gd name="adj" fmla="val 8000"/>
            </a:avLst>
          </a:prstGeom>
          <a:solidFill>
            <a:srgbClr val="FFFFFF">
              <a:alpha val="70000"/>
            </a:srgbClr>
          </a:solidFill>
          <a:ln/>
        </p:spPr>
      </p:sp>
      <p:sp>
        <p:nvSpPr>
          <p:cNvPr id="12" name="Shape 10"/>
          <p:cNvSpPr/>
          <p:nvPr/>
        </p:nvSpPr>
        <p:spPr>
          <a:xfrm>
            <a:off x="731520" y="3246120"/>
            <a:ext cx="91440" cy="914400"/>
          </a:xfrm>
          <a:prstGeom prst="rect">
            <a:avLst/>
          </a:prstGeom>
          <a:solidFill>
            <a:srgbClr val="B20E38"/>
          </a:solidFill>
          <a:ln/>
        </p:spPr>
      </p:sp>
      <p:sp>
        <p:nvSpPr>
          <p:cNvPr id="13" name="Text 11"/>
          <p:cNvSpPr/>
          <p:nvPr/>
        </p:nvSpPr>
        <p:spPr>
          <a:xfrm>
            <a:off x="1051560" y="3246120"/>
            <a:ext cx="10241280" cy="914400"/>
          </a:xfrm>
          <a:prstGeom prst="rect">
            <a:avLst/>
          </a:prstGeom>
          <a:noFill/>
          <a:ln/>
        </p:spPr>
        <p:txBody>
          <a:bodyPr wrap="square" lIns="0" tIns="0" rIns="0" bIns="0" rtlCol="0" anchor="ctr"/>
          <a:lstStyle/>
          <a:p>
            <a:pPr marL="0" indent="0">
              <a:lnSpc>
                <a:spcPct val="115000"/>
              </a:lnSpc>
              <a:buNone/>
            </a:pPr>
            <a:r>
              <a:rPr lang="en-US" sz="1400" dirty="0">
                <a:solidFill>
                  <a:srgbClr val="1A1A1A"/>
                </a:solidFill>
                <a:latin typeface="Montserrat" pitchFamily="34" charset="0"/>
                <a:ea typeface="Montserrat" pitchFamily="34" charset="-122"/>
                <a:cs typeface="Montserrat" pitchFamily="34" charset="-120"/>
              </a:rPr>
              <a:t>Real cost leadership is a structural advantage rivals can't easily copy, not just a temporary discount</a:t>
            </a:r>
            <a:endParaRPr lang="en-US" sz="1400" dirty="0"/>
          </a:p>
        </p:txBody>
      </p:sp>
      <p:sp>
        <p:nvSpPr>
          <p:cNvPr id="14" name="Shape 12"/>
          <p:cNvSpPr/>
          <p:nvPr/>
        </p:nvSpPr>
        <p:spPr>
          <a:xfrm>
            <a:off x="731520" y="4297680"/>
            <a:ext cx="10698480" cy="914400"/>
          </a:xfrm>
          <a:prstGeom prst="roundRect">
            <a:avLst>
              <a:gd name="adj" fmla="val 8000"/>
            </a:avLst>
          </a:prstGeom>
          <a:solidFill>
            <a:srgbClr val="FFFFFF">
              <a:alpha val="70000"/>
            </a:srgbClr>
          </a:solidFill>
          <a:ln/>
        </p:spPr>
      </p:sp>
      <p:sp>
        <p:nvSpPr>
          <p:cNvPr id="15" name="Shape 13"/>
          <p:cNvSpPr/>
          <p:nvPr/>
        </p:nvSpPr>
        <p:spPr>
          <a:xfrm>
            <a:off x="731520" y="4297680"/>
            <a:ext cx="91440" cy="914400"/>
          </a:xfrm>
          <a:prstGeom prst="rect">
            <a:avLst/>
          </a:prstGeom>
          <a:solidFill>
            <a:srgbClr val="B20E38"/>
          </a:solidFill>
          <a:ln/>
        </p:spPr>
      </p:sp>
      <p:sp>
        <p:nvSpPr>
          <p:cNvPr id="16" name="Text 14"/>
          <p:cNvSpPr/>
          <p:nvPr/>
        </p:nvSpPr>
        <p:spPr>
          <a:xfrm>
            <a:off x="1051560" y="4297680"/>
            <a:ext cx="10241280" cy="914400"/>
          </a:xfrm>
          <a:prstGeom prst="rect">
            <a:avLst/>
          </a:prstGeom>
          <a:noFill/>
          <a:ln/>
        </p:spPr>
        <p:txBody>
          <a:bodyPr wrap="square" lIns="0" tIns="0" rIns="0" bIns="0" rtlCol="0" anchor="ctr"/>
          <a:lstStyle/>
          <a:p>
            <a:pPr marL="0" indent="0">
              <a:lnSpc>
                <a:spcPct val="115000"/>
              </a:lnSpc>
              <a:buNone/>
            </a:pPr>
            <a:r>
              <a:rPr lang="en-US" sz="1400" dirty="0">
                <a:solidFill>
                  <a:srgbClr val="1A1A1A"/>
                </a:solidFill>
                <a:latin typeface="Montserrat" pitchFamily="34" charset="0"/>
                <a:ea typeface="Montserrat" pitchFamily="34" charset="-122"/>
                <a:cs typeface="Montserrat" pitchFamily="34" charset="-120"/>
              </a:rPr>
              <a:t>Focus is cost leadership or differentiation applied to a deliberately narrow segment</a:t>
            </a:r>
            <a:endParaRPr lang="en-US" sz="1400" dirty="0"/>
          </a:p>
        </p:txBody>
      </p:sp>
      <p:sp>
        <p:nvSpPr>
          <p:cNvPr id="17" name="Shape 15"/>
          <p:cNvSpPr/>
          <p:nvPr/>
        </p:nvSpPr>
        <p:spPr>
          <a:xfrm>
            <a:off x="731520" y="5349240"/>
            <a:ext cx="10698480" cy="914400"/>
          </a:xfrm>
          <a:prstGeom prst="roundRect">
            <a:avLst>
              <a:gd name="adj" fmla="val 8000"/>
            </a:avLst>
          </a:prstGeom>
          <a:solidFill>
            <a:srgbClr val="FFFFFF">
              <a:alpha val="70000"/>
            </a:srgbClr>
          </a:solidFill>
          <a:ln/>
        </p:spPr>
      </p:sp>
      <p:sp>
        <p:nvSpPr>
          <p:cNvPr id="18" name="Shape 16"/>
          <p:cNvSpPr/>
          <p:nvPr/>
        </p:nvSpPr>
        <p:spPr>
          <a:xfrm>
            <a:off x="731520" y="5349240"/>
            <a:ext cx="91440" cy="914400"/>
          </a:xfrm>
          <a:prstGeom prst="rect">
            <a:avLst/>
          </a:prstGeom>
          <a:solidFill>
            <a:srgbClr val="B20E38"/>
          </a:solidFill>
          <a:ln/>
        </p:spPr>
      </p:sp>
      <p:sp>
        <p:nvSpPr>
          <p:cNvPr id="19" name="Text 17"/>
          <p:cNvSpPr/>
          <p:nvPr/>
        </p:nvSpPr>
        <p:spPr>
          <a:xfrm>
            <a:off x="1051560" y="5349240"/>
            <a:ext cx="10241280" cy="914400"/>
          </a:xfrm>
          <a:prstGeom prst="rect">
            <a:avLst/>
          </a:prstGeom>
          <a:noFill/>
          <a:ln/>
        </p:spPr>
        <p:txBody>
          <a:bodyPr wrap="square" lIns="0" tIns="0" rIns="0" bIns="0" rtlCol="0" anchor="ctr"/>
          <a:lstStyle/>
          <a:p>
            <a:pPr marL="0" indent="0">
              <a:lnSpc>
                <a:spcPct val="115000"/>
              </a:lnSpc>
              <a:buNone/>
            </a:pPr>
            <a:r>
              <a:rPr lang="en-US" sz="1400" dirty="0">
                <a:solidFill>
                  <a:srgbClr val="1A1A1A"/>
                </a:solidFill>
                <a:latin typeface="Montserrat" pitchFamily="34" charset="0"/>
                <a:ea typeface="Montserrat" pitchFamily="34" charset="-122"/>
                <a:cs typeface="Montserrat" pitchFamily="34" charset="-120"/>
              </a:rPr>
              <a:t>A company caught in between, like Jet Airways, loses price-sensitive customers to cost leaders and quality-seekers to differentiators</a:t>
            </a:r>
            <a:endParaRPr lang="en-US" sz="1400" dirty="0"/>
          </a:p>
        </p:txBody>
      </p:sp>
      <p:sp>
        <p:nvSpPr>
          <p:cNvPr id="20" name="Text 18"/>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16 / 20</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Core Concept</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Red Ocean vs. Blue Ocean</a:t>
            </a:r>
            <a:endParaRPr lang="en-US" sz="3200" dirty="0"/>
          </a:p>
        </p:txBody>
      </p:sp>
      <p:sp>
        <p:nvSpPr>
          <p:cNvPr id="8" name="Shape 6"/>
          <p:cNvSpPr/>
          <p:nvPr/>
        </p:nvSpPr>
        <p:spPr>
          <a:xfrm>
            <a:off x="731520" y="2103120"/>
            <a:ext cx="5120640" cy="3749040"/>
          </a:xfrm>
          <a:prstGeom prst="roundRect">
            <a:avLst>
              <a:gd name="adj" fmla="val 1951"/>
            </a:avLst>
          </a:prstGeom>
          <a:solidFill>
            <a:srgbClr val="FFFFFF">
              <a:alpha val="70000"/>
            </a:srgbClr>
          </a:solidFill>
          <a:ln/>
        </p:spPr>
      </p:sp>
      <p:sp>
        <p:nvSpPr>
          <p:cNvPr id="9" name="Text 7"/>
          <p:cNvSpPr/>
          <p:nvPr/>
        </p:nvSpPr>
        <p:spPr>
          <a:xfrm>
            <a:off x="1005840" y="2286000"/>
            <a:ext cx="4572000" cy="457200"/>
          </a:xfrm>
          <a:prstGeom prst="rect">
            <a:avLst/>
          </a:prstGeom>
          <a:noFill/>
          <a:ln/>
        </p:spPr>
        <p:txBody>
          <a:bodyPr wrap="square" lIns="0" tIns="0" rIns="0" bIns="0" rtlCol="0" anchor="ctr"/>
          <a:lstStyle/>
          <a:p>
            <a:pPr marL="0" indent="0">
              <a:buNone/>
            </a:pPr>
            <a:r>
              <a:rPr lang="en-US" sz="1900" b="1" dirty="0">
                <a:solidFill>
                  <a:srgbClr val="B20E38"/>
                </a:solidFill>
                <a:latin typeface="Montserrat SemiBold" pitchFamily="34" charset="0"/>
                <a:ea typeface="Montserrat SemiBold" pitchFamily="34" charset="-122"/>
                <a:cs typeface="Montserrat SemiBold" pitchFamily="34" charset="-120"/>
              </a:rPr>
              <a:t>Red Ocean</a:t>
            </a:r>
            <a:endParaRPr lang="en-US" sz="1900" dirty="0"/>
          </a:p>
        </p:txBody>
      </p:sp>
      <p:sp>
        <p:nvSpPr>
          <p:cNvPr id="10" name="Text 8"/>
          <p:cNvSpPr/>
          <p:nvPr/>
        </p:nvSpPr>
        <p:spPr>
          <a:xfrm>
            <a:off x="1005840" y="2834640"/>
            <a:ext cx="4572000" cy="2834640"/>
          </a:xfrm>
          <a:prstGeom prst="rect">
            <a:avLst/>
          </a:prstGeom>
          <a:noFill/>
          <a:ln/>
        </p:spPr>
        <p:txBody>
          <a:bodyPr wrap="square" lIns="0" tIns="0" rIns="0" bIns="0" rtlCol="0" anchor="ctr"/>
          <a:lstStyle/>
          <a:p>
            <a:pPr marL="0" indent="0">
              <a:lnSpc>
                <a:spcPct val="135000"/>
              </a:lnSpc>
              <a:buNone/>
            </a:pPr>
            <a:r>
              <a:rPr lang="en-US" sz="1250" dirty="0">
                <a:solidFill>
                  <a:srgbClr val="1A1A1A"/>
                </a:solidFill>
                <a:latin typeface="Montserrat" pitchFamily="34" charset="0"/>
                <a:ea typeface="Montserrat" pitchFamily="34" charset="-122"/>
                <a:cs typeface="Montserrat" pitchFamily="34" charset="-120"/>
              </a:rPr>
              <a:t>Compete in existing market space. Beat the competition. Exploit existing demand. Make the value-cost trade-off. Align activities around either low cost OR differentiation.</a:t>
            </a:r>
            <a:endParaRPr lang="en-US" sz="1250" dirty="0"/>
          </a:p>
        </p:txBody>
      </p:sp>
      <p:sp>
        <p:nvSpPr>
          <p:cNvPr id="11" name="Shape 9"/>
          <p:cNvSpPr/>
          <p:nvPr/>
        </p:nvSpPr>
        <p:spPr>
          <a:xfrm>
            <a:off x="6172200" y="2103120"/>
            <a:ext cx="5120640" cy="3749040"/>
          </a:xfrm>
          <a:prstGeom prst="roundRect">
            <a:avLst>
              <a:gd name="adj" fmla="val 1951"/>
            </a:avLst>
          </a:prstGeom>
          <a:solidFill>
            <a:srgbClr val="FFFFFF">
              <a:alpha val="70000"/>
            </a:srgbClr>
          </a:solidFill>
          <a:ln/>
        </p:spPr>
      </p:sp>
      <p:sp>
        <p:nvSpPr>
          <p:cNvPr id="12" name="Text 10"/>
          <p:cNvSpPr/>
          <p:nvPr/>
        </p:nvSpPr>
        <p:spPr>
          <a:xfrm>
            <a:off x="6446520" y="2286000"/>
            <a:ext cx="4572000" cy="457200"/>
          </a:xfrm>
          <a:prstGeom prst="rect">
            <a:avLst/>
          </a:prstGeom>
          <a:noFill/>
          <a:ln/>
        </p:spPr>
        <p:txBody>
          <a:bodyPr wrap="square" lIns="0" tIns="0" rIns="0" bIns="0" rtlCol="0" anchor="ctr"/>
          <a:lstStyle/>
          <a:p>
            <a:pPr marL="0" indent="0">
              <a:buNone/>
            </a:pPr>
            <a:r>
              <a:rPr lang="en-US" sz="1900" b="1" dirty="0">
                <a:solidFill>
                  <a:srgbClr val="B20E38"/>
                </a:solidFill>
                <a:latin typeface="Montserrat SemiBold" pitchFamily="34" charset="0"/>
                <a:ea typeface="Montserrat SemiBold" pitchFamily="34" charset="-122"/>
                <a:cs typeface="Montserrat SemiBold" pitchFamily="34" charset="-120"/>
              </a:rPr>
              <a:t>Blue Ocean</a:t>
            </a:r>
            <a:endParaRPr lang="en-US" sz="1900" dirty="0"/>
          </a:p>
        </p:txBody>
      </p:sp>
      <p:sp>
        <p:nvSpPr>
          <p:cNvPr id="13" name="Text 11"/>
          <p:cNvSpPr/>
          <p:nvPr/>
        </p:nvSpPr>
        <p:spPr>
          <a:xfrm>
            <a:off x="6446520" y="2834640"/>
            <a:ext cx="4572000" cy="2834640"/>
          </a:xfrm>
          <a:prstGeom prst="rect">
            <a:avLst/>
          </a:prstGeom>
          <a:noFill/>
          <a:ln/>
        </p:spPr>
        <p:txBody>
          <a:bodyPr wrap="square" lIns="0" tIns="0" rIns="0" bIns="0" rtlCol="0" anchor="ctr"/>
          <a:lstStyle/>
          <a:p>
            <a:pPr marL="0" indent="0">
              <a:lnSpc>
                <a:spcPct val="135000"/>
              </a:lnSpc>
              <a:buNone/>
            </a:pPr>
            <a:r>
              <a:rPr lang="en-US" sz="1250" dirty="0">
                <a:solidFill>
                  <a:srgbClr val="1A1A1A"/>
                </a:solidFill>
                <a:latin typeface="Montserrat" pitchFamily="34" charset="0"/>
                <a:ea typeface="Montserrat" pitchFamily="34" charset="-122"/>
                <a:cs typeface="Montserrat" pitchFamily="34" charset="-120"/>
              </a:rPr>
              <a:t>Create uncontested market space. Make competition irrelevant. Create and capture new demand. Break the value-cost trade-off. Align activities around BOTH low cost AND differentiation.</a:t>
            </a:r>
            <a:endParaRPr lang="en-US" sz="1250" dirty="0"/>
          </a:p>
        </p:txBody>
      </p:sp>
      <p:sp>
        <p:nvSpPr>
          <p:cNvPr id="14" name="Text 12"/>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3 / 20</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The Central Idea</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Breaking the Cost vs. Value Trade-Off</a:t>
            </a:r>
            <a:endParaRPr lang="en-US" sz="3200" dirty="0"/>
          </a:p>
        </p:txBody>
      </p:sp>
      <p:sp>
        <p:nvSpPr>
          <p:cNvPr id="8" name="Shape 6"/>
          <p:cNvSpPr/>
          <p:nvPr/>
        </p:nvSpPr>
        <p:spPr>
          <a:xfrm>
            <a:off x="731520" y="2103120"/>
            <a:ext cx="10698480" cy="3931920"/>
          </a:xfrm>
          <a:prstGeom prst="roundRect">
            <a:avLst>
              <a:gd name="adj" fmla="val 1860"/>
            </a:avLst>
          </a:prstGeom>
          <a:solidFill>
            <a:srgbClr val="FFFFFF">
              <a:alpha val="70000"/>
            </a:srgbClr>
          </a:solidFill>
          <a:ln/>
        </p:spPr>
      </p:sp>
      <p:sp>
        <p:nvSpPr>
          <p:cNvPr id="9" name="Text 7"/>
          <p:cNvSpPr/>
          <p:nvPr/>
        </p:nvSpPr>
        <p:spPr>
          <a:xfrm>
            <a:off x="1005840" y="2423160"/>
            <a:ext cx="10149840" cy="1463040"/>
          </a:xfrm>
          <a:prstGeom prst="rect">
            <a:avLst/>
          </a:prstGeom>
          <a:noFill/>
          <a:ln/>
        </p:spPr>
        <p:txBody>
          <a:bodyPr wrap="square" lIns="0" tIns="0" rIns="0" bIns="0" rtlCol="0" anchor="ctr"/>
          <a:lstStyle/>
          <a:p>
            <a:pPr marL="0" indent="0">
              <a:lnSpc>
                <a:spcPct val="140000"/>
              </a:lnSpc>
              <a:buNone/>
            </a:pPr>
            <a:r>
              <a:rPr lang="en-US" sz="1650" dirty="0">
                <a:solidFill>
                  <a:srgbClr val="1A1A1A"/>
                </a:solidFill>
                <a:latin typeface="Montserrat" pitchFamily="34" charset="0"/>
                <a:ea typeface="Montserrat" pitchFamily="34" charset="-122"/>
                <a:cs typeface="Montserrat" pitchFamily="34" charset="-120"/>
              </a:rPr>
              <a:t>Porter's world assumes you must choose: low cost, or high value, rarely both. Blue Ocean Strategy argues that real breakthroughs happen when a company pursues both simultaneously, by fundamentally rethinking what the industry even competes on.</a:t>
            </a:r>
            <a:endParaRPr lang="en-US" sz="1650" dirty="0"/>
          </a:p>
        </p:txBody>
      </p:sp>
      <p:sp>
        <p:nvSpPr>
          <p:cNvPr id="10" name="Text 8"/>
          <p:cNvSpPr/>
          <p:nvPr/>
        </p:nvSpPr>
        <p:spPr>
          <a:xfrm>
            <a:off x="1005840" y="4023360"/>
            <a:ext cx="10149840" cy="1280160"/>
          </a:xfrm>
          <a:prstGeom prst="rect">
            <a:avLst/>
          </a:prstGeom>
          <a:noFill/>
          <a:ln/>
        </p:spPr>
        <p:txBody>
          <a:bodyPr wrap="square" lIns="0" tIns="0" rIns="0" bIns="0" rtlCol="0" anchor="ctr"/>
          <a:lstStyle/>
          <a:p>
            <a:pPr marL="0" indent="0">
              <a:lnSpc>
                <a:spcPct val="135000"/>
              </a:lnSpc>
              <a:buNone/>
            </a:pPr>
            <a:r>
              <a:rPr lang="en-US" sz="1600" i="1" dirty="0">
                <a:solidFill>
                  <a:srgbClr val="2A2A2A"/>
                </a:solidFill>
                <a:latin typeface="Montserrat" pitchFamily="34" charset="0"/>
                <a:ea typeface="Montserrat" pitchFamily="34" charset="-122"/>
                <a:cs typeface="Montserrat" pitchFamily="34" charset="-120"/>
              </a:rPr>
              <a:t>This isn't a loophole in Porter's logic, it's a different question entirely: not “how do we win the current game,” but “what if the game itself changed?”</a:t>
            </a:r>
            <a:endParaRPr lang="en-US" sz="1600" dirty="0"/>
          </a:p>
        </p:txBody>
      </p:sp>
      <p:sp>
        <p:nvSpPr>
          <p:cNvPr id="11" name="Text 9"/>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4 / 20</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The Canonical Case Story</a:t>
            </a:r>
            <a:endParaRPr lang="en-US" sz="18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Cirque du Soleil</a:t>
            </a:r>
            <a:endParaRPr lang="en-US" sz="3200" dirty="0"/>
          </a:p>
        </p:txBody>
      </p:sp>
      <p:sp>
        <p:nvSpPr>
          <p:cNvPr id="13" name="Text 11"/>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5 / 20</a:t>
            </a:r>
            <a:endParaRPr lang="en-US" sz="1400" dirty="0"/>
          </a:p>
        </p:txBody>
      </p:sp>
    </p:spTree>
    <p:extLst>
      <p:ext uri="{BB962C8B-B14F-4D97-AF65-F5344CB8AC3E}">
        <p14:creationId xmlns:p14="http://schemas.microsoft.com/office/powerpoint/2010/main" val="8751235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The Canonical Case Story</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Cirque du Soleil</a:t>
            </a:r>
            <a:endParaRPr lang="en-US" sz="3200" dirty="0"/>
          </a:p>
        </p:txBody>
      </p:sp>
      <p:sp>
        <p:nvSpPr>
          <p:cNvPr id="8" name="Shape 6"/>
          <p:cNvSpPr/>
          <p:nvPr/>
        </p:nvSpPr>
        <p:spPr>
          <a:xfrm>
            <a:off x="731520" y="2011680"/>
            <a:ext cx="10698480" cy="4114800"/>
          </a:xfrm>
          <a:prstGeom prst="roundRect">
            <a:avLst>
              <a:gd name="adj" fmla="val 1778"/>
            </a:avLst>
          </a:prstGeom>
          <a:solidFill>
            <a:srgbClr val="FFFFFF">
              <a:alpha val="70000"/>
            </a:srgbClr>
          </a:solidFill>
          <a:ln/>
        </p:spPr>
      </p:sp>
      <p:sp>
        <p:nvSpPr>
          <p:cNvPr id="9" name="Text 7"/>
          <p:cNvSpPr/>
          <p:nvPr/>
        </p:nvSpPr>
        <p:spPr>
          <a:xfrm>
            <a:off x="1005840" y="2240280"/>
            <a:ext cx="10149840" cy="320040"/>
          </a:xfrm>
          <a:prstGeom prst="rect">
            <a:avLst/>
          </a:prstGeom>
          <a:noFill/>
          <a:ln/>
        </p:spPr>
        <p:txBody>
          <a:bodyPr wrap="square" lIns="0" tIns="0" rIns="0" bIns="0" rtlCol="0" anchor="ctr"/>
          <a:lstStyle/>
          <a:p>
            <a:pPr marL="0" indent="0">
              <a:buNone/>
            </a:pPr>
            <a:r>
              <a:rPr lang="en-US" sz="1500" b="1" dirty="0">
                <a:solidFill>
                  <a:srgbClr val="B20E38"/>
                </a:solidFill>
                <a:latin typeface="Montserrat SemiBold" pitchFamily="34" charset="0"/>
                <a:ea typeface="Montserrat SemiBold" pitchFamily="34" charset="-122"/>
                <a:cs typeface="Montserrat SemiBold" pitchFamily="34" charset="-120"/>
              </a:rPr>
              <a:t>1984, Quebec</a:t>
            </a:r>
            <a:endParaRPr lang="en-US" sz="1500" dirty="0"/>
          </a:p>
        </p:txBody>
      </p:sp>
      <p:sp>
        <p:nvSpPr>
          <p:cNvPr id="10" name="Text 8"/>
          <p:cNvSpPr/>
          <p:nvPr/>
        </p:nvSpPr>
        <p:spPr>
          <a:xfrm>
            <a:off x="1005840" y="2560320"/>
            <a:ext cx="10149840" cy="1005840"/>
          </a:xfrm>
          <a:prstGeom prst="rect">
            <a:avLst/>
          </a:prstGeom>
          <a:noFill/>
          <a:ln/>
        </p:spPr>
        <p:txBody>
          <a:bodyPr wrap="square" lIns="0" tIns="0" rIns="0" bIns="0" rtlCol="0" anchor="ctr"/>
          <a:lstStyle/>
          <a:p>
            <a:pPr marL="0" indent="0">
              <a:lnSpc>
                <a:spcPct val="130000"/>
              </a:lnSpc>
              <a:buNone/>
            </a:pPr>
            <a:r>
              <a:rPr lang="en-US" sz="1500" dirty="0">
                <a:solidFill>
                  <a:srgbClr val="1A1A1A"/>
                </a:solidFill>
                <a:latin typeface="Montserrat" pitchFamily="34" charset="0"/>
                <a:ea typeface="Montserrat" pitchFamily="34" charset="-122"/>
                <a:cs typeface="Montserrat" pitchFamily="34" charset="-120"/>
              </a:rPr>
              <a:t>The traditional circus industry was shrinking, animal-rights concerns, high star-performer costs, direct competition from Ringling Bros. and smaller circuses fighting over a declining audience, a textbook Red Ocean.</a:t>
            </a:r>
            <a:endParaRPr lang="en-US" sz="1500" dirty="0"/>
          </a:p>
        </p:txBody>
      </p:sp>
      <p:sp>
        <p:nvSpPr>
          <p:cNvPr id="11" name="Shape 9"/>
          <p:cNvSpPr/>
          <p:nvPr/>
        </p:nvSpPr>
        <p:spPr>
          <a:xfrm>
            <a:off x="1005840" y="3703320"/>
            <a:ext cx="10149840" cy="2194560"/>
          </a:xfrm>
          <a:prstGeom prst="roundRect">
            <a:avLst>
              <a:gd name="adj" fmla="val 3333"/>
            </a:avLst>
          </a:prstGeom>
          <a:solidFill>
            <a:srgbClr val="B20E38"/>
          </a:solidFill>
          <a:ln/>
        </p:spPr>
      </p:sp>
      <p:sp>
        <p:nvSpPr>
          <p:cNvPr id="12" name="Text 10"/>
          <p:cNvSpPr/>
          <p:nvPr/>
        </p:nvSpPr>
        <p:spPr>
          <a:xfrm>
            <a:off x="1280160" y="3703320"/>
            <a:ext cx="9601200" cy="2194560"/>
          </a:xfrm>
          <a:prstGeom prst="rect">
            <a:avLst/>
          </a:prstGeom>
          <a:noFill/>
          <a:ln/>
        </p:spPr>
        <p:txBody>
          <a:bodyPr wrap="square" lIns="0" tIns="0" rIns="0" bIns="0" rtlCol="0" anchor="ctr"/>
          <a:lstStyle/>
          <a:p>
            <a:pPr marL="0" indent="0">
              <a:lnSpc>
                <a:spcPct val="130000"/>
              </a:lnSpc>
              <a:buNone/>
            </a:pPr>
            <a:r>
              <a:rPr lang="en-US" sz="1450" b="1" i="1" dirty="0">
                <a:solidFill>
                  <a:srgbClr val="FFFFFF"/>
                </a:solidFill>
                <a:latin typeface="Montserrat" pitchFamily="34" charset="0"/>
                <a:ea typeface="Montserrat" pitchFamily="34" charset="-122"/>
                <a:cs typeface="Montserrat" pitchFamily="34" charset="-120"/>
              </a:rPr>
              <a:t>Cirque du Soleil eliminated animal acts and star performers entirely, cutting massive costs, while adding theatrical narrative, original music, and artistic sophistication, creating value no circus or theatre had combined before. It competed with neither circuses nor theatre. It created a new category.</a:t>
            </a:r>
            <a:endParaRPr lang="en-US" sz="1450" dirty="0"/>
          </a:p>
        </p:txBody>
      </p:sp>
      <p:sp>
        <p:nvSpPr>
          <p:cNvPr id="13" name="Text 11"/>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5 / 20</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Core Tool</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The Four Actions Framework</a:t>
            </a:r>
            <a:endParaRPr lang="en-US" sz="3200" dirty="0"/>
          </a:p>
        </p:txBody>
      </p:sp>
      <p:sp>
        <p:nvSpPr>
          <p:cNvPr id="8" name="Shape 6"/>
          <p:cNvSpPr/>
          <p:nvPr/>
        </p:nvSpPr>
        <p:spPr>
          <a:xfrm>
            <a:off x="731520" y="2103120"/>
            <a:ext cx="5120640" cy="1737360"/>
          </a:xfrm>
          <a:prstGeom prst="roundRect">
            <a:avLst>
              <a:gd name="adj" fmla="val 4211"/>
            </a:avLst>
          </a:prstGeom>
          <a:solidFill>
            <a:srgbClr val="FFFFFF">
              <a:alpha val="70000"/>
            </a:srgbClr>
          </a:solidFill>
          <a:ln/>
        </p:spPr>
      </p:sp>
      <p:sp>
        <p:nvSpPr>
          <p:cNvPr id="9" name="Text 7"/>
          <p:cNvSpPr/>
          <p:nvPr/>
        </p:nvSpPr>
        <p:spPr>
          <a:xfrm>
            <a:off x="960120" y="2240280"/>
            <a:ext cx="4663440" cy="457200"/>
          </a:xfrm>
          <a:prstGeom prst="rect">
            <a:avLst/>
          </a:prstGeom>
          <a:noFill/>
          <a:ln/>
        </p:spPr>
        <p:txBody>
          <a:bodyPr wrap="square" lIns="0" tIns="0" rIns="0" bIns="0" rtlCol="0" anchor="ctr"/>
          <a:lstStyle/>
          <a:p>
            <a:pPr marL="0" indent="0">
              <a:buNone/>
            </a:pPr>
            <a:r>
              <a:rPr lang="en-US" sz="1700" b="1" dirty="0">
                <a:solidFill>
                  <a:srgbClr val="B20E38"/>
                </a:solidFill>
                <a:latin typeface="Montserrat SemiBold" pitchFamily="34" charset="0"/>
                <a:ea typeface="Montserrat SemiBold" pitchFamily="34" charset="-122"/>
                <a:cs typeface="Montserrat SemiBold" pitchFamily="34" charset="-120"/>
              </a:rPr>
              <a:t>Eliminate</a:t>
            </a:r>
            <a:endParaRPr lang="en-US" sz="1700" dirty="0"/>
          </a:p>
        </p:txBody>
      </p:sp>
      <p:sp>
        <p:nvSpPr>
          <p:cNvPr id="10" name="Text 8"/>
          <p:cNvSpPr/>
          <p:nvPr/>
        </p:nvSpPr>
        <p:spPr>
          <a:xfrm>
            <a:off x="960120" y="2743200"/>
            <a:ext cx="4663440" cy="1005840"/>
          </a:xfrm>
          <a:prstGeom prst="rect">
            <a:avLst/>
          </a:prstGeom>
          <a:noFill/>
          <a:ln/>
        </p:spPr>
        <p:txBody>
          <a:bodyPr wrap="square" lIns="0" tIns="0" rIns="0" bIns="0" rtlCol="0" anchor="ctr"/>
          <a:lstStyle/>
          <a:p>
            <a:pPr marL="0" indent="0">
              <a:lnSpc>
                <a:spcPct val="130000"/>
              </a:lnSpc>
              <a:buNone/>
            </a:pPr>
            <a:r>
              <a:rPr lang="en-US" sz="1300" dirty="0">
                <a:solidFill>
                  <a:srgbClr val="1A1A1A"/>
                </a:solidFill>
                <a:latin typeface="Montserrat" pitchFamily="34" charset="0"/>
                <a:ea typeface="Montserrat" pitchFamily="34" charset="-122"/>
                <a:cs typeface="Montserrat" pitchFamily="34" charset="-120"/>
              </a:rPr>
              <a:t>Which factors the industry takes for granted should be removed entirely?</a:t>
            </a:r>
            <a:endParaRPr lang="en-US" sz="1300" dirty="0"/>
          </a:p>
        </p:txBody>
      </p:sp>
      <p:sp>
        <p:nvSpPr>
          <p:cNvPr id="11" name="Shape 9"/>
          <p:cNvSpPr/>
          <p:nvPr/>
        </p:nvSpPr>
        <p:spPr>
          <a:xfrm>
            <a:off x="6309360" y="2103120"/>
            <a:ext cx="5120640" cy="1737360"/>
          </a:xfrm>
          <a:prstGeom prst="roundRect">
            <a:avLst>
              <a:gd name="adj" fmla="val 4211"/>
            </a:avLst>
          </a:prstGeom>
          <a:solidFill>
            <a:srgbClr val="FFFFFF">
              <a:alpha val="70000"/>
            </a:srgbClr>
          </a:solidFill>
          <a:ln/>
        </p:spPr>
      </p:sp>
      <p:sp>
        <p:nvSpPr>
          <p:cNvPr id="12" name="Text 10"/>
          <p:cNvSpPr/>
          <p:nvPr/>
        </p:nvSpPr>
        <p:spPr>
          <a:xfrm>
            <a:off x="6537960" y="2240280"/>
            <a:ext cx="4663440" cy="457200"/>
          </a:xfrm>
          <a:prstGeom prst="rect">
            <a:avLst/>
          </a:prstGeom>
          <a:noFill/>
          <a:ln/>
        </p:spPr>
        <p:txBody>
          <a:bodyPr wrap="square" lIns="0" tIns="0" rIns="0" bIns="0" rtlCol="0" anchor="ctr"/>
          <a:lstStyle/>
          <a:p>
            <a:pPr marL="0" indent="0">
              <a:buNone/>
            </a:pPr>
            <a:r>
              <a:rPr lang="en-US" sz="1700" b="1" dirty="0">
                <a:solidFill>
                  <a:srgbClr val="B20E38"/>
                </a:solidFill>
                <a:latin typeface="Montserrat SemiBold" pitchFamily="34" charset="0"/>
                <a:ea typeface="Montserrat SemiBold" pitchFamily="34" charset="-122"/>
                <a:cs typeface="Montserrat SemiBold" pitchFamily="34" charset="-120"/>
              </a:rPr>
              <a:t>Reduce</a:t>
            </a:r>
            <a:endParaRPr lang="en-US" sz="1700" dirty="0"/>
          </a:p>
        </p:txBody>
      </p:sp>
      <p:sp>
        <p:nvSpPr>
          <p:cNvPr id="13" name="Text 11"/>
          <p:cNvSpPr/>
          <p:nvPr/>
        </p:nvSpPr>
        <p:spPr>
          <a:xfrm>
            <a:off x="6537960" y="2743200"/>
            <a:ext cx="4663440" cy="1005840"/>
          </a:xfrm>
          <a:prstGeom prst="rect">
            <a:avLst/>
          </a:prstGeom>
          <a:noFill/>
          <a:ln/>
        </p:spPr>
        <p:txBody>
          <a:bodyPr wrap="square" lIns="0" tIns="0" rIns="0" bIns="0" rtlCol="0" anchor="ctr"/>
          <a:lstStyle/>
          <a:p>
            <a:pPr marL="0" indent="0">
              <a:lnSpc>
                <a:spcPct val="130000"/>
              </a:lnSpc>
              <a:buNone/>
            </a:pPr>
            <a:r>
              <a:rPr lang="en-US" sz="1300" dirty="0">
                <a:solidFill>
                  <a:srgbClr val="1A1A1A"/>
                </a:solidFill>
                <a:latin typeface="Montserrat" pitchFamily="34" charset="0"/>
                <a:ea typeface="Montserrat" pitchFamily="34" charset="-122"/>
                <a:cs typeface="Montserrat" pitchFamily="34" charset="-120"/>
              </a:rPr>
              <a:t>Which factors should be reduced well below the industry standard?</a:t>
            </a:r>
            <a:endParaRPr lang="en-US" sz="1300" dirty="0"/>
          </a:p>
        </p:txBody>
      </p:sp>
      <p:sp>
        <p:nvSpPr>
          <p:cNvPr id="14" name="Shape 12"/>
          <p:cNvSpPr/>
          <p:nvPr/>
        </p:nvSpPr>
        <p:spPr>
          <a:xfrm>
            <a:off x="731520" y="3977640"/>
            <a:ext cx="5120640" cy="1737360"/>
          </a:xfrm>
          <a:prstGeom prst="roundRect">
            <a:avLst>
              <a:gd name="adj" fmla="val 4211"/>
            </a:avLst>
          </a:prstGeom>
          <a:solidFill>
            <a:srgbClr val="FFFFFF">
              <a:alpha val="70000"/>
            </a:srgbClr>
          </a:solidFill>
          <a:ln/>
        </p:spPr>
      </p:sp>
      <p:sp>
        <p:nvSpPr>
          <p:cNvPr id="15" name="Text 13"/>
          <p:cNvSpPr/>
          <p:nvPr/>
        </p:nvSpPr>
        <p:spPr>
          <a:xfrm>
            <a:off x="960120" y="4114800"/>
            <a:ext cx="4663440" cy="457200"/>
          </a:xfrm>
          <a:prstGeom prst="rect">
            <a:avLst/>
          </a:prstGeom>
          <a:noFill/>
          <a:ln/>
        </p:spPr>
        <p:txBody>
          <a:bodyPr wrap="square" lIns="0" tIns="0" rIns="0" bIns="0" rtlCol="0" anchor="ctr"/>
          <a:lstStyle/>
          <a:p>
            <a:pPr marL="0" indent="0">
              <a:buNone/>
            </a:pPr>
            <a:r>
              <a:rPr lang="en-US" sz="1700" b="1" dirty="0">
                <a:solidFill>
                  <a:srgbClr val="B20E38"/>
                </a:solidFill>
                <a:latin typeface="Montserrat SemiBold" pitchFamily="34" charset="0"/>
                <a:ea typeface="Montserrat SemiBold" pitchFamily="34" charset="-122"/>
                <a:cs typeface="Montserrat SemiBold" pitchFamily="34" charset="-120"/>
              </a:rPr>
              <a:t>Raise</a:t>
            </a:r>
            <a:endParaRPr lang="en-US" sz="1700" dirty="0"/>
          </a:p>
        </p:txBody>
      </p:sp>
      <p:sp>
        <p:nvSpPr>
          <p:cNvPr id="16" name="Text 14"/>
          <p:cNvSpPr/>
          <p:nvPr/>
        </p:nvSpPr>
        <p:spPr>
          <a:xfrm>
            <a:off x="960120" y="4617720"/>
            <a:ext cx="4663440" cy="1005840"/>
          </a:xfrm>
          <a:prstGeom prst="rect">
            <a:avLst/>
          </a:prstGeom>
          <a:noFill/>
          <a:ln/>
        </p:spPr>
        <p:txBody>
          <a:bodyPr wrap="square" lIns="0" tIns="0" rIns="0" bIns="0" rtlCol="0" anchor="ctr"/>
          <a:lstStyle/>
          <a:p>
            <a:pPr marL="0" indent="0">
              <a:lnSpc>
                <a:spcPct val="130000"/>
              </a:lnSpc>
              <a:buNone/>
            </a:pPr>
            <a:r>
              <a:rPr lang="en-US" sz="1300" dirty="0">
                <a:solidFill>
                  <a:srgbClr val="1A1A1A"/>
                </a:solidFill>
                <a:latin typeface="Montserrat" pitchFamily="34" charset="0"/>
                <a:ea typeface="Montserrat" pitchFamily="34" charset="-122"/>
                <a:cs typeface="Montserrat" pitchFamily="34" charset="-120"/>
              </a:rPr>
              <a:t>Which factors should be raised well above the industry standard?</a:t>
            </a:r>
            <a:endParaRPr lang="en-US" sz="1300" dirty="0"/>
          </a:p>
        </p:txBody>
      </p:sp>
      <p:sp>
        <p:nvSpPr>
          <p:cNvPr id="17" name="Shape 15"/>
          <p:cNvSpPr/>
          <p:nvPr/>
        </p:nvSpPr>
        <p:spPr>
          <a:xfrm>
            <a:off x="6309360" y="3977640"/>
            <a:ext cx="5120640" cy="1737360"/>
          </a:xfrm>
          <a:prstGeom prst="roundRect">
            <a:avLst>
              <a:gd name="adj" fmla="val 4211"/>
            </a:avLst>
          </a:prstGeom>
          <a:solidFill>
            <a:srgbClr val="FFFFFF">
              <a:alpha val="70000"/>
            </a:srgbClr>
          </a:solidFill>
          <a:ln/>
        </p:spPr>
      </p:sp>
      <p:sp>
        <p:nvSpPr>
          <p:cNvPr id="18" name="Text 16"/>
          <p:cNvSpPr/>
          <p:nvPr/>
        </p:nvSpPr>
        <p:spPr>
          <a:xfrm>
            <a:off x="6537960" y="4114800"/>
            <a:ext cx="4663440" cy="457200"/>
          </a:xfrm>
          <a:prstGeom prst="rect">
            <a:avLst/>
          </a:prstGeom>
          <a:noFill/>
          <a:ln/>
        </p:spPr>
        <p:txBody>
          <a:bodyPr wrap="square" lIns="0" tIns="0" rIns="0" bIns="0" rtlCol="0" anchor="ctr"/>
          <a:lstStyle/>
          <a:p>
            <a:pPr marL="0" indent="0">
              <a:buNone/>
            </a:pPr>
            <a:r>
              <a:rPr lang="en-US" sz="1700" b="1" dirty="0">
                <a:solidFill>
                  <a:srgbClr val="B20E38"/>
                </a:solidFill>
                <a:latin typeface="Montserrat SemiBold" pitchFamily="34" charset="0"/>
                <a:ea typeface="Montserrat SemiBold" pitchFamily="34" charset="-122"/>
                <a:cs typeface="Montserrat SemiBold" pitchFamily="34" charset="-120"/>
              </a:rPr>
              <a:t>Create</a:t>
            </a:r>
            <a:endParaRPr lang="en-US" sz="1700" dirty="0"/>
          </a:p>
        </p:txBody>
      </p:sp>
      <p:sp>
        <p:nvSpPr>
          <p:cNvPr id="19" name="Text 17"/>
          <p:cNvSpPr/>
          <p:nvPr/>
        </p:nvSpPr>
        <p:spPr>
          <a:xfrm>
            <a:off x="6537960" y="4617720"/>
            <a:ext cx="4663440" cy="1005840"/>
          </a:xfrm>
          <a:prstGeom prst="rect">
            <a:avLst/>
          </a:prstGeom>
          <a:noFill/>
          <a:ln/>
        </p:spPr>
        <p:txBody>
          <a:bodyPr wrap="square" lIns="0" tIns="0" rIns="0" bIns="0" rtlCol="0" anchor="ctr"/>
          <a:lstStyle/>
          <a:p>
            <a:pPr marL="0" indent="0">
              <a:lnSpc>
                <a:spcPct val="130000"/>
              </a:lnSpc>
              <a:buNone/>
            </a:pPr>
            <a:r>
              <a:rPr lang="en-US" sz="1300" dirty="0">
                <a:solidFill>
                  <a:srgbClr val="1A1A1A"/>
                </a:solidFill>
                <a:latin typeface="Montserrat" pitchFamily="34" charset="0"/>
                <a:ea typeface="Montserrat" pitchFamily="34" charset="-122"/>
                <a:cs typeface="Montserrat" pitchFamily="34" charset="-120"/>
              </a:rPr>
              <a:t>Which factors should be created that the industry has never offered?</a:t>
            </a:r>
            <a:endParaRPr lang="en-US" sz="1300" dirty="0"/>
          </a:p>
        </p:txBody>
      </p:sp>
      <p:sp>
        <p:nvSpPr>
          <p:cNvPr id="20" name="Text 18"/>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6 / 20</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Applying the Framework</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The Four Actions, Applied to Cirque du Soleil</a:t>
            </a:r>
            <a:endParaRPr lang="en-US" sz="3200" dirty="0"/>
          </a:p>
        </p:txBody>
      </p:sp>
      <p:sp>
        <p:nvSpPr>
          <p:cNvPr id="8" name="Shape 6"/>
          <p:cNvSpPr/>
          <p:nvPr/>
        </p:nvSpPr>
        <p:spPr>
          <a:xfrm>
            <a:off x="731520" y="2103120"/>
            <a:ext cx="10698480" cy="960120"/>
          </a:xfrm>
          <a:prstGeom prst="roundRect">
            <a:avLst>
              <a:gd name="adj" fmla="val 7619"/>
            </a:avLst>
          </a:prstGeom>
          <a:solidFill>
            <a:srgbClr val="FFFFFF">
              <a:alpha val="70000"/>
            </a:srgbClr>
          </a:solidFill>
          <a:ln/>
        </p:spPr>
      </p:sp>
      <p:sp>
        <p:nvSpPr>
          <p:cNvPr id="9" name="Text 7"/>
          <p:cNvSpPr/>
          <p:nvPr/>
        </p:nvSpPr>
        <p:spPr>
          <a:xfrm>
            <a:off x="960120" y="2240280"/>
            <a:ext cx="2286000" cy="685800"/>
          </a:xfrm>
          <a:prstGeom prst="rect">
            <a:avLst/>
          </a:prstGeom>
          <a:noFill/>
          <a:ln/>
        </p:spPr>
        <p:txBody>
          <a:bodyPr wrap="square" lIns="0" tIns="0" rIns="0" bIns="0" rtlCol="0" anchor="ctr"/>
          <a:lstStyle/>
          <a:p>
            <a:pPr marL="0" indent="0">
              <a:buNone/>
            </a:pPr>
            <a:r>
              <a:rPr lang="en-US" sz="1500" b="1" dirty="0">
                <a:solidFill>
                  <a:srgbClr val="B20E38"/>
                </a:solidFill>
                <a:latin typeface="Montserrat SemiBold" pitchFamily="34" charset="0"/>
                <a:ea typeface="Montserrat SemiBold" pitchFamily="34" charset="-122"/>
                <a:cs typeface="Montserrat SemiBold" pitchFamily="34" charset="-120"/>
              </a:rPr>
              <a:t>Eliminate</a:t>
            </a:r>
            <a:endParaRPr lang="en-US" sz="1500" dirty="0"/>
          </a:p>
        </p:txBody>
      </p:sp>
      <p:sp>
        <p:nvSpPr>
          <p:cNvPr id="10" name="Text 8"/>
          <p:cNvSpPr/>
          <p:nvPr/>
        </p:nvSpPr>
        <p:spPr>
          <a:xfrm>
            <a:off x="3383280" y="2240280"/>
            <a:ext cx="7772400" cy="685800"/>
          </a:xfrm>
          <a:prstGeom prst="rect">
            <a:avLst/>
          </a:prstGeom>
          <a:noFill/>
          <a:ln/>
        </p:spPr>
        <p:txBody>
          <a:bodyPr wrap="square" lIns="0" tIns="0" rIns="0" bIns="0" rtlCol="0" anchor="ctr"/>
          <a:lstStyle/>
          <a:p>
            <a:pPr marL="0" indent="0">
              <a:buNone/>
            </a:pPr>
            <a:r>
              <a:rPr lang="en-US" sz="1400" dirty="0">
                <a:solidFill>
                  <a:srgbClr val="1A1A1A"/>
                </a:solidFill>
                <a:latin typeface="Montserrat" pitchFamily="34" charset="0"/>
                <a:ea typeface="Montserrat" pitchFamily="34" charset="-122"/>
                <a:cs typeface="Montserrat" pitchFamily="34" charset="-120"/>
              </a:rPr>
              <a:t>Star performers, animal acts, aisle concession sales</a:t>
            </a:r>
            <a:endParaRPr lang="en-US" sz="1400" dirty="0"/>
          </a:p>
        </p:txBody>
      </p:sp>
      <p:sp>
        <p:nvSpPr>
          <p:cNvPr id="11" name="Shape 9"/>
          <p:cNvSpPr/>
          <p:nvPr/>
        </p:nvSpPr>
        <p:spPr>
          <a:xfrm>
            <a:off x="731520" y="3200400"/>
            <a:ext cx="10698480" cy="960120"/>
          </a:xfrm>
          <a:prstGeom prst="roundRect">
            <a:avLst>
              <a:gd name="adj" fmla="val 7619"/>
            </a:avLst>
          </a:prstGeom>
          <a:solidFill>
            <a:srgbClr val="FFFFFF">
              <a:alpha val="70000"/>
            </a:srgbClr>
          </a:solidFill>
          <a:ln/>
        </p:spPr>
      </p:sp>
      <p:sp>
        <p:nvSpPr>
          <p:cNvPr id="12" name="Text 10"/>
          <p:cNvSpPr/>
          <p:nvPr/>
        </p:nvSpPr>
        <p:spPr>
          <a:xfrm>
            <a:off x="960120" y="3337560"/>
            <a:ext cx="2286000" cy="685800"/>
          </a:xfrm>
          <a:prstGeom prst="rect">
            <a:avLst/>
          </a:prstGeom>
          <a:noFill/>
          <a:ln/>
        </p:spPr>
        <p:txBody>
          <a:bodyPr wrap="square" lIns="0" tIns="0" rIns="0" bIns="0" rtlCol="0" anchor="ctr"/>
          <a:lstStyle/>
          <a:p>
            <a:pPr marL="0" indent="0">
              <a:buNone/>
            </a:pPr>
            <a:r>
              <a:rPr lang="en-US" sz="1500" b="1" dirty="0">
                <a:solidFill>
                  <a:srgbClr val="B20E38"/>
                </a:solidFill>
                <a:latin typeface="Montserrat SemiBold" pitchFamily="34" charset="0"/>
                <a:ea typeface="Montserrat SemiBold" pitchFamily="34" charset="-122"/>
                <a:cs typeface="Montserrat SemiBold" pitchFamily="34" charset="-120"/>
              </a:rPr>
              <a:t>Reduce</a:t>
            </a:r>
            <a:endParaRPr lang="en-US" sz="1500" dirty="0"/>
          </a:p>
        </p:txBody>
      </p:sp>
      <p:sp>
        <p:nvSpPr>
          <p:cNvPr id="13" name="Text 11"/>
          <p:cNvSpPr/>
          <p:nvPr/>
        </p:nvSpPr>
        <p:spPr>
          <a:xfrm>
            <a:off x="3383280" y="3337560"/>
            <a:ext cx="7772400" cy="685800"/>
          </a:xfrm>
          <a:prstGeom prst="rect">
            <a:avLst/>
          </a:prstGeom>
          <a:noFill/>
          <a:ln/>
        </p:spPr>
        <p:txBody>
          <a:bodyPr wrap="square" lIns="0" tIns="0" rIns="0" bIns="0" rtlCol="0" anchor="ctr"/>
          <a:lstStyle/>
          <a:p>
            <a:pPr marL="0" indent="0">
              <a:buNone/>
            </a:pPr>
            <a:r>
              <a:rPr lang="en-US" sz="1400" dirty="0">
                <a:solidFill>
                  <a:srgbClr val="1A1A1A"/>
                </a:solidFill>
                <a:latin typeface="Montserrat" pitchFamily="34" charset="0"/>
                <a:ea typeface="Montserrat" pitchFamily="34" charset="-122"/>
                <a:cs typeface="Montserrat" pitchFamily="34" charset="-120"/>
              </a:rPr>
              <a:t>Fun and humour (kept, but toned down from traditional circus slapstick)</a:t>
            </a:r>
            <a:endParaRPr lang="en-US" sz="1400" dirty="0"/>
          </a:p>
        </p:txBody>
      </p:sp>
      <p:sp>
        <p:nvSpPr>
          <p:cNvPr id="14" name="Shape 12"/>
          <p:cNvSpPr/>
          <p:nvPr/>
        </p:nvSpPr>
        <p:spPr>
          <a:xfrm>
            <a:off x="731520" y="4297680"/>
            <a:ext cx="10698480" cy="960120"/>
          </a:xfrm>
          <a:prstGeom prst="roundRect">
            <a:avLst>
              <a:gd name="adj" fmla="val 7619"/>
            </a:avLst>
          </a:prstGeom>
          <a:solidFill>
            <a:srgbClr val="FFFFFF">
              <a:alpha val="70000"/>
            </a:srgbClr>
          </a:solidFill>
          <a:ln/>
        </p:spPr>
      </p:sp>
      <p:sp>
        <p:nvSpPr>
          <p:cNvPr id="15" name="Text 13"/>
          <p:cNvSpPr/>
          <p:nvPr/>
        </p:nvSpPr>
        <p:spPr>
          <a:xfrm>
            <a:off x="960120" y="4434840"/>
            <a:ext cx="2286000" cy="685800"/>
          </a:xfrm>
          <a:prstGeom prst="rect">
            <a:avLst/>
          </a:prstGeom>
          <a:noFill/>
          <a:ln/>
        </p:spPr>
        <p:txBody>
          <a:bodyPr wrap="square" lIns="0" tIns="0" rIns="0" bIns="0" rtlCol="0" anchor="ctr"/>
          <a:lstStyle/>
          <a:p>
            <a:pPr marL="0" indent="0">
              <a:buNone/>
            </a:pPr>
            <a:r>
              <a:rPr lang="en-US" sz="1500" b="1" dirty="0">
                <a:solidFill>
                  <a:srgbClr val="B20E38"/>
                </a:solidFill>
                <a:latin typeface="Montserrat SemiBold" pitchFamily="34" charset="0"/>
                <a:ea typeface="Montserrat SemiBold" pitchFamily="34" charset="-122"/>
                <a:cs typeface="Montserrat SemiBold" pitchFamily="34" charset="-120"/>
              </a:rPr>
              <a:t>Raise</a:t>
            </a:r>
            <a:endParaRPr lang="en-US" sz="1500" dirty="0"/>
          </a:p>
        </p:txBody>
      </p:sp>
      <p:sp>
        <p:nvSpPr>
          <p:cNvPr id="16" name="Text 14"/>
          <p:cNvSpPr/>
          <p:nvPr/>
        </p:nvSpPr>
        <p:spPr>
          <a:xfrm>
            <a:off x="3383280" y="4434840"/>
            <a:ext cx="7772400" cy="685800"/>
          </a:xfrm>
          <a:prstGeom prst="rect">
            <a:avLst/>
          </a:prstGeom>
          <a:noFill/>
          <a:ln/>
        </p:spPr>
        <p:txBody>
          <a:bodyPr wrap="square" lIns="0" tIns="0" rIns="0" bIns="0" rtlCol="0" anchor="ctr"/>
          <a:lstStyle/>
          <a:p>
            <a:pPr marL="0" indent="0">
              <a:buNone/>
            </a:pPr>
            <a:r>
              <a:rPr lang="en-US" sz="1400" dirty="0">
                <a:solidFill>
                  <a:srgbClr val="1A1A1A"/>
                </a:solidFill>
                <a:latin typeface="Montserrat" pitchFamily="34" charset="0"/>
                <a:ea typeface="Montserrat" pitchFamily="34" charset="-122"/>
                <a:cs typeface="Montserrat" pitchFamily="34" charset="-120"/>
              </a:rPr>
              <a:t>Unique venue experience (climate-controlled, more comfortable seating)</a:t>
            </a:r>
            <a:endParaRPr lang="en-US" sz="1400" dirty="0"/>
          </a:p>
        </p:txBody>
      </p:sp>
      <p:sp>
        <p:nvSpPr>
          <p:cNvPr id="17" name="Shape 15"/>
          <p:cNvSpPr/>
          <p:nvPr/>
        </p:nvSpPr>
        <p:spPr>
          <a:xfrm>
            <a:off x="731520" y="5394960"/>
            <a:ext cx="10698480" cy="960120"/>
          </a:xfrm>
          <a:prstGeom prst="roundRect">
            <a:avLst>
              <a:gd name="adj" fmla="val 7619"/>
            </a:avLst>
          </a:prstGeom>
          <a:solidFill>
            <a:srgbClr val="FFFFFF">
              <a:alpha val="70000"/>
            </a:srgbClr>
          </a:solidFill>
          <a:ln/>
        </p:spPr>
      </p:sp>
      <p:sp>
        <p:nvSpPr>
          <p:cNvPr id="18" name="Text 16"/>
          <p:cNvSpPr/>
          <p:nvPr/>
        </p:nvSpPr>
        <p:spPr>
          <a:xfrm>
            <a:off x="960120" y="5532120"/>
            <a:ext cx="2286000" cy="685800"/>
          </a:xfrm>
          <a:prstGeom prst="rect">
            <a:avLst/>
          </a:prstGeom>
          <a:noFill/>
          <a:ln/>
        </p:spPr>
        <p:txBody>
          <a:bodyPr wrap="square" lIns="0" tIns="0" rIns="0" bIns="0" rtlCol="0" anchor="ctr"/>
          <a:lstStyle/>
          <a:p>
            <a:pPr marL="0" indent="0">
              <a:buNone/>
            </a:pPr>
            <a:r>
              <a:rPr lang="en-US" sz="1500" b="1" dirty="0">
                <a:solidFill>
                  <a:srgbClr val="B20E38"/>
                </a:solidFill>
                <a:latin typeface="Montserrat SemiBold" pitchFamily="34" charset="0"/>
                <a:ea typeface="Montserrat SemiBold" pitchFamily="34" charset="-122"/>
                <a:cs typeface="Montserrat SemiBold" pitchFamily="34" charset="-120"/>
              </a:rPr>
              <a:t>Create</a:t>
            </a:r>
            <a:endParaRPr lang="en-US" sz="1500" dirty="0"/>
          </a:p>
        </p:txBody>
      </p:sp>
      <p:sp>
        <p:nvSpPr>
          <p:cNvPr id="19" name="Text 17"/>
          <p:cNvSpPr/>
          <p:nvPr/>
        </p:nvSpPr>
        <p:spPr>
          <a:xfrm>
            <a:off x="3383280" y="5532120"/>
            <a:ext cx="7772400" cy="685800"/>
          </a:xfrm>
          <a:prstGeom prst="rect">
            <a:avLst/>
          </a:prstGeom>
          <a:noFill/>
          <a:ln/>
        </p:spPr>
        <p:txBody>
          <a:bodyPr wrap="square" lIns="0" tIns="0" rIns="0" bIns="0" rtlCol="0" anchor="ctr"/>
          <a:lstStyle/>
          <a:p>
            <a:pPr marL="0" indent="0">
              <a:buNone/>
            </a:pPr>
            <a:r>
              <a:rPr lang="en-US" sz="1400" dirty="0">
                <a:solidFill>
                  <a:srgbClr val="1A1A1A"/>
                </a:solidFill>
                <a:latin typeface="Montserrat" pitchFamily="34" charset="0"/>
                <a:ea typeface="Montserrat" pitchFamily="34" charset="-122"/>
                <a:cs typeface="Montserrat" pitchFamily="34" charset="-120"/>
              </a:rPr>
              <a:t>Theme, artistic score and dance, refined viewing environment</a:t>
            </a:r>
            <a:endParaRPr lang="en-US" sz="1400" dirty="0"/>
          </a:p>
        </p:txBody>
      </p:sp>
      <p:sp>
        <p:nvSpPr>
          <p:cNvPr id="20" name="Text 18"/>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7 / 20</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An Indian Blue Ocean</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Practo: A New Space Between Clinic and Search</a:t>
            </a:r>
            <a:endParaRPr lang="en-US" sz="3200" dirty="0"/>
          </a:p>
        </p:txBody>
      </p:sp>
      <p:sp>
        <p:nvSpPr>
          <p:cNvPr id="8" name="Shape 6"/>
          <p:cNvSpPr/>
          <p:nvPr/>
        </p:nvSpPr>
        <p:spPr>
          <a:xfrm>
            <a:off x="731520" y="2011680"/>
            <a:ext cx="10698480" cy="4114800"/>
          </a:xfrm>
          <a:prstGeom prst="roundRect">
            <a:avLst>
              <a:gd name="adj" fmla="val 1778"/>
            </a:avLst>
          </a:prstGeom>
          <a:solidFill>
            <a:srgbClr val="FFFFFF">
              <a:alpha val="70000"/>
            </a:srgbClr>
          </a:solidFill>
          <a:ln/>
        </p:spPr>
      </p:sp>
      <p:sp>
        <p:nvSpPr>
          <p:cNvPr id="9" name="Text 7"/>
          <p:cNvSpPr/>
          <p:nvPr/>
        </p:nvSpPr>
        <p:spPr>
          <a:xfrm>
            <a:off x="1005840" y="2286000"/>
            <a:ext cx="10149840" cy="822960"/>
          </a:xfrm>
          <a:prstGeom prst="rect">
            <a:avLst/>
          </a:prstGeom>
          <a:noFill/>
          <a:ln/>
        </p:spPr>
        <p:txBody>
          <a:bodyPr wrap="square" lIns="0" tIns="0" rIns="0" bIns="0" rtlCol="0" anchor="ctr"/>
          <a:lstStyle/>
          <a:p>
            <a:pPr marL="0" indent="0">
              <a:lnSpc>
                <a:spcPct val="130000"/>
              </a:lnSpc>
              <a:buNone/>
            </a:pPr>
            <a:r>
              <a:rPr lang="en-US" sz="1550" dirty="0">
                <a:solidFill>
                  <a:srgbClr val="1A1A1A"/>
                </a:solidFill>
                <a:latin typeface="Montserrat" pitchFamily="34" charset="0"/>
                <a:ea typeface="Montserrat" pitchFamily="34" charset="-122"/>
                <a:cs typeface="Montserrat" pitchFamily="34" charset="-120"/>
              </a:rPr>
              <a:t>Before Practo, finding a doctor meant asking around, or trusting an unverified listing, and booking meant a phone call or a walk-in queue.</a:t>
            </a:r>
            <a:endParaRPr lang="en-US" sz="1550" dirty="0"/>
          </a:p>
        </p:txBody>
      </p:sp>
      <p:sp>
        <p:nvSpPr>
          <p:cNvPr id="10" name="Shape 8"/>
          <p:cNvSpPr/>
          <p:nvPr/>
        </p:nvSpPr>
        <p:spPr>
          <a:xfrm>
            <a:off x="1005840" y="3246120"/>
            <a:ext cx="10149840" cy="2651760"/>
          </a:xfrm>
          <a:prstGeom prst="roundRect">
            <a:avLst>
              <a:gd name="adj" fmla="val 2759"/>
            </a:avLst>
          </a:prstGeom>
          <a:solidFill>
            <a:srgbClr val="B20E38"/>
          </a:solidFill>
          <a:ln/>
        </p:spPr>
      </p:sp>
      <p:sp>
        <p:nvSpPr>
          <p:cNvPr id="11" name="Text 9"/>
          <p:cNvSpPr/>
          <p:nvPr/>
        </p:nvSpPr>
        <p:spPr>
          <a:xfrm>
            <a:off x="1280160" y="3246120"/>
            <a:ext cx="9601200" cy="2651760"/>
          </a:xfrm>
          <a:prstGeom prst="rect">
            <a:avLst/>
          </a:prstGeom>
          <a:noFill/>
          <a:ln/>
        </p:spPr>
        <p:txBody>
          <a:bodyPr wrap="square" lIns="0" tIns="0" rIns="0" bIns="0" rtlCol="0" anchor="ctr"/>
          <a:lstStyle/>
          <a:p>
            <a:pPr marL="0" indent="0">
              <a:lnSpc>
                <a:spcPct val="135000"/>
              </a:lnSpc>
              <a:buNone/>
            </a:pPr>
            <a:r>
              <a:rPr lang="en-US" sz="1500" b="1" i="1" dirty="0">
                <a:solidFill>
                  <a:srgbClr val="FFFFFF"/>
                </a:solidFill>
                <a:latin typeface="Montserrat" pitchFamily="34" charset="0"/>
                <a:ea typeface="Montserrat" pitchFamily="34" charset="-122"/>
                <a:cs typeface="Montserrat" pitchFamily="34" charset="-120"/>
              </a:rPr>
              <a:t>Practo eliminated the uncertainty of word-of-mouth referrals, reduced the friction of phone-based booking, raised transparency through verified reviews and instant appointment slots, and created an entirely new layer, online consultation and digital health records. It didn't compete with hospitals or directories. It built the space between them.</a:t>
            </a:r>
            <a:endParaRPr lang="en-US" sz="1500" dirty="0"/>
          </a:p>
        </p:txBody>
      </p:sp>
      <p:sp>
        <p:nvSpPr>
          <p:cNvPr id="12" name="Text 10"/>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8 / 20</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Core Tool</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The Strategy Canvas</a:t>
            </a:r>
            <a:endParaRPr lang="en-US" sz="3200" dirty="0"/>
          </a:p>
        </p:txBody>
      </p:sp>
      <p:sp>
        <p:nvSpPr>
          <p:cNvPr id="8" name="Shape 6"/>
          <p:cNvSpPr/>
          <p:nvPr/>
        </p:nvSpPr>
        <p:spPr>
          <a:xfrm>
            <a:off x="731520" y="2103120"/>
            <a:ext cx="10698480" cy="3931920"/>
          </a:xfrm>
          <a:prstGeom prst="roundRect">
            <a:avLst>
              <a:gd name="adj" fmla="val 1860"/>
            </a:avLst>
          </a:prstGeom>
          <a:solidFill>
            <a:srgbClr val="FFFFFF">
              <a:alpha val="70000"/>
            </a:srgbClr>
          </a:solidFill>
          <a:ln/>
        </p:spPr>
      </p:sp>
      <p:sp>
        <p:nvSpPr>
          <p:cNvPr id="9" name="Text 7"/>
          <p:cNvSpPr/>
          <p:nvPr/>
        </p:nvSpPr>
        <p:spPr>
          <a:xfrm>
            <a:off x="1005840" y="2423160"/>
            <a:ext cx="10149840" cy="1188720"/>
          </a:xfrm>
          <a:prstGeom prst="rect">
            <a:avLst/>
          </a:prstGeom>
          <a:noFill/>
          <a:ln/>
        </p:spPr>
        <p:txBody>
          <a:bodyPr wrap="square" lIns="0" tIns="0" rIns="0" bIns="0" rtlCol="0" anchor="ctr"/>
          <a:lstStyle/>
          <a:p>
            <a:pPr marL="0" indent="0">
              <a:lnSpc>
                <a:spcPct val="140000"/>
              </a:lnSpc>
              <a:buNone/>
            </a:pPr>
            <a:r>
              <a:rPr lang="en-US" sz="1650" dirty="0">
                <a:solidFill>
                  <a:srgbClr val="1A1A1A"/>
                </a:solidFill>
                <a:latin typeface="Montserrat" pitchFamily="34" charset="0"/>
                <a:ea typeface="Montserrat" pitchFamily="34" charset="-122"/>
                <a:cs typeface="Montserrat" pitchFamily="34" charset="-120"/>
              </a:rPr>
              <a:t>A simple chart: list the factors an industry competes on along the bottom, then plot how much each player invests in each factor. Most rivals' lines look almost identical, that sameness IS the Red Ocean.</a:t>
            </a:r>
            <a:endParaRPr lang="en-US" sz="1650" dirty="0"/>
          </a:p>
        </p:txBody>
      </p:sp>
      <p:sp>
        <p:nvSpPr>
          <p:cNvPr id="10" name="Text 8"/>
          <p:cNvSpPr/>
          <p:nvPr/>
        </p:nvSpPr>
        <p:spPr>
          <a:xfrm>
            <a:off x="1005840" y="3749040"/>
            <a:ext cx="10149840" cy="1188720"/>
          </a:xfrm>
          <a:prstGeom prst="rect">
            <a:avLst/>
          </a:prstGeom>
          <a:noFill/>
          <a:ln/>
        </p:spPr>
        <p:txBody>
          <a:bodyPr wrap="square" lIns="0" tIns="0" rIns="0" bIns="0" rtlCol="0" anchor="ctr"/>
          <a:lstStyle/>
          <a:p>
            <a:pPr marL="0" indent="0">
              <a:lnSpc>
                <a:spcPct val="135000"/>
              </a:lnSpc>
              <a:buNone/>
            </a:pPr>
            <a:r>
              <a:rPr lang="en-US" sz="1650" i="1" dirty="0">
                <a:solidFill>
                  <a:srgbClr val="2A2A2A"/>
                </a:solidFill>
                <a:latin typeface="Montserrat" pitchFamily="34" charset="0"/>
                <a:ea typeface="Montserrat" pitchFamily="34" charset="-122"/>
                <a:cs typeface="Montserrat" pitchFamily="34" charset="-120"/>
              </a:rPr>
              <a:t>A genuine Blue Ocean strategy produces a visibly different line, high on factors rivals ignore, low or zero on factors rivals obsess over.</a:t>
            </a:r>
            <a:endParaRPr lang="en-US" sz="1650" dirty="0"/>
          </a:p>
        </p:txBody>
      </p:sp>
      <p:sp>
        <p:nvSpPr>
          <p:cNvPr id="11" name="Text 9"/>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9 / 20</a:t>
            </a:r>
            <a:endParaRPr lang="en-US" sz="1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A Common Mistake</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Not Every New Idea Is a Blue Ocean</a:t>
            </a:r>
            <a:endParaRPr lang="en-US" sz="3200" dirty="0"/>
          </a:p>
        </p:txBody>
      </p:sp>
      <p:sp>
        <p:nvSpPr>
          <p:cNvPr id="8" name="Shape 6"/>
          <p:cNvSpPr/>
          <p:nvPr/>
        </p:nvSpPr>
        <p:spPr>
          <a:xfrm>
            <a:off x="731520" y="2286000"/>
            <a:ext cx="10698480" cy="3291840"/>
          </a:xfrm>
          <a:prstGeom prst="roundRect">
            <a:avLst>
              <a:gd name="adj" fmla="val 2778"/>
            </a:avLst>
          </a:prstGeom>
          <a:solidFill>
            <a:srgbClr val="B20E38"/>
          </a:solidFill>
          <a:ln/>
        </p:spPr>
      </p:sp>
      <p:sp>
        <p:nvSpPr>
          <p:cNvPr id="9" name="Text 7"/>
          <p:cNvSpPr/>
          <p:nvPr/>
        </p:nvSpPr>
        <p:spPr>
          <a:xfrm>
            <a:off x="1051560" y="2286000"/>
            <a:ext cx="10058400" cy="3291840"/>
          </a:xfrm>
          <a:prstGeom prst="rect">
            <a:avLst/>
          </a:prstGeom>
          <a:noFill/>
          <a:ln/>
        </p:spPr>
        <p:txBody>
          <a:bodyPr wrap="square" lIns="0" tIns="0" rIns="0" bIns="0" rtlCol="0" anchor="ctr"/>
          <a:lstStyle/>
          <a:p>
            <a:pPr marL="0" indent="0" algn="ctr">
              <a:lnSpc>
                <a:spcPct val="140000"/>
              </a:lnSpc>
              <a:buNone/>
            </a:pPr>
            <a:r>
              <a:rPr lang="en-US" sz="1800" b="1" i="1" dirty="0">
                <a:solidFill>
                  <a:srgbClr val="FFFFFF"/>
                </a:solidFill>
                <a:latin typeface="Montserrat" pitchFamily="34" charset="0"/>
                <a:ea typeface="Montserrat" pitchFamily="34" charset="-122"/>
                <a:cs typeface="Montserrat" pitchFamily="34" charset="-120"/>
              </a:rPr>
              <a:t>A genuine blue ocean survives the Four Actions test on all four dimensions, and stays defensible once found, because rivals eventually notice and follow. Most “we're totally different” pitches are really a differentiation strategy inside an existing Red Ocean, wearing bolder marketing.</a:t>
            </a:r>
            <a:endParaRPr lang="en-US" sz="1800" dirty="0"/>
          </a:p>
        </p:txBody>
      </p:sp>
      <p:sp>
        <p:nvSpPr>
          <p:cNvPr id="10" name="Text 8"/>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10 / 20</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Activity · Groups of 4–5 · 15 Minutes</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Find Your Own Blue Ocean</a:t>
            </a:r>
            <a:endParaRPr lang="en-US" sz="3200" dirty="0"/>
          </a:p>
        </p:txBody>
      </p:sp>
      <p:sp>
        <p:nvSpPr>
          <p:cNvPr id="8" name="Shape 6"/>
          <p:cNvSpPr/>
          <p:nvPr/>
        </p:nvSpPr>
        <p:spPr>
          <a:xfrm>
            <a:off x="731520" y="2103120"/>
            <a:ext cx="10698480" cy="3931920"/>
          </a:xfrm>
          <a:prstGeom prst="roundRect">
            <a:avLst>
              <a:gd name="adj" fmla="val 1860"/>
            </a:avLst>
          </a:prstGeom>
          <a:solidFill>
            <a:srgbClr val="FFFFFF">
              <a:alpha val="70000"/>
            </a:srgbClr>
          </a:solidFill>
          <a:ln/>
        </p:spPr>
      </p:sp>
      <p:sp>
        <p:nvSpPr>
          <p:cNvPr id="9" name="Shape 7"/>
          <p:cNvSpPr/>
          <p:nvPr/>
        </p:nvSpPr>
        <p:spPr>
          <a:xfrm>
            <a:off x="1005840" y="2441448"/>
            <a:ext cx="384048" cy="384048"/>
          </a:xfrm>
          <a:prstGeom prst="ellipse">
            <a:avLst/>
          </a:prstGeom>
          <a:solidFill>
            <a:srgbClr val="B20E38"/>
          </a:solidFill>
          <a:ln/>
        </p:spPr>
      </p:sp>
      <p:sp>
        <p:nvSpPr>
          <p:cNvPr id="10" name="Text 8"/>
          <p:cNvSpPr/>
          <p:nvPr/>
        </p:nvSpPr>
        <p:spPr>
          <a:xfrm>
            <a:off x="1005840" y="244144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1</a:t>
            </a:r>
            <a:endParaRPr lang="en-US" sz="1500" dirty="0"/>
          </a:p>
        </p:txBody>
      </p:sp>
      <p:sp>
        <p:nvSpPr>
          <p:cNvPr id="11" name="Text 9"/>
          <p:cNvSpPr/>
          <p:nvPr/>
        </p:nvSpPr>
        <p:spPr>
          <a:xfrm>
            <a:off x="1554480" y="2423160"/>
            <a:ext cx="9509760" cy="822960"/>
          </a:xfrm>
          <a:prstGeom prst="rect">
            <a:avLst/>
          </a:prstGeom>
          <a:noFill/>
          <a:ln/>
        </p:spPr>
        <p:txBody>
          <a:bodyPr wrap="square" lIns="0" tIns="0" rIns="0" bIns="0" rtlCol="0" anchor="ctr"/>
          <a:lstStyle/>
          <a:p>
            <a:pPr marL="0" indent="0">
              <a:lnSpc>
                <a:spcPct val="125000"/>
              </a:lnSpc>
              <a:buNone/>
            </a:pPr>
            <a:r>
              <a:rPr lang="en-US" sz="1550" dirty="0">
                <a:solidFill>
                  <a:srgbClr val="1A1A1A"/>
                </a:solidFill>
                <a:latin typeface="Montserrat" pitchFamily="34" charset="0"/>
                <a:ea typeface="Montserrat" pitchFamily="34" charset="-122"/>
                <a:cs typeface="Montserrat" pitchFamily="34" charset="-120"/>
              </a:rPr>
              <a:t>Pick one crowded Indian industry your group knows well, food delivery, coaching centres, gyms, salons, anything.</a:t>
            </a:r>
            <a:endParaRPr lang="en-US" sz="1550" dirty="0"/>
          </a:p>
        </p:txBody>
      </p:sp>
      <p:sp>
        <p:nvSpPr>
          <p:cNvPr id="12" name="Shape 10"/>
          <p:cNvSpPr/>
          <p:nvPr/>
        </p:nvSpPr>
        <p:spPr>
          <a:xfrm>
            <a:off x="1005840" y="3401568"/>
            <a:ext cx="384048" cy="384048"/>
          </a:xfrm>
          <a:prstGeom prst="ellipse">
            <a:avLst/>
          </a:prstGeom>
          <a:solidFill>
            <a:srgbClr val="B20E38"/>
          </a:solidFill>
          <a:ln/>
        </p:spPr>
      </p:sp>
      <p:sp>
        <p:nvSpPr>
          <p:cNvPr id="13" name="Text 11"/>
          <p:cNvSpPr/>
          <p:nvPr/>
        </p:nvSpPr>
        <p:spPr>
          <a:xfrm>
            <a:off x="1005840" y="340156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2</a:t>
            </a:r>
            <a:endParaRPr lang="en-US" sz="1500" dirty="0"/>
          </a:p>
        </p:txBody>
      </p:sp>
      <p:sp>
        <p:nvSpPr>
          <p:cNvPr id="14" name="Text 12"/>
          <p:cNvSpPr/>
          <p:nvPr/>
        </p:nvSpPr>
        <p:spPr>
          <a:xfrm>
            <a:off x="1554480" y="3383280"/>
            <a:ext cx="9509760" cy="822960"/>
          </a:xfrm>
          <a:prstGeom prst="rect">
            <a:avLst/>
          </a:prstGeom>
          <a:noFill/>
          <a:ln/>
        </p:spPr>
        <p:txBody>
          <a:bodyPr wrap="square" lIns="0" tIns="0" rIns="0" bIns="0" rtlCol="0" anchor="ctr"/>
          <a:lstStyle/>
          <a:p>
            <a:pPr marL="0" indent="0">
              <a:lnSpc>
                <a:spcPct val="125000"/>
              </a:lnSpc>
              <a:buNone/>
            </a:pPr>
            <a:r>
              <a:rPr lang="en-US" sz="1550" dirty="0">
                <a:solidFill>
                  <a:srgbClr val="1A1A1A"/>
                </a:solidFill>
                <a:latin typeface="Montserrat" pitchFamily="34" charset="0"/>
                <a:ea typeface="Montserrat" pitchFamily="34" charset="-122"/>
                <a:cs typeface="Montserrat" pitchFamily="34" charset="-120"/>
              </a:rPr>
              <a:t>Apply the Four Actions Framework: what would you Eliminate, Reduce, Raise, and Create?</a:t>
            </a:r>
            <a:endParaRPr lang="en-US" sz="1550" dirty="0"/>
          </a:p>
        </p:txBody>
      </p:sp>
      <p:sp>
        <p:nvSpPr>
          <p:cNvPr id="15" name="Shape 13"/>
          <p:cNvSpPr/>
          <p:nvPr/>
        </p:nvSpPr>
        <p:spPr>
          <a:xfrm>
            <a:off x="1005840" y="4361688"/>
            <a:ext cx="384048" cy="384048"/>
          </a:xfrm>
          <a:prstGeom prst="ellipse">
            <a:avLst/>
          </a:prstGeom>
          <a:solidFill>
            <a:srgbClr val="B20E38"/>
          </a:solidFill>
          <a:ln/>
        </p:spPr>
      </p:sp>
      <p:sp>
        <p:nvSpPr>
          <p:cNvPr id="16" name="Text 14"/>
          <p:cNvSpPr/>
          <p:nvPr/>
        </p:nvSpPr>
        <p:spPr>
          <a:xfrm>
            <a:off x="1005840" y="4361688"/>
            <a:ext cx="384048" cy="384048"/>
          </a:xfrm>
          <a:prstGeom prst="rect">
            <a:avLst/>
          </a:prstGeom>
          <a:noFill/>
          <a:ln/>
        </p:spPr>
        <p:txBody>
          <a:bodyPr wrap="square" lIns="0" tIns="0" rIns="0" bIns="0" rtlCol="0" anchor="ctr"/>
          <a:lstStyle/>
          <a:p>
            <a:pPr marL="0" indent="0" algn="ctr">
              <a:buNone/>
            </a:pPr>
            <a:r>
              <a:rPr lang="en-US" sz="1500" b="1" dirty="0">
                <a:solidFill>
                  <a:srgbClr val="FFFFFF"/>
                </a:solidFill>
                <a:latin typeface="Montserrat SemiBold" pitchFamily="34" charset="0"/>
                <a:ea typeface="Montserrat SemiBold" pitchFamily="34" charset="-122"/>
                <a:cs typeface="Montserrat SemiBold" pitchFamily="34" charset="-120"/>
              </a:rPr>
              <a:t>3</a:t>
            </a:r>
            <a:endParaRPr lang="en-US" sz="1500" dirty="0"/>
          </a:p>
        </p:txBody>
      </p:sp>
      <p:sp>
        <p:nvSpPr>
          <p:cNvPr id="17" name="Text 15"/>
          <p:cNvSpPr/>
          <p:nvPr/>
        </p:nvSpPr>
        <p:spPr>
          <a:xfrm>
            <a:off x="1554480" y="4343400"/>
            <a:ext cx="9509760" cy="822960"/>
          </a:xfrm>
          <a:prstGeom prst="rect">
            <a:avLst/>
          </a:prstGeom>
          <a:noFill/>
          <a:ln/>
        </p:spPr>
        <p:txBody>
          <a:bodyPr wrap="square" lIns="0" tIns="0" rIns="0" bIns="0" rtlCol="0" anchor="ctr"/>
          <a:lstStyle/>
          <a:p>
            <a:pPr marL="0" indent="0">
              <a:lnSpc>
                <a:spcPct val="125000"/>
              </a:lnSpc>
              <a:buNone/>
            </a:pPr>
            <a:r>
              <a:rPr lang="en-US" sz="1550" dirty="0">
                <a:solidFill>
                  <a:srgbClr val="1A1A1A"/>
                </a:solidFill>
                <a:latin typeface="Montserrat" pitchFamily="34" charset="0"/>
                <a:ea typeface="Montserrat" pitchFamily="34" charset="-122"/>
                <a:cs typeface="Montserrat" pitchFamily="34" charset="-120"/>
              </a:rPr>
              <a:t>In one sentence, describe the new space your idea would occupy, and who it would stop competing with entirely.</a:t>
            </a:r>
            <a:endParaRPr lang="en-US" sz="1550" dirty="0"/>
          </a:p>
        </p:txBody>
      </p:sp>
      <p:sp>
        <p:nvSpPr>
          <p:cNvPr id="18" name="Text 16"/>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12 / 20</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Back to Our Running Example</a:t>
            </a:r>
            <a:endParaRPr lang="en-US" sz="18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Could </a:t>
            </a:r>
            <a:r>
              <a:rPr lang="en-US" sz="3200" b="1" dirty="0" err="1">
                <a:solidFill>
                  <a:srgbClr val="B20E38"/>
                </a:solidFill>
                <a:latin typeface="Montserrat SemiBold" pitchFamily="34" charset="0"/>
                <a:ea typeface="Montserrat SemiBold" pitchFamily="34" charset="-122"/>
                <a:cs typeface="Montserrat SemiBold" pitchFamily="34" charset="-120"/>
              </a:rPr>
              <a:t>Bonchos</a:t>
            </a:r>
            <a:r>
              <a:rPr lang="en-US" sz="3200" b="1" dirty="0">
                <a:solidFill>
                  <a:srgbClr val="B20E38"/>
                </a:solidFill>
                <a:latin typeface="Montserrat SemiBold" pitchFamily="34" charset="0"/>
                <a:ea typeface="Montserrat SemiBold" pitchFamily="34" charset="-122"/>
                <a:cs typeface="Montserrat SemiBold" pitchFamily="34" charset="-120"/>
              </a:rPr>
              <a:t> Find a Blue Ocean?</a:t>
            </a:r>
            <a:endParaRPr lang="en-US" sz="3200" dirty="0"/>
          </a:p>
        </p:txBody>
      </p:sp>
      <p:sp>
        <p:nvSpPr>
          <p:cNvPr id="17" name="Text 15"/>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14 / 20</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Back to Our Running Example</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Could </a:t>
            </a:r>
            <a:r>
              <a:rPr lang="en-US" sz="3200" b="1" dirty="0" err="1">
                <a:solidFill>
                  <a:srgbClr val="B20E38"/>
                </a:solidFill>
                <a:latin typeface="Montserrat SemiBold" pitchFamily="34" charset="0"/>
                <a:ea typeface="Montserrat SemiBold" pitchFamily="34" charset="-122"/>
                <a:cs typeface="Montserrat SemiBold" pitchFamily="34" charset="-120"/>
              </a:rPr>
              <a:t>Bonchos</a:t>
            </a:r>
            <a:r>
              <a:rPr lang="en-US" sz="3200" b="1" dirty="0">
                <a:solidFill>
                  <a:srgbClr val="B20E38"/>
                </a:solidFill>
                <a:latin typeface="Montserrat SemiBold" pitchFamily="34" charset="0"/>
                <a:ea typeface="Montserrat SemiBold" pitchFamily="34" charset="-122"/>
                <a:cs typeface="Montserrat SemiBold" pitchFamily="34" charset="-120"/>
              </a:rPr>
              <a:t> Find a Blue Ocean?</a:t>
            </a:r>
            <a:endParaRPr lang="en-US" sz="3200" dirty="0"/>
          </a:p>
        </p:txBody>
      </p:sp>
      <p:sp>
        <p:nvSpPr>
          <p:cNvPr id="8" name="Shape 6"/>
          <p:cNvSpPr/>
          <p:nvPr/>
        </p:nvSpPr>
        <p:spPr>
          <a:xfrm>
            <a:off x="731520" y="2103120"/>
            <a:ext cx="10698480" cy="3931920"/>
          </a:xfrm>
          <a:prstGeom prst="roundRect">
            <a:avLst>
              <a:gd name="adj" fmla="val 1860"/>
            </a:avLst>
          </a:prstGeom>
          <a:solidFill>
            <a:srgbClr val="FFFFFF">
              <a:alpha val="70000"/>
            </a:srgbClr>
          </a:solidFill>
          <a:ln/>
        </p:spPr>
      </p:sp>
      <p:sp>
        <p:nvSpPr>
          <p:cNvPr id="9" name="Text 7"/>
          <p:cNvSpPr/>
          <p:nvPr/>
        </p:nvSpPr>
        <p:spPr>
          <a:xfrm>
            <a:off x="1005840" y="2377440"/>
            <a:ext cx="2194560" cy="731520"/>
          </a:xfrm>
          <a:prstGeom prst="rect">
            <a:avLst/>
          </a:prstGeom>
          <a:noFill/>
          <a:ln/>
        </p:spPr>
        <p:txBody>
          <a:bodyPr wrap="square" lIns="0" tIns="0" rIns="0" bIns="0" rtlCol="0" anchor="ctr"/>
          <a:lstStyle/>
          <a:p>
            <a:pPr marL="0" indent="0">
              <a:buNone/>
            </a:pPr>
            <a:r>
              <a:rPr lang="en-US" sz="1400" b="1" dirty="0">
                <a:solidFill>
                  <a:srgbClr val="B20E38"/>
                </a:solidFill>
                <a:latin typeface="Montserrat SemiBold" pitchFamily="34" charset="0"/>
                <a:ea typeface="Montserrat SemiBold" pitchFamily="34" charset="-122"/>
                <a:cs typeface="Montserrat SemiBold" pitchFamily="34" charset="-120"/>
              </a:rPr>
              <a:t>Eliminate</a:t>
            </a:r>
            <a:endParaRPr lang="en-US" sz="1400" dirty="0"/>
          </a:p>
        </p:txBody>
      </p:sp>
      <p:sp>
        <p:nvSpPr>
          <p:cNvPr id="10" name="Text 8"/>
          <p:cNvSpPr/>
          <p:nvPr/>
        </p:nvSpPr>
        <p:spPr>
          <a:xfrm>
            <a:off x="3383280" y="2377440"/>
            <a:ext cx="7772400" cy="731520"/>
          </a:xfrm>
          <a:prstGeom prst="rect">
            <a:avLst/>
          </a:prstGeom>
          <a:noFill/>
          <a:ln/>
        </p:spPr>
        <p:txBody>
          <a:bodyPr wrap="square" lIns="0" tIns="0" rIns="0" bIns="0" rtlCol="0" anchor="ctr"/>
          <a:lstStyle/>
          <a:p>
            <a:pPr marL="0" indent="0">
              <a:lnSpc>
                <a:spcPct val="120000"/>
              </a:lnSpc>
              <a:buNone/>
            </a:pPr>
            <a:r>
              <a:rPr lang="en-US" sz="1350" dirty="0">
                <a:solidFill>
                  <a:srgbClr val="1A1A1A"/>
                </a:solidFill>
                <a:latin typeface="Montserrat" pitchFamily="34" charset="0"/>
                <a:ea typeface="Montserrat" pitchFamily="34" charset="-122"/>
                <a:cs typeface="Montserrat" pitchFamily="34" charset="-120"/>
              </a:rPr>
              <a:t>The queue entirely, pre-order only, guaranteed pickup slots</a:t>
            </a:r>
            <a:endParaRPr lang="en-US" sz="1350" dirty="0"/>
          </a:p>
        </p:txBody>
      </p:sp>
      <p:sp>
        <p:nvSpPr>
          <p:cNvPr id="11" name="Text 9"/>
          <p:cNvSpPr/>
          <p:nvPr/>
        </p:nvSpPr>
        <p:spPr>
          <a:xfrm>
            <a:off x="1005840" y="3200400"/>
            <a:ext cx="2194560" cy="731520"/>
          </a:xfrm>
          <a:prstGeom prst="rect">
            <a:avLst/>
          </a:prstGeom>
          <a:noFill/>
          <a:ln/>
        </p:spPr>
        <p:txBody>
          <a:bodyPr wrap="square" lIns="0" tIns="0" rIns="0" bIns="0" rtlCol="0" anchor="ctr"/>
          <a:lstStyle/>
          <a:p>
            <a:pPr marL="0" indent="0">
              <a:buNone/>
            </a:pPr>
            <a:r>
              <a:rPr lang="en-US" sz="1400" b="1" dirty="0">
                <a:solidFill>
                  <a:srgbClr val="B20E38"/>
                </a:solidFill>
                <a:latin typeface="Montserrat SemiBold" pitchFamily="34" charset="0"/>
                <a:ea typeface="Montserrat SemiBold" pitchFamily="34" charset="-122"/>
                <a:cs typeface="Montserrat SemiBold" pitchFamily="34" charset="-120"/>
              </a:rPr>
              <a:t>Reduce</a:t>
            </a:r>
            <a:endParaRPr lang="en-US" sz="1400" dirty="0"/>
          </a:p>
        </p:txBody>
      </p:sp>
      <p:sp>
        <p:nvSpPr>
          <p:cNvPr id="12" name="Text 10"/>
          <p:cNvSpPr/>
          <p:nvPr/>
        </p:nvSpPr>
        <p:spPr>
          <a:xfrm>
            <a:off x="3383280" y="3200400"/>
            <a:ext cx="7772400" cy="731520"/>
          </a:xfrm>
          <a:prstGeom prst="rect">
            <a:avLst/>
          </a:prstGeom>
          <a:noFill/>
          <a:ln/>
        </p:spPr>
        <p:txBody>
          <a:bodyPr wrap="square" lIns="0" tIns="0" rIns="0" bIns="0" rtlCol="0" anchor="ctr"/>
          <a:lstStyle/>
          <a:p>
            <a:pPr marL="0" indent="0">
              <a:lnSpc>
                <a:spcPct val="120000"/>
              </a:lnSpc>
              <a:buNone/>
            </a:pPr>
            <a:r>
              <a:rPr lang="en-US" sz="1350" dirty="0">
                <a:solidFill>
                  <a:srgbClr val="1A1A1A"/>
                </a:solidFill>
                <a:latin typeface="Montserrat" pitchFamily="34" charset="0"/>
                <a:ea typeface="Montserrat" pitchFamily="34" charset="-122"/>
                <a:cs typeface="Montserrat" pitchFamily="34" charset="-120"/>
              </a:rPr>
              <a:t>Menu complexity, a tight 4-item menu instead of 15</a:t>
            </a:r>
            <a:endParaRPr lang="en-US" sz="1350" dirty="0"/>
          </a:p>
        </p:txBody>
      </p:sp>
      <p:sp>
        <p:nvSpPr>
          <p:cNvPr id="13" name="Text 11"/>
          <p:cNvSpPr/>
          <p:nvPr/>
        </p:nvSpPr>
        <p:spPr>
          <a:xfrm>
            <a:off x="1005840" y="4023360"/>
            <a:ext cx="2194560" cy="731520"/>
          </a:xfrm>
          <a:prstGeom prst="rect">
            <a:avLst/>
          </a:prstGeom>
          <a:noFill/>
          <a:ln/>
        </p:spPr>
        <p:txBody>
          <a:bodyPr wrap="square" lIns="0" tIns="0" rIns="0" bIns="0" rtlCol="0" anchor="ctr"/>
          <a:lstStyle/>
          <a:p>
            <a:pPr marL="0" indent="0">
              <a:buNone/>
            </a:pPr>
            <a:r>
              <a:rPr lang="en-US" sz="1400" b="1" dirty="0">
                <a:solidFill>
                  <a:srgbClr val="B20E38"/>
                </a:solidFill>
                <a:latin typeface="Montserrat SemiBold" pitchFamily="34" charset="0"/>
                <a:ea typeface="Montserrat SemiBold" pitchFamily="34" charset="-122"/>
                <a:cs typeface="Montserrat SemiBold" pitchFamily="34" charset="-120"/>
              </a:rPr>
              <a:t>Raise</a:t>
            </a:r>
            <a:endParaRPr lang="en-US" sz="1400" dirty="0"/>
          </a:p>
        </p:txBody>
      </p:sp>
      <p:sp>
        <p:nvSpPr>
          <p:cNvPr id="14" name="Text 12"/>
          <p:cNvSpPr/>
          <p:nvPr/>
        </p:nvSpPr>
        <p:spPr>
          <a:xfrm>
            <a:off x="3383280" y="4023360"/>
            <a:ext cx="7772400" cy="731520"/>
          </a:xfrm>
          <a:prstGeom prst="rect">
            <a:avLst/>
          </a:prstGeom>
          <a:noFill/>
          <a:ln/>
        </p:spPr>
        <p:txBody>
          <a:bodyPr wrap="square" lIns="0" tIns="0" rIns="0" bIns="0" rtlCol="0" anchor="ctr"/>
          <a:lstStyle/>
          <a:p>
            <a:pPr marL="0" indent="0">
              <a:lnSpc>
                <a:spcPct val="120000"/>
              </a:lnSpc>
              <a:buNone/>
            </a:pPr>
            <a:r>
              <a:rPr lang="en-US" sz="1350" dirty="0">
                <a:solidFill>
                  <a:srgbClr val="1A1A1A"/>
                </a:solidFill>
                <a:latin typeface="Montserrat" pitchFamily="34" charset="0"/>
                <a:ea typeface="Montserrat" pitchFamily="34" charset="-122"/>
                <a:cs typeface="Montserrat" pitchFamily="34" charset="-120"/>
              </a:rPr>
              <a:t>Ingredient transparency, a visible sourcing story customers can see</a:t>
            </a:r>
            <a:endParaRPr lang="en-US" sz="1350" dirty="0"/>
          </a:p>
        </p:txBody>
      </p:sp>
      <p:sp>
        <p:nvSpPr>
          <p:cNvPr id="15" name="Text 13"/>
          <p:cNvSpPr/>
          <p:nvPr/>
        </p:nvSpPr>
        <p:spPr>
          <a:xfrm>
            <a:off x="1005840" y="4846320"/>
            <a:ext cx="2194560" cy="731520"/>
          </a:xfrm>
          <a:prstGeom prst="rect">
            <a:avLst/>
          </a:prstGeom>
          <a:noFill/>
          <a:ln/>
        </p:spPr>
        <p:txBody>
          <a:bodyPr wrap="square" lIns="0" tIns="0" rIns="0" bIns="0" rtlCol="0" anchor="ctr"/>
          <a:lstStyle/>
          <a:p>
            <a:pPr marL="0" indent="0">
              <a:buNone/>
            </a:pPr>
            <a:r>
              <a:rPr lang="en-US" sz="1400" b="1" dirty="0">
                <a:solidFill>
                  <a:srgbClr val="B20E38"/>
                </a:solidFill>
                <a:latin typeface="Montserrat SemiBold" pitchFamily="34" charset="0"/>
                <a:ea typeface="Montserrat SemiBold" pitchFamily="34" charset="-122"/>
                <a:cs typeface="Montserrat SemiBold" pitchFamily="34" charset="-120"/>
              </a:rPr>
              <a:t>Create</a:t>
            </a:r>
            <a:endParaRPr lang="en-US" sz="1400" dirty="0"/>
          </a:p>
        </p:txBody>
      </p:sp>
      <p:sp>
        <p:nvSpPr>
          <p:cNvPr id="16" name="Text 14"/>
          <p:cNvSpPr/>
          <p:nvPr/>
        </p:nvSpPr>
        <p:spPr>
          <a:xfrm>
            <a:off x="3383280" y="4846320"/>
            <a:ext cx="7772400" cy="731520"/>
          </a:xfrm>
          <a:prstGeom prst="rect">
            <a:avLst/>
          </a:prstGeom>
          <a:noFill/>
          <a:ln/>
        </p:spPr>
        <p:txBody>
          <a:bodyPr wrap="square" lIns="0" tIns="0" rIns="0" bIns="0" rtlCol="0" anchor="ctr"/>
          <a:lstStyle/>
          <a:p>
            <a:pPr marL="0" indent="0">
              <a:lnSpc>
                <a:spcPct val="120000"/>
              </a:lnSpc>
              <a:buNone/>
            </a:pPr>
            <a:r>
              <a:rPr lang="en-US" sz="1350" dirty="0">
                <a:solidFill>
                  <a:srgbClr val="1A1A1A"/>
                </a:solidFill>
                <a:latin typeface="Montserrat" pitchFamily="34" charset="0"/>
                <a:ea typeface="Montserrat" pitchFamily="34" charset="-122"/>
                <a:cs typeface="Montserrat" pitchFamily="34" charset="-120"/>
              </a:rPr>
              <a:t>A subscription, a weekly momo box for hostel students who order every week anyway</a:t>
            </a:r>
            <a:endParaRPr lang="en-US" sz="1350" dirty="0"/>
          </a:p>
        </p:txBody>
      </p:sp>
      <p:sp>
        <p:nvSpPr>
          <p:cNvPr id="17" name="Text 15"/>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14 / 20</a:t>
            </a:r>
            <a:endParaRPr lang="en-US" sz="1400" dirty="0"/>
          </a:p>
        </p:txBody>
      </p:sp>
    </p:spTree>
    <p:extLst>
      <p:ext uri="{BB962C8B-B14F-4D97-AF65-F5344CB8AC3E}">
        <p14:creationId xmlns:p14="http://schemas.microsoft.com/office/powerpoint/2010/main" val="19120556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Connecting Back</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This Doesn't Replace Everything Else</a:t>
            </a:r>
            <a:endParaRPr lang="en-US" sz="3200" dirty="0"/>
          </a:p>
        </p:txBody>
      </p:sp>
      <p:sp>
        <p:nvSpPr>
          <p:cNvPr id="8" name="Shape 6"/>
          <p:cNvSpPr/>
          <p:nvPr/>
        </p:nvSpPr>
        <p:spPr>
          <a:xfrm>
            <a:off x="731520" y="2103120"/>
            <a:ext cx="10698480" cy="3931920"/>
          </a:xfrm>
          <a:prstGeom prst="roundRect">
            <a:avLst>
              <a:gd name="adj" fmla="val 1860"/>
            </a:avLst>
          </a:prstGeom>
          <a:solidFill>
            <a:srgbClr val="FFFFFF">
              <a:alpha val="70000"/>
            </a:srgbClr>
          </a:solidFill>
          <a:ln/>
        </p:spPr>
      </p:sp>
      <p:sp>
        <p:nvSpPr>
          <p:cNvPr id="9" name="Text 7"/>
          <p:cNvSpPr/>
          <p:nvPr/>
        </p:nvSpPr>
        <p:spPr>
          <a:xfrm>
            <a:off x="1005840" y="2423160"/>
            <a:ext cx="10149840" cy="1645920"/>
          </a:xfrm>
          <a:prstGeom prst="rect">
            <a:avLst/>
          </a:prstGeom>
          <a:noFill/>
          <a:ln/>
        </p:spPr>
        <p:txBody>
          <a:bodyPr wrap="square" lIns="0" tIns="0" rIns="0" bIns="0" rtlCol="0" anchor="ctr"/>
          <a:lstStyle/>
          <a:p>
            <a:pPr marL="0" indent="0">
              <a:lnSpc>
                <a:spcPct val="140000"/>
              </a:lnSpc>
              <a:buNone/>
            </a:pPr>
            <a:r>
              <a:rPr lang="en-US" sz="1650" dirty="0">
                <a:solidFill>
                  <a:srgbClr val="1A1A1A"/>
                </a:solidFill>
                <a:latin typeface="Montserrat" pitchFamily="34" charset="0"/>
                <a:ea typeface="Montserrat" pitchFamily="34" charset="-122"/>
                <a:cs typeface="Montserrat" pitchFamily="34" charset="-120"/>
              </a:rPr>
              <a:t>A genuine Blue Ocean is rare, and even after finding one, the tools from earlier weeks still apply. You still need a real situation analysis, a real customer segment, and eventually, a defensible position once rivals inevitably notice and follow.</a:t>
            </a:r>
            <a:endParaRPr lang="en-US" sz="1650" dirty="0"/>
          </a:p>
        </p:txBody>
      </p:sp>
      <p:sp>
        <p:nvSpPr>
          <p:cNvPr id="10" name="Text 8"/>
          <p:cNvSpPr/>
          <p:nvPr/>
        </p:nvSpPr>
        <p:spPr>
          <a:xfrm>
            <a:off x="1005840" y="4206240"/>
            <a:ext cx="10149840" cy="1280160"/>
          </a:xfrm>
          <a:prstGeom prst="rect">
            <a:avLst/>
          </a:prstGeom>
          <a:noFill/>
          <a:ln/>
        </p:spPr>
        <p:txBody>
          <a:bodyPr wrap="square" lIns="0" tIns="0" rIns="0" bIns="0" rtlCol="0" anchor="ctr"/>
          <a:lstStyle/>
          <a:p>
            <a:pPr marL="0" indent="0">
              <a:lnSpc>
                <a:spcPct val="135000"/>
              </a:lnSpc>
              <a:buNone/>
            </a:pPr>
            <a:r>
              <a:rPr lang="en-US" sz="1600" i="1" dirty="0">
                <a:solidFill>
                  <a:srgbClr val="2A2A2A"/>
                </a:solidFill>
                <a:latin typeface="Montserrat" pitchFamily="34" charset="0"/>
                <a:ea typeface="Montserrat" pitchFamily="34" charset="-122"/>
                <a:cs typeface="Montserrat" pitchFamily="34" charset="-120"/>
              </a:rPr>
              <a:t>Blue Ocean Strategy is a way to find where to compete. Everything else you've learned still tells you how to defend it once you're there.</a:t>
            </a:r>
            <a:endParaRPr lang="en-US" sz="1600" dirty="0"/>
          </a:p>
        </p:txBody>
      </p:sp>
      <p:sp>
        <p:nvSpPr>
          <p:cNvPr id="11" name="Text 9"/>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15 / 20</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65760" y="777240"/>
            <a:ext cx="11064240" cy="0"/>
          </a:xfrm>
          <a:prstGeom prst="line">
            <a:avLst/>
          </a:prstGeom>
          <a:noFill/>
          <a:ln w="15875">
            <a:solidFill>
              <a:srgbClr val="B20E38"/>
            </a:solidFill>
            <a:prstDash val="solid"/>
          </a:ln>
        </p:spPr>
      </p:sp>
      <p:sp>
        <p:nvSpPr>
          <p:cNvPr id="3" name="Shape 1"/>
          <p:cNvSpPr/>
          <p:nvPr/>
        </p:nvSpPr>
        <p:spPr>
          <a:xfrm>
            <a:off x="0" y="6656832"/>
            <a:ext cx="12188952" cy="201168"/>
          </a:xfrm>
          <a:prstGeom prst="rect">
            <a:avLst/>
          </a:prstGeom>
          <a:solidFill>
            <a:srgbClr val="B20E38"/>
          </a:solidFill>
          <a:ln/>
        </p:spPr>
      </p:sp>
      <p:sp>
        <p:nvSpPr>
          <p:cNvPr id="4" name="Shape 2"/>
          <p:cNvSpPr/>
          <p:nvPr/>
        </p:nvSpPr>
        <p:spPr>
          <a:xfrm rot="10800000">
            <a:off x="11475720" y="256032"/>
            <a:ext cx="365760" cy="457200"/>
          </a:xfrm>
          <a:prstGeom prst="triangle">
            <a:avLst/>
          </a:prstGeom>
          <a:solidFill>
            <a:srgbClr val="D9622B"/>
          </a:solidFill>
          <a:ln/>
        </p:spPr>
      </p:sp>
      <p:sp>
        <p:nvSpPr>
          <p:cNvPr id="5" name="Text 3"/>
          <p:cNvSpPr/>
          <p:nvPr/>
        </p:nvSpPr>
        <p:spPr>
          <a:xfrm>
            <a:off x="502920" y="320040"/>
            <a:ext cx="9601200" cy="411480"/>
          </a:xfrm>
          <a:prstGeom prst="rect">
            <a:avLst/>
          </a:prstGeom>
          <a:noFill/>
          <a:ln/>
        </p:spPr>
        <p:txBody>
          <a:bodyPr wrap="square" lIns="0" tIns="0" rIns="0" bIns="0" rtlCol="0" anchor="ctr"/>
          <a:lstStyle/>
          <a:p>
            <a:pPr marL="0" indent="0" algn="l">
              <a:buNone/>
            </a:pPr>
            <a:r>
              <a:rPr lang="en-US" sz="1800" b="1" dirty="0">
                <a:solidFill>
                  <a:srgbClr val="1A1A1A"/>
                </a:solidFill>
                <a:latin typeface="Montserrat" pitchFamily="34" charset="0"/>
                <a:ea typeface="Montserrat" pitchFamily="34" charset="-122"/>
                <a:cs typeface="Montserrat" pitchFamily="34" charset="-120"/>
              </a:rPr>
              <a:t>Takeaways</a:t>
            </a:r>
            <a:endParaRPr lang="en-US" sz="1800" dirty="0"/>
          </a:p>
        </p:txBody>
      </p:sp>
      <p:sp>
        <p:nvSpPr>
          <p:cNvPr id="6" name="Text 4"/>
          <p:cNvSpPr/>
          <p:nvPr/>
        </p:nvSpPr>
        <p:spPr>
          <a:xfrm>
            <a:off x="502920" y="6263640"/>
            <a:ext cx="5486400" cy="365760"/>
          </a:xfrm>
          <a:prstGeom prst="rect">
            <a:avLst/>
          </a:prstGeom>
          <a:noFill/>
          <a:ln/>
        </p:spPr>
        <p:txBody>
          <a:bodyPr wrap="square" lIns="0" tIns="0" rIns="0" bIns="0" rtlCol="0" anchor="ctr"/>
          <a:lstStyle/>
          <a:p>
            <a:pPr marL="0" indent="0" algn="l">
              <a:buNone/>
            </a:pPr>
            <a:r>
              <a:rPr lang="en-US" sz="1400" b="1" dirty="0">
                <a:solidFill>
                  <a:srgbClr val="2A2A2A"/>
                </a:solidFill>
                <a:latin typeface="Arial" pitchFamily="34" charset="0"/>
                <a:ea typeface="Arial" pitchFamily="34" charset="-122"/>
                <a:cs typeface="Arial" pitchFamily="34" charset="-120"/>
              </a:rPr>
              <a:t>“</a:t>
            </a:r>
            <a:r>
              <a:rPr lang="en-US" sz="1400" b="1" dirty="0">
                <a:solidFill>
                  <a:srgbClr val="2A2A2A"/>
                </a:solidFill>
                <a:latin typeface="Montserrat" pitchFamily="34" charset="0"/>
                <a:ea typeface="Montserrat" pitchFamily="34" charset="-122"/>
                <a:cs typeface="Montserrat" pitchFamily="34" charset="-120"/>
              </a:rPr>
              <a:t>India that is Bharat</a:t>
            </a:r>
            <a:r>
              <a:rPr lang="en-US" sz="1400" b="1" dirty="0">
                <a:solidFill>
                  <a:srgbClr val="2A2A2A"/>
                </a:solidFill>
                <a:latin typeface="Arial" pitchFamily="34" charset="0"/>
                <a:ea typeface="Arial" pitchFamily="34" charset="-122"/>
                <a:cs typeface="Arial" pitchFamily="34" charset="-120"/>
              </a:rPr>
              <a:t>”</a:t>
            </a:r>
            <a:endParaRPr lang="en-US" sz="1400" dirty="0"/>
          </a:p>
        </p:txBody>
      </p:sp>
      <p:sp>
        <p:nvSpPr>
          <p:cNvPr id="7" name="Text 5"/>
          <p:cNvSpPr/>
          <p:nvPr/>
        </p:nvSpPr>
        <p:spPr>
          <a:xfrm>
            <a:off x="502920" y="868680"/>
            <a:ext cx="11155680" cy="1005840"/>
          </a:xfrm>
          <a:prstGeom prst="rect">
            <a:avLst/>
          </a:prstGeom>
          <a:noFill/>
          <a:ln/>
        </p:spPr>
        <p:txBody>
          <a:bodyPr wrap="square" lIns="0" tIns="0" rIns="0" bIns="0" rtlCol="0" anchor="ctr"/>
          <a:lstStyle/>
          <a:p>
            <a:pPr marL="0" indent="0" algn="l">
              <a:lnSpc>
                <a:spcPct val="105000"/>
              </a:lnSpc>
              <a:buNone/>
            </a:pPr>
            <a:r>
              <a:rPr lang="en-US" sz="3200" b="1" dirty="0">
                <a:solidFill>
                  <a:srgbClr val="B20E38"/>
                </a:solidFill>
                <a:latin typeface="Montserrat SemiBold" pitchFamily="34" charset="0"/>
                <a:ea typeface="Montserrat SemiBold" pitchFamily="34" charset="-122"/>
                <a:cs typeface="Montserrat SemiBold" pitchFamily="34" charset="-120"/>
              </a:rPr>
              <a:t>Key Takeaways from Today</a:t>
            </a:r>
            <a:endParaRPr lang="en-US" sz="3200" dirty="0"/>
          </a:p>
        </p:txBody>
      </p:sp>
      <p:sp>
        <p:nvSpPr>
          <p:cNvPr id="8" name="Shape 6"/>
          <p:cNvSpPr/>
          <p:nvPr/>
        </p:nvSpPr>
        <p:spPr>
          <a:xfrm>
            <a:off x="731520" y="2194560"/>
            <a:ext cx="10698480" cy="914400"/>
          </a:xfrm>
          <a:prstGeom prst="roundRect">
            <a:avLst>
              <a:gd name="adj" fmla="val 8000"/>
            </a:avLst>
          </a:prstGeom>
          <a:solidFill>
            <a:srgbClr val="FFFFFF">
              <a:alpha val="70000"/>
            </a:srgbClr>
          </a:solidFill>
          <a:ln/>
        </p:spPr>
      </p:sp>
      <p:sp>
        <p:nvSpPr>
          <p:cNvPr id="9" name="Shape 7"/>
          <p:cNvSpPr/>
          <p:nvPr/>
        </p:nvSpPr>
        <p:spPr>
          <a:xfrm>
            <a:off x="731520" y="2194560"/>
            <a:ext cx="91440" cy="914400"/>
          </a:xfrm>
          <a:prstGeom prst="rect">
            <a:avLst/>
          </a:prstGeom>
          <a:solidFill>
            <a:srgbClr val="B20E38"/>
          </a:solidFill>
          <a:ln/>
        </p:spPr>
      </p:sp>
      <p:sp>
        <p:nvSpPr>
          <p:cNvPr id="10" name="Text 8"/>
          <p:cNvSpPr/>
          <p:nvPr/>
        </p:nvSpPr>
        <p:spPr>
          <a:xfrm>
            <a:off x="1051560" y="2194560"/>
            <a:ext cx="10241280" cy="914400"/>
          </a:xfrm>
          <a:prstGeom prst="rect">
            <a:avLst/>
          </a:prstGeom>
          <a:noFill/>
          <a:ln/>
        </p:spPr>
        <p:txBody>
          <a:bodyPr wrap="square" lIns="0" tIns="0" rIns="0" bIns="0" rtlCol="0" anchor="ctr"/>
          <a:lstStyle/>
          <a:p>
            <a:pPr marL="0" indent="0">
              <a:lnSpc>
                <a:spcPct val="115000"/>
              </a:lnSpc>
              <a:buNone/>
            </a:pPr>
            <a:r>
              <a:rPr lang="en-US" sz="1400" dirty="0">
                <a:solidFill>
                  <a:srgbClr val="1A1A1A"/>
                </a:solidFill>
                <a:latin typeface="Montserrat" pitchFamily="34" charset="0"/>
                <a:ea typeface="Montserrat" pitchFamily="34" charset="-122"/>
                <a:cs typeface="Montserrat" pitchFamily="34" charset="-120"/>
              </a:rPr>
              <a:t>Red Oceans are existing markets with known rivals; Blue Oceans are uncontested spaces with no direct competition</a:t>
            </a:r>
            <a:endParaRPr lang="en-US" sz="1400" dirty="0"/>
          </a:p>
        </p:txBody>
      </p:sp>
      <p:sp>
        <p:nvSpPr>
          <p:cNvPr id="11" name="Shape 9"/>
          <p:cNvSpPr/>
          <p:nvPr/>
        </p:nvSpPr>
        <p:spPr>
          <a:xfrm>
            <a:off x="731520" y="3246120"/>
            <a:ext cx="10698480" cy="914400"/>
          </a:xfrm>
          <a:prstGeom prst="roundRect">
            <a:avLst>
              <a:gd name="adj" fmla="val 8000"/>
            </a:avLst>
          </a:prstGeom>
          <a:solidFill>
            <a:srgbClr val="FFFFFF">
              <a:alpha val="70000"/>
            </a:srgbClr>
          </a:solidFill>
          <a:ln/>
        </p:spPr>
      </p:sp>
      <p:sp>
        <p:nvSpPr>
          <p:cNvPr id="12" name="Shape 10"/>
          <p:cNvSpPr/>
          <p:nvPr/>
        </p:nvSpPr>
        <p:spPr>
          <a:xfrm>
            <a:off x="731520" y="3246120"/>
            <a:ext cx="91440" cy="914400"/>
          </a:xfrm>
          <a:prstGeom prst="rect">
            <a:avLst/>
          </a:prstGeom>
          <a:solidFill>
            <a:srgbClr val="B20E38"/>
          </a:solidFill>
          <a:ln/>
        </p:spPr>
      </p:sp>
      <p:sp>
        <p:nvSpPr>
          <p:cNvPr id="13" name="Text 11"/>
          <p:cNvSpPr/>
          <p:nvPr/>
        </p:nvSpPr>
        <p:spPr>
          <a:xfrm>
            <a:off x="1051560" y="3246120"/>
            <a:ext cx="10241280" cy="914400"/>
          </a:xfrm>
          <a:prstGeom prst="rect">
            <a:avLst/>
          </a:prstGeom>
          <a:noFill/>
          <a:ln/>
        </p:spPr>
        <p:txBody>
          <a:bodyPr wrap="square" lIns="0" tIns="0" rIns="0" bIns="0" rtlCol="0" anchor="ctr"/>
          <a:lstStyle/>
          <a:p>
            <a:pPr marL="0" indent="0">
              <a:lnSpc>
                <a:spcPct val="115000"/>
              </a:lnSpc>
              <a:buNone/>
            </a:pPr>
            <a:r>
              <a:rPr lang="en-US" sz="1400" dirty="0">
                <a:solidFill>
                  <a:srgbClr val="1A1A1A"/>
                </a:solidFill>
                <a:latin typeface="Montserrat" pitchFamily="34" charset="0"/>
                <a:ea typeface="Montserrat" pitchFamily="34" charset="-122"/>
                <a:cs typeface="Montserrat" pitchFamily="34" charset="-120"/>
              </a:rPr>
              <a:t>The core idea is breaking the assumed trade-off between low cost and high value, not choosing one</a:t>
            </a:r>
            <a:endParaRPr lang="en-US" sz="1400" dirty="0"/>
          </a:p>
        </p:txBody>
      </p:sp>
      <p:sp>
        <p:nvSpPr>
          <p:cNvPr id="14" name="Shape 12"/>
          <p:cNvSpPr/>
          <p:nvPr/>
        </p:nvSpPr>
        <p:spPr>
          <a:xfrm>
            <a:off x="731520" y="4297680"/>
            <a:ext cx="10698480" cy="914400"/>
          </a:xfrm>
          <a:prstGeom prst="roundRect">
            <a:avLst>
              <a:gd name="adj" fmla="val 8000"/>
            </a:avLst>
          </a:prstGeom>
          <a:solidFill>
            <a:srgbClr val="FFFFFF">
              <a:alpha val="70000"/>
            </a:srgbClr>
          </a:solidFill>
          <a:ln/>
        </p:spPr>
      </p:sp>
      <p:sp>
        <p:nvSpPr>
          <p:cNvPr id="15" name="Shape 13"/>
          <p:cNvSpPr/>
          <p:nvPr/>
        </p:nvSpPr>
        <p:spPr>
          <a:xfrm>
            <a:off x="731520" y="4297680"/>
            <a:ext cx="91440" cy="914400"/>
          </a:xfrm>
          <a:prstGeom prst="rect">
            <a:avLst/>
          </a:prstGeom>
          <a:solidFill>
            <a:srgbClr val="B20E38"/>
          </a:solidFill>
          <a:ln/>
        </p:spPr>
      </p:sp>
      <p:sp>
        <p:nvSpPr>
          <p:cNvPr id="16" name="Text 14"/>
          <p:cNvSpPr/>
          <p:nvPr/>
        </p:nvSpPr>
        <p:spPr>
          <a:xfrm>
            <a:off x="1051560" y="4297680"/>
            <a:ext cx="10241280" cy="914400"/>
          </a:xfrm>
          <a:prstGeom prst="rect">
            <a:avLst/>
          </a:prstGeom>
          <a:noFill/>
          <a:ln/>
        </p:spPr>
        <p:txBody>
          <a:bodyPr wrap="square" lIns="0" tIns="0" rIns="0" bIns="0" rtlCol="0" anchor="ctr"/>
          <a:lstStyle/>
          <a:p>
            <a:pPr marL="0" indent="0">
              <a:lnSpc>
                <a:spcPct val="115000"/>
              </a:lnSpc>
              <a:buNone/>
            </a:pPr>
            <a:r>
              <a:rPr lang="en-US" sz="1400" dirty="0">
                <a:solidFill>
                  <a:srgbClr val="1A1A1A"/>
                </a:solidFill>
                <a:latin typeface="Montserrat" pitchFamily="34" charset="0"/>
                <a:ea typeface="Montserrat" pitchFamily="34" charset="-122"/>
                <a:cs typeface="Montserrat" pitchFamily="34" charset="-120"/>
              </a:rPr>
              <a:t>The Four Actions Framework, Eliminate, Reduce, Raise, Create, is the practical tool for finding one</a:t>
            </a:r>
            <a:endParaRPr lang="en-US" sz="1400" dirty="0"/>
          </a:p>
        </p:txBody>
      </p:sp>
      <p:sp>
        <p:nvSpPr>
          <p:cNvPr id="17" name="Shape 15"/>
          <p:cNvSpPr/>
          <p:nvPr/>
        </p:nvSpPr>
        <p:spPr>
          <a:xfrm>
            <a:off x="731520" y="5349240"/>
            <a:ext cx="10698480" cy="914400"/>
          </a:xfrm>
          <a:prstGeom prst="roundRect">
            <a:avLst>
              <a:gd name="adj" fmla="val 8000"/>
            </a:avLst>
          </a:prstGeom>
          <a:solidFill>
            <a:srgbClr val="FFFFFF">
              <a:alpha val="70000"/>
            </a:srgbClr>
          </a:solidFill>
          <a:ln/>
        </p:spPr>
      </p:sp>
      <p:sp>
        <p:nvSpPr>
          <p:cNvPr id="18" name="Shape 16"/>
          <p:cNvSpPr/>
          <p:nvPr/>
        </p:nvSpPr>
        <p:spPr>
          <a:xfrm>
            <a:off x="731520" y="5349240"/>
            <a:ext cx="91440" cy="914400"/>
          </a:xfrm>
          <a:prstGeom prst="rect">
            <a:avLst/>
          </a:prstGeom>
          <a:solidFill>
            <a:srgbClr val="B20E38"/>
          </a:solidFill>
          <a:ln/>
        </p:spPr>
      </p:sp>
      <p:sp>
        <p:nvSpPr>
          <p:cNvPr id="19" name="Text 17"/>
          <p:cNvSpPr/>
          <p:nvPr/>
        </p:nvSpPr>
        <p:spPr>
          <a:xfrm>
            <a:off x="1051560" y="5349240"/>
            <a:ext cx="10241280" cy="914400"/>
          </a:xfrm>
          <a:prstGeom prst="rect">
            <a:avLst/>
          </a:prstGeom>
          <a:noFill/>
          <a:ln/>
        </p:spPr>
        <p:txBody>
          <a:bodyPr wrap="square" lIns="0" tIns="0" rIns="0" bIns="0" rtlCol="0" anchor="ctr"/>
          <a:lstStyle/>
          <a:p>
            <a:pPr marL="0" indent="0">
              <a:lnSpc>
                <a:spcPct val="115000"/>
              </a:lnSpc>
              <a:buNone/>
            </a:pPr>
            <a:r>
              <a:rPr lang="en-US" sz="1400" dirty="0">
                <a:solidFill>
                  <a:srgbClr val="1A1A1A"/>
                </a:solidFill>
                <a:latin typeface="Montserrat" pitchFamily="34" charset="0"/>
                <a:ea typeface="Montserrat" pitchFamily="34" charset="-122"/>
                <a:cs typeface="Montserrat" pitchFamily="34" charset="-120"/>
              </a:rPr>
              <a:t>Most “blue ocean” pitches are really differentiation in disguise; a real one survives all four actions and creates genuinely new demand</a:t>
            </a:r>
            <a:endParaRPr lang="en-US" sz="1400" dirty="0"/>
          </a:p>
        </p:txBody>
      </p:sp>
      <p:sp>
        <p:nvSpPr>
          <p:cNvPr id="20" name="Text 18"/>
          <p:cNvSpPr/>
          <p:nvPr/>
        </p:nvSpPr>
        <p:spPr>
          <a:xfrm>
            <a:off x="9052560" y="320040"/>
            <a:ext cx="2194560" cy="411480"/>
          </a:xfrm>
          <a:prstGeom prst="rect">
            <a:avLst/>
          </a:prstGeom>
          <a:noFill/>
          <a:ln/>
        </p:spPr>
        <p:txBody>
          <a:bodyPr wrap="square" lIns="0" tIns="0" rIns="0" bIns="0" rtlCol="0" anchor="ctr"/>
          <a:lstStyle/>
          <a:p>
            <a:pPr marL="0" indent="0" algn="r">
              <a:buNone/>
            </a:pPr>
            <a:r>
              <a:rPr lang="en-US" sz="1400" b="1" dirty="0">
                <a:solidFill>
                  <a:srgbClr val="8A6A55"/>
                </a:solidFill>
                <a:latin typeface="Montserrat" pitchFamily="34" charset="0"/>
                <a:ea typeface="Montserrat" pitchFamily="34" charset="-122"/>
                <a:cs typeface="Montserrat" pitchFamily="34" charset="-120"/>
              </a:rPr>
              <a:t>16 / 20</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1334</TotalTime>
  <Words>2204</Words>
  <Application>Microsoft Office PowerPoint</Application>
  <PresentationFormat>Custom</PresentationFormat>
  <Paragraphs>259</Paragraphs>
  <Slides>32</Slides>
  <Notes>32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32</vt:i4>
      </vt:variant>
    </vt:vector>
  </HeadingPairs>
  <TitlesOfParts>
    <vt:vector size="37" baseType="lpstr">
      <vt:lpstr>Arial</vt:lpstr>
      <vt:lpstr>Calibri</vt:lpstr>
      <vt:lpstr>Montserrat</vt:lpstr>
      <vt:lpstr>Montserrat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Shridhar samant</cp:lastModifiedBy>
  <cp:revision>3</cp:revision>
  <dcterms:created xsi:type="dcterms:W3CDTF">2026-09-14T08:10:52Z</dcterms:created>
  <dcterms:modified xsi:type="dcterms:W3CDTF">2026-09-19T07:48:37Z</dcterms:modified>
</cp:coreProperties>
</file>